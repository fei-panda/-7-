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Slides/notesSlide10.xml" ContentType="application/vnd.openxmlformats-officedocument.presentationml.notesSlide+xml"/>
  <Override PartName="/ppt/comments/modernComment_109_0.xml" ContentType="application/vnd.ms-powerpoint.comments+xml"/>
  <Override PartName="/ppt/charts/chart6.xml" ContentType="application/vnd.openxmlformats-officedocument.drawingml.chart+xml"/>
  <Override PartName="/ppt/notesSlides/notesSlide11.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notesSlides/notesSlide12.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notesSlides/notesSlide13.xml" ContentType="application/vnd.openxmlformats-officedocument.presentationml.notesSlide+xml"/>
  <Override PartName="/ppt/comments/modernComment_10C_0.xml" ContentType="application/vnd.ms-powerpoint.comments+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notesSlides/notesSlide14.xml" ContentType="application/vnd.openxmlformats-officedocument.presentationml.notesSlide+xml"/>
  <Override PartName="/ppt/comments/modernComment_11D_0.xml" ContentType="application/vnd.ms-powerpoint.comments+xml"/>
  <Override PartName="/ppt/charts/chart21.xml" ContentType="application/vnd.openxmlformats-officedocument.drawingml.chart+xml"/>
  <Override PartName="/ppt/notesSlides/notesSlide15.xml" ContentType="application/vnd.openxmlformats-officedocument.presentationml.notesSlide+xml"/>
  <Override PartName="/ppt/charts/chart22.xml" ContentType="application/vnd.openxmlformats-officedocument.drawingml.chart+xml"/>
  <Override PartName="/ppt/charts/chart23.xml" ContentType="application/vnd.openxmlformats-officedocument.drawingml.chart+xml"/>
  <Override PartName="/ppt/notesSlides/notesSlide16.xml" ContentType="application/vnd.openxmlformats-officedocument.presentationml.notesSlide+xml"/>
  <Override PartName="/ppt/comments/modernComment_11E_0.xml" ContentType="application/vnd.ms-powerpoint.comments+xml"/>
  <Override PartName="/ppt/charts/chart24.xml" ContentType="application/vnd.openxmlformats-officedocument.drawingml.chart+xml"/>
  <Override PartName="/ppt/charts/chart25.xml" ContentType="application/vnd.openxmlformats-officedocument.drawingml.chart+xml"/>
  <Override PartName="/ppt/notesSlides/notesSlide17.xml" ContentType="application/vnd.openxmlformats-officedocument.presentationml.notesSlide+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notesSlides/notesSlide18.xml" ContentType="application/vnd.openxmlformats-officedocument.presentationml.notesSlide+xml"/>
  <Override PartName="/ppt/charts/chart29.xml" ContentType="application/vnd.openxmlformats-officedocument.drawingml.chart+xml"/>
  <Override PartName="/ppt/charts/chart30.xml" ContentType="application/vnd.openxmlformats-officedocument.drawingml.chart+xml"/>
  <Override PartName="/ppt/notesSlides/notesSlide19.xml" ContentType="application/vnd.openxmlformats-officedocument.presentationml.notesSlide+xml"/>
  <Override PartName="/ppt/charts/chart31.xml" ContentType="application/vnd.openxmlformats-officedocument.drawingml.chart+xml"/>
  <Override PartName="/ppt/charts/chart32.xml" ContentType="application/vnd.openxmlformats-officedocument.drawingml.chart+xml"/>
  <Override PartName="/ppt/notesSlides/notesSlide20.xml" ContentType="application/vnd.openxmlformats-officedocument.presentationml.notesSlide+xml"/>
  <Override PartName="/ppt/comments/modernComment_111_0.xml" ContentType="application/vnd.ms-powerpoint.comments+xml"/>
  <Override PartName="/ppt/charts/chart33.xml" ContentType="application/vnd.openxmlformats-officedocument.drawingml.chart+xml"/>
  <Override PartName="/ppt/notesSlides/notesSlide21.xml" ContentType="application/vnd.openxmlformats-officedocument.presentationml.notesSlide+xml"/>
  <Override PartName="/ppt/comments/modernComment_112_0.xml" ContentType="application/vnd.ms-powerpoint.comments+xml"/>
  <Override PartName="/ppt/charts/chart34.xml" ContentType="application/vnd.openxmlformats-officedocument.drawingml.chart+xml"/>
  <Override PartName="/ppt/charts/chart35.xml" ContentType="application/vnd.openxmlformats-officedocument.drawingml.chart+xml"/>
  <Override PartName="/ppt/notesSlides/notesSlide22.xml" ContentType="application/vnd.openxmlformats-officedocument.presentationml.notesSlide+xml"/>
  <Override PartName="/ppt/comments/modernComment_11C_0.xml" ContentType="application/vnd.ms-powerpoint.comments+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notesSlides/notesSlide23.xml" ContentType="application/vnd.openxmlformats-officedocument.presentationml.notesSlide+xml"/>
  <Override PartName="/ppt/charts/chart39.xml" ContentType="application/vnd.openxmlformats-officedocument.drawingml.chart+xml"/>
  <Override PartName="/ppt/charts/chart40.xml" ContentType="application/vnd.openxmlformats-officedocument.drawingml.chart+xml"/>
  <Override PartName="/ppt/notesSlides/notesSlide24.xml" ContentType="application/vnd.openxmlformats-officedocument.presentationml.notesSlide+xml"/>
  <Override PartName="/ppt/comments/modernComment_113_0.xml" ContentType="application/vnd.ms-powerpoint.comments+xml"/>
  <Override PartName="/ppt/charts/chart41.xml" ContentType="application/vnd.openxmlformats-officedocument.drawingml.chart+xml"/>
  <Override PartName="/ppt/notesSlides/notesSlide25.xml" ContentType="application/vnd.openxmlformats-officedocument.presentationml.notesSlide+xml"/>
  <Override PartName="/ppt/charts/chart42.xml" ContentType="application/vnd.openxmlformats-officedocument.drawingml.chart+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notesSlides/notesSlide28.xml" ContentType="application/vnd.openxmlformats-officedocument.presentationml.notesSlide+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0.xml" ContentType="application/vnd.openxmlformats-officedocument.drawingml.chart+xml"/>
  <Override PartName="/ppt/notesSlides/notesSlide29.xml" ContentType="application/vnd.openxmlformats-officedocument.presentationml.notesSlide+xml"/>
  <Override PartName="/ppt/charts/chart51.xml" ContentType="application/vnd.openxmlformats-officedocument.drawingml.chart+xml"/>
  <Override PartName="/ppt/charts/chart52.xml" ContentType="application/vnd.openxmlformats-officedocument.drawingml.chart+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rts/chart53.xml" ContentType="application/vnd.openxmlformats-officedocument.drawingml.chart+xml"/>
  <Override PartName="/ppt/charts/chart54.xml" ContentType="application/vnd.openxmlformats-officedocument.drawingml.chart+xml"/>
  <Override PartName="/ppt/notesSlides/notesSlide34.xml" ContentType="application/vnd.openxmlformats-officedocument.presentationml.notesSlide+xml"/>
  <Override PartName="/ppt/comments/modernComment_11B_0.xml" ContentType="application/vnd.ms-powerpoint.comments+xml"/>
  <Override PartName="/ppt/charts/chart55.xml" ContentType="application/vnd.openxmlformats-officedocument.drawingml.chart+xml"/>
  <Override PartName="/ppt/charts/chart56.xml" ContentType="application/vnd.openxmlformats-officedocument.drawingml.chart+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85" r:id="rId15"/>
    <p:sldId id="269" r:id="rId16"/>
    <p:sldId id="286" r:id="rId17"/>
    <p:sldId id="270" r:id="rId18"/>
    <p:sldId id="271" r:id="rId19"/>
    <p:sldId id="272" r:id="rId20"/>
    <p:sldId id="273" r:id="rId21"/>
    <p:sldId id="274" r:id="rId22"/>
    <p:sldId id="284" r:id="rId23"/>
    <p:sldId id="287" r:id="rId24"/>
    <p:sldId id="275" r:id="rId25"/>
    <p:sldId id="288" r:id="rId26"/>
    <p:sldId id="276" r:id="rId27"/>
    <p:sldId id="277" r:id="rId28"/>
    <p:sldId id="278" r:id="rId29"/>
    <p:sldId id="279" r:id="rId30"/>
    <p:sldId id="280" r:id="rId31"/>
    <p:sldId id="281" r:id="rId32"/>
    <p:sldId id="282" r:id="rId33"/>
    <p:sldId id="289" r:id="rId34"/>
    <p:sldId id="283" r:id="rId3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85FE2FF-9899-62DA-30A3-A58E7F9AFF31}" name="S232741020" initials="S" userId="S::S232741020@o365.waseda.jp::6d3ba0e0-ef30-4e95-b5b6-b12fbf7e443c"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174"/>
    <p:restoredTop sz="77539"/>
  </p:normalViewPr>
  <p:slideViewPr>
    <p:cSldViewPr snapToGrid="0" snapToObjects="1">
      <p:cViewPr>
        <p:scale>
          <a:sx n="157" d="100"/>
          <a:sy n="157" d="100"/>
        </p:scale>
        <p:origin x="80" y="-46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___.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___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______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______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______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______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______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______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______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______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______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______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______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______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______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______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______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______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______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______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______20.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______21.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______22.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______23.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______24.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______25.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______26.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______27.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______28.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______29.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______30.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______31.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______32.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______33.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______34.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______35.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______36.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______37.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______38.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______39.xlsx"/></Relationships>
</file>

<file path=ppt/charts/_rels/chart41.xml.rels><?xml version="1.0" encoding="UTF-8" standalone="yes"?>
<Relationships xmlns="http://schemas.openxmlformats.org/package/2006/relationships"><Relationship Id="rId1" Type="http://schemas.openxmlformats.org/officeDocument/2006/relationships/package" Target="../embeddings/Microsoft_Excel_______40.xlsx"/></Relationships>
</file>

<file path=ppt/charts/_rels/chart42.xml.rels><?xml version="1.0" encoding="UTF-8" standalone="yes"?>
<Relationships xmlns="http://schemas.openxmlformats.org/package/2006/relationships"><Relationship Id="rId1" Type="http://schemas.openxmlformats.org/officeDocument/2006/relationships/package" Target="../embeddings/Microsoft_Excel_______41.xlsx"/></Relationships>
</file>

<file path=ppt/charts/_rels/chart43.xml.rels><?xml version="1.0" encoding="UTF-8" standalone="yes"?>
<Relationships xmlns="http://schemas.openxmlformats.org/package/2006/relationships"><Relationship Id="rId1" Type="http://schemas.openxmlformats.org/officeDocument/2006/relationships/package" Target="../embeddings/Microsoft_Excel_______42.xlsx"/></Relationships>
</file>

<file path=ppt/charts/_rels/chart44.xml.rels><?xml version="1.0" encoding="UTF-8" standalone="yes"?>
<Relationships xmlns="http://schemas.openxmlformats.org/package/2006/relationships"><Relationship Id="rId1" Type="http://schemas.openxmlformats.org/officeDocument/2006/relationships/package" Target="../embeddings/Microsoft_Excel_______43.xlsx"/></Relationships>
</file>

<file path=ppt/charts/_rels/chart45.xml.rels><?xml version="1.0" encoding="UTF-8" standalone="yes"?>
<Relationships xmlns="http://schemas.openxmlformats.org/package/2006/relationships"><Relationship Id="rId1" Type="http://schemas.openxmlformats.org/officeDocument/2006/relationships/package" Target="../embeddings/Microsoft_Excel_______44.xlsx"/></Relationships>
</file>

<file path=ppt/charts/_rels/chart46.xml.rels><?xml version="1.0" encoding="UTF-8" standalone="yes"?>
<Relationships xmlns="http://schemas.openxmlformats.org/package/2006/relationships"><Relationship Id="rId1" Type="http://schemas.openxmlformats.org/officeDocument/2006/relationships/package" Target="../embeddings/Microsoft_Excel_______45.xlsx"/></Relationships>
</file>

<file path=ppt/charts/_rels/chart47.xml.rels><?xml version="1.0" encoding="UTF-8" standalone="yes"?>
<Relationships xmlns="http://schemas.openxmlformats.org/package/2006/relationships"><Relationship Id="rId1" Type="http://schemas.openxmlformats.org/officeDocument/2006/relationships/package" Target="../embeddings/Microsoft_Excel_______46.xlsx"/></Relationships>
</file>

<file path=ppt/charts/_rels/chart48.xml.rels><?xml version="1.0" encoding="UTF-8" standalone="yes"?>
<Relationships xmlns="http://schemas.openxmlformats.org/package/2006/relationships"><Relationship Id="rId1" Type="http://schemas.openxmlformats.org/officeDocument/2006/relationships/package" Target="../embeddings/Microsoft_Excel_______47.xlsx"/></Relationships>
</file>

<file path=ppt/charts/_rels/chart49.xml.rels><?xml version="1.0" encoding="UTF-8" standalone="yes"?>
<Relationships xmlns="http://schemas.openxmlformats.org/package/2006/relationships"><Relationship Id="rId1" Type="http://schemas.openxmlformats.org/officeDocument/2006/relationships/package" Target="../embeddings/Microsoft_Excel_______48.xlsx"/></Relationships>
</file>

<file path=ppt/charts/_rels/chart50.xml.rels><?xml version="1.0" encoding="UTF-8" standalone="yes"?>
<Relationships xmlns="http://schemas.openxmlformats.org/package/2006/relationships"><Relationship Id="rId1" Type="http://schemas.openxmlformats.org/officeDocument/2006/relationships/package" Target="../embeddings/Microsoft_Excel_______49.xlsx"/></Relationships>
</file>

<file path=ppt/charts/_rels/chart51.xml.rels><?xml version="1.0" encoding="UTF-8" standalone="yes"?>
<Relationships xmlns="http://schemas.openxmlformats.org/package/2006/relationships"><Relationship Id="rId1" Type="http://schemas.openxmlformats.org/officeDocument/2006/relationships/package" Target="../embeddings/Microsoft_Excel_______50.xlsx"/></Relationships>
</file>

<file path=ppt/charts/_rels/chart52.xml.rels><?xml version="1.0" encoding="UTF-8" standalone="yes"?>
<Relationships xmlns="http://schemas.openxmlformats.org/package/2006/relationships"><Relationship Id="rId1" Type="http://schemas.openxmlformats.org/officeDocument/2006/relationships/package" Target="../embeddings/Microsoft_Excel_______51.xlsx"/></Relationships>
</file>

<file path=ppt/charts/_rels/chart53.xml.rels><?xml version="1.0" encoding="UTF-8" standalone="yes"?>
<Relationships xmlns="http://schemas.openxmlformats.org/package/2006/relationships"><Relationship Id="rId1" Type="http://schemas.openxmlformats.org/officeDocument/2006/relationships/package" Target="../embeddings/Microsoft_Excel_______52.xlsx"/></Relationships>
</file>

<file path=ppt/charts/_rels/chart54.xml.rels><?xml version="1.0" encoding="UTF-8" standalone="yes"?>
<Relationships xmlns="http://schemas.openxmlformats.org/package/2006/relationships"><Relationship Id="rId1" Type="http://schemas.openxmlformats.org/officeDocument/2006/relationships/package" Target="../embeddings/Microsoft_Excel_______53.xlsx"/></Relationships>
</file>

<file path=ppt/charts/_rels/chart55.xml.rels><?xml version="1.0" encoding="UTF-8" standalone="yes"?>
<Relationships xmlns="http://schemas.openxmlformats.org/package/2006/relationships"><Relationship Id="rId1" Type="http://schemas.openxmlformats.org/officeDocument/2006/relationships/package" Target="../embeddings/Microsoft_Excel_______54.xlsx"/></Relationships>
</file>

<file path=ppt/charts/_rels/chart56.xml.rels><?xml version="1.0" encoding="UTF-8" standalone="yes"?>
<Relationships xmlns="http://schemas.openxmlformats.org/package/2006/relationships"><Relationship Id="rId1" Type="http://schemas.openxmlformats.org/officeDocument/2006/relationships/package" Target="../embeddings/Microsoft_Excel_______5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lineChart>
        <c:grouping val="standard"/>
        <c:varyColors val="0"/>
        <c:ser>
          <c:idx val="0"/>
          <c:order val="0"/>
          <c:tx>
            <c:strRef>
              <c:f>'図01_熱電対の偏差'!$B$1</c:f>
              <c:strCache>
                <c:ptCount val="1"/>
                <c:pt idx="0">
                  <c:v>列3</c:v>
                </c:pt>
              </c:strCache>
            </c:strRef>
          </c:tx>
          <c:spPr>
            <a:ln>
              <a:noFill/>
            </a:ln>
          </c:spPr>
          <c:marker>
            <c:symbol val="circle"/>
            <c:size val="5"/>
            <c:spPr>
              <a:solidFill>
                <a:srgbClr val="5E6B7A"/>
              </a:solidFill>
              <a:ln w="9525" cap="rnd">
                <a:solidFill>
                  <a:srgbClr val="5E6B7A"/>
                </a:solidFill>
                <a:round/>
              </a:ln>
            </c:spPr>
          </c:marker>
          <c:errBars>
            <c:errDir val="y"/>
            <c:errBarType val="both"/>
            <c:errValType val="cust"/>
            <c:noEndCap val="0"/>
            <c:plus>
              <c:numRef>
                <c:f>'図01_熱電対の偏差'!$H$2:$H$28</c:f>
                <c:numCache>
                  <c:formatCode>General</c:formatCode>
                  <c:ptCount val="27"/>
                  <c:pt idx="0">
                    <c:v>0.17299999999999999</c:v>
                  </c:pt>
                  <c:pt idx="1">
                    <c:v>0.47</c:v>
                  </c:pt>
                  <c:pt idx="2">
                    <c:v>0.30199999999999999</c:v>
                  </c:pt>
                  <c:pt idx="3">
                    <c:v>0.216</c:v>
                  </c:pt>
                  <c:pt idx="4">
                    <c:v>0.219</c:v>
                  </c:pt>
                  <c:pt idx="5">
                    <c:v>0.215</c:v>
                  </c:pt>
                  <c:pt idx="6">
                    <c:v>0.26400000000000001</c:v>
                  </c:pt>
                  <c:pt idx="7">
                    <c:v>0.16800000000000001</c:v>
                  </c:pt>
                  <c:pt idx="8">
                    <c:v>0.438</c:v>
                  </c:pt>
                  <c:pt idx="9">
                    <c:v>0.34</c:v>
                  </c:pt>
                  <c:pt idx="10">
                    <c:v>0.17799999999999999</c:v>
                  </c:pt>
                  <c:pt idx="11">
                    <c:v>0.16400000000000001</c:v>
                  </c:pt>
                  <c:pt idx="12">
                    <c:v>0.159</c:v>
                  </c:pt>
                  <c:pt idx="13">
                    <c:v>6.7000000000000004E-2</c:v>
                  </c:pt>
                  <c:pt idx="14">
                    <c:v>8.1000000000000003E-2</c:v>
                  </c:pt>
                  <c:pt idx="15">
                    <c:v>9.4E-2</c:v>
                  </c:pt>
                  <c:pt idx="16">
                    <c:v>0.10100000000000001</c:v>
                  </c:pt>
                  <c:pt idx="17">
                    <c:v>0.16900000000000001</c:v>
                  </c:pt>
                  <c:pt idx="18">
                    <c:v>0.113</c:v>
                  </c:pt>
                  <c:pt idx="19">
                    <c:v>0.34200000000000003</c:v>
                  </c:pt>
                  <c:pt idx="20">
                    <c:v>0.28499999999999998</c:v>
                  </c:pt>
                  <c:pt idx="21">
                    <c:v>0.13500000000000001</c:v>
                  </c:pt>
                  <c:pt idx="22">
                    <c:v>0.14899999999999999</c:v>
                  </c:pt>
                  <c:pt idx="23">
                    <c:v>0.17</c:v>
                  </c:pt>
                  <c:pt idx="24">
                    <c:v>9.5000000000000001E-2</c:v>
                  </c:pt>
                  <c:pt idx="25">
                    <c:v>0.182</c:v>
                  </c:pt>
                  <c:pt idx="26">
                    <c:v>0.255</c:v>
                  </c:pt>
                </c:numCache>
              </c:numRef>
            </c:plus>
            <c:minus>
              <c:numRef>
                <c:f>'図01_熱電対の偏差'!$G$2:$G$28</c:f>
                <c:numCache>
                  <c:formatCode>General</c:formatCode>
                  <c:ptCount val="27"/>
                  <c:pt idx="0">
                    <c:v>0.17599999999999999</c:v>
                  </c:pt>
                  <c:pt idx="1">
                    <c:v>0.38100000000000001</c:v>
                  </c:pt>
                  <c:pt idx="2">
                    <c:v>0.38200000000000001</c:v>
                  </c:pt>
                  <c:pt idx="3">
                    <c:v>0.217</c:v>
                  </c:pt>
                  <c:pt idx="4">
                    <c:v>0.188</c:v>
                  </c:pt>
                  <c:pt idx="5">
                    <c:v>0.17</c:v>
                  </c:pt>
                  <c:pt idx="6">
                    <c:v>0.311</c:v>
                  </c:pt>
                  <c:pt idx="7">
                    <c:v>0.22800000000000001</c:v>
                  </c:pt>
                  <c:pt idx="8">
                    <c:v>0.40200000000000002</c:v>
                  </c:pt>
                  <c:pt idx="9">
                    <c:v>0.51900000000000002</c:v>
                  </c:pt>
                  <c:pt idx="10">
                    <c:v>0.13600000000000001</c:v>
                  </c:pt>
                  <c:pt idx="11">
                    <c:v>0.14899999999999999</c:v>
                  </c:pt>
                  <c:pt idx="12">
                    <c:v>0.45</c:v>
                  </c:pt>
                  <c:pt idx="13">
                    <c:v>0.20899999999999999</c:v>
                  </c:pt>
                  <c:pt idx="14">
                    <c:v>0.28699999999999998</c:v>
                  </c:pt>
                  <c:pt idx="15">
                    <c:v>8.7999999999999995E-2</c:v>
                  </c:pt>
                  <c:pt idx="16">
                    <c:v>0.11799999999999999</c:v>
                  </c:pt>
                  <c:pt idx="17">
                    <c:v>0.223</c:v>
                  </c:pt>
                  <c:pt idx="18">
                    <c:v>0.25</c:v>
                  </c:pt>
                  <c:pt idx="19">
                    <c:v>0.51700000000000002</c:v>
                  </c:pt>
                  <c:pt idx="20">
                    <c:v>0.48599999999999999</c:v>
                  </c:pt>
                  <c:pt idx="21">
                    <c:v>0.183</c:v>
                  </c:pt>
                  <c:pt idx="22">
                    <c:v>0.26300000000000001</c:v>
                  </c:pt>
                  <c:pt idx="23">
                    <c:v>0.374</c:v>
                  </c:pt>
                  <c:pt idx="24">
                    <c:v>8.5000000000000006E-2</c:v>
                  </c:pt>
                  <c:pt idx="25">
                    <c:v>0.32800000000000001</c:v>
                  </c:pt>
                  <c:pt idx="26">
                    <c:v>0.21199999999999999</c:v>
                  </c:pt>
                </c:numCache>
              </c:numRef>
            </c:minus>
            <c:spPr>
              <a:ln w="15875" cap="rnd">
                <a:solidFill>
                  <a:srgbClr val="5E6B7A"/>
                </a:solidFill>
                <a:round/>
              </a:ln>
            </c:spPr>
          </c:errBars>
          <c:cat>
            <c:strRef>
              <c:f>'図01_熱電対の偏差'!$A$2:$A$28</c:f>
              <c:strCache>
                <c:ptCount val="27"/>
                <c:pt idx="0">
                  <c:v>3-1正</c:v>
                </c:pt>
                <c:pt idx="1">
                  <c:v>3-1北</c:v>
                </c:pt>
                <c:pt idx="2">
                  <c:v>3-1南</c:v>
                </c:pt>
                <c:pt idx="3">
                  <c:v>3-2正</c:v>
                </c:pt>
                <c:pt idx="4">
                  <c:v>3-2北</c:v>
                </c:pt>
                <c:pt idx="5">
                  <c:v>3-2南</c:v>
                </c:pt>
                <c:pt idx="6">
                  <c:v>3-3正</c:v>
                </c:pt>
                <c:pt idx="7">
                  <c:v>3-3北</c:v>
                </c:pt>
                <c:pt idx="8">
                  <c:v>3-3南</c:v>
                </c:pt>
                <c:pt idx="9">
                  <c:v>8-1正</c:v>
                </c:pt>
                <c:pt idx="10">
                  <c:v>8-1北</c:v>
                </c:pt>
                <c:pt idx="11">
                  <c:v>8-1南</c:v>
                </c:pt>
                <c:pt idx="12">
                  <c:v>8-2正</c:v>
                </c:pt>
                <c:pt idx="13">
                  <c:v>8-2北</c:v>
                </c:pt>
                <c:pt idx="14">
                  <c:v>8-2南</c:v>
                </c:pt>
                <c:pt idx="15">
                  <c:v>8-3正</c:v>
                </c:pt>
                <c:pt idx="16">
                  <c:v>8-3北</c:v>
                </c:pt>
                <c:pt idx="17">
                  <c:v>8-3南</c:v>
                </c:pt>
                <c:pt idx="18">
                  <c:v>11-1正</c:v>
                </c:pt>
                <c:pt idx="19">
                  <c:v>11-1北</c:v>
                </c:pt>
                <c:pt idx="20">
                  <c:v>11-1南</c:v>
                </c:pt>
                <c:pt idx="21">
                  <c:v>11-2正</c:v>
                </c:pt>
                <c:pt idx="22">
                  <c:v>11-2北</c:v>
                </c:pt>
                <c:pt idx="23">
                  <c:v>11-2南</c:v>
                </c:pt>
                <c:pt idx="24">
                  <c:v>11-3正</c:v>
                </c:pt>
                <c:pt idx="25">
                  <c:v>11-3北</c:v>
                </c:pt>
                <c:pt idx="26">
                  <c:v>11-3南</c:v>
                </c:pt>
              </c:strCache>
            </c:strRef>
          </c:cat>
          <c:val>
            <c:numRef>
              <c:f>'図01_熱電対の偏差'!$B$2:$B$28</c:f>
              <c:numCache>
                <c:formatCode>General</c:formatCode>
                <c:ptCount val="27"/>
                <c:pt idx="0">
                  <c:v>0.221</c:v>
                </c:pt>
                <c:pt idx="1">
                  <c:v>0.28799999999999998</c:v>
                </c:pt>
                <c:pt idx="2">
                  <c:v>9.2999999999999999E-2</c:v>
                </c:pt>
                <c:pt idx="3">
                  <c:v>0.22</c:v>
                </c:pt>
                <c:pt idx="4">
                  <c:v>0.20399999999999999</c:v>
                </c:pt>
                <c:pt idx="5">
                  <c:v>0.16700000000000001</c:v>
                </c:pt>
                <c:pt idx="6">
                  <c:v>0.124</c:v>
                </c:pt>
                <c:pt idx="7">
                  <c:v>0.24399999999999999</c:v>
                </c:pt>
                <c:pt idx="8">
                  <c:v>1.2999999999999999E-2</c:v>
                </c:pt>
              </c:numCache>
            </c:numRef>
          </c:val>
          <c:smooth val="0"/>
          <c:extLst>
            <c:ext xmlns:c16="http://schemas.microsoft.com/office/drawing/2014/chart" uri="{C3380CC4-5D6E-409C-BE32-E72D297353CC}">
              <c16:uniqueId val="{00000000-1796-664F-85FA-D11A2FF80CB9}"/>
            </c:ext>
          </c:extLst>
        </c:ser>
        <c:ser>
          <c:idx val="1"/>
          <c:order val="1"/>
          <c:tx>
            <c:strRef>
              <c:f>'図01_熱電対の偏差'!$C$1</c:f>
              <c:strCache>
                <c:ptCount val="1"/>
                <c:pt idx="0">
                  <c:v>列8</c:v>
                </c:pt>
              </c:strCache>
            </c:strRef>
          </c:tx>
          <c:spPr>
            <a:ln>
              <a:noFill/>
            </a:ln>
          </c:spPr>
          <c:marker>
            <c:symbol val="circle"/>
            <c:size val="5"/>
            <c:spPr>
              <a:solidFill>
                <a:srgbClr val="01B8AA"/>
              </a:solidFill>
              <a:ln w="9525" cap="rnd">
                <a:solidFill>
                  <a:srgbClr val="01B8AA"/>
                </a:solidFill>
                <a:round/>
              </a:ln>
            </c:spPr>
          </c:marker>
          <c:errBars>
            <c:errDir val="y"/>
            <c:errBarType val="both"/>
            <c:errValType val="cust"/>
            <c:noEndCap val="0"/>
            <c:plus>
              <c:numRef>
                <c:f>'図01_熱電対の偏差'!$H$2:$H$28</c:f>
                <c:numCache>
                  <c:formatCode>General</c:formatCode>
                  <c:ptCount val="27"/>
                  <c:pt idx="0">
                    <c:v>0.17299999999999999</c:v>
                  </c:pt>
                  <c:pt idx="1">
                    <c:v>0.47</c:v>
                  </c:pt>
                  <c:pt idx="2">
                    <c:v>0.30199999999999999</c:v>
                  </c:pt>
                  <c:pt idx="3">
                    <c:v>0.216</c:v>
                  </c:pt>
                  <c:pt idx="4">
                    <c:v>0.219</c:v>
                  </c:pt>
                  <c:pt idx="5">
                    <c:v>0.215</c:v>
                  </c:pt>
                  <c:pt idx="6">
                    <c:v>0.26400000000000001</c:v>
                  </c:pt>
                  <c:pt idx="7">
                    <c:v>0.16800000000000001</c:v>
                  </c:pt>
                  <c:pt idx="8">
                    <c:v>0.438</c:v>
                  </c:pt>
                  <c:pt idx="9">
                    <c:v>0.34</c:v>
                  </c:pt>
                  <c:pt idx="10">
                    <c:v>0.17799999999999999</c:v>
                  </c:pt>
                  <c:pt idx="11">
                    <c:v>0.16400000000000001</c:v>
                  </c:pt>
                  <c:pt idx="12">
                    <c:v>0.159</c:v>
                  </c:pt>
                  <c:pt idx="13">
                    <c:v>6.7000000000000004E-2</c:v>
                  </c:pt>
                  <c:pt idx="14">
                    <c:v>8.1000000000000003E-2</c:v>
                  </c:pt>
                  <c:pt idx="15">
                    <c:v>9.4E-2</c:v>
                  </c:pt>
                  <c:pt idx="16">
                    <c:v>0.10100000000000001</c:v>
                  </c:pt>
                  <c:pt idx="17">
                    <c:v>0.16900000000000001</c:v>
                  </c:pt>
                  <c:pt idx="18">
                    <c:v>0.113</c:v>
                  </c:pt>
                  <c:pt idx="19">
                    <c:v>0.34200000000000003</c:v>
                  </c:pt>
                  <c:pt idx="20">
                    <c:v>0.28499999999999998</c:v>
                  </c:pt>
                  <c:pt idx="21">
                    <c:v>0.13500000000000001</c:v>
                  </c:pt>
                  <c:pt idx="22">
                    <c:v>0.14899999999999999</c:v>
                  </c:pt>
                  <c:pt idx="23">
                    <c:v>0.17</c:v>
                  </c:pt>
                  <c:pt idx="24">
                    <c:v>9.5000000000000001E-2</c:v>
                  </c:pt>
                  <c:pt idx="25">
                    <c:v>0.182</c:v>
                  </c:pt>
                  <c:pt idx="26">
                    <c:v>0.255</c:v>
                  </c:pt>
                </c:numCache>
              </c:numRef>
            </c:plus>
            <c:minus>
              <c:numRef>
                <c:f>'図01_熱電対の偏差'!$G$2:$G$28</c:f>
                <c:numCache>
                  <c:formatCode>General</c:formatCode>
                  <c:ptCount val="27"/>
                  <c:pt idx="0">
                    <c:v>0.17599999999999999</c:v>
                  </c:pt>
                  <c:pt idx="1">
                    <c:v>0.38100000000000001</c:v>
                  </c:pt>
                  <c:pt idx="2">
                    <c:v>0.38200000000000001</c:v>
                  </c:pt>
                  <c:pt idx="3">
                    <c:v>0.217</c:v>
                  </c:pt>
                  <c:pt idx="4">
                    <c:v>0.188</c:v>
                  </c:pt>
                  <c:pt idx="5">
                    <c:v>0.17</c:v>
                  </c:pt>
                  <c:pt idx="6">
                    <c:v>0.311</c:v>
                  </c:pt>
                  <c:pt idx="7">
                    <c:v>0.22800000000000001</c:v>
                  </c:pt>
                  <c:pt idx="8">
                    <c:v>0.40200000000000002</c:v>
                  </c:pt>
                  <c:pt idx="9">
                    <c:v>0.51900000000000002</c:v>
                  </c:pt>
                  <c:pt idx="10">
                    <c:v>0.13600000000000001</c:v>
                  </c:pt>
                  <c:pt idx="11">
                    <c:v>0.14899999999999999</c:v>
                  </c:pt>
                  <c:pt idx="12">
                    <c:v>0.45</c:v>
                  </c:pt>
                  <c:pt idx="13">
                    <c:v>0.20899999999999999</c:v>
                  </c:pt>
                  <c:pt idx="14">
                    <c:v>0.28699999999999998</c:v>
                  </c:pt>
                  <c:pt idx="15">
                    <c:v>8.7999999999999995E-2</c:v>
                  </c:pt>
                  <c:pt idx="16">
                    <c:v>0.11799999999999999</c:v>
                  </c:pt>
                  <c:pt idx="17">
                    <c:v>0.223</c:v>
                  </c:pt>
                  <c:pt idx="18">
                    <c:v>0.25</c:v>
                  </c:pt>
                  <c:pt idx="19">
                    <c:v>0.51700000000000002</c:v>
                  </c:pt>
                  <c:pt idx="20">
                    <c:v>0.48599999999999999</c:v>
                  </c:pt>
                  <c:pt idx="21">
                    <c:v>0.183</c:v>
                  </c:pt>
                  <c:pt idx="22">
                    <c:v>0.26300000000000001</c:v>
                  </c:pt>
                  <c:pt idx="23">
                    <c:v>0.374</c:v>
                  </c:pt>
                  <c:pt idx="24">
                    <c:v>8.5000000000000006E-2</c:v>
                  </c:pt>
                  <c:pt idx="25">
                    <c:v>0.32800000000000001</c:v>
                  </c:pt>
                  <c:pt idx="26">
                    <c:v>0.21199999999999999</c:v>
                  </c:pt>
                </c:numCache>
              </c:numRef>
            </c:minus>
            <c:spPr>
              <a:ln w="15875" cap="rnd">
                <a:solidFill>
                  <a:srgbClr val="01B8AA"/>
                </a:solidFill>
                <a:round/>
              </a:ln>
            </c:spPr>
          </c:errBars>
          <c:cat>
            <c:strRef>
              <c:f>'図01_熱電対の偏差'!$A$2:$A$28</c:f>
              <c:strCache>
                <c:ptCount val="27"/>
                <c:pt idx="0">
                  <c:v>3-1正</c:v>
                </c:pt>
                <c:pt idx="1">
                  <c:v>3-1北</c:v>
                </c:pt>
                <c:pt idx="2">
                  <c:v>3-1南</c:v>
                </c:pt>
                <c:pt idx="3">
                  <c:v>3-2正</c:v>
                </c:pt>
                <c:pt idx="4">
                  <c:v>3-2北</c:v>
                </c:pt>
                <c:pt idx="5">
                  <c:v>3-2南</c:v>
                </c:pt>
                <c:pt idx="6">
                  <c:v>3-3正</c:v>
                </c:pt>
                <c:pt idx="7">
                  <c:v>3-3北</c:v>
                </c:pt>
                <c:pt idx="8">
                  <c:v>3-3南</c:v>
                </c:pt>
                <c:pt idx="9">
                  <c:v>8-1正</c:v>
                </c:pt>
                <c:pt idx="10">
                  <c:v>8-1北</c:v>
                </c:pt>
                <c:pt idx="11">
                  <c:v>8-1南</c:v>
                </c:pt>
                <c:pt idx="12">
                  <c:v>8-2正</c:v>
                </c:pt>
                <c:pt idx="13">
                  <c:v>8-2北</c:v>
                </c:pt>
                <c:pt idx="14">
                  <c:v>8-2南</c:v>
                </c:pt>
                <c:pt idx="15">
                  <c:v>8-3正</c:v>
                </c:pt>
                <c:pt idx="16">
                  <c:v>8-3北</c:v>
                </c:pt>
                <c:pt idx="17">
                  <c:v>8-3南</c:v>
                </c:pt>
                <c:pt idx="18">
                  <c:v>11-1正</c:v>
                </c:pt>
                <c:pt idx="19">
                  <c:v>11-1北</c:v>
                </c:pt>
                <c:pt idx="20">
                  <c:v>11-1南</c:v>
                </c:pt>
                <c:pt idx="21">
                  <c:v>11-2正</c:v>
                </c:pt>
                <c:pt idx="22">
                  <c:v>11-2北</c:v>
                </c:pt>
                <c:pt idx="23">
                  <c:v>11-2南</c:v>
                </c:pt>
                <c:pt idx="24">
                  <c:v>11-3正</c:v>
                </c:pt>
                <c:pt idx="25">
                  <c:v>11-3北</c:v>
                </c:pt>
                <c:pt idx="26">
                  <c:v>11-3南</c:v>
                </c:pt>
              </c:strCache>
            </c:strRef>
          </c:cat>
          <c:val>
            <c:numRef>
              <c:f>'図01_熱電対の偏差'!$C$2:$C$28</c:f>
              <c:numCache>
                <c:formatCode>General</c:formatCode>
                <c:ptCount val="27"/>
                <c:pt idx="9">
                  <c:v>7.1999999999999995E-2</c:v>
                </c:pt>
                <c:pt idx="10">
                  <c:v>-1.0999999999999999E-2</c:v>
                </c:pt>
                <c:pt idx="11">
                  <c:v>3.2000000000000001E-2</c:v>
                </c:pt>
                <c:pt idx="12">
                  <c:v>-9.5000000000000001E-2</c:v>
                </c:pt>
                <c:pt idx="13">
                  <c:v>-6.7000000000000004E-2</c:v>
                </c:pt>
                <c:pt idx="14">
                  <c:v>-7.4999999999999997E-2</c:v>
                </c:pt>
                <c:pt idx="15">
                  <c:v>-4.7E-2</c:v>
                </c:pt>
                <c:pt idx="16">
                  <c:v>-0.122</c:v>
                </c:pt>
                <c:pt idx="17">
                  <c:v>-0.13</c:v>
                </c:pt>
              </c:numCache>
            </c:numRef>
          </c:val>
          <c:smooth val="0"/>
          <c:extLst>
            <c:ext xmlns:c16="http://schemas.microsoft.com/office/drawing/2014/chart" uri="{C3380CC4-5D6E-409C-BE32-E72D297353CC}">
              <c16:uniqueId val="{00000001-1796-664F-85FA-D11A2FF80CB9}"/>
            </c:ext>
          </c:extLst>
        </c:ser>
        <c:ser>
          <c:idx val="2"/>
          <c:order val="2"/>
          <c:tx>
            <c:strRef>
              <c:f>'図01_熱電対の偏差'!$D$1</c:f>
              <c:strCache>
                <c:ptCount val="1"/>
                <c:pt idx="0">
                  <c:v>列11</c:v>
                </c:pt>
              </c:strCache>
            </c:strRef>
          </c:tx>
          <c:spPr>
            <a:ln>
              <a:noFill/>
            </a:ln>
          </c:spPr>
          <c:marker>
            <c:symbol val="circle"/>
            <c:size val="5"/>
            <c:spPr>
              <a:solidFill>
                <a:srgbClr val="118DFF"/>
              </a:solidFill>
              <a:ln w="9525" cap="rnd">
                <a:solidFill>
                  <a:srgbClr val="118DFF"/>
                </a:solidFill>
                <a:round/>
              </a:ln>
            </c:spPr>
          </c:marker>
          <c:errBars>
            <c:errDir val="y"/>
            <c:errBarType val="both"/>
            <c:errValType val="cust"/>
            <c:noEndCap val="0"/>
            <c:plus>
              <c:numRef>
                <c:f>'図01_熱電対の偏差'!$H$2:$H$28</c:f>
                <c:numCache>
                  <c:formatCode>General</c:formatCode>
                  <c:ptCount val="27"/>
                  <c:pt idx="0">
                    <c:v>0.17299999999999999</c:v>
                  </c:pt>
                  <c:pt idx="1">
                    <c:v>0.47</c:v>
                  </c:pt>
                  <c:pt idx="2">
                    <c:v>0.30199999999999999</c:v>
                  </c:pt>
                  <c:pt idx="3">
                    <c:v>0.216</c:v>
                  </c:pt>
                  <c:pt idx="4">
                    <c:v>0.219</c:v>
                  </c:pt>
                  <c:pt idx="5">
                    <c:v>0.215</c:v>
                  </c:pt>
                  <c:pt idx="6">
                    <c:v>0.26400000000000001</c:v>
                  </c:pt>
                  <c:pt idx="7">
                    <c:v>0.16800000000000001</c:v>
                  </c:pt>
                  <c:pt idx="8">
                    <c:v>0.438</c:v>
                  </c:pt>
                  <c:pt idx="9">
                    <c:v>0.34</c:v>
                  </c:pt>
                  <c:pt idx="10">
                    <c:v>0.17799999999999999</c:v>
                  </c:pt>
                  <c:pt idx="11">
                    <c:v>0.16400000000000001</c:v>
                  </c:pt>
                  <c:pt idx="12">
                    <c:v>0.159</c:v>
                  </c:pt>
                  <c:pt idx="13">
                    <c:v>6.7000000000000004E-2</c:v>
                  </c:pt>
                  <c:pt idx="14">
                    <c:v>8.1000000000000003E-2</c:v>
                  </c:pt>
                  <c:pt idx="15">
                    <c:v>9.4E-2</c:v>
                  </c:pt>
                  <c:pt idx="16">
                    <c:v>0.10100000000000001</c:v>
                  </c:pt>
                  <c:pt idx="17">
                    <c:v>0.16900000000000001</c:v>
                  </c:pt>
                  <c:pt idx="18">
                    <c:v>0.113</c:v>
                  </c:pt>
                  <c:pt idx="19">
                    <c:v>0.34200000000000003</c:v>
                  </c:pt>
                  <c:pt idx="20">
                    <c:v>0.28499999999999998</c:v>
                  </c:pt>
                  <c:pt idx="21">
                    <c:v>0.13500000000000001</c:v>
                  </c:pt>
                  <c:pt idx="22">
                    <c:v>0.14899999999999999</c:v>
                  </c:pt>
                  <c:pt idx="23">
                    <c:v>0.17</c:v>
                  </c:pt>
                  <c:pt idx="24">
                    <c:v>9.5000000000000001E-2</c:v>
                  </c:pt>
                  <c:pt idx="25">
                    <c:v>0.182</c:v>
                  </c:pt>
                  <c:pt idx="26">
                    <c:v>0.255</c:v>
                  </c:pt>
                </c:numCache>
              </c:numRef>
            </c:plus>
            <c:minus>
              <c:numRef>
                <c:f>'図01_熱電対の偏差'!$G$2:$G$28</c:f>
                <c:numCache>
                  <c:formatCode>General</c:formatCode>
                  <c:ptCount val="27"/>
                  <c:pt idx="0">
                    <c:v>0.17599999999999999</c:v>
                  </c:pt>
                  <c:pt idx="1">
                    <c:v>0.38100000000000001</c:v>
                  </c:pt>
                  <c:pt idx="2">
                    <c:v>0.38200000000000001</c:v>
                  </c:pt>
                  <c:pt idx="3">
                    <c:v>0.217</c:v>
                  </c:pt>
                  <c:pt idx="4">
                    <c:v>0.188</c:v>
                  </c:pt>
                  <c:pt idx="5">
                    <c:v>0.17</c:v>
                  </c:pt>
                  <c:pt idx="6">
                    <c:v>0.311</c:v>
                  </c:pt>
                  <c:pt idx="7">
                    <c:v>0.22800000000000001</c:v>
                  </c:pt>
                  <c:pt idx="8">
                    <c:v>0.40200000000000002</c:v>
                  </c:pt>
                  <c:pt idx="9">
                    <c:v>0.51900000000000002</c:v>
                  </c:pt>
                  <c:pt idx="10">
                    <c:v>0.13600000000000001</c:v>
                  </c:pt>
                  <c:pt idx="11">
                    <c:v>0.14899999999999999</c:v>
                  </c:pt>
                  <c:pt idx="12">
                    <c:v>0.45</c:v>
                  </c:pt>
                  <c:pt idx="13">
                    <c:v>0.20899999999999999</c:v>
                  </c:pt>
                  <c:pt idx="14">
                    <c:v>0.28699999999999998</c:v>
                  </c:pt>
                  <c:pt idx="15">
                    <c:v>8.7999999999999995E-2</c:v>
                  </c:pt>
                  <c:pt idx="16">
                    <c:v>0.11799999999999999</c:v>
                  </c:pt>
                  <c:pt idx="17">
                    <c:v>0.223</c:v>
                  </c:pt>
                  <c:pt idx="18">
                    <c:v>0.25</c:v>
                  </c:pt>
                  <c:pt idx="19">
                    <c:v>0.51700000000000002</c:v>
                  </c:pt>
                  <c:pt idx="20">
                    <c:v>0.48599999999999999</c:v>
                  </c:pt>
                  <c:pt idx="21">
                    <c:v>0.183</c:v>
                  </c:pt>
                  <c:pt idx="22">
                    <c:v>0.26300000000000001</c:v>
                  </c:pt>
                  <c:pt idx="23">
                    <c:v>0.374</c:v>
                  </c:pt>
                  <c:pt idx="24">
                    <c:v>8.5000000000000006E-2</c:v>
                  </c:pt>
                  <c:pt idx="25">
                    <c:v>0.32800000000000001</c:v>
                  </c:pt>
                  <c:pt idx="26">
                    <c:v>0.21199999999999999</c:v>
                  </c:pt>
                </c:numCache>
              </c:numRef>
            </c:minus>
            <c:spPr>
              <a:ln w="15875" cap="rnd">
                <a:solidFill>
                  <a:srgbClr val="118DFF"/>
                </a:solidFill>
                <a:round/>
              </a:ln>
            </c:spPr>
          </c:errBars>
          <c:cat>
            <c:strRef>
              <c:f>'図01_熱電対の偏差'!$A$2:$A$28</c:f>
              <c:strCache>
                <c:ptCount val="27"/>
                <c:pt idx="0">
                  <c:v>3-1正</c:v>
                </c:pt>
                <c:pt idx="1">
                  <c:v>3-1北</c:v>
                </c:pt>
                <c:pt idx="2">
                  <c:v>3-1南</c:v>
                </c:pt>
                <c:pt idx="3">
                  <c:v>3-2正</c:v>
                </c:pt>
                <c:pt idx="4">
                  <c:v>3-2北</c:v>
                </c:pt>
                <c:pt idx="5">
                  <c:v>3-2南</c:v>
                </c:pt>
                <c:pt idx="6">
                  <c:v>3-3正</c:v>
                </c:pt>
                <c:pt idx="7">
                  <c:v>3-3北</c:v>
                </c:pt>
                <c:pt idx="8">
                  <c:v>3-3南</c:v>
                </c:pt>
                <c:pt idx="9">
                  <c:v>8-1正</c:v>
                </c:pt>
                <c:pt idx="10">
                  <c:v>8-1北</c:v>
                </c:pt>
                <c:pt idx="11">
                  <c:v>8-1南</c:v>
                </c:pt>
                <c:pt idx="12">
                  <c:v>8-2正</c:v>
                </c:pt>
                <c:pt idx="13">
                  <c:v>8-2北</c:v>
                </c:pt>
                <c:pt idx="14">
                  <c:v>8-2南</c:v>
                </c:pt>
                <c:pt idx="15">
                  <c:v>8-3正</c:v>
                </c:pt>
                <c:pt idx="16">
                  <c:v>8-3北</c:v>
                </c:pt>
                <c:pt idx="17">
                  <c:v>8-3南</c:v>
                </c:pt>
                <c:pt idx="18">
                  <c:v>11-1正</c:v>
                </c:pt>
                <c:pt idx="19">
                  <c:v>11-1北</c:v>
                </c:pt>
                <c:pt idx="20">
                  <c:v>11-1南</c:v>
                </c:pt>
                <c:pt idx="21">
                  <c:v>11-2正</c:v>
                </c:pt>
                <c:pt idx="22">
                  <c:v>11-2北</c:v>
                </c:pt>
                <c:pt idx="23">
                  <c:v>11-2南</c:v>
                </c:pt>
                <c:pt idx="24">
                  <c:v>11-3正</c:v>
                </c:pt>
                <c:pt idx="25">
                  <c:v>11-3北</c:v>
                </c:pt>
                <c:pt idx="26">
                  <c:v>11-3南</c:v>
                </c:pt>
              </c:strCache>
            </c:strRef>
          </c:cat>
          <c:val>
            <c:numRef>
              <c:f>'図01_熱電対の偏差'!$D$2:$D$28</c:f>
              <c:numCache>
                <c:formatCode>General</c:formatCode>
                <c:ptCount val="27"/>
                <c:pt idx="18">
                  <c:v>-0.06</c:v>
                </c:pt>
                <c:pt idx="19">
                  <c:v>-0.19</c:v>
                </c:pt>
                <c:pt idx="20">
                  <c:v>-0.21</c:v>
                </c:pt>
                <c:pt idx="21">
                  <c:v>6.0000000000000001E-3</c:v>
                </c:pt>
                <c:pt idx="22">
                  <c:v>-3.1E-2</c:v>
                </c:pt>
                <c:pt idx="23">
                  <c:v>-6.5000000000000002E-2</c:v>
                </c:pt>
                <c:pt idx="24">
                  <c:v>-6.0000000000000001E-3</c:v>
                </c:pt>
                <c:pt idx="25">
                  <c:v>-9.1999999999999998E-2</c:v>
                </c:pt>
                <c:pt idx="26">
                  <c:v>-0.03</c:v>
                </c:pt>
              </c:numCache>
            </c:numRef>
          </c:val>
          <c:smooth val="0"/>
          <c:extLst>
            <c:ext xmlns:c16="http://schemas.microsoft.com/office/drawing/2014/chart" uri="{C3380CC4-5D6E-409C-BE32-E72D297353CC}">
              <c16:uniqueId val="{00000002-1796-664F-85FA-D11A2FF80CB9}"/>
            </c:ext>
          </c:extLst>
        </c:ser>
        <c:ser>
          <c:idx val="3"/>
          <c:order val="3"/>
          <c:tx>
            <c:strRef>
              <c:f>'図01_熱電対の偏差'!$I$1</c:f>
              <c:strCache>
                <c:ptCount val="1"/>
                <c:pt idx="0">
                  <c:v>±0.3℃</c:v>
                </c:pt>
              </c:strCache>
            </c:strRef>
          </c:tx>
          <c:spPr>
            <a:ln w="12700" cap="rnd">
              <a:solidFill>
                <a:srgbClr val="9AA5B1"/>
              </a:solidFill>
              <a:prstDash val="dash"/>
              <a:round/>
            </a:ln>
          </c:spPr>
          <c:marker>
            <c:symbol val="none"/>
          </c:marker>
          <c:cat>
            <c:strRef>
              <c:f>'図01_熱電対の偏差'!$A$2:$A$28</c:f>
              <c:strCache>
                <c:ptCount val="27"/>
                <c:pt idx="0">
                  <c:v>3-1正</c:v>
                </c:pt>
                <c:pt idx="1">
                  <c:v>3-1北</c:v>
                </c:pt>
                <c:pt idx="2">
                  <c:v>3-1南</c:v>
                </c:pt>
                <c:pt idx="3">
                  <c:v>3-2正</c:v>
                </c:pt>
                <c:pt idx="4">
                  <c:v>3-2北</c:v>
                </c:pt>
                <c:pt idx="5">
                  <c:v>3-2南</c:v>
                </c:pt>
                <c:pt idx="6">
                  <c:v>3-3正</c:v>
                </c:pt>
                <c:pt idx="7">
                  <c:v>3-3北</c:v>
                </c:pt>
                <c:pt idx="8">
                  <c:v>3-3南</c:v>
                </c:pt>
                <c:pt idx="9">
                  <c:v>8-1正</c:v>
                </c:pt>
                <c:pt idx="10">
                  <c:v>8-1北</c:v>
                </c:pt>
                <c:pt idx="11">
                  <c:v>8-1南</c:v>
                </c:pt>
                <c:pt idx="12">
                  <c:v>8-2正</c:v>
                </c:pt>
                <c:pt idx="13">
                  <c:v>8-2北</c:v>
                </c:pt>
                <c:pt idx="14">
                  <c:v>8-2南</c:v>
                </c:pt>
                <c:pt idx="15">
                  <c:v>8-3正</c:v>
                </c:pt>
                <c:pt idx="16">
                  <c:v>8-3北</c:v>
                </c:pt>
                <c:pt idx="17">
                  <c:v>8-3南</c:v>
                </c:pt>
                <c:pt idx="18">
                  <c:v>11-1正</c:v>
                </c:pt>
                <c:pt idx="19">
                  <c:v>11-1北</c:v>
                </c:pt>
                <c:pt idx="20">
                  <c:v>11-1南</c:v>
                </c:pt>
                <c:pt idx="21">
                  <c:v>11-2正</c:v>
                </c:pt>
                <c:pt idx="22">
                  <c:v>11-2北</c:v>
                </c:pt>
                <c:pt idx="23">
                  <c:v>11-2南</c:v>
                </c:pt>
                <c:pt idx="24">
                  <c:v>11-3正</c:v>
                </c:pt>
                <c:pt idx="25">
                  <c:v>11-3北</c:v>
                </c:pt>
                <c:pt idx="26">
                  <c:v>11-3南</c:v>
                </c:pt>
              </c:strCache>
            </c:strRef>
          </c:cat>
          <c:val>
            <c:numRef>
              <c:f>'図01_熱電対の偏差'!$I$2:$I$28</c:f>
              <c:numCache>
                <c:formatCode>General</c:formatCode>
                <c:ptCount val="27"/>
                <c:pt idx="0">
                  <c:v>0.3</c:v>
                </c:pt>
                <c:pt idx="1">
                  <c:v>0.3</c:v>
                </c:pt>
                <c:pt idx="2">
                  <c:v>0.3</c:v>
                </c:pt>
                <c:pt idx="3">
                  <c:v>0.3</c:v>
                </c:pt>
                <c:pt idx="4">
                  <c:v>0.3</c:v>
                </c:pt>
                <c:pt idx="5">
                  <c:v>0.3</c:v>
                </c:pt>
                <c:pt idx="6">
                  <c:v>0.3</c:v>
                </c:pt>
                <c:pt idx="7">
                  <c:v>0.3</c:v>
                </c:pt>
                <c:pt idx="8">
                  <c:v>0.3</c:v>
                </c:pt>
                <c:pt idx="9">
                  <c:v>0.3</c:v>
                </c:pt>
                <c:pt idx="10">
                  <c:v>0.3</c:v>
                </c:pt>
                <c:pt idx="11">
                  <c:v>0.3</c:v>
                </c:pt>
                <c:pt idx="12">
                  <c:v>0.3</c:v>
                </c:pt>
                <c:pt idx="13">
                  <c:v>0.3</c:v>
                </c:pt>
                <c:pt idx="14">
                  <c:v>0.3</c:v>
                </c:pt>
                <c:pt idx="15">
                  <c:v>0.3</c:v>
                </c:pt>
                <c:pt idx="16">
                  <c:v>0.3</c:v>
                </c:pt>
                <c:pt idx="17">
                  <c:v>0.3</c:v>
                </c:pt>
                <c:pt idx="18">
                  <c:v>0.3</c:v>
                </c:pt>
                <c:pt idx="19">
                  <c:v>0.3</c:v>
                </c:pt>
                <c:pt idx="20">
                  <c:v>0.3</c:v>
                </c:pt>
                <c:pt idx="21">
                  <c:v>0.3</c:v>
                </c:pt>
                <c:pt idx="22">
                  <c:v>0.3</c:v>
                </c:pt>
                <c:pt idx="23">
                  <c:v>0.3</c:v>
                </c:pt>
                <c:pt idx="24">
                  <c:v>0.3</c:v>
                </c:pt>
                <c:pt idx="25">
                  <c:v>0.3</c:v>
                </c:pt>
                <c:pt idx="26">
                  <c:v>0.3</c:v>
                </c:pt>
              </c:numCache>
            </c:numRef>
          </c:val>
          <c:smooth val="0"/>
          <c:extLst>
            <c:ext xmlns:c16="http://schemas.microsoft.com/office/drawing/2014/chart" uri="{C3380CC4-5D6E-409C-BE32-E72D297353CC}">
              <c16:uniqueId val="{00000003-1796-664F-85FA-D11A2FF80CB9}"/>
            </c:ext>
          </c:extLst>
        </c:ser>
        <c:ser>
          <c:idx val="4"/>
          <c:order val="4"/>
          <c:tx>
            <c:strRef>
              <c:f>'図01_熱電対の偏差'!$J$1</c:f>
              <c:strCache>
                <c:ptCount val="1"/>
                <c:pt idx="0">
                  <c:v>−0.3</c:v>
                </c:pt>
              </c:strCache>
            </c:strRef>
          </c:tx>
          <c:spPr>
            <a:ln w="12700" cap="rnd">
              <a:solidFill>
                <a:srgbClr val="9AA5B1"/>
              </a:solidFill>
              <a:prstDash val="dash"/>
              <a:round/>
            </a:ln>
          </c:spPr>
          <c:marker>
            <c:symbol val="none"/>
          </c:marker>
          <c:cat>
            <c:strRef>
              <c:f>'図01_熱電対の偏差'!$A$2:$A$28</c:f>
              <c:strCache>
                <c:ptCount val="27"/>
                <c:pt idx="0">
                  <c:v>3-1正</c:v>
                </c:pt>
                <c:pt idx="1">
                  <c:v>3-1北</c:v>
                </c:pt>
                <c:pt idx="2">
                  <c:v>3-1南</c:v>
                </c:pt>
                <c:pt idx="3">
                  <c:v>3-2正</c:v>
                </c:pt>
                <c:pt idx="4">
                  <c:v>3-2北</c:v>
                </c:pt>
                <c:pt idx="5">
                  <c:v>3-2南</c:v>
                </c:pt>
                <c:pt idx="6">
                  <c:v>3-3正</c:v>
                </c:pt>
                <c:pt idx="7">
                  <c:v>3-3北</c:v>
                </c:pt>
                <c:pt idx="8">
                  <c:v>3-3南</c:v>
                </c:pt>
                <c:pt idx="9">
                  <c:v>8-1正</c:v>
                </c:pt>
                <c:pt idx="10">
                  <c:v>8-1北</c:v>
                </c:pt>
                <c:pt idx="11">
                  <c:v>8-1南</c:v>
                </c:pt>
                <c:pt idx="12">
                  <c:v>8-2正</c:v>
                </c:pt>
                <c:pt idx="13">
                  <c:v>8-2北</c:v>
                </c:pt>
                <c:pt idx="14">
                  <c:v>8-2南</c:v>
                </c:pt>
                <c:pt idx="15">
                  <c:v>8-3正</c:v>
                </c:pt>
                <c:pt idx="16">
                  <c:v>8-3北</c:v>
                </c:pt>
                <c:pt idx="17">
                  <c:v>8-3南</c:v>
                </c:pt>
                <c:pt idx="18">
                  <c:v>11-1正</c:v>
                </c:pt>
                <c:pt idx="19">
                  <c:v>11-1北</c:v>
                </c:pt>
                <c:pt idx="20">
                  <c:v>11-1南</c:v>
                </c:pt>
                <c:pt idx="21">
                  <c:v>11-2正</c:v>
                </c:pt>
                <c:pt idx="22">
                  <c:v>11-2北</c:v>
                </c:pt>
                <c:pt idx="23">
                  <c:v>11-2南</c:v>
                </c:pt>
                <c:pt idx="24">
                  <c:v>11-3正</c:v>
                </c:pt>
                <c:pt idx="25">
                  <c:v>11-3北</c:v>
                </c:pt>
                <c:pt idx="26">
                  <c:v>11-3南</c:v>
                </c:pt>
              </c:strCache>
            </c:strRef>
          </c:cat>
          <c:val>
            <c:numRef>
              <c:f>'図01_熱電対の偏差'!$J$2:$J$28</c:f>
              <c:numCache>
                <c:formatCode>General</c:formatCode>
                <c:ptCount val="27"/>
                <c:pt idx="0">
                  <c:v>-0.3</c:v>
                </c:pt>
                <c:pt idx="1">
                  <c:v>-0.3</c:v>
                </c:pt>
                <c:pt idx="2">
                  <c:v>-0.3</c:v>
                </c:pt>
                <c:pt idx="3">
                  <c:v>-0.3</c:v>
                </c:pt>
                <c:pt idx="4">
                  <c:v>-0.3</c:v>
                </c:pt>
                <c:pt idx="5">
                  <c:v>-0.3</c:v>
                </c:pt>
                <c:pt idx="6">
                  <c:v>-0.3</c:v>
                </c:pt>
                <c:pt idx="7">
                  <c:v>-0.3</c:v>
                </c:pt>
                <c:pt idx="8">
                  <c:v>-0.3</c:v>
                </c:pt>
                <c:pt idx="9">
                  <c:v>-0.3</c:v>
                </c:pt>
                <c:pt idx="10">
                  <c:v>-0.3</c:v>
                </c:pt>
                <c:pt idx="11">
                  <c:v>-0.3</c:v>
                </c:pt>
                <c:pt idx="12">
                  <c:v>-0.3</c:v>
                </c:pt>
                <c:pt idx="13">
                  <c:v>-0.3</c:v>
                </c:pt>
                <c:pt idx="14">
                  <c:v>-0.3</c:v>
                </c:pt>
                <c:pt idx="15">
                  <c:v>-0.3</c:v>
                </c:pt>
                <c:pt idx="16">
                  <c:v>-0.3</c:v>
                </c:pt>
                <c:pt idx="17">
                  <c:v>-0.3</c:v>
                </c:pt>
                <c:pt idx="18">
                  <c:v>-0.3</c:v>
                </c:pt>
                <c:pt idx="19">
                  <c:v>-0.3</c:v>
                </c:pt>
                <c:pt idx="20">
                  <c:v>-0.3</c:v>
                </c:pt>
                <c:pt idx="21">
                  <c:v>-0.3</c:v>
                </c:pt>
                <c:pt idx="22">
                  <c:v>-0.3</c:v>
                </c:pt>
                <c:pt idx="23">
                  <c:v>-0.3</c:v>
                </c:pt>
                <c:pt idx="24">
                  <c:v>-0.3</c:v>
                </c:pt>
                <c:pt idx="25">
                  <c:v>-0.3</c:v>
                </c:pt>
                <c:pt idx="26">
                  <c:v>-0.3</c:v>
                </c:pt>
              </c:numCache>
            </c:numRef>
          </c:val>
          <c:smooth val="0"/>
          <c:extLst>
            <c:ext xmlns:c16="http://schemas.microsoft.com/office/drawing/2014/chart" uri="{C3380CC4-5D6E-409C-BE32-E72D297353CC}">
              <c16:uniqueId val="{00000004-1796-664F-85FA-D11A2FF80CB9}"/>
            </c:ext>
          </c:extLst>
        </c:ser>
        <c:dLbls>
          <c:showLegendKey val="0"/>
          <c:showVal val="0"/>
          <c:showCatName val="0"/>
          <c:showSerName val="0"/>
          <c:showPercent val="0"/>
          <c:showBubbleSize val="0"/>
        </c:dLbls>
        <c:marker val="1"/>
        <c:smooth val="0"/>
        <c:axId val="10"/>
        <c:axId val="20"/>
      </c:lineChart>
      <c:catAx>
        <c:axId val="10"/>
        <c:scaling>
          <c:orientation val="minMax"/>
        </c:scaling>
        <c:delete val="0"/>
        <c:axPos val="b"/>
        <c:numFmt formatCode="General" sourceLinked="1"/>
        <c:majorTickMark val="none"/>
        <c:minorTickMark val="none"/>
        <c:tickLblPos val="low"/>
        <c:spPr>
          <a:ln w="15875" cap="rnd">
            <a:solidFill>
              <a:srgbClr val="5E6B7A"/>
            </a:solidFill>
            <a:round/>
          </a:ln>
        </c:spPr>
        <c:txPr>
          <a:bodyPr rot="-5400000" vert="horz"/>
          <a:lstStyle/>
          <a:p>
            <a:pPr>
              <a:defRPr/>
            </a:pPr>
            <a:endParaRPr lang="ja-JP"/>
          </a:p>
        </c:txPr>
        <c:crossAx val="20"/>
        <c:crosses val="autoZero"/>
        <c:auto val="1"/>
        <c:lblAlgn val="ctr"/>
        <c:lblOffset val="100"/>
        <c:noMultiLvlLbl val="0"/>
      </c:catAx>
      <c:valAx>
        <c:axId val="20"/>
        <c:scaling>
          <c:orientation val="minMax"/>
          <c:max val="1"/>
          <c:min val="-1"/>
        </c:scaling>
        <c:delete val="0"/>
        <c:axPos val="l"/>
        <c:majorGridlines>
          <c:spPr>
            <a:ln w="9525" cap="rnd">
              <a:solidFill>
                <a:srgbClr val="E3E7EC"/>
              </a:solidFill>
              <a:round/>
            </a:ln>
          </c:spPr>
        </c:majorGridlines>
        <c:title>
          <c:tx>
            <c:rich>
              <a:bodyPr rot="-5400000" vert="horz"/>
              <a:lstStyle/>
              <a:p>
                <a:pPr>
                  <a:defRPr sz="900" b="0"/>
                </a:pPr>
                <a:r>
                  <a:rPr lang="ja-JP" sz="900" b="0"/>
                  <a:t>偏差［℃］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5"/>
      </c:valAx>
    </c:plotArea>
    <c:legend>
      <c:legendPos val="t"/>
      <c:legendEntry>
        <c:idx val="4"/>
        <c:delete val="1"/>
      </c:legendEntry>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16"/>
          <c:y val="0.17"/>
          <c:w val="0.8"/>
          <c:h val="0.63"/>
        </c:manualLayout>
      </c:layout>
      <c:lineChart>
        <c:grouping val="standard"/>
        <c:varyColors val="0"/>
        <c:ser>
          <c:idx val="0"/>
          <c:order val="0"/>
          <c:tx>
            <c:strRef>
              <c:f>'図02_分析1_列8'!$D$1</c:f>
              <c:strCache>
                <c:ptCount val="1"/>
                <c:pt idx="0">
                  <c:v>列3（なし）</c:v>
                </c:pt>
              </c:strCache>
            </c:strRef>
          </c:tx>
          <c:spPr>
            <a:ln w="25400" cap="rnd">
              <a:solidFill>
                <a:srgbClr val="5E6B7A"/>
              </a:solidFill>
              <a:round/>
            </a:ln>
          </c:spPr>
          <c:marker>
            <c:symbol val="none"/>
          </c:marker>
          <c:cat>
            <c:strRef>
              <c:f>'図02_分析1_列8'!$B$2:$B$48</c:f>
              <c:strCache>
                <c:ptCount val="47"/>
                <c:pt idx="0">
                  <c:v>07-30</c:v>
                </c:pt>
                <c:pt idx="7">
                  <c:v>08-06</c:v>
                </c:pt>
                <c:pt idx="14">
                  <c:v>08-13</c:v>
                </c:pt>
                <c:pt idx="21">
                  <c:v>08-20</c:v>
                </c:pt>
                <c:pt idx="28">
                  <c:v>08-27</c:v>
                </c:pt>
                <c:pt idx="35">
                  <c:v>09-03</c:v>
                </c:pt>
                <c:pt idx="42">
                  <c:v>09-10</c:v>
                </c:pt>
              </c:strCache>
            </c:strRef>
          </c:cat>
          <c:val>
            <c:numRef>
              <c:f>'図02_分析1_列8'!$D$2:$D$48</c:f>
              <c:numCache>
                <c:formatCode>General</c:formatCode>
                <c:ptCount val="47"/>
                <c:pt idx="0">
                  <c:v>34.926000000000002</c:v>
                </c:pt>
                <c:pt idx="1">
                  <c:v>34.206000000000003</c:v>
                </c:pt>
                <c:pt idx="2">
                  <c:v>34.753</c:v>
                </c:pt>
                <c:pt idx="3">
                  <c:v>33.287999999999997</c:v>
                </c:pt>
                <c:pt idx="4">
                  <c:v>27.312999999999999</c:v>
                </c:pt>
                <c:pt idx="5">
                  <c:v>29.184000000000001</c:v>
                </c:pt>
                <c:pt idx="6">
                  <c:v>30.422000000000001</c:v>
                </c:pt>
                <c:pt idx="7">
                  <c:v>30.489000000000001</c:v>
                </c:pt>
                <c:pt idx="8">
                  <c:v>33.125999999999998</c:v>
                </c:pt>
                <c:pt idx="9">
                  <c:v>32.823999999999998</c:v>
                </c:pt>
                <c:pt idx="10">
                  <c:v>32.281999999999996</c:v>
                </c:pt>
                <c:pt idx="11">
                  <c:v>30.547999999999998</c:v>
                </c:pt>
                <c:pt idx="12">
                  <c:v>29.041</c:v>
                </c:pt>
                <c:pt idx="13">
                  <c:v>28.187000000000001</c:v>
                </c:pt>
                <c:pt idx="14">
                  <c:v>26.742999999999999</c:v>
                </c:pt>
                <c:pt idx="15">
                  <c:v>29.335000000000001</c:v>
                </c:pt>
                <c:pt idx="16">
                  <c:v>27.725000000000001</c:v>
                </c:pt>
                <c:pt idx="17">
                  <c:v>25.86</c:v>
                </c:pt>
                <c:pt idx="18">
                  <c:v>29.876999999999999</c:v>
                </c:pt>
                <c:pt idx="19">
                  <c:v>30.986999999999998</c:v>
                </c:pt>
                <c:pt idx="20">
                  <c:v>31.379000000000001</c:v>
                </c:pt>
                <c:pt idx="21">
                  <c:v>31.916</c:v>
                </c:pt>
                <c:pt idx="22">
                  <c:v>31.370999999999999</c:v>
                </c:pt>
                <c:pt idx="23">
                  <c:v>29.327000000000002</c:v>
                </c:pt>
                <c:pt idx="24">
                  <c:v>29.786999999999999</c:v>
                </c:pt>
                <c:pt idx="25">
                  <c:v>32.878</c:v>
                </c:pt>
                <c:pt idx="26">
                  <c:v>34.29</c:v>
                </c:pt>
                <c:pt idx="27">
                  <c:v>33.878</c:v>
                </c:pt>
                <c:pt idx="28">
                  <c:v>28.856999999999999</c:v>
                </c:pt>
                <c:pt idx="29">
                  <c:v>32.106999999999999</c:v>
                </c:pt>
                <c:pt idx="30">
                  <c:v>23.507000000000001</c:v>
                </c:pt>
                <c:pt idx="31">
                  <c:v>26.364000000000001</c:v>
                </c:pt>
                <c:pt idx="32">
                  <c:v>27.722999999999999</c:v>
                </c:pt>
                <c:pt idx="33">
                  <c:v>28.617999999999999</c:v>
                </c:pt>
                <c:pt idx="34">
                  <c:v>30.59</c:v>
                </c:pt>
                <c:pt idx="35">
                  <c:v>30.393999999999998</c:v>
                </c:pt>
                <c:pt idx="36">
                  <c:v>26.734000000000002</c:v>
                </c:pt>
                <c:pt idx="37">
                  <c:v>24.620999999999999</c:v>
                </c:pt>
                <c:pt idx="38">
                  <c:v>21.956</c:v>
                </c:pt>
                <c:pt idx="39">
                  <c:v>24.8</c:v>
                </c:pt>
                <c:pt idx="40">
                  <c:v>28.273</c:v>
                </c:pt>
                <c:pt idx="41">
                  <c:v>29.643999999999998</c:v>
                </c:pt>
                <c:pt idx="42">
                  <c:v>22.882000000000001</c:v>
                </c:pt>
                <c:pt idx="43">
                  <c:v>21.23</c:v>
                </c:pt>
                <c:pt idx="44">
                  <c:v>24.288</c:v>
                </c:pt>
                <c:pt idx="45">
                  <c:v>24.85</c:v>
                </c:pt>
                <c:pt idx="46">
                  <c:v>31.417000000000002</c:v>
                </c:pt>
              </c:numCache>
            </c:numRef>
          </c:val>
          <c:smooth val="0"/>
          <c:extLst>
            <c:ext xmlns:c16="http://schemas.microsoft.com/office/drawing/2014/chart" uri="{C3380CC4-5D6E-409C-BE32-E72D297353CC}">
              <c16:uniqueId val="{00000000-561A-E748-9D33-7EEEEF322C98}"/>
            </c:ext>
          </c:extLst>
        </c:ser>
        <c:ser>
          <c:idx val="1"/>
          <c:order val="1"/>
          <c:tx>
            <c:strRef>
              <c:f>'図02_分析1_列8'!$E$1</c:f>
              <c:strCache>
                <c:ptCount val="1"/>
                <c:pt idx="0">
                  <c:v>列8（あり）</c:v>
                </c:pt>
              </c:strCache>
            </c:strRef>
          </c:tx>
          <c:spPr>
            <a:ln w="25400" cap="rnd">
              <a:solidFill>
                <a:srgbClr val="01B8AA"/>
              </a:solidFill>
              <a:round/>
            </a:ln>
          </c:spPr>
          <c:marker>
            <c:symbol val="none"/>
          </c:marker>
          <c:cat>
            <c:strRef>
              <c:f>'図02_分析1_列8'!$B$2:$B$48</c:f>
              <c:strCache>
                <c:ptCount val="47"/>
                <c:pt idx="0">
                  <c:v>07-30</c:v>
                </c:pt>
                <c:pt idx="7">
                  <c:v>08-06</c:v>
                </c:pt>
                <c:pt idx="14">
                  <c:v>08-13</c:v>
                </c:pt>
                <c:pt idx="21">
                  <c:v>08-20</c:v>
                </c:pt>
                <c:pt idx="28">
                  <c:v>08-27</c:v>
                </c:pt>
                <c:pt idx="35">
                  <c:v>09-03</c:v>
                </c:pt>
                <c:pt idx="42">
                  <c:v>09-10</c:v>
                </c:pt>
              </c:strCache>
            </c:strRef>
          </c:cat>
          <c:val>
            <c:numRef>
              <c:f>'図02_分析1_列8'!$E$2:$E$48</c:f>
              <c:numCache>
                <c:formatCode>General</c:formatCode>
                <c:ptCount val="47"/>
                <c:pt idx="0">
                  <c:v>35.374000000000002</c:v>
                </c:pt>
                <c:pt idx="1">
                  <c:v>34.618000000000002</c:v>
                </c:pt>
                <c:pt idx="2">
                  <c:v>34.728000000000002</c:v>
                </c:pt>
                <c:pt idx="3">
                  <c:v>33.840000000000003</c:v>
                </c:pt>
                <c:pt idx="4">
                  <c:v>27.433</c:v>
                </c:pt>
                <c:pt idx="5">
                  <c:v>29.277000000000001</c:v>
                </c:pt>
                <c:pt idx="6">
                  <c:v>30.457999999999998</c:v>
                </c:pt>
                <c:pt idx="7">
                  <c:v>30.416</c:v>
                </c:pt>
                <c:pt idx="8">
                  <c:v>32.877000000000002</c:v>
                </c:pt>
                <c:pt idx="9">
                  <c:v>32.216999999999999</c:v>
                </c:pt>
                <c:pt idx="10">
                  <c:v>32.652999999999999</c:v>
                </c:pt>
                <c:pt idx="11">
                  <c:v>30.927</c:v>
                </c:pt>
                <c:pt idx="12">
                  <c:v>28.613</c:v>
                </c:pt>
                <c:pt idx="13">
                  <c:v>28.042000000000002</c:v>
                </c:pt>
                <c:pt idx="14">
                  <c:v>26.414000000000001</c:v>
                </c:pt>
                <c:pt idx="15">
                  <c:v>29.215</c:v>
                </c:pt>
                <c:pt idx="16">
                  <c:v>27.582000000000001</c:v>
                </c:pt>
                <c:pt idx="17">
                  <c:v>25.152999999999999</c:v>
                </c:pt>
                <c:pt idx="18">
                  <c:v>29.751999999999999</c:v>
                </c:pt>
                <c:pt idx="19">
                  <c:v>31.251999999999999</c:v>
                </c:pt>
                <c:pt idx="20">
                  <c:v>31.635999999999999</c:v>
                </c:pt>
                <c:pt idx="21">
                  <c:v>32.255000000000003</c:v>
                </c:pt>
                <c:pt idx="22">
                  <c:v>31.463999999999999</c:v>
                </c:pt>
                <c:pt idx="23">
                  <c:v>28.853999999999999</c:v>
                </c:pt>
                <c:pt idx="24">
                  <c:v>29.542999999999999</c:v>
                </c:pt>
                <c:pt idx="25">
                  <c:v>33.115000000000002</c:v>
                </c:pt>
                <c:pt idx="26">
                  <c:v>34.600999999999999</c:v>
                </c:pt>
                <c:pt idx="27">
                  <c:v>34.353000000000002</c:v>
                </c:pt>
                <c:pt idx="28">
                  <c:v>28.574000000000002</c:v>
                </c:pt>
                <c:pt idx="29">
                  <c:v>32.472999999999999</c:v>
                </c:pt>
                <c:pt idx="30">
                  <c:v>22.635000000000002</c:v>
                </c:pt>
                <c:pt idx="31">
                  <c:v>25.61</c:v>
                </c:pt>
                <c:pt idx="32">
                  <c:v>27.544</c:v>
                </c:pt>
                <c:pt idx="33">
                  <c:v>28.484999999999999</c:v>
                </c:pt>
                <c:pt idx="34">
                  <c:v>30.352</c:v>
                </c:pt>
                <c:pt idx="35">
                  <c:v>30.106000000000002</c:v>
                </c:pt>
                <c:pt idx="36">
                  <c:v>26.344999999999999</c:v>
                </c:pt>
                <c:pt idx="37">
                  <c:v>24.210999999999999</c:v>
                </c:pt>
                <c:pt idx="38">
                  <c:v>20.318999999999999</c:v>
                </c:pt>
                <c:pt idx="39">
                  <c:v>23.966000000000001</c:v>
                </c:pt>
                <c:pt idx="40">
                  <c:v>27.719000000000001</c:v>
                </c:pt>
                <c:pt idx="41">
                  <c:v>29.021000000000001</c:v>
                </c:pt>
                <c:pt idx="42">
                  <c:v>22.132999999999999</c:v>
                </c:pt>
                <c:pt idx="43">
                  <c:v>20.829000000000001</c:v>
                </c:pt>
                <c:pt idx="44">
                  <c:v>22.736000000000001</c:v>
                </c:pt>
                <c:pt idx="45">
                  <c:v>23.893000000000001</c:v>
                </c:pt>
                <c:pt idx="46">
                  <c:v>31.373999999999999</c:v>
                </c:pt>
              </c:numCache>
            </c:numRef>
          </c:val>
          <c:smooth val="0"/>
          <c:extLst>
            <c:ext xmlns:c16="http://schemas.microsoft.com/office/drawing/2014/chart" uri="{C3380CC4-5D6E-409C-BE32-E72D297353CC}">
              <c16:uniqueId val="{00000001-561A-E748-9D33-7EEEEF322C98}"/>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out"/>
        <c:minorTickMark val="none"/>
        <c:tickLblPos val="low"/>
        <c:spPr>
          <a:ln w="9525" cap="rnd">
            <a:solidFill>
              <a:srgbClr val="5E6B7A"/>
            </a:solidFill>
            <a:round/>
          </a:ln>
        </c:spPr>
        <c:crossAx val="20"/>
        <c:crosses val="autoZero"/>
        <c:auto val="1"/>
        <c:lblAlgn val="ctr"/>
        <c:lblOffset val="100"/>
        <c:noMultiLvlLbl val="0"/>
      </c:catAx>
      <c:valAx>
        <c:axId val="20"/>
        <c:scaling>
          <c:orientation val="minMax"/>
          <c:max val="37.5"/>
          <c:min val="20"/>
        </c:scaling>
        <c:delete val="0"/>
        <c:axPos val="l"/>
        <c:majorGridlines>
          <c:spPr>
            <a:ln w="9525" cap="rnd">
              <a:solidFill>
                <a:srgbClr val="E3E7EC"/>
              </a:solidFill>
              <a:round/>
            </a:ln>
          </c:spPr>
        </c:majorGridlines>
        <c:title>
          <c:tx>
            <c:rich>
              <a:bodyPr rot="-5400000" vert="horz"/>
              <a:lstStyle/>
              <a:p>
                <a:pPr>
                  <a:defRPr sz="900" b="0"/>
                </a:pPr>
                <a:r>
                  <a:rPr lang="ja-JP" sz="900" b="0"/>
                  <a:t>吸気温度［℃］</a:t>
                </a:r>
              </a:p>
            </c:rich>
          </c:tx>
          <c:overlay val="0"/>
        </c:title>
        <c:numFmt formatCode="0" sourceLinked="0"/>
        <c:majorTickMark val="out"/>
        <c:minorTickMark val="none"/>
        <c:tickLblPos val="nextTo"/>
        <c:spPr>
          <a:ln w="9525" cap="rnd">
            <a:solidFill>
              <a:srgbClr val="5E6B7A"/>
            </a:solidFill>
            <a:round/>
          </a:ln>
        </c:spPr>
        <c:crossAx val="10"/>
        <c:crosses val="autoZero"/>
        <c:crossBetween val="between"/>
        <c:majorUnit val="5"/>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16"/>
          <c:y val="0.05"/>
          <c:w val="0.8"/>
          <c:h val="0.72"/>
        </c:manualLayout>
      </c:layout>
      <c:barChart>
        <c:barDir val="col"/>
        <c:grouping val="clustered"/>
        <c:varyColors val="0"/>
        <c:ser>
          <c:idx val="0"/>
          <c:order val="0"/>
          <c:tx>
            <c:strRef>
              <c:f>'図02_分析1_列8'!$G$1</c:f>
              <c:strCache>
                <c:ptCount val="1"/>
                <c:pt idx="0">
                  <c:v>列3より低い日</c:v>
                </c:pt>
              </c:strCache>
            </c:strRef>
          </c:tx>
          <c:spPr>
            <a:solidFill>
              <a:srgbClr val="01B8AA"/>
            </a:solidFill>
            <a:ln w="6350" cap="rnd">
              <a:solidFill>
                <a:srgbClr val="01B8AA"/>
              </a:solidFill>
              <a:round/>
            </a:ln>
          </c:spPr>
          <c:invertIfNegative val="0"/>
          <c:cat>
            <c:strRef>
              <c:f>'図02_分析1_列8'!$B$2:$B$48</c:f>
              <c:strCache>
                <c:ptCount val="47"/>
                <c:pt idx="0">
                  <c:v>07-30</c:v>
                </c:pt>
                <c:pt idx="7">
                  <c:v>08-06</c:v>
                </c:pt>
                <c:pt idx="14">
                  <c:v>08-13</c:v>
                </c:pt>
                <c:pt idx="21">
                  <c:v>08-20</c:v>
                </c:pt>
                <c:pt idx="28">
                  <c:v>08-27</c:v>
                </c:pt>
                <c:pt idx="35">
                  <c:v>09-03</c:v>
                </c:pt>
                <c:pt idx="42">
                  <c:v>09-10</c:v>
                </c:pt>
              </c:strCache>
            </c:strRef>
          </c:cat>
          <c:val>
            <c:numRef>
              <c:f>'図02_分析1_列8'!$G$2:$G$48</c:f>
              <c:numCache>
                <c:formatCode>General</c:formatCode>
                <c:ptCount val="47"/>
                <c:pt idx="7">
                  <c:v>-7.2999999999999995E-2</c:v>
                </c:pt>
                <c:pt idx="8">
                  <c:v>-0.249</c:v>
                </c:pt>
                <c:pt idx="13">
                  <c:v>-0.14599999999999999</c:v>
                </c:pt>
                <c:pt idx="14">
                  <c:v>-0.32900000000000001</c:v>
                </c:pt>
                <c:pt idx="15">
                  <c:v>-0.121</c:v>
                </c:pt>
                <c:pt idx="18">
                  <c:v>-0.125</c:v>
                </c:pt>
                <c:pt idx="28">
                  <c:v>-0.28299999999999997</c:v>
                </c:pt>
                <c:pt idx="32">
                  <c:v>-0.17899999999999999</c:v>
                </c:pt>
                <c:pt idx="33">
                  <c:v>-0.13300000000000001</c:v>
                </c:pt>
                <c:pt idx="34">
                  <c:v>-0.23899999999999999</c:v>
                </c:pt>
                <c:pt idx="35">
                  <c:v>-0.28799999999999998</c:v>
                </c:pt>
                <c:pt idx="36">
                  <c:v>-0.38800000000000001</c:v>
                </c:pt>
                <c:pt idx="39">
                  <c:v>-0.83499999999999996</c:v>
                </c:pt>
                <c:pt idx="40">
                  <c:v>-0.55300000000000005</c:v>
                </c:pt>
                <c:pt idx="41">
                  <c:v>-0.623</c:v>
                </c:pt>
                <c:pt idx="42">
                  <c:v>-0.749</c:v>
                </c:pt>
                <c:pt idx="43">
                  <c:v>-0.40100000000000002</c:v>
                </c:pt>
                <c:pt idx="46">
                  <c:v>-4.3999999999999997E-2</c:v>
                </c:pt>
              </c:numCache>
            </c:numRef>
          </c:val>
          <c:extLst>
            <c:ext xmlns:c16="http://schemas.microsoft.com/office/drawing/2014/chart" uri="{C3380CC4-5D6E-409C-BE32-E72D297353CC}">
              <c16:uniqueId val="{00000000-C8BA-7E4E-8086-47EDE47B4EE3}"/>
            </c:ext>
          </c:extLst>
        </c:ser>
        <c:ser>
          <c:idx val="1"/>
          <c:order val="1"/>
          <c:tx>
            <c:strRef>
              <c:f>'図02_分析1_列8'!$H$1</c:f>
              <c:strCache>
                <c:ptCount val="1"/>
                <c:pt idx="0">
                  <c:v>列3より高い日</c:v>
                </c:pt>
              </c:strCache>
            </c:strRef>
          </c:tx>
          <c:spPr>
            <a:solidFill>
              <a:srgbClr val="E66C64"/>
            </a:solidFill>
            <a:ln w="6350" cap="rnd">
              <a:solidFill>
                <a:srgbClr val="E66C64"/>
              </a:solidFill>
              <a:round/>
            </a:ln>
          </c:spPr>
          <c:invertIfNegative val="0"/>
          <c:cat>
            <c:strRef>
              <c:f>'図02_分析1_列8'!$B$2:$B$48</c:f>
              <c:strCache>
                <c:ptCount val="47"/>
                <c:pt idx="0">
                  <c:v>07-30</c:v>
                </c:pt>
                <c:pt idx="7">
                  <c:v>08-06</c:v>
                </c:pt>
                <c:pt idx="14">
                  <c:v>08-13</c:v>
                </c:pt>
                <c:pt idx="21">
                  <c:v>08-20</c:v>
                </c:pt>
                <c:pt idx="28">
                  <c:v>08-27</c:v>
                </c:pt>
                <c:pt idx="35">
                  <c:v>09-03</c:v>
                </c:pt>
                <c:pt idx="42">
                  <c:v>09-10</c:v>
                </c:pt>
              </c:strCache>
            </c:strRef>
          </c:cat>
          <c:val>
            <c:numRef>
              <c:f>'図02_分析1_列8'!$H$2:$H$48</c:f>
              <c:numCache>
                <c:formatCode>General</c:formatCode>
                <c:ptCount val="47"/>
                <c:pt idx="0">
                  <c:v>0.44900000000000001</c:v>
                </c:pt>
                <c:pt idx="1">
                  <c:v>0.41099999999999998</c:v>
                </c:pt>
                <c:pt idx="4">
                  <c:v>0.121</c:v>
                </c:pt>
                <c:pt idx="5">
                  <c:v>9.2999999999999999E-2</c:v>
                </c:pt>
                <c:pt idx="6">
                  <c:v>3.5999999999999997E-2</c:v>
                </c:pt>
                <c:pt idx="11">
                  <c:v>0.379</c:v>
                </c:pt>
                <c:pt idx="19">
                  <c:v>0.26500000000000001</c:v>
                </c:pt>
                <c:pt idx="20">
                  <c:v>0.25700000000000001</c:v>
                </c:pt>
                <c:pt idx="21">
                  <c:v>0.34</c:v>
                </c:pt>
                <c:pt idx="22">
                  <c:v>9.2999999999999999E-2</c:v>
                </c:pt>
                <c:pt idx="25">
                  <c:v>0.23699999999999999</c:v>
                </c:pt>
                <c:pt idx="26">
                  <c:v>0.311</c:v>
                </c:pt>
                <c:pt idx="27">
                  <c:v>0.47499999999999998</c:v>
                </c:pt>
                <c:pt idx="29">
                  <c:v>0.36599999999999999</c:v>
                </c:pt>
              </c:numCache>
            </c:numRef>
          </c:val>
          <c:extLst>
            <c:ext xmlns:c16="http://schemas.microsoft.com/office/drawing/2014/chart" uri="{C3380CC4-5D6E-409C-BE32-E72D297353CC}">
              <c16:uniqueId val="{00000001-C8BA-7E4E-8086-47EDE47B4EE3}"/>
            </c:ext>
          </c:extLst>
        </c:ser>
        <c:ser>
          <c:idx val="2"/>
          <c:order val="2"/>
          <c:tx>
            <c:strRef>
              <c:f>'図02_分析1_列8'!$I$1</c:f>
              <c:strCache>
                <c:ptCount val="1"/>
                <c:pt idx="0">
                  <c:v>休日</c:v>
                </c:pt>
              </c:strCache>
            </c:strRef>
          </c:tx>
          <c:spPr>
            <a:solidFill>
              <a:srgbClr val="C9D1DB"/>
            </a:solidFill>
            <a:ln w="6350" cap="rnd">
              <a:solidFill>
                <a:srgbClr val="C9D1DB"/>
              </a:solidFill>
              <a:round/>
            </a:ln>
          </c:spPr>
          <c:invertIfNegative val="0"/>
          <c:cat>
            <c:strRef>
              <c:f>'図02_分析1_列8'!$B$2:$B$48</c:f>
              <c:strCache>
                <c:ptCount val="47"/>
                <c:pt idx="0">
                  <c:v>07-30</c:v>
                </c:pt>
                <c:pt idx="7">
                  <c:v>08-06</c:v>
                </c:pt>
                <c:pt idx="14">
                  <c:v>08-13</c:v>
                </c:pt>
                <c:pt idx="21">
                  <c:v>08-20</c:v>
                </c:pt>
                <c:pt idx="28">
                  <c:v>08-27</c:v>
                </c:pt>
                <c:pt idx="35">
                  <c:v>09-03</c:v>
                </c:pt>
                <c:pt idx="42">
                  <c:v>09-10</c:v>
                </c:pt>
              </c:strCache>
            </c:strRef>
          </c:cat>
          <c:val>
            <c:numRef>
              <c:f>'図02_分析1_列8'!$I$2:$I$48</c:f>
              <c:numCache>
                <c:formatCode>General</c:formatCode>
                <c:ptCount val="47"/>
                <c:pt idx="2">
                  <c:v>-2.4E-2</c:v>
                </c:pt>
                <c:pt idx="3">
                  <c:v>0.55200000000000005</c:v>
                </c:pt>
                <c:pt idx="9">
                  <c:v>-0.60699999999999998</c:v>
                </c:pt>
                <c:pt idx="10">
                  <c:v>0.371</c:v>
                </c:pt>
                <c:pt idx="12">
                  <c:v>-0.42899999999999999</c:v>
                </c:pt>
                <c:pt idx="16">
                  <c:v>-0.14399999999999999</c:v>
                </c:pt>
                <c:pt idx="17">
                  <c:v>-0.70799999999999996</c:v>
                </c:pt>
                <c:pt idx="23">
                  <c:v>-0.47299999999999998</c:v>
                </c:pt>
                <c:pt idx="24">
                  <c:v>-0.24399999999999999</c:v>
                </c:pt>
                <c:pt idx="30">
                  <c:v>-0.871</c:v>
                </c:pt>
                <c:pt idx="31">
                  <c:v>-0.754</c:v>
                </c:pt>
                <c:pt idx="37">
                  <c:v>-0.41</c:v>
                </c:pt>
                <c:pt idx="38">
                  <c:v>-1.637</c:v>
                </c:pt>
                <c:pt idx="44">
                  <c:v>-1.5509999999999999</c:v>
                </c:pt>
                <c:pt idx="45">
                  <c:v>-0.95699999999999996</c:v>
                </c:pt>
              </c:numCache>
            </c:numRef>
          </c:val>
          <c:extLst>
            <c:ext xmlns:c16="http://schemas.microsoft.com/office/drawing/2014/chart" uri="{C3380CC4-5D6E-409C-BE32-E72D297353CC}">
              <c16:uniqueId val="{00000002-C8BA-7E4E-8086-47EDE47B4EE3}"/>
            </c:ext>
          </c:extLst>
        </c:ser>
        <c:dLbls>
          <c:showLegendKey val="0"/>
          <c:showVal val="0"/>
          <c:showCatName val="0"/>
          <c:showSerName val="0"/>
          <c:showPercent val="0"/>
          <c:showBubbleSize val="0"/>
        </c:dLbls>
        <c:gapWidth val="40"/>
        <c:overlap val="100"/>
        <c:axId val="10"/>
        <c:axId val="20"/>
      </c:barChart>
      <c:catAx>
        <c:axId val="10"/>
        <c:scaling>
          <c:orientation val="minMax"/>
        </c:scaling>
        <c:delete val="0"/>
        <c:axPos val="b"/>
        <c:numFmt formatCode="General" sourceLinked="1"/>
        <c:majorTickMark val="out"/>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1"/>
          <c:min val="-2"/>
        </c:scaling>
        <c:delete val="0"/>
        <c:axPos val="l"/>
        <c:majorGridlines>
          <c:spPr>
            <a:ln w="9525" cap="rnd">
              <a:solidFill>
                <a:srgbClr val="E3E7EC"/>
              </a:solidFill>
              <a:round/>
            </a:ln>
          </c:spPr>
        </c:majorGridlines>
        <c:title>
          <c:tx>
            <c:rich>
              <a:bodyPr rot="-5400000" vert="horz"/>
              <a:lstStyle/>
              <a:p>
                <a:pPr>
                  <a:defRPr sz="900" b="0"/>
                </a:pPr>
                <a:r>
                  <a:rPr lang="ja-JP" sz="900" b="0"/>
                  <a:t>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1"/>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16"/>
          <c:y val="0.17"/>
          <c:w val="0.8"/>
          <c:h val="0.63"/>
        </c:manualLayout>
      </c:layout>
      <c:lineChart>
        <c:grouping val="standard"/>
        <c:varyColors val="0"/>
        <c:ser>
          <c:idx val="0"/>
          <c:order val="0"/>
          <c:tx>
            <c:strRef>
              <c:f>'図03_分析1_列11'!$D$1</c:f>
              <c:strCache>
                <c:ptCount val="1"/>
                <c:pt idx="0">
                  <c:v>列3（なし）</c:v>
                </c:pt>
              </c:strCache>
            </c:strRef>
          </c:tx>
          <c:spPr>
            <a:ln w="25400" cap="rnd">
              <a:solidFill>
                <a:srgbClr val="5E6B7A"/>
              </a:solidFill>
              <a:round/>
            </a:ln>
          </c:spPr>
          <c:marker>
            <c:symbol val="none"/>
          </c:marker>
          <c:cat>
            <c:strRef>
              <c:f>'図03_分析1_列11'!$B$2:$B$48</c:f>
              <c:strCache>
                <c:ptCount val="47"/>
                <c:pt idx="0">
                  <c:v>07-30</c:v>
                </c:pt>
                <c:pt idx="7">
                  <c:v>08-06</c:v>
                </c:pt>
                <c:pt idx="14">
                  <c:v>08-13</c:v>
                </c:pt>
                <c:pt idx="21">
                  <c:v>08-20</c:v>
                </c:pt>
                <c:pt idx="28">
                  <c:v>08-27</c:v>
                </c:pt>
                <c:pt idx="35">
                  <c:v>09-03</c:v>
                </c:pt>
                <c:pt idx="42">
                  <c:v>09-10</c:v>
                </c:pt>
              </c:strCache>
            </c:strRef>
          </c:cat>
          <c:val>
            <c:numRef>
              <c:f>'図03_分析1_列11'!$D$2:$D$48</c:f>
              <c:numCache>
                <c:formatCode>General</c:formatCode>
                <c:ptCount val="47"/>
                <c:pt idx="0">
                  <c:v>34.857999999999997</c:v>
                </c:pt>
                <c:pt idx="1">
                  <c:v>34.130000000000003</c:v>
                </c:pt>
                <c:pt idx="2">
                  <c:v>34.716999999999999</c:v>
                </c:pt>
                <c:pt idx="3">
                  <c:v>33.253999999999998</c:v>
                </c:pt>
                <c:pt idx="4">
                  <c:v>27.257999999999999</c:v>
                </c:pt>
                <c:pt idx="5">
                  <c:v>29.119</c:v>
                </c:pt>
                <c:pt idx="6">
                  <c:v>30.349</c:v>
                </c:pt>
                <c:pt idx="7">
                  <c:v>30.356000000000002</c:v>
                </c:pt>
                <c:pt idx="8">
                  <c:v>33.072000000000003</c:v>
                </c:pt>
                <c:pt idx="9">
                  <c:v>32.762</c:v>
                </c:pt>
                <c:pt idx="10">
                  <c:v>32.222000000000001</c:v>
                </c:pt>
                <c:pt idx="11">
                  <c:v>30.463999999999999</c:v>
                </c:pt>
                <c:pt idx="12">
                  <c:v>29.016999999999999</c:v>
                </c:pt>
                <c:pt idx="13">
                  <c:v>28.134</c:v>
                </c:pt>
                <c:pt idx="14">
                  <c:v>26.701000000000001</c:v>
                </c:pt>
                <c:pt idx="15">
                  <c:v>29.271999999999998</c:v>
                </c:pt>
                <c:pt idx="16">
                  <c:v>27.72</c:v>
                </c:pt>
                <c:pt idx="17">
                  <c:v>25.856999999999999</c:v>
                </c:pt>
                <c:pt idx="18">
                  <c:v>29.82</c:v>
                </c:pt>
                <c:pt idx="19">
                  <c:v>30.971</c:v>
                </c:pt>
                <c:pt idx="20">
                  <c:v>31.335999999999999</c:v>
                </c:pt>
                <c:pt idx="21">
                  <c:v>31.87</c:v>
                </c:pt>
                <c:pt idx="22">
                  <c:v>31.282</c:v>
                </c:pt>
                <c:pt idx="23">
                  <c:v>29.103999999999999</c:v>
                </c:pt>
                <c:pt idx="24">
                  <c:v>29.702000000000002</c:v>
                </c:pt>
                <c:pt idx="25">
                  <c:v>32.756999999999998</c:v>
                </c:pt>
                <c:pt idx="26">
                  <c:v>34.112000000000002</c:v>
                </c:pt>
                <c:pt idx="27">
                  <c:v>33.654000000000003</c:v>
                </c:pt>
                <c:pt idx="28">
                  <c:v>28.617999999999999</c:v>
                </c:pt>
                <c:pt idx="29">
                  <c:v>32.122</c:v>
                </c:pt>
                <c:pt idx="30">
                  <c:v>23.431999999999999</c:v>
                </c:pt>
                <c:pt idx="31">
                  <c:v>26.294</c:v>
                </c:pt>
                <c:pt idx="32">
                  <c:v>27.663</c:v>
                </c:pt>
                <c:pt idx="33">
                  <c:v>28.524999999999999</c:v>
                </c:pt>
                <c:pt idx="34">
                  <c:v>30.498000000000001</c:v>
                </c:pt>
                <c:pt idx="35">
                  <c:v>30.364999999999998</c:v>
                </c:pt>
                <c:pt idx="36">
                  <c:v>26.608000000000001</c:v>
                </c:pt>
                <c:pt idx="37">
                  <c:v>24.555</c:v>
                </c:pt>
                <c:pt idx="38">
                  <c:v>21.673999999999999</c:v>
                </c:pt>
                <c:pt idx="39">
                  <c:v>24.648</c:v>
                </c:pt>
                <c:pt idx="40">
                  <c:v>28.088000000000001</c:v>
                </c:pt>
                <c:pt idx="41">
                  <c:v>29.533999999999999</c:v>
                </c:pt>
                <c:pt idx="42">
                  <c:v>22.585999999999999</c:v>
                </c:pt>
                <c:pt idx="43">
                  <c:v>20.96</c:v>
                </c:pt>
                <c:pt idx="44">
                  <c:v>23.914999999999999</c:v>
                </c:pt>
                <c:pt idx="45">
                  <c:v>24.683</c:v>
                </c:pt>
                <c:pt idx="46">
                  <c:v>31.315000000000001</c:v>
                </c:pt>
              </c:numCache>
            </c:numRef>
          </c:val>
          <c:smooth val="0"/>
          <c:extLst>
            <c:ext xmlns:c16="http://schemas.microsoft.com/office/drawing/2014/chart" uri="{C3380CC4-5D6E-409C-BE32-E72D297353CC}">
              <c16:uniqueId val="{00000000-B109-DB4E-89F2-6133D8E1B540}"/>
            </c:ext>
          </c:extLst>
        </c:ser>
        <c:ser>
          <c:idx val="1"/>
          <c:order val="1"/>
          <c:tx>
            <c:strRef>
              <c:f>'図03_分析1_列11'!$E$1</c:f>
              <c:strCache>
                <c:ptCount val="1"/>
                <c:pt idx="0">
                  <c:v>列11（あり）</c:v>
                </c:pt>
              </c:strCache>
            </c:strRef>
          </c:tx>
          <c:spPr>
            <a:ln w="25400" cap="rnd">
              <a:solidFill>
                <a:srgbClr val="118DFF"/>
              </a:solidFill>
              <a:round/>
            </a:ln>
          </c:spPr>
          <c:marker>
            <c:symbol val="none"/>
          </c:marker>
          <c:cat>
            <c:strRef>
              <c:f>'図03_分析1_列11'!$B$2:$B$48</c:f>
              <c:strCache>
                <c:ptCount val="47"/>
                <c:pt idx="0">
                  <c:v>07-30</c:v>
                </c:pt>
                <c:pt idx="7">
                  <c:v>08-06</c:v>
                </c:pt>
                <c:pt idx="14">
                  <c:v>08-13</c:v>
                </c:pt>
                <c:pt idx="21">
                  <c:v>08-20</c:v>
                </c:pt>
                <c:pt idx="28">
                  <c:v>08-27</c:v>
                </c:pt>
                <c:pt idx="35">
                  <c:v>09-03</c:v>
                </c:pt>
                <c:pt idx="42">
                  <c:v>09-10</c:v>
                </c:pt>
              </c:strCache>
            </c:strRef>
          </c:cat>
          <c:val>
            <c:numRef>
              <c:f>'図03_分析1_列11'!$E$2:$E$48</c:f>
              <c:numCache>
                <c:formatCode>General</c:formatCode>
                <c:ptCount val="47"/>
                <c:pt idx="0">
                  <c:v>34.929000000000002</c:v>
                </c:pt>
                <c:pt idx="1">
                  <c:v>34.134999999999998</c:v>
                </c:pt>
                <c:pt idx="2">
                  <c:v>34.609000000000002</c:v>
                </c:pt>
                <c:pt idx="3">
                  <c:v>33.31</c:v>
                </c:pt>
                <c:pt idx="4">
                  <c:v>27.207999999999998</c:v>
                </c:pt>
                <c:pt idx="5">
                  <c:v>28.998000000000001</c:v>
                </c:pt>
                <c:pt idx="6">
                  <c:v>30.231999999999999</c:v>
                </c:pt>
                <c:pt idx="7">
                  <c:v>30.116</c:v>
                </c:pt>
                <c:pt idx="8">
                  <c:v>32.380000000000003</c:v>
                </c:pt>
                <c:pt idx="9">
                  <c:v>32.072000000000003</c:v>
                </c:pt>
                <c:pt idx="10">
                  <c:v>32.037999999999997</c:v>
                </c:pt>
                <c:pt idx="11">
                  <c:v>30.390999999999998</c:v>
                </c:pt>
                <c:pt idx="12">
                  <c:v>28.643000000000001</c:v>
                </c:pt>
                <c:pt idx="13">
                  <c:v>27.725999999999999</c:v>
                </c:pt>
                <c:pt idx="14">
                  <c:v>26.056000000000001</c:v>
                </c:pt>
                <c:pt idx="15">
                  <c:v>29.033999999999999</c:v>
                </c:pt>
                <c:pt idx="16">
                  <c:v>27.594000000000001</c:v>
                </c:pt>
                <c:pt idx="17">
                  <c:v>25.263999999999999</c:v>
                </c:pt>
                <c:pt idx="18">
                  <c:v>29.533999999999999</c:v>
                </c:pt>
                <c:pt idx="19">
                  <c:v>30.896999999999998</c:v>
                </c:pt>
                <c:pt idx="20">
                  <c:v>31.283999999999999</c:v>
                </c:pt>
                <c:pt idx="21">
                  <c:v>31.768000000000001</c:v>
                </c:pt>
                <c:pt idx="22">
                  <c:v>30.946000000000002</c:v>
                </c:pt>
                <c:pt idx="23">
                  <c:v>28.803999999999998</c:v>
                </c:pt>
                <c:pt idx="24">
                  <c:v>29.478000000000002</c:v>
                </c:pt>
                <c:pt idx="25">
                  <c:v>32.539000000000001</c:v>
                </c:pt>
                <c:pt idx="26">
                  <c:v>33.966000000000001</c:v>
                </c:pt>
                <c:pt idx="27">
                  <c:v>33.765000000000001</c:v>
                </c:pt>
                <c:pt idx="28">
                  <c:v>28.425999999999998</c:v>
                </c:pt>
                <c:pt idx="29">
                  <c:v>32.183</c:v>
                </c:pt>
                <c:pt idx="30">
                  <c:v>22.870999999999999</c:v>
                </c:pt>
                <c:pt idx="31">
                  <c:v>25.713000000000001</c:v>
                </c:pt>
                <c:pt idx="32">
                  <c:v>27.471</c:v>
                </c:pt>
                <c:pt idx="33">
                  <c:v>28.402999999999999</c:v>
                </c:pt>
                <c:pt idx="34">
                  <c:v>30.151</c:v>
                </c:pt>
                <c:pt idx="35">
                  <c:v>29.989000000000001</c:v>
                </c:pt>
                <c:pt idx="36">
                  <c:v>26.382999999999999</c:v>
                </c:pt>
                <c:pt idx="37">
                  <c:v>24.097000000000001</c:v>
                </c:pt>
                <c:pt idx="38">
                  <c:v>20.308</c:v>
                </c:pt>
                <c:pt idx="39">
                  <c:v>23.721</c:v>
                </c:pt>
                <c:pt idx="40">
                  <c:v>27.696000000000002</c:v>
                </c:pt>
                <c:pt idx="41">
                  <c:v>28.916</c:v>
                </c:pt>
                <c:pt idx="42">
                  <c:v>21.9</c:v>
                </c:pt>
                <c:pt idx="43">
                  <c:v>20.524000000000001</c:v>
                </c:pt>
                <c:pt idx="44">
                  <c:v>22.667999999999999</c:v>
                </c:pt>
                <c:pt idx="45">
                  <c:v>23.850999999999999</c:v>
                </c:pt>
                <c:pt idx="46">
                  <c:v>30.917000000000002</c:v>
                </c:pt>
              </c:numCache>
            </c:numRef>
          </c:val>
          <c:smooth val="0"/>
          <c:extLst>
            <c:ext xmlns:c16="http://schemas.microsoft.com/office/drawing/2014/chart" uri="{C3380CC4-5D6E-409C-BE32-E72D297353CC}">
              <c16:uniqueId val="{00000001-B109-DB4E-89F2-6133D8E1B540}"/>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out"/>
        <c:minorTickMark val="none"/>
        <c:tickLblPos val="low"/>
        <c:spPr>
          <a:ln w="9525" cap="rnd">
            <a:solidFill>
              <a:srgbClr val="5E6B7A"/>
            </a:solidFill>
            <a:round/>
          </a:ln>
        </c:spPr>
        <c:crossAx val="20"/>
        <c:crosses val="autoZero"/>
        <c:auto val="1"/>
        <c:lblAlgn val="ctr"/>
        <c:lblOffset val="100"/>
        <c:noMultiLvlLbl val="0"/>
      </c:catAx>
      <c:valAx>
        <c:axId val="20"/>
        <c:scaling>
          <c:orientation val="minMax"/>
          <c:max val="37.5"/>
          <c:min val="20"/>
        </c:scaling>
        <c:delete val="0"/>
        <c:axPos val="l"/>
        <c:majorGridlines>
          <c:spPr>
            <a:ln w="9525" cap="rnd">
              <a:solidFill>
                <a:srgbClr val="E3E7EC"/>
              </a:solidFill>
              <a:round/>
            </a:ln>
          </c:spPr>
        </c:majorGridlines>
        <c:title>
          <c:tx>
            <c:rich>
              <a:bodyPr rot="-5400000" vert="horz"/>
              <a:lstStyle/>
              <a:p>
                <a:pPr>
                  <a:defRPr sz="900" b="0"/>
                </a:pPr>
                <a:r>
                  <a:rPr lang="ja-JP" sz="900" b="0"/>
                  <a:t>吸気温度［℃］</a:t>
                </a:r>
              </a:p>
            </c:rich>
          </c:tx>
          <c:overlay val="0"/>
        </c:title>
        <c:numFmt formatCode="0" sourceLinked="0"/>
        <c:majorTickMark val="out"/>
        <c:minorTickMark val="none"/>
        <c:tickLblPos val="nextTo"/>
        <c:spPr>
          <a:ln w="9525" cap="rnd">
            <a:solidFill>
              <a:srgbClr val="5E6B7A"/>
            </a:solidFill>
            <a:round/>
          </a:ln>
        </c:spPr>
        <c:crossAx val="10"/>
        <c:crosses val="autoZero"/>
        <c:crossBetween val="between"/>
        <c:majorUnit val="5"/>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16"/>
          <c:y val="0.05"/>
          <c:w val="0.8"/>
          <c:h val="0.72"/>
        </c:manualLayout>
      </c:layout>
      <c:barChart>
        <c:barDir val="col"/>
        <c:grouping val="clustered"/>
        <c:varyColors val="0"/>
        <c:ser>
          <c:idx val="0"/>
          <c:order val="0"/>
          <c:tx>
            <c:strRef>
              <c:f>'図03_分析1_列11'!$G$1</c:f>
              <c:strCache>
                <c:ptCount val="1"/>
                <c:pt idx="0">
                  <c:v>列3より低い日</c:v>
                </c:pt>
              </c:strCache>
            </c:strRef>
          </c:tx>
          <c:spPr>
            <a:solidFill>
              <a:srgbClr val="118DFF"/>
            </a:solidFill>
            <a:ln w="6350" cap="rnd">
              <a:solidFill>
                <a:srgbClr val="118DFF"/>
              </a:solidFill>
              <a:round/>
            </a:ln>
          </c:spPr>
          <c:invertIfNegative val="0"/>
          <c:cat>
            <c:strRef>
              <c:f>'図03_分析1_列11'!$B$2:$B$48</c:f>
              <c:strCache>
                <c:ptCount val="47"/>
                <c:pt idx="0">
                  <c:v>07-30</c:v>
                </c:pt>
                <c:pt idx="7">
                  <c:v>08-06</c:v>
                </c:pt>
                <c:pt idx="14">
                  <c:v>08-13</c:v>
                </c:pt>
                <c:pt idx="21">
                  <c:v>08-20</c:v>
                </c:pt>
                <c:pt idx="28">
                  <c:v>08-27</c:v>
                </c:pt>
                <c:pt idx="35">
                  <c:v>09-03</c:v>
                </c:pt>
                <c:pt idx="42">
                  <c:v>09-10</c:v>
                </c:pt>
              </c:strCache>
            </c:strRef>
          </c:cat>
          <c:val>
            <c:numRef>
              <c:f>'図03_分析1_列11'!$G$2:$G$48</c:f>
              <c:numCache>
                <c:formatCode>General</c:formatCode>
                <c:ptCount val="47"/>
                <c:pt idx="4">
                  <c:v>-5.0999999999999997E-2</c:v>
                </c:pt>
                <c:pt idx="5">
                  <c:v>-0.122</c:v>
                </c:pt>
                <c:pt idx="6">
                  <c:v>-0.11700000000000001</c:v>
                </c:pt>
                <c:pt idx="7">
                  <c:v>-0.24</c:v>
                </c:pt>
                <c:pt idx="8">
                  <c:v>-0.69199999999999995</c:v>
                </c:pt>
                <c:pt idx="11">
                  <c:v>-7.2999999999999995E-2</c:v>
                </c:pt>
                <c:pt idx="13">
                  <c:v>-0.40799999999999997</c:v>
                </c:pt>
                <c:pt idx="14">
                  <c:v>-0.64500000000000002</c:v>
                </c:pt>
                <c:pt idx="15">
                  <c:v>-0.23899999999999999</c:v>
                </c:pt>
                <c:pt idx="18">
                  <c:v>-0.28599999999999998</c:v>
                </c:pt>
                <c:pt idx="19">
                  <c:v>-7.2999999999999995E-2</c:v>
                </c:pt>
                <c:pt idx="20">
                  <c:v>-5.1999999999999998E-2</c:v>
                </c:pt>
                <c:pt idx="21">
                  <c:v>-0.10299999999999999</c:v>
                </c:pt>
                <c:pt idx="22">
                  <c:v>-0.33600000000000002</c:v>
                </c:pt>
                <c:pt idx="25">
                  <c:v>-0.218</c:v>
                </c:pt>
                <c:pt idx="26">
                  <c:v>-0.14599999999999999</c:v>
                </c:pt>
                <c:pt idx="28">
                  <c:v>-0.192</c:v>
                </c:pt>
                <c:pt idx="32">
                  <c:v>-0.192</c:v>
                </c:pt>
                <c:pt idx="33">
                  <c:v>-0.122</c:v>
                </c:pt>
                <c:pt idx="34">
                  <c:v>-0.34699999999999998</c:v>
                </c:pt>
                <c:pt idx="35">
                  <c:v>-0.376</c:v>
                </c:pt>
                <c:pt idx="36">
                  <c:v>-0.22500000000000001</c:v>
                </c:pt>
                <c:pt idx="39">
                  <c:v>-0.92700000000000005</c:v>
                </c:pt>
                <c:pt idx="40">
                  <c:v>-0.39200000000000002</c:v>
                </c:pt>
                <c:pt idx="41">
                  <c:v>-0.61799999999999999</c:v>
                </c:pt>
                <c:pt idx="42">
                  <c:v>-0.68600000000000005</c:v>
                </c:pt>
                <c:pt idx="43">
                  <c:v>-0.436</c:v>
                </c:pt>
                <c:pt idx="46">
                  <c:v>-0.39800000000000002</c:v>
                </c:pt>
              </c:numCache>
            </c:numRef>
          </c:val>
          <c:extLst>
            <c:ext xmlns:c16="http://schemas.microsoft.com/office/drawing/2014/chart" uri="{C3380CC4-5D6E-409C-BE32-E72D297353CC}">
              <c16:uniqueId val="{00000000-1B95-7942-85BA-96E19B5D1A95}"/>
            </c:ext>
          </c:extLst>
        </c:ser>
        <c:ser>
          <c:idx val="1"/>
          <c:order val="1"/>
          <c:tx>
            <c:strRef>
              <c:f>'図03_分析1_列11'!$H$1</c:f>
              <c:strCache>
                <c:ptCount val="1"/>
                <c:pt idx="0">
                  <c:v>列3より高い日</c:v>
                </c:pt>
              </c:strCache>
            </c:strRef>
          </c:tx>
          <c:spPr>
            <a:solidFill>
              <a:srgbClr val="E66C64"/>
            </a:solidFill>
            <a:ln w="6350" cap="rnd">
              <a:solidFill>
                <a:srgbClr val="E66C64"/>
              </a:solidFill>
              <a:round/>
            </a:ln>
          </c:spPr>
          <c:invertIfNegative val="0"/>
          <c:cat>
            <c:strRef>
              <c:f>'図03_分析1_列11'!$B$2:$B$48</c:f>
              <c:strCache>
                <c:ptCount val="47"/>
                <c:pt idx="0">
                  <c:v>07-30</c:v>
                </c:pt>
                <c:pt idx="7">
                  <c:v>08-06</c:v>
                </c:pt>
                <c:pt idx="14">
                  <c:v>08-13</c:v>
                </c:pt>
                <c:pt idx="21">
                  <c:v>08-20</c:v>
                </c:pt>
                <c:pt idx="28">
                  <c:v>08-27</c:v>
                </c:pt>
                <c:pt idx="35">
                  <c:v>09-03</c:v>
                </c:pt>
                <c:pt idx="42">
                  <c:v>09-10</c:v>
                </c:pt>
              </c:strCache>
            </c:strRef>
          </c:cat>
          <c:val>
            <c:numRef>
              <c:f>'図03_分析1_列11'!$H$2:$H$48</c:f>
              <c:numCache>
                <c:formatCode>General</c:formatCode>
                <c:ptCount val="47"/>
                <c:pt idx="0">
                  <c:v>7.0000000000000007E-2</c:v>
                </c:pt>
                <c:pt idx="1">
                  <c:v>5.0000000000000001E-3</c:v>
                </c:pt>
                <c:pt idx="27">
                  <c:v>0.111</c:v>
                </c:pt>
                <c:pt idx="29">
                  <c:v>6.0999999999999999E-2</c:v>
                </c:pt>
              </c:numCache>
            </c:numRef>
          </c:val>
          <c:extLst>
            <c:ext xmlns:c16="http://schemas.microsoft.com/office/drawing/2014/chart" uri="{C3380CC4-5D6E-409C-BE32-E72D297353CC}">
              <c16:uniqueId val="{00000001-1B95-7942-85BA-96E19B5D1A95}"/>
            </c:ext>
          </c:extLst>
        </c:ser>
        <c:ser>
          <c:idx val="2"/>
          <c:order val="2"/>
          <c:tx>
            <c:strRef>
              <c:f>'図03_分析1_列11'!$I$1</c:f>
              <c:strCache>
                <c:ptCount val="1"/>
                <c:pt idx="0">
                  <c:v>休日</c:v>
                </c:pt>
              </c:strCache>
            </c:strRef>
          </c:tx>
          <c:spPr>
            <a:solidFill>
              <a:srgbClr val="C9D1DB"/>
            </a:solidFill>
            <a:ln w="6350" cap="rnd">
              <a:solidFill>
                <a:srgbClr val="C9D1DB"/>
              </a:solidFill>
              <a:round/>
            </a:ln>
          </c:spPr>
          <c:invertIfNegative val="0"/>
          <c:cat>
            <c:strRef>
              <c:f>'図03_分析1_列11'!$B$2:$B$48</c:f>
              <c:strCache>
                <c:ptCount val="47"/>
                <c:pt idx="0">
                  <c:v>07-30</c:v>
                </c:pt>
                <c:pt idx="7">
                  <c:v>08-06</c:v>
                </c:pt>
                <c:pt idx="14">
                  <c:v>08-13</c:v>
                </c:pt>
                <c:pt idx="21">
                  <c:v>08-20</c:v>
                </c:pt>
                <c:pt idx="28">
                  <c:v>08-27</c:v>
                </c:pt>
                <c:pt idx="35">
                  <c:v>09-03</c:v>
                </c:pt>
                <c:pt idx="42">
                  <c:v>09-10</c:v>
                </c:pt>
              </c:strCache>
            </c:strRef>
          </c:cat>
          <c:val>
            <c:numRef>
              <c:f>'図03_分析1_列11'!$I$2:$I$48</c:f>
              <c:numCache>
                <c:formatCode>General</c:formatCode>
                <c:ptCount val="47"/>
                <c:pt idx="2">
                  <c:v>-0.108</c:v>
                </c:pt>
                <c:pt idx="3">
                  <c:v>5.5E-2</c:v>
                </c:pt>
                <c:pt idx="9">
                  <c:v>-0.69</c:v>
                </c:pt>
                <c:pt idx="10">
                  <c:v>-0.184</c:v>
                </c:pt>
                <c:pt idx="12">
                  <c:v>-0.374</c:v>
                </c:pt>
                <c:pt idx="16">
                  <c:v>-0.126</c:v>
                </c:pt>
                <c:pt idx="17">
                  <c:v>-0.59299999999999997</c:v>
                </c:pt>
                <c:pt idx="23">
                  <c:v>-0.29899999999999999</c:v>
                </c:pt>
                <c:pt idx="24">
                  <c:v>-0.224</c:v>
                </c:pt>
                <c:pt idx="30">
                  <c:v>-0.56100000000000005</c:v>
                </c:pt>
                <c:pt idx="31">
                  <c:v>-0.58099999999999996</c:v>
                </c:pt>
                <c:pt idx="37">
                  <c:v>-0.45700000000000002</c:v>
                </c:pt>
                <c:pt idx="38">
                  <c:v>-1.3660000000000001</c:v>
                </c:pt>
                <c:pt idx="44">
                  <c:v>-1.246</c:v>
                </c:pt>
                <c:pt idx="45">
                  <c:v>-0.83199999999999996</c:v>
                </c:pt>
              </c:numCache>
            </c:numRef>
          </c:val>
          <c:extLst>
            <c:ext xmlns:c16="http://schemas.microsoft.com/office/drawing/2014/chart" uri="{C3380CC4-5D6E-409C-BE32-E72D297353CC}">
              <c16:uniqueId val="{00000002-1B95-7942-85BA-96E19B5D1A95}"/>
            </c:ext>
          </c:extLst>
        </c:ser>
        <c:dLbls>
          <c:showLegendKey val="0"/>
          <c:showVal val="0"/>
          <c:showCatName val="0"/>
          <c:showSerName val="0"/>
          <c:showPercent val="0"/>
          <c:showBubbleSize val="0"/>
        </c:dLbls>
        <c:gapWidth val="40"/>
        <c:overlap val="100"/>
        <c:axId val="10"/>
        <c:axId val="20"/>
      </c:barChart>
      <c:catAx>
        <c:axId val="10"/>
        <c:scaling>
          <c:orientation val="minMax"/>
        </c:scaling>
        <c:delete val="0"/>
        <c:axPos val="b"/>
        <c:numFmt formatCode="General" sourceLinked="1"/>
        <c:majorTickMark val="out"/>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1"/>
          <c:min val="-2"/>
        </c:scaling>
        <c:delete val="0"/>
        <c:axPos val="l"/>
        <c:majorGridlines>
          <c:spPr>
            <a:ln w="9525" cap="rnd">
              <a:solidFill>
                <a:srgbClr val="E3E7EC"/>
              </a:solidFill>
              <a:round/>
            </a:ln>
          </c:spPr>
        </c:majorGridlines>
        <c:title>
          <c:tx>
            <c:rich>
              <a:bodyPr rot="-5400000" vert="horz"/>
              <a:lstStyle/>
              <a:p>
                <a:pPr>
                  <a:defRPr sz="900" b="0"/>
                </a:pPr>
                <a:r>
                  <a:rPr lang="ja-JP" sz="900" b="0"/>
                  <a:t>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1"/>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barChart>
        <c:barDir val="col"/>
        <c:grouping val="clustered"/>
        <c:varyColors val="0"/>
        <c:ser>
          <c:idx val="0"/>
          <c:order val="0"/>
          <c:tx>
            <c:strRef>
              <c:f>'図04_補正した比較'!$B$1</c:f>
              <c:strCache>
                <c:ptCount val="1"/>
                <c:pt idx="0">
                  <c:v>列8</c:v>
                </c:pt>
              </c:strCache>
            </c:strRef>
          </c:tx>
          <c:spPr>
            <a:solidFill>
              <a:srgbClr val="01B8AA"/>
            </a:solidFill>
            <a:ln w="6350" cap="rnd">
              <a:solidFill>
                <a:srgbClr val="01B8AA"/>
              </a:solidFill>
              <a:round/>
            </a:ln>
          </c:spPr>
          <c:invertIfNegative val="0"/>
          <c:errBars>
            <c:errBarType val="both"/>
            <c:errValType val="cust"/>
            <c:noEndCap val="0"/>
            <c:plus>
              <c:numRef>
                <c:f>'図04_補正した比較'!$F$2:$F$4</c:f>
                <c:numCache>
                  <c:formatCode>General</c:formatCode>
                  <c:ptCount val="3"/>
                  <c:pt idx="0">
                    <c:v>0.191</c:v>
                  </c:pt>
                  <c:pt idx="1">
                    <c:v>0.29799999999999999</c:v>
                  </c:pt>
                  <c:pt idx="2">
                    <c:v>5.8999999999999997E-2</c:v>
                  </c:pt>
                </c:numCache>
              </c:numRef>
            </c:plus>
            <c:minus>
              <c:numRef>
                <c:f>'図04_補正した比較'!$E$2:$E$4</c:f>
                <c:numCache>
                  <c:formatCode>General</c:formatCode>
                  <c:ptCount val="3"/>
                  <c:pt idx="0">
                    <c:v>0.216</c:v>
                  </c:pt>
                  <c:pt idx="1">
                    <c:v>0.27300000000000002</c:v>
                  </c:pt>
                  <c:pt idx="2">
                    <c:v>5.3999999999999999E-2</c:v>
                  </c:pt>
                </c:numCache>
              </c:numRef>
            </c:minus>
            <c:spPr>
              <a:ln w="15875" cap="rnd">
                <a:solidFill>
                  <a:srgbClr val="172033"/>
                </a:solidFill>
                <a:round/>
              </a:ln>
            </c:spPr>
          </c:errBars>
          <c:cat>
            <c:strRef>
              <c:f>'図04_補正した比較'!$A$2:$A$4</c:f>
              <c:strCache>
                <c:ptCount val="3"/>
                <c:pt idx="0">
                  <c:v>勤務日の日中（これまで）</c:v>
                </c:pt>
                <c:pt idx="1">
                  <c:v>両方運転中の日中（基準1.0℃）</c:v>
                </c:pt>
                <c:pt idx="2">
                  <c:v>夜間・両方停止（参考）</c:v>
                </c:pt>
              </c:strCache>
            </c:strRef>
          </c:cat>
          <c:val>
            <c:numRef>
              <c:f>'図04_補正した比較'!$B$2:$B$4</c:f>
              <c:numCache>
                <c:formatCode>General</c:formatCode>
                <c:ptCount val="3"/>
                <c:pt idx="0">
                  <c:v>-0.06</c:v>
                </c:pt>
                <c:pt idx="1">
                  <c:v>-8.0000000000000002E-3</c:v>
                </c:pt>
                <c:pt idx="2">
                  <c:v>-9.0999999999999998E-2</c:v>
                </c:pt>
              </c:numCache>
            </c:numRef>
          </c:val>
          <c:extLst>
            <c:ext xmlns:c16="http://schemas.microsoft.com/office/drawing/2014/chart" uri="{C3380CC4-5D6E-409C-BE32-E72D297353CC}">
              <c16:uniqueId val="{00000000-253A-1B40-974F-824F0113029C}"/>
            </c:ext>
          </c:extLst>
        </c:ser>
        <c:ser>
          <c:idx val="1"/>
          <c:order val="1"/>
          <c:tx>
            <c:strRef>
              <c:f>'図04_補正した比較'!$I$1</c:f>
              <c:strCache>
                <c:ptCount val="1"/>
                <c:pt idx="0">
                  <c:v>列11</c:v>
                </c:pt>
              </c:strCache>
            </c:strRef>
          </c:tx>
          <c:spPr>
            <a:solidFill>
              <a:srgbClr val="118DFF"/>
            </a:solidFill>
            <a:ln w="6350" cap="rnd">
              <a:solidFill>
                <a:srgbClr val="118DFF"/>
              </a:solidFill>
              <a:round/>
            </a:ln>
          </c:spPr>
          <c:invertIfNegative val="0"/>
          <c:errBars>
            <c:errBarType val="both"/>
            <c:errValType val="cust"/>
            <c:noEndCap val="0"/>
            <c:plus>
              <c:numRef>
                <c:f>'図04_補正した比較'!$M$2:$M$4</c:f>
                <c:numCache>
                  <c:formatCode>General</c:formatCode>
                  <c:ptCount val="3"/>
                  <c:pt idx="0">
                    <c:v>0.111</c:v>
                  </c:pt>
                  <c:pt idx="1">
                    <c:v>0.106</c:v>
                  </c:pt>
                  <c:pt idx="2">
                    <c:v>5.5E-2</c:v>
                  </c:pt>
                </c:numCache>
              </c:numRef>
            </c:plus>
            <c:minus>
              <c:numRef>
                <c:f>'図04_補正した比較'!$L$2:$L$4</c:f>
                <c:numCache>
                  <c:formatCode>General</c:formatCode>
                  <c:ptCount val="3"/>
                  <c:pt idx="0">
                    <c:v>0.128</c:v>
                  </c:pt>
                  <c:pt idx="1">
                    <c:v>0.125</c:v>
                  </c:pt>
                  <c:pt idx="2">
                    <c:v>5.5E-2</c:v>
                  </c:pt>
                </c:numCache>
              </c:numRef>
            </c:minus>
            <c:spPr>
              <a:ln w="15875" cap="rnd">
                <a:solidFill>
                  <a:srgbClr val="172033"/>
                </a:solidFill>
                <a:round/>
              </a:ln>
            </c:spPr>
          </c:errBars>
          <c:cat>
            <c:strRef>
              <c:f>'図04_補正した比較'!$A$2:$A$4</c:f>
              <c:strCache>
                <c:ptCount val="3"/>
                <c:pt idx="0">
                  <c:v>勤務日の日中（これまで）</c:v>
                </c:pt>
                <c:pt idx="1">
                  <c:v>両方運転中の日中（基準1.0℃）</c:v>
                </c:pt>
                <c:pt idx="2">
                  <c:v>夜間・両方停止（参考）</c:v>
                </c:pt>
              </c:strCache>
            </c:strRef>
          </c:cat>
          <c:val>
            <c:numRef>
              <c:f>'図04_補正した比較'!$I$2:$I$4</c:f>
              <c:numCache>
                <c:formatCode>General</c:formatCode>
                <c:ptCount val="3"/>
                <c:pt idx="0">
                  <c:v>-0.26500000000000001</c:v>
                </c:pt>
                <c:pt idx="1">
                  <c:v>-0.28899999999999998</c:v>
                </c:pt>
                <c:pt idx="2">
                  <c:v>-0.13200000000000001</c:v>
                </c:pt>
              </c:numCache>
            </c:numRef>
          </c:val>
          <c:extLst>
            <c:ext xmlns:c16="http://schemas.microsoft.com/office/drawing/2014/chart" uri="{C3380CC4-5D6E-409C-BE32-E72D297353CC}">
              <c16:uniqueId val="{00000001-253A-1B40-974F-824F0113029C}"/>
            </c:ext>
          </c:extLst>
        </c:ser>
        <c:dLbls>
          <c:showLegendKey val="0"/>
          <c:showVal val="0"/>
          <c:showCatName val="0"/>
          <c:showSerName val="0"/>
          <c:showPercent val="0"/>
          <c:showBubbleSize val="0"/>
        </c:dLbls>
        <c:gapWidth val="80"/>
        <c:overlap val="-10"/>
        <c:axId val="10"/>
        <c:axId val="20"/>
      </c:barChart>
      <c:catAx>
        <c:axId val="10"/>
        <c:scaling>
          <c:orientation val="minMax"/>
        </c:scaling>
        <c:delete val="0"/>
        <c:axPos val="b"/>
        <c:numFmt formatCode="General" sourceLinked="1"/>
        <c:majorTickMark val="none"/>
        <c:minorTickMark val="none"/>
        <c:tickLblPos val="low"/>
        <c:spPr>
          <a:ln w="15875" cap="rnd">
            <a:solidFill>
              <a:srgbClr val="5E6B7A"/>
            </a:solidFill>
            <a:round/>
          </a:ln>
        </c:spPr>
        <c:txPr>
          <a:bodyPr/>
          <a:lstStyle/>
          <a:p>
            <a:pPr>
              <a:defRPr sz="700"/>
            </a:pPr>
            <a:endParaRPr lang="ja-JP"/>
          </a:p>
        </c:txPr>
        <c:crossAx val="20"/>
        <c:crosses val="autoZero"/>
        <c:auto val="1"/>
        <c:lblAlgn val="ctr"/>
        <c:lblOffset val="100"/>
        <c:noMultiLvlLbl val="0"/>
      </c:catAx>
      <c:valAx>
        <c:axId val="20"/>
        <c:scaling>
          <c:orientation val="minMax"/>
          <c:max val="0.6"/>
          <c:min val="-0.6"/>
        </c:scaling>
        <c:delete val="0"/>
        <c:axPos val="l"/>
        <c:majorGridlines>
          <c:spPr>
            <a:ln w="9525" cap="rnd">
              <a:solidFill>
                <a:srgbClr val="E3E7EC"/>
              </a:solidFill>
              <a:round/>
            </a:ln>
          </c:spPr>
        </c:majorGridlines>
        <c:title>
          <c:tx>
            <c:rich>
              <a:bodyPr rot="-5400000" vert="horz"/>
              <a:lstStyle/>
              <a:p>
                <a:pPr>
                  <a:defRPr sz="900" b="0"/>
                </a:pPr>
                <a:r>
                  <a:rPr lang="ja-JP" sz="900" b="0"/>
                  <a:t>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2"/>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barChart>
        <c:barDir val="col"/>
        <c:grouping val="clustered"/>
        <c:varyColors val="0"/>
        <c:ser>
          <c:idx val="0"/>
          <c:order val="0"/>
          <c:tx>
            <c:strRef>
              <c:f>'図05_分析2_時刻別'!$J$1</c:f>
              <c:strCache>
                <c:ptCount val="1"/>
                <c:pt idx="0">
                  <c:v>箱（0より下）</c:v>
                </c:pt>
              </c:strCache>
            </c:strRef>
          </c:tx>
          <c:spPr>
            <a:solidFill>
              <a:srgbClr val="01B8AA"/>
            </a:solidFill>
            <a:ln>
              <a:noFill/>
            </a:ln>
          </c:spPr>
          <c:invertIfNegative val="0"/>
          <c:cat>
            <c:strRef>
              <c:f>'図05_分析2_時刻別'!$A$2:$A$10</c:f>
              <c:strCache>
                <c:ptCount val="9"/>
                <c:pt idx="0">
                  <c:v>9時台</c:v>
                </c:pt>
                <c:pt idx="1">
                  <c:v>10時台</c:v>
                </c:pt>
                <c:pt idx="2">
                  <c:v>11時台</c:v>
                </c:pt>
                <c:pt idx="3">
                  <c:v>12時台</c:v>
                </c:pt>
                <c:pt idx="4">
                  <c:v>13時台</c:v>
                </c:pt>
                <c:pt idx="5">
                  <c:v>14時台</c:v>
                </c:pt>
                <c:pt idx="6">
                  <c:v>15時台</c:v>
                </c:pt>
                <c:pt idx="7">
                  <c:v>16時台</c:v>
                </c:pt>
                <c:pt idx="8">
                  <c:v>17時台</c:v>
                </c:pt>
              </c:strCache>
            </c:strRef>
          </c:cat>
          <c:val>
            <c:numRef>
              <c:f>'図05_分析2_時刻別'!$J$2:$J$10</c:f>
              <c:numCache>
                <c:formatCode>General</c:formatCode>
                <c:ptCount val="9"/>
                <c:pt idx="0">
                  <c:v>-0.441</c:v>
                </c:pt>
                <c:pt idx="1">
                  <c:v>-0.315</c:v>
                </c:pt>
                <c:pt idx="2">
                  <c:v>-0.36199999999999999</c:v>
                </c:pt>
                <c:pt idx="3">
                  <c:v>-0.33300000000000002</c:v>
                </c:pt>
                <c:pt idx="4">
                  <c:v>-0.29299999999999998</c:v>
                </c:pt>
                <c:pt idx="5">
                  <c:v>-0.25800000000000001</c:v>
                </c:pt>
                <c:pt idx="6">
                  <c:v>-0.28899999999999998</c:v>
                </c:pt>
                <c:pt idx="7">
                  <c:v>-0.224</c:v>
                </c:pt>
                <c:pt idx="8">
                  <c:v>-0.442</c:v>
                </c:pt>
              </c:numCache>
            </c:numRef>
          </c:val>
          <c:extLst>
            <c:ext xmlns:c16="http://schemas.microsoft.com/office/drawing/2014/chart" uri="{C3380CC4-5D6E-409C-BE32-E72D297353CC}">
              <c16:uniqueId val="{00000000-A459-D84A-B490-6E10CC271C3D}"/>
            </c:ext>
          </c:extLst>
        </c:ser>
        <c:ser>
          <c:idx val="1"/>
          <c:order val="1"/>
          <c:tx>
            <c:strRef>
              <c:f>'図05_分析2_時刻別'!$K$1</c:f>
              <c:strCache>
                <c:ptCount val="1"/>
                <c:pt idx="0">
                  <c:v>箱（0より上）</c:v>
                </c:pt>
              </c:strCache>
            </c:strRef>
          </c:tx>
          <c:spPr>
            <a:solidFill>
              <a:srgbClr val="01B8AA"/>
            </a:solidFill>
            <a:ln>
              <a:noFill/>
            </a:ln>
          </c:spPr>
          <c:invertIfNegative val="0"/>
          <c:cat>
            <c:strRef>
              <c:f>'図05_分析2_時刻別'!$A$2:$A$10</c:f>
              <c:strCache>
                <c:ptCount val="9"/>
                <c:pt idx="0">
                  <c:v>9時台</c:v>
                </c:pt>
                <c:pt idx="1">
                  <c:v>10時台</c:v>
                </c:pt>
                <c:pt idx="2">
                  <c:v>11時台</c:v>
                </c:pt>
                <c:pt idx="3">
                  <c:v>12時台</c:v>
                </c:pt>
                <c:pt idx="4">
                  <c:v>13時台</c:v>
                </c:pt>
                <c:pt idx="5">
                  <c:v>14時台</c:v>
                </c:pt>
                <c:pt idx="6">
                  <c:v>15時台</c:v>
                </c:pt>
                <c:pt idx="7">
                  <c:v>16時台</c:v>
                </c:pt>
                <c:pt idx="8">
                  <c:v>17時台</c:v>
                </c:pt>
              </c:strCache>
            </c:strRef>
          </c:cat>
          <c:val>
            <c:numRef>
              <c:f>'図05_分析2_時刻別'!$K$2:$K$10</c:f>
              <c:numCache>
                <c:formatCode>General</c:formatCode>
                <c:ptCount val="9"/>
                <c:pt idx="0">
                  <c:v>0.19400000000000001</c:v>
                </c:pt>
                <c:pt idx="1">
                  <c:v>0.28899999999999998</c:v>
                </c:pt>
                <c:pt idx="2">
                  <c:v>0.61899999999999999</c:v>
                </c:pt>
                <c:pt idx="3">
                  <c:v>0.50800000000000001</c:v>
                </c:pt>
                <c:pt idx="4">
                  <c:v>0.193</c:v>
                </c:pt>
                <c:pt idx="5">
                  <c:v>0.35</c:v>
                </c:pt>
                <c:pt idx="6">
                  <c:v>0.22500000000000001</c:v>
                </c:pt>
                <c:pt idx="7">
                  <c:v>6.7000000000000004E-2</c:v>
                </c:pt>
                <c:pt idx="8">
                  <c:v>9.4E-2</c:v>
                </c:pt>
              </c:numCache>
            </c:numRef>
          </c:val>
          <c:extLst>
            <c:ext xmlns:c16="http://schemas.microsoft.com/office/drawing/2014/chart" uri="{C3380CC4-5D6E-409C-BE32-E72D297353CC}">
              <c16:uniqueId val="{00000001-A459-D84A-B490-6E10CC271C3D}"/>
            </c:ext>
          </c:extLst>
        </c:ser>
        <c:ser>
          <c:idx val="2"/>
          <c:order val="2"/>
          <c:tx>
            <c:strRef>
              <c:f>'図05_分析2_時刻別'!$L$1</c:f>
              <c:strCache>
                <c:ptCount val="1"/>
                <c:pt idx="0">
                  <c:v>箱の外（白）</c:v>
                </c:pt>
              </c:strCache>
            </c:strRef>
          </c:tx>
          <c:spPr>
            <a:solidFill>
              <a:srgbClr val="FFFFFF"/>
            </a:solidFill>
            <a:ln>
              <a:noFill/>
            </a:ln>
          </c:spPr>
          <c:invertIfNegative val="0"/>
          <c:cat>
            <c:strRef>
              <c:f>'図05_分析2_時刻別'!$A$2:$A$10</c:f>
              <c:strCache>
                <c:ptCount val="9"/>
                <c:pt idx="0">
                  <c:v>9時台</c:v>
                </c:pt>
                <c:pt idx="1">
                  <c:v>10時台</c:v>
                </c:pt>
                <c:pt idx="2">
                  <c:v>11時台</c:v>
                </c:pt>
                <c:pt idx="3">
                  <c:v>12時台</c:v>
                </c:pt>
                <c:pt idx="4">
                  <c:v>13時台</c:v>
                </c:pt>
                <c:pt idx="5">
                  <c:v>14時台</c:v>
                </c:pt>
                <c:pt idx="6">
                  <c:v>15時台</c:v>
                </c:pt>
                <c:pt idx="7">
                  <c:v>16時台</c:v>
                </c:pt>
                <c:pt idx="8">
                  <c:v>17時台</c:v>
                </c:pt>
              </c:strCache>
            </c:strRef>
          </c:cat>
          <c:val>
            <c:numRef>
              <c:f>'図05_分析2_時刻別'!$L$2:$L$10</c:f>
              <c:numCache>
                <c:formatCode>General</c:formatCode>
                <c:ptCount val="9"/>
              </c:numCache>
            </c:numRef>
          </c:val>
          <c:extLst>
            <c:ext xmlns:c16="http://schemas.microsoft.com/office/drawing/2014/chart" uri="{C3380CC4-5D6E-409C-BE32-E72D297353CC}">
              <c16:uniqueId val="{00000002-A459-D84A-B490-6E10CC271C3D}"/>
            </c:ext>
          </c:extLst>
        </c:ser>
        <c:dLbls>
          <c:showLegendKey val="0"/>
          <c:showVal val="0"/>
          <c:showCatName val="0"/>
          <c:showSerName val="0"/>
          <c:showPercent val="0"/>
          <c:showBubbleSize val="0"/>
        </c:dLbls>
        <c:gapWidth val="120"/>
        <c:overlap val="100"/>
        <c:axId val="10"/>
        <c:axId val="20"/>
      </c:barChart>
      <c:lineChart>
        <c:grouping val="standard"/>
        <c:varyColors val="0"/>
        <c:ser>
          <c:idx val="3"/>
          <c:order val="3"/>
          <c:tx>
            <c:strRef>
              <c:f>'図05_分析2_時刻別'!$E$1</c:f>
              <c:strCache>
                <c:ptCount val="1"/>
                <c:pt idx="0">
                  <c:v>中央値</c:v>
                </c:pt>
              </c:strCache>
            </c:strRef>
          </c:tx>
          <c:spPr>
            <a:ln>
              <a:noFill/>
            </a:ln>
          </c:spPr>
          <c:marker>
            <c:symbol val="dash"/>
            <c:size val="16"/>
            <c:spPr>
              <a:solidFill>
                <a:srgbClr val="FFFFFF"/>
              </a:solidFill>
              <a:ln w="9525" cap="rnd">
                <a:solidFill>
                  <a:srgbClr val="FFFFFF"/>
                </a:solidFill>
                <a:round/>
              </a:ln>
            </c:spPr>
          </c:marker>
          <c:errBars>
            <c:errDir val="y"/>
            <c:errBarType val="both"/>
            <c:errValType val="cust"/>
            <c:noEndCap val="0"/>
            <c:plus>
              <c:numRef>
                <c:f>'図05_分析2_時刻別'!$M$2:$M$10</c:f>
                <c:numCache>
                  <c:formatCode>General</c:formatCode>
                  <c:ptCount val="9"/>
                  <c:pt idx="0">
                    <c:v>0.75800000000000001</c:v>
                  </c:pt>
                  <c:pt idx="1">
                    <c:v>0.86699999999999999</c:v>
                  </c:pt>
                  <c:pt idx="2">
                    <c:v>1.5669999999999999</c:v>
                  </c:pt>
                  <c:pt idx="3">
                    <c:v>1.2669999999999999</c:v>
                  </c:pt>
                  <c:pt idx="4">
                    <c:v>0.77200000000000002</c:v>
                  </c:pt>
                  <c:pt idx="5">
                    <c:v>0.75900000000000001</c:v>
                  </c:pt>
                  <c:pt idx="6">
                    <c:v>0.45</c:v>
                  </c:pt>
                  <c:pt idx="7">
                    <c:v>0.36899999999999999</c:v>
                  </c:pt>
                  <c:pt idx="8">
                    <c:v>0.71</c:v>
                  </c:pt>
                </c:numCache>
              </c:numRef>
            </c:plus>
            <c:minus>
              <c:numRef>
                <c:f>'図05_分析2_時刻別'!$N$2:$N$10</c:f>
                <c:numCache>
                  <c:formatCode>General</c:formatCode>
                  <c:ptCount val="9"/>
                  <c:pt idx="0">
                    <c:v>0.73299999999999998</c:v>
                  </c:pt>
                  <c:pt idx="1">
                    <c:v>0.70799999999999996</c:v>
                  </c:pt>
                  <c:pt idx="2">
                    <c:v>0.92400000000000004</c:v>
                  </c:pt>
                  <c:pt idx="3">
                    <c:v>1.1719999999999999</c:v>
                  </c:pt>
                  <c:pt idx="4">
                    <c:v>0.93600000000000005</c:v>
                  </c:pt>
                  <c:pt idx="5">
                    <c:v>0.98199999999999998</c:v>
                  </c:pt>
                  <c:pt idx="6">
                    <c:v>0.92500000000000004</c:v>
                  </c:pt>
                  <c:pt idx="7">
                    <c:v>0.47899999999999998</c:v>
                  </c:pt>
                  <c:pt idx="8">
                    <c:v>0.78800000000000003</c:v>
                  </c:pt>
                </c:numCache>
              </c:numRef>
            </c:minus>
            <c:spPr>
              <a:ln w="15875" cap="rnd">
                <a:solidFill>
                  <a:srgbClr val="01B8AA"/>
                </a:solidFill>
                <a:round/>
              </a:ln>
            </c:spPr>
          </c:errBars>
          <c:cat>
            <c:strRef>
              <c:f>'図05_分析2_時刻別'!$A$2:$A$10</c:f>
              <c:strCache>
                <c:ptCount val="9"/>
                <c:pt idx="0">
                  <c:v>9時台</c:v>
                </c:pt>
                <c:pt idx="1">
                  <c:v>10時台</c:v>
                </c:pt>
                <c:pt idx="2">
                  <c:v>11時台</c:v>
                </c:pt>
                <c:pt idx="3">
                  <c:v>12時台</c:v>
                </c:pt>
                <c:pt idx="4">
                  <c:v>13時台</c:v>
                </c:pt>
                <c:pt idx="5">
                  <c:v>14時台</c:v>
                </c:pt>
                <c:pt idx="6">
                  <c:v>15時台</c:v>
                </c:pt>
                <c:pt idx="7">
                  <c:v>16時台</c:v>
                </c:pt>
                <c:pt idx="8">
                  <c:v>17時台</c:v>
                </c:pt>
              </c:strCache>
            </c:strRef>
          </c:cat>
          <c:val>
            <c:numRef>
              <c:f>'図05_分析2_時刻別'!$E$2:$E$10</c:f>
              <c:numCache>
                <c:formatCode>General</c:formatCode>
                <c:ptCount val="9"/>
                <c:pt idx="0">
                  <c:v>-0.16800000000000001</c:v>
                </c:pt>
                <c:pt idx="1">
                  <c:v>0</c:v>
                </c:pt>
                <c:pt idx="2">
                  <c:v>-0.23300000000000001</c:v>
                </c:pt>
                <c:pt idx="3">
                  <c:v>-8.7999999999999995E-2</c:v>
                </c:pt>
                <c:pt idx="4">
                  <c:v>-1.7000000000000001E-2</c:v>
                </c:pt>
                <c:pt idx="5">
                  <c:v>6.7000000000000004E-2</c:v>
                </c:pt>
                <c:pt idx="6">
                  <c:v>-1.2999999999999999E-2</c:v>
                </c:pt>
                <c:pt idx="7">
                  <c:v>-5.8000000000000003E-2</c:v>
                </c:pt>
                <c:pt idx="8">
                  <c:v>-0.252</c:v>
                </c:pt>
              </c:numCache>
            </c:numRef>
          </c:val>
          <c:smooth val="0"/>
          <c:extLst>
            <c:ext xmlns:c16="http://schemas.microsoft.com/office/drawing/2014/chart" uri="{C3380CC4-5D6E-409C-BE32-E72D297353CC}">
              <c16:uniqueId val="{00000003-A459-D84A-B490-6E10CC271C3D}"/>
            </c:ext>
          </c:extLst>
        </c:ser>
        <c:dLbls>
          <c:showLegendKey val="0"/>
          <c:showVal val="0"/>
          <c:showCatName val="0"/>
          <c:showSerName val="0"/>
          <c:showPercent val="0"/>
          <c:showBubbleSize val="0"/>
        </c:dLbls>
        <c:marker val="1"/>
        <c:smooth val="0"/>
        <c:axId val="10"/>
        <c:axId val="20"/>
      </c:lineChart>
      <c:catAx>
        <c:axId val="10"/>
        <c:scaling>
          <c:orientation val="minMax"/>
        </c:scaling>
        <c:delete val="0"/>
        <c:axPos val="b"/>
        <c:numFmt formatCode="General" sourceLinked="1"/>
        <c:majorTickMark val="none"/>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1.5"/>
          <c:min val="-1.5"/>
        </c:scaling>
        <c:delete val="0"/>
        <c:axPos val="l"/>
        <c:title>
          <c:tx>
            <c:rich>
              <a:bodyPr rot="-5400000" vert="horz"/>
              <a:lstStyle/>
              <a:p>
                <a:pPr>
                  <a:defRPr sz="900" b="0"/>
                </a:pPr>
                <a:r>
                  <a:rPr lang="ja-JP" sz="900" b="0"/>
                  <a:t>1時間平均の吸気温度差［℃］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5"/>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barChart>
        <c:barDir val="col"/>
        <c:grouping val="clustered"/>
        <c:varyColors val="0"/>
        <c:ser>
          <c:idx val="0"/>
          <c:order val="0"/>
          <c:tx>
            <c:strRef>
              <c:f>'図05_分析2_時刻別'!$W$1</c:f>
              <c:strCache>
                <c:ptCount val="1"/>
                <c:pt idx="0">
                  <c:v>箱（0より下）</c:v>
                </c:pt>
              </c:strCache>
            </c:strRef>
          </c:tx>
          <c:spPr>
            <a:solidFill>
              <a:srgbClr val="118DFF"/>
            </a:solidFill>
            <a:ln>
              <a:noFill/>
            </a:ln>
          </c:spPr>
          <c:invertIfNegative val="0"/>
          <c:cat>
            <c:strRef>
              <c:f>'図05_分析2_時刻別'!$A$2:$A$10</c:f>
              <c:strCache>
                <c:ptCount val="9"/>
                <c:pt idx="0">
                  <c:v>9時台</c:v>
                </c:pt>
                <c:pt idx="1">
                  <c:v>10時台</c:v>
                </c:pt>
                <c:pt idx="2">
                  <c:v>11時台</c:v>
                </c:pt>
                <c:pt idx="3">
                  <c:v>12時台</c:v>
                </c:pt>
                <c:pt idx="4">
                  <c:v>13時台</c:v>
                </c:pt>
                <c:pt idx="5">
                  <c:v>14時台</c:v>
                </c:pt>
                <c:pt idx="6">
                  <c:v>15時台</c:v>
                </c:pt>
                <c:pt idx="7">
                  <c:v>16時台</c:v>
                </c:pt>
                <c:pt idx="8">
                  <c:v>17時台</c:v>
                </c:pt>
              </c:strCache>
            </c:strRef>
          </c:cat>
          <c:val>
            <c:numRef>
              <c:f>'図05_分析2_時刻別'!$W$2:$W$10</c:f>
              <c:numCache>
                <c:formatCode>General</c:formatCode>
                <c:ptCount val="9"/>
                <c:pt idx="0">
                  <c:v>-0.61199999999999999</c:v>
                </c:pt>
                <c:pt idx="1">
                  <c:v>-0.42799999999999999</c:v>
                </c:pt>
                <c:pt idx="2">
                  <c:v>-0.51100000000000001</c:v>
                </c:pt>
                <c:pt idx="3">
                  <c:v>-0.41</c:v>
                </c:pt>
                <c:pt idx="4">
                  <c:v>-0.49099999999999999</c:v>
                </c:pt>
                <c:pt idx="5">
                  <c:v>-0.36599999999999999</c:v>
                </c:pt>
                <c:pt idx="6">
                  <c:v>-0.36899999999999999</c:v>
                </c:pt>
                <c:pt idx="7">
                  <c:v>-0.34899999999999998</c:v>
                </c:pt>
                <c:pt idx="8">
                  <c:v>-0.45800000000000002</c:v>
                </c:pt>
              </c:numCache>
            </c:numRef>
          </c:val>
          <c:extLst>
            <c:ext xmlns:c16="http://schemas.microsoft.com/office/drawing/2014/chart" uri="{C3380CC4-5D6E-409C-BE32-E72D297353CC}">
              <c16:uniqueId val="{00000000-24FB-9D4C-A481-252506ABE229}"/>
            </c:ext>
          </c:extLst>
        </c:ser>
        <c:ser>
          <c:idx val="1"/>
          <c:order val="1"/>
          <c:tx>
            <c:strRef>
              <c:f>'図05_分析2_時刻別'!$X$1</c:f>
              <c:strCache>
                <c:ptCount val="1"/>
                <c:pt idx="0">
                  <c:v>箱（0より上）</c:v>
                </c:pt>
              </c:strCache>
            </c:strRef>
          </c:tx>
          <c:spPr>
            <a:solidFill>
              <a:srgbClr val="118DFF"/>
            </a:solidFill>
            <a:ln>
              <a:noFill/>
            </a:ln>
          </c:spPr>
          <c:invertIfNegative val="0"/>
          <c:cat>
            <c:strRef>
              <c:f>'図05_分析2_時刻別'!$A$2:$A$10</c:f>
              <c:strCache>
                <c:ptCount val="9"/>
                <c:pt idx="0">
                  <c:v>9時台</c:v>
                </c:pt>
                <c:pt idx="1">
                  <c:v>10時台</c:v>
                </c:pt>
                <c:pt idx="2">
                  <c:v>11時台</c:v>
                </c:pt>
                <c:pt idx="3">
                  <c:v>12時台</c:v>
                </c:pt>
                <c:pt idx="4">
                  <c:v>13時台</c:v>
                </c:pt>
                <c:pt idx="5">
                  <c:v>14時台</c:v>
                </c:pt>
                <c:pt idx="6">
                  <c:v>15時台</c:v>
                </c:pt>
                <c:pt idx="7">
                  <c:v>16時台</c:v>
                </c:pt>
                <c:pt idx="8">
                  <c:v>17時台</c:v>
                </c:pt>
              </c:strCache>
            </c:strRef>
          </c:cat>
          <c:val>
            <c:numRef>
              <c:f>'図05_分析2_時刻別'!$X$2:$X$10</c:f>
              <c:numCache>
                <c:formatCode>General</c:formatCode>
                <c:ptCount val="9"/>
                <c:pt idx="1">
                  <c:v>5.3999999999999999E-2</c:v>
                </c:pt>
                <c:pt idx="2">
                  <c:v>2.5000000000000001E-2</c:v>
                </c:pt>
                <c:pt idx="3">
                  <c:v>0.11600000000000001</c:v>
                </c:pt>
              </c:numCache>
            </c:numRef>
          </c:val>
          <c:extLst>
            <c:ext xmlns:c16="http://schemas.microsoft.com/office/drawing/2014/chart" uri="{C3380CC4-5D6E-409C-BE32-E72D297353CC}">
              <c16:uniqueId val="{00000001-24FB-9D4C-A481-252506ABE229}"/>
            </c:ext>
          </c:extLst>
        </c:ser>
        <c:ser>
          <c:idx val="2"/>
          <c:order val="2"/>
          <c:tx>
            <c:strRef>
              <c:f>'図05_分析2_時刻別'!$Y$1</c:f>
              <c:strCache>
                <c:ptCount val="1"/>
                <c:pt idx="0">
                  <c:v>箱の外（白）</c:v>
                </c:pt>
              </c:strCache>
            </c:strRef>
          </c:tx>
          <c:spPr>
            <a:solidFill>
              <a:srgbClr val="FFFFFF"/>
            </a:solidFill>
            <a:ln>
              <a:noFill/>
            </a:ln>
          </c:spPr>
          <c:invertIfNegative val="0"/>
          <c:cat>
            <c:strRef>
              <c:f>'図05_分析2_時刻別'!$A$2:$A$10</c:f>
              <c:strCache>
                <c:ptCount val="9"/>
                <c:pt idx="0">
                  <c:v>9時台</c:v>
                </c:pt>
                <c:pt idx="1">
                  <c:v>10時台</c:v>
                </c:pt>
                <c:pt idx="2">
                  <c:v>11時台</c:v>
                </c:pt>
                <c:pt idx="3">
                  <c:v>12時台</c:v>
                </c:pt>
                <c:pt idx="4">
                  <c:v>13時台</c:v>
                </c:pt>
                <c:pt idx="5">
                  <c:v>14時台</c:v>
                </c:pt>
                <c:pt idx="6">
                  <c:v>15時台</c:v>
                </c:pt>
                <c:pt idx="7">
                  <c:v>16時台</c:v>
                </c:pt>
                <c:pt idx="8">
                  <c:v>17時台</c:v>
                </c:pt>
              </c:strCache>
            </c:strRef>
          </c:cat>
          <c:val>
            <c:numRef>
              <c:f>'図05_分析2_時刻別'!$Y$2:$Y$10</c:f>
              <c:numCache>
                <c:formatCode>General</c:formatCode>
                <c:ptCount val="9"/>
                <c:pt idx="0">
                  <c:v>-8.8999999999999996E-2</c:v>
                </c:pt>
                <c:pt idx="4">
                  <c:v>-0.108</c:v>
                </c:pt>
                <c:pt idx="5">
                  <c:v>-6.7000000000000004E-2</c:v>
                </c:pt>
                <c:pt idx="6">
                  <c:v>-1.7000000000000001E-2</c:v>
                </c:pt>
                <c:pt idx="7">
                  <c:v>-0.107</c:v>
                </c:pt>
                <c:pt idx="8">
                  <c:v>-0.112</c:v>
                </c:pt>
              </c:numCache>
            </c:numRef>
          </c:val>
          <c:extLst>
            <c:ext xmlns:c16="http://schemas.microsoft.com/office/drawing/2014/chart" uri="{C3380CC4-5D6E-409C-BE32-E72D297353CC}">
              <c16:uniqueId val="{00000002-24FB-9D4C-A481-252506ABE229}"/>
            </c:ext>
          </c:extLst>
        </c:ser>
        <c:dLbls>
          <c:showLegendKey val="0"/>
          <c:showVal val="0"/>
          <c:showCatName val="0"/>
          <c:showSerName val="0"/>
          <c:showPercent val="0"/>
          <c:showBubbleSize val="0"/>
        </c:dLbls>
        <c:gapWidth val="120"/>
        <c:overlap val="100"/>
        <c:axId val="10"/>
        <c:axId val="20"/>
      </c:barChart>
      <c:lineChart>
        <c:grouping val="standard"/>
        <c:varyColors val="0"/>
        <c:ser>
          <c:idx val="3"/>
          <c:order val="3"/>
          <c:tx>
            <c:strRef>
              <c:f>'図05_分析2_時刻別'!$R$1</c:f>
              <c:strCache>
                <c:ptCount val="1"/>
                <c:pt idx="0">
                  <c:v>中央値</c:v>
                </c:pt>
              </c:strCache>
            </c:strRef>
          </c:tx>
          <c:spPr>
            <a:ln>
              <a:noFill/>
            </a:ln>
          </c:spPr>
          <c:marker>
            <c:symbol val="dash"/>
            <c:size val="16"/>
            <c:spPr>
              <a:solidFill>
                <a:srgbClr val="FFFFFF"/>
              </a:solidFill>
              <a:ln w="9525" cap="rnd">
                <a:solidFill>
                  <a:srgbClr val="FFFFFF"/>
                </a:solidFill>
                <a:round/>
              </a:ln>
            </c:spPr>
          </c:marker>
          <c:errBars>
            <c:errDir val="y"/>
            <c:errBarType val="both"/>
            <c:errValType val="cust"/>
            <c:noEndCap val="0"/>
            <c:plus>
              <c:numRef>
                <c:f>'図05_分析2_時刻別'!$Z$2:$Z$10</c:f>
                <c:numCache>
                  <c:formatCode>General</c:formatCode>
                  <c:ptCount val="9"/>
                  <c:pt idx="0">
                    <c:v>0.54400000000000004</c:v>
                  </c:pt>
                  <c:pt idx="1">
                    <c:v>0.49299999999999999</c:v>
                  </c:pt>
                  <c:pt idx="2">
                    <c:v>0.96</c:v>
                  </c:pt>
                  <c:pt idx="3">
                    <c:v>0.60799999999999998</c:v>
                  </c:pt>
                  <c:pt idx="4">
                    <c:v>0.57599999999999996</c:v>
                  </c:pt>
                  <c:pt idx="5">
                    <c:v>0.51700000000000002</c:v>
                  </c:pt>
                  <c:pt idx="6">
                    <c:v>0.51800000000000002</c:v>
                  </c:pt>
                  <c:pt idx="7">
                    <c:v>0.38300000000000001</c:v>
                  </c:pt>
                  <c:pt idx="8">
                    <c:v>0.39</c:v>
                  </c:pt>
                </c:numCache>
              </c:numRef>
            </c:plus>
            <c:minus>
              <c:numRef>
                <c:f>'図05_分析2_時刻別'!$AA$2:$AA$10</c:f>
                <c:numCache>
                  <c:formatCode>General</c:formatCode>
                  <c:ptCount val="9"/>
                  <c:pt idx="0">
                    <c:v>0.82499999999999996</c:v>
                  </c:pt>
                  <c:pt idx="1">
                    <c:v>0.96799999999999997</c:v>
                  </c:pt>
                  <c:pt idx="2">
                    <c:v>1.0469999999999999</c:v>
                  </c:pt>
                  <c:pt idx="3">
                    <c:v>0.98299999999999998</c:v>
                  </c:pt>
                  <c:pt idx="4">
                    <c:v>0.67600000000000005</c:v>
                  </c:pt>
                  <c:pt idx="5">
                    <c:v>0.47199999999999998</c:v>
                  </c:pt>
                  <c:pt idx="6">
                    <c:v>0.52800000000000002</c:v>
                  </c:pt>
                  <c:pt idx="7">
                    <c:v>0.46</c:v>
                  </c:pt>
                  <c:pt idx="8">
                    <c:v>0.4</c:v>
                  </c:pt>
                </c:numCache>
              </c:numRef>
            </c:minus>
            <c:spPr>
              <a:ln w="15875" cap="rnd">
                <a:solidFill>
                  <a:srgbClr val="118DFF"/>
                </a:solidFill>
                <a:round/>
              </a:ln>
            </c:spPr>
          </c:errBars>
          <c:cat>
            <c:strRef>
              <c:f>'図05_分析2_時刻別'!$A$2:$A$10</c:f>
              <c:strCache>
                <c:ptCount val="9"/>
                <c:pt idx="0">
                  <c:v>9時台</c:v>
                </c:pt>
                <c:pt idx="1">
                  <c:v>10時台</c:v>
                </c:pt>
                <c:pt idx="2">
                  <c:v>11時台</c:v>
                </c:pt>
                <c:pt idx="3">
                  <c:v>12時台</c:v>
                </c:pt>
                <c:pt idx="4">
                  <c:v>13時台</c:v>
                </c:pt>
                <c:pt idx="5">
                  <c:v>14時台</c:v>
                </c:pt>
                <c:pt idx="6">
                  <c:v>15時台</c:v>
                </c:pt>
                <c:pt idx="7">
                  <c:v>16時台</c:v>
                </c:pt>
                <c:pt idx="8">
                  <c:v>17時台</c:v>
                </c:pt>
              </c:strCache>
            </c:strRef>
          </c:cat>
          <c:val>
            <c:numRef>
              <c:f>'図05_分析2_時刻別'!$R$2:$R$10</c:f>
              <c:numCache>
                <c:formatCode>General</c:formatCode>
                <c:ptCount val="9"/>
                <c:pt idx="0">
                  <c:v>-0.33300000000000002</c:v>
                </c:pt>
                <c:pt idx="1">
                  <c:v>-0.14799999999999999</c:v>
                </c:pt>
                <c:pt idx="2">
                  <c:v>-0.25</c:v>
                </c:pt>
                <c:pt idx="3">
                  <c:v>-0.14599999999999999</c:v>
                </c:pt>
                <c:pt idx="4">
                  <c:v>-0.29899999999999999</c:v>
                </c:pt>
                <c:pt idx="5">
                  <c:v>-0.223</c:v>
                </c:pt>
                <c:pt idx="6">
                  <c:v>-0.21099999999999999</c:v>
                </c:pt>
                <c:pt idx="7">
                  <c:v>-0.16900000000000001</c:v>
                </c:pt>
                <c:pt idx="8">
                  <c:v>-0.33700000000000002</c:v>
                </c:pt>
              </c:numCache>
            </c:numRef>
          </c:val>
          <c:smooth val="0"/>
          <c:extLst>
            <c:ext xmlns:c16="http://schemas.microsoft.com/office/drawing/2014/chart" uri="{C3380CC4-5D6E-409C-BE32-E72D297353CC}">
              <c16:uniqueId val="{00000003-24FB-9D4C-A481-252506ABE229}"/>
            </c:ext>
          </c:extLst>
        </c:ser>
        <c:dLbls>
          <c:showLegendKey val="0"/>
          <c:showVal val="0"/>
          <c:showCatName val="0"/>
          <c:showSerName val="0"/>
          <c:showPercent val="0"/>
          <c:showBubbleSize val="0"/>
        </c:dLbls>
        <c:marker val="1"/>
        <c:smooth val="0"/>
        <c:axId val="10"/>
        <c:axId val="20"/>
      </c:lineChart>
      <c:catAx>
        <c:axId val="10"/>
        <c:scaling>
          <c:orientation val="minMax"/>
        </c:scaling>
        <c:delete val="0"/>
        <c:axPos val="b"/>
        <c:numFmt formatCode="General" sourceLinked="1"/>
        <c:majorTickMark val="none"/>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1.5"/>
          <c:min val="-1.5"/>
        </c:scaling>
        <c:delete val="0"/>
        <c:axPos val="l"/>
        <c:title>
          <c:tx>
            <c:rich>
              <a:bodyPr rot="-5400000" vert="horz"/>
              <a:lstStyle/>
              <a:p>
                <a:pPr>
                  <a:defRPr sz="900" b="0"/>
                </a:pPr>
                <a:r>
                  <a:rPr lang="ja-JP" sz="900" b="0"/>
                  <a:t>1時間平均の吸気温度差［℃］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5"/>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4"/>
          <c:y val="0.2"/>
          <c:w val="0.72"/>
          <c:h val="0.57999999999999996"/>
        </c:manualLayout>
      </c:layout>
      <c:lineChart>
        <c:grouping val="standard"/>
        <c:varyColors val="0"/>
        <c:ser>
          <c:idx val="0"/>
          <c:order val="0"/>
          <c:tx>
            <c:strRef>
              <c:f>'図06_分析3_列8区画別'!$D$1</c:f>
              <c:strCache>
                <c:ptCount val="1"/>
                <c:pt idx="0">
                  <c:v>列3</c:v>
                </c:pt>
              </c:strCache>
            </c:strRef>
          </c:tx>
          <c:spPr>
            <a:ln w="22225" cap="rnd">
              <a:solidFill>
                <a:srgbClr val="5E6B7A"/>
              </a:solidFill>
              <a:round/>
            </a:ln>
          </c:spPr>
          <c:marker>
            <c:symbol val="none"/>
          </c:marker>
          <c:cat>
            <c:strRef>
              <c:f>'図06_分析3_列8区画別'!$B$2:$B$48</c:f>
              <c:strCache>
                <c:ptCount val="47"/>
                <c:pt idx="0">
                  <c:v>07-30</c:v>
                </c:pt>
                <c:pt idx="14">
                  <c:v>08-13</c:v>
                </c:pt>
                <c:pt idx="28">
                  <c:v>08-27</c:v>
                </c:pt>
                <c:pt idx="42">
                  <c:v>09-10</c:v>
                </c:pt>
              </c:strCache>
            </c:strRef>
          </c:cat>
          <c:val>
            <c:numRef>
              <c:f>'図06_分析3_列8区画別'!$D$2:$D$48</c:f>
              <c:numCache>
                <c:formatCode>General</c:formatCode>
                <c:ptCount val="47"/>
                <c:pt idx="0">
                  <c:v>34.844000000000001</c:v>
                </c:pt>
                <c:pt idx="1">
                  <c:v>33.805999999999997</c:v>
                </c:pt>
                <c:pt idx="2">
                  <c:v>34.625999999999998</c:v>
                </c:pt>
                <c:pt idx="3">
                  <c:v>32.926000000000002</c:v>
                </c:pt>
                <c:pt idx="4">
                  <c:v>26.652000000000001</c:v>
                </c:pt>
                <c:pt idx="5">
                  <c:v>28.417000000000002</c:v>
                </c:pt>
                <c:pt idx="6">
                  <c:v>29.794</c:v>
                </c:pt>
                <c:pt idx="7">
                  <c:v>29.934999999999999</c:v>
                </c:pt>
                <c:pt idx="8">
                  <c:v>32.884</c:v>
                </c:pt>
                <c:pt idx="9">
                  <c:v>32.78</c:v>
                </c:pt>
                <c:pt idx="10">
                  <c:v>32.002000000000002</c:v>
                </c:pt>
                <c:pt idx="11">
                  <c:v>29.981000000000002</c:v>
                </c:pt>
                <c:pt idx="12">
                  <c:v>28.672999999999998</c:v>
                </c:pt>
                <c:pt idx="13">
                  <c:v>27.934000000000001</c:v>
                </c:pt>
                <c:pt idx="14">
                  <c:v>26.167999999999999</c:v>
                </c:pt>
                <c:pt idx="15">
                  <c:v>28.777999999999999</c:v>
                </c:pt>
                <c:pt idx="16">
                  <c:v>27.594999999999999</c:v>
                </c:pt>
                <c:pt idx="17">
                  <c:v>25.481999999999999</c:v>
                </c:pt>
                <c:pt idx="18">
                  <c:v>29.571000000000002</c:v>
                </c:pt>
                <c:pt idx="19">
                  <c:v>30.827999999999999</c:v>
                </c:pt>
                <c:pt idx="20">
                  <c:v>31.135999999999999</c:v>
                </c:pt>
                <c:pt idx="21">
                  <c:v>31.835000000000001</c:v>
                </c:pt>
                <c:pt idx="22">
                  <c:v>31.152000000000001</c:v>
                </c:pt>
                <c:pt idx="23">
                  <c:v>29.071000000000002</c:v>
                </c:pt>
                <c:pt idx="24">
                  <c:v>29.478000000000002</c:v>
                </c:pt>
                <c:pt idx="25">
                  <c:v>32.597999999999999</c:v>
                </c:pt>
                <c:pt idx="26">
                  <c:v>33.969000000000001</c:v>
                </c:pt>
                <c:pt idx="27">
                  <c:v>33.707000000000001</c:v>
                </c:pt>
                <c:pt idx="28">
                  <c:v>28.148</c:v>
                </c:pt>
                <c:pt idx="29">
                  <c:v>31.925000000000001</c:v>
                </c:pt>
                <c:pt idx="30">
                  <c:v>23.155000000000001</c:v>
                </c:pt>
                <c:pt idx="31">
                  <c:v>26.053000000000001</c:v>
                </c:pt>
                <c:pt idx="32">
                  <c:v>27.253</c:v>
                </c:pt>
                <c:pt idx="33">
                  <c:v>28.094999999999999</c:v>
                </c:pt>
                <c:pt idx="34">
                  <c:v>30.327000000000002</c:v>
                </c:pt>
                <c:pt idx="35">
                  <c:v>30.018999999999998</c:v>
                </c:pt>
                <c:pt idx="36">
                  <c:v>26.114999999999998</c:v>
                </c:pt>
                <c:pt idx="37">
                  <c:v>24.271999999999998</c:v>
                </c:pt>
                <c:pt idx="38">
                  <c:v>21.812999999999999</c:v>
                </c:pt>
                <c:pt idx="39">
                  <c:v>24.459</c:v>
                </c:pt>
                <c:pt idx="40">
                  <c:v>27.795000000000002</c:v>
                </c:pt>
                <c:pt idx="41">
                  <c:v>29.228999999999999</c:v>
                </c:pt>
                <c:pt idx="42">
                  <c:v>22.538</c:v>
                </c:pt>
                <c:pt idx="43">
                  <c:v>21.032</c:v>
                </c:pt>
                <c:pt idx="44">
                  <c:v>23.79</c:v>
                </c:pt>
                <c:pt idx="45">
                  <c:v>24.433</c:v>
                </c:pt>
                <c:pt idx="46">
                  <c:v>31.122</c:v>
                </c:pt>
              </c:numCache>
            </c:numRef>
          </c:val>
          <c:smooth val="0"/>
          <c:extLst>
            <c:ext xmlns:c16="http://schemas.microsoft.com/office/drawing/2014/chart" uri="{C3380CC4-5D6E-409C-BE32-E72D297353CC}">
              <c16:uniqueId val="{00000000-2FFB-7445-9D4F-E9AF33BD26B4}"/>
            </c:ext>
          </c:extLst>
        </c:ser>
        <c:ser>
          <c:idx val="1"/>
          <c:order val="1"/>
          <c:tx>
            <c:strRef>
              <c:f>'図06_分析3_列8区画別'!$E$1</c:f>
              <c:strCache>
                <c:ptCount val="1"/>
                <c:pt idx="0">
                  <c:v>列8</c:v>
                </c:pt>
              </c:strCache>
            </c:strRef>
          </c:tx>
          <c:spPr>
            <a:ln w="22225" cap="rnd">
              <a:solidFill>
                <a:srgbClr val="01B8AA"/>
              </a:solidFill>
              <a:round/>
            </a:ln>
          </c:spPr>
          <c:marker>
            <c:symbol val="none"/>
          </c:marker>
          <c:cat>
            <c:strRef>
              <c:f>'図06_分析3_列8区画別'!$B$2:$B$48</c:f>
              <c:strCache>
                <c:ptCount val="47"/>
                <c:pt idx="0">
                  <c:v>07-30</c:v>
                </c:pt>
                <c:pt idx="14">
                  <c:v>08-13</c:v>
                </c:pt>
                <c:pt idx="28">
                  <c:v>08-27</c:v>
                </c:pt>
                <c:pt idx="42">
                  <c:v>09-10</c:v>
                </c:pt>
              </c:strCache>
            </c:strRef>
          </c:cat>
          <c:val>
            <c:numRef>
              <c:f>'図06_分析3_列8区画別'!$E$2:$E$48</c:f>
              <c:numCache>
                <c:formatCode>General</c:formatCode>
                <c:ptCount val="47"/>
                <c:pt idx="0">
                  <c:v>36.066000000000003</c:v>
                </c:pt>
                <c:pt idx="1">
                  <c:v>34.780999999999999</c:v>
                </c:pt>
                <c:pt idx="2">
                  <c:v>34.837000000000003</c:v>
                </c:pt>
                <c:pt idx="3">
                  <c:v>33.619999999999997</c:v>
                </c:pt>
                <c:pt idx="4">
                  <c:v>27.462</c:v>
                </c:pt>
                <c:pt idx="5">
                  <c:v>29.132999999999999</c:v>
                </c:pt>
                <c:pt idx="6">
                  <c:v>30.399000000000001</c:v>
                </c:pt>
                <c:pt idx="7">
                  <c:v>30.771999999999998</c:v>
                </c:pt>
                <c:pt idx="8">
                  <c:v>33.453000000000003</c:v>
                </c:pt>
                <c:pt idx="9">
                  <c:v>32.466999999999999</c:v>
                </c:pt>
                <c:pt idx="10">
                  <c:v>32.360999999999997</c:v>
                </c:pt>
                <c:pt idx="11">
                  <c:v>31.042000000000002</c:v>
                </c:pt>
                <c:pt idx="12">
                  <c:v>28.74</c:v>
                </c:pt>
                <c:pt idx="13">
                  <c:v>28.297000000000001</c:v>
                </c:pt>
                <c:pt idx="14">
                  <c:v>26.373999999999999</c:v>
                </c:pt>
                <c:pt idx="15">
                  <c:v>29.187999999999999</c:v>
                </c:pt>
                <c:pt idx="16">
                  <c:v>27.635999999999999</c:v>
                </c:pt>
                <c:pt idx="17">
                  <c:v>25.215</c:v>
                </c:pt>
                <c:pt idx="18">
                  <c:v>30.231000000000002</c:v>
                </c:pt>
                <c:pt idx="19">
                  <c:v>31.75</c:v>
                </c:pt>
                <c:pt idx="20">
                  <c:v>32.008000000000003</c:v>
                </c:pt>
                <c:pt idx="21">
                  <c:v>32.716000000000001</c:v>
                </c:pt>
                <c:pt idx="22">
                  <c:v>31.847000000000001</c:v>
                </c:pt>
                <c:pt idx="23">
                  <c:v>28.917000000000002</c:v>
                </c:pt>
                <c:pt idx="24">
                  <c:v>29.52</c:v>
                </c:pt>
                <c:pt idx="25">
                  <c:v>33.697000000000003</c:v>
                </c:pt>
                <c:pt idx="26">
                  <c:v>35.061</c:v>
                </c:pt>
                <c:pt idx="27">
                  <c:v>35.337000000000003</c:v>
                </c:pt>
                <c:pt idx="28">
                  <c:v>28.763000000000002</c:v>
                </c:pt>
                <c:pt idx="29">
                  <c:v>33.143999999999998</c:v>
                </c:pt>
                <c:pt idx="30">
                  <c:v>22.507000000000001</c:v>
                </c:pt>
                <c:pt idx="31">
                  <c:v>25.722000000000001</c:v>
                </c:pt>
                <c:pt idx="32">
                  <c:v>27.866</c:v>
                </c:pt>
                <c:pt idx="33">
                  <c:v>28.594000000000001</c:v>
                </c:pt>
                <c:pt idx="34">
                  <c:v>30.881</c:v>
                </c:pt>
                <c:pt idx="35">
                  <c:v>30.411999999999999</c:v>
                </c:pt>
                <c:pt idx="36">
                  <c:v>26.434999999999999</c:v>
                </c:pt>
                <c:pt idx="37">
                  <c:v>24.359000000000002</c:v>
                </c:pt>
                <c:pt idx="38">
                  <c:v>20.259</c:v>
                </c:pt>
                <c:pt idx="39">
                  <c:v>24.198</c:v>
                </c:pt>
                <c:pt idx="40">
                  <c:v>28.146000000000001</c:v>
                </c:pt>
                <c:pt idx="41">
                  <c:v>29.254000000000001</c:v>
                </c:pt>
                <c:pt idx="42">
                  <c:v>22.277000000000001</c:v>
                </c:pt>
                <c:pt idx="43">
                  <c:v>20.995000000000001</c:v>
                </c:pt>
                <c:pt idx="44">
                  <c:v>22.992999999999999</c:v>
                </c:pt>
                <c:pt idx="45">
                  <c:v>23.847000000000001</c:v>
                </c:pt>
                <c:pt idx="46">
                  <c:v>31.689</c:v>
                </c:pt>
              </c:numCache>
            </c:numRef>
          </c:val>
          <c:smooth val="0"/>
          <c:extLst>
            <c:ext xmlns:c16="http://schemas.microsoft.com/office/drawing/2014/chart" uri="{C3380CC4-5D6E-409C-BE32-E72D297353CC}">
              <c16:uniqueId val="{00000001-2FFB-7445-9D4F-E9AF33BD26B4}"/>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out"/>
        <c:minorTickMark val="none"/>
        <c:tickLblPos val="low"/>
        <c:spPr>
          <a:ln w="9525" cap="rnd">
            <a:solidFill>
              <a:srgbClr val="5E6B7A"/>
            </a:solidFill>
            <a:round/>
          </a:ln>
        </c:spPr>
        <c:crossAx val="20"/>
        <c:crosses val="autoZero"/>
        <c:auto val="1"/>
        <c:lblAlgn val="ctr"/>
        <c:lblOffset val="100"/>
        <c:noMultiLvlLbl val="0"/>
      </c:catAx>
      <c:valAx>
        <c:axId val="20"/>
        <c:scaling>
          <c:orientation val="minMax"/>
          <c:max val="40"/>
          <c:min val="15"/>
        </c:scaling>
        <c:delete val="0"/>
        <c:axPos val="l"/>
        <c:majorGridlines>
          <c:spPr>
            <a:ln w="9525" cap="rnd">
              <a:solidFill>
                <a:srgbClr val="E3E7EC"/>
              </a:solidFill>
              <a:round/>
            </a:ln>
          </c:spPr>
        </c:majorGridlines>
        <c:title>
          <c:tx>
            <c:rich>
              <a:bodyPr rot="-5400000" vert="horz"/>
              <a:lstStyle/>
              <a:p>
                <a:pPr>
                  <a:defRPr sz="900" b="0"/>
                </a:pPr>
                <a:r>
                  <a:rPr lang="ja-JP" sz="900" b="0"/>
                  <a:t>吸気温度［℃］</a:t>
                </a:r>
              </a:p>
            </c:rich>
          </c:tx>
          <c:overlay val="0"/>
        </c:title>
        <c:numFmt formatCode="0" sourceLinked="0"/>
        <c:majorTickMark val="out"/>
        <c:minorTickMark val="none"/>
        <c:tickLblPos val="nextTo"/>
        <c:spPr>
          <a:ln w="9525" cap="rnd">
            <a:solidFill>
              <a:srgbClr val="5E6B7A"/>
            </a:solidFill>
            <a:round/>
          </a:ln>
        </c:spPr>
        <c:crossAx val="10"/>
        <c:crosses val="autoZero"/>
        <c:crossBetween val="between"/>
        <c:majorUnit val="5"/>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4"/>
          <c:y val="0.05"/>
          <c:w val="0.72"/>
          <c:h val="0.68"/>
        </c:manualLayout>
      </c:layout>
      <c:barChart>
        <c:barDir val="col"/>
        <c:grouping val="clustered"/>
        <c:varyColors val="0"/>
        <c:ser>
          <c:idx val="0"/>
          <c:order val="0"/>
          <c:tx>
            <c:strRef>
              <c:f>'図06_分析3_列8区画別'!$G$1</c:f>
              <c:strCache>
                <c:ptCount val="1"/>
                <c:pt idx="0">
                  <c:v>区画1_列3より低い日</c:v>
                </c:pt>
              </c:strCache>
            </c:strRef>
          </c:tx>
          <c:spPr>
            <a:solidFill>
              <a:srgbClr val="01B8AA"/>
            </a:solidFill>
            <a:ln w="6350" cap="rnd">
              <a:solidFill>
                <a:srgbClr val="01B8AA"/>
              </a:solidFill>
              <a:round/>
            </a:ln>
          </c:spPr>
          <c:invertIfNegative val="0"/>
          <c:cat>
            <c:strRef>
              <c:f>'図06_分析3_列8区画別'!$B$2:$B$48</c:f>
              <c:strCache>
                <c:ptCount val="47"/>
                <c:pt idx="0">
                  <c:v>07-30</c:v>
                </c:pt>
                <c:pt idx="14">
                  <c:v>08-13</c:v>
                </c:pt>
                <c:pt idx="28">
                  <c:v>08-27</c:v>
                </c:pt>
                <c:pt idx="42">
                  <c:v>09-10</c:v>
                </c:pt>
              </c:strCache>
            </c:strRef>
          </c:cat>
          <c:val>
            <c:numRef>
              <c:f>'図06_分析3_列8区画別'!$G$2:$G$48</c:f>
              <c:numCache>
                <c:formatCode>General</c:formatCode>
                <c:ptCount val="47"/>
                <c:pt idx="39">
                  <c:v>-0.26100000000000001</c:v>
                </c:pt>
                <c:pt idx="42">
                  <c:v>-0.26100000000000001</c:v>
                </c:pt>
                <c:pt idx="43">
                  <c:v>-3.6999999999999998E-2</c:v>
                </c:pt>
              </c:numCache>
            </c:numRef>
          </c:val>
          <c:extLst>
            <c:ext xmlns:c16="http://schemas.microsoft.com/office/drawing/2014/chart" uri="{C3380CC4-5D6E-409C-BE32-E72D297353CC}">
              <c16:uniqueId val="{00000000-C4CB-944D-B1E0-3EA9694E7246}"/>
            </c:ext>
          </c:extLst>
        </c:ser>
        <c:ser>
          <c:idx val="1"/>
          <c:order val="1"/>
          <c:tx>
            <c:strRef>
              <c:f>'図06_分析3_列8区画別'!$H$1</c:f>
              <c:strCache>
                <c:ptCount val="1"/>
                <c:pt idx="0">
                  <c:v>区画1_列3より高い日</c:v>
                </c:pt>
              </c:strCache>
            </c:strRef>
          </c:tx>
          <c:spPr>
            <a:solidFill>
              <a:srgbClr val="E66C64"/>
            </a:solidFill>
            <a:ln w="6350" cap="rnd">
              <a:solidFill>
                <a:srgbClr val="E66C64"/>
              </a:solidFill>
              <a:round/>
            </a:ln>
          </c:spPr>
          <c:invertIfNegative val="0"/>
          <c:cat>
            <c:strRef>
              <c:f>'図06_分析3_列8区画別'!$B$2:$B$48</c:f>
              <c:strCache>
                <c:ptCount val="47"/>
                <c:pt idx="0">
                  <c:v>07-30</c:v>
                </c:pt>
                <c:pt idx="14">
                  <c:v>08-13</c:v>
                </c:pt>
                <c:pt idx="28">
                  <c:v>08-27</c:v>
                </c:pt>
                <c:pt idx="42">
                  <c:v>09-10</c:v>
                </c:pt>
              </c:strCache>
            </c:strRef>
          </c:cat>
          <c:val>
            <c:numRef>
              <c:f>'図06_分析3_列8区画別'!$H$2:$H$48</c:f>
              <c:numCache>
                <c:formatCode>General</c:formatCode>
                <c:ptCount val="47"/>
                <c:pt idx="0">
                  <c:v>1.2210000000000001</c:v>
                </c:pt>
                <c:pt idx="1">
                  <c:v>0.97499999999999998</c:v>
                </c:pt>
                <c:pt idx="4">
                  <c:v>0.81</c:v>
                </c:pt>
                <c:pt idx="5">
                  <c:v>0.71599999999999997</c:v>
                </c:pt>
                <c:pt idx="6">
                  <c:v>0.60499999999999998</c:v>
                </c:pt>
                <c:pt idx="7">
                  <c:v>0.83699999999999997</c:v>
                </c:pt>
                <c:pt idx="8">
                  <c:v>0.56799999999999995</c:v>
                </c:pt>
                <c:pt idx="11">
                  <c:v>1.0609999999999999</c:v>
                </c:pt>
                <c:pt idx="13">
                  <c:v>0.36299999999999999</c:v>
                </c:pt>
                <c:pt idx="14">
                  <c:v>0.20599999999999999</c:v>
                </c:pt>
                <c:pt idx="15">
                  <c:v>0.41</c:v>
                </c:pt>
                <c:pt idx="18">
                  <c:v>0.66</c:v>
                </c:pt>
                <c:pt idx="19">
                  <c:v>0.92200000000000004</c:v>
                </c:pt>
                <c:pt idx="20">
                  <c:v>0.872</c:v>
                </c:pt>
                <c:pt idx="21">
                  <c:v>0.88200000000000001</c:v>
                </c:pt>
                <c:pt idx="22">
                  <c:v>0.69499999999999995</c:v>
                </c:pt>
                <c:pt idx="25">
                  <c:v>1.099</c:v>
                </c:pt>
                <c:pt idx="26">
                  <c:v>1.0920000000000001</c:v>
                </c:pt>
                <c:pt idx="27">
                  <c:v>1.63</c:v>
                </c:pt>
                <c:pt idx="28">
                  <c:v>0.61499999999999999</c:v>
                </c:pt>
                <c:pt idx="29">
                  <c:v>1.2190000000000001</c:v>
                </c:pt>
                <c:pt idx="32">
                  <c:v>0.61299999999999999</c:v>
                </c:pt>
                <c:pt idx="33">
                  <c:v>0.499</c:v>
                </c:pt>
                <c:pt idx="34">
                  <c:v>0.55400000000000005</c:v>
                </c:pt>
                <c:pt idx="35">
                  <c:v>0.39300000000000002</c:v>
                </c:pt>
                <c:pt idx="36">
                  <c:v>0.32</c:v>
                </c:pt>
                <c:pt idx="40">
                  <c:v>0.35099999999999998</c:v>
                </c:pt>
                <c:pt idx="41">
                  <c:v>2.5000000000000001E-2</c:v>
                </c:pt>
                <c:pt idx="46">
                  <c:v>0.56699999999999995</c:v>
                </c:pt>
              </c:numCache>
            </c:numRef>
          </c:val>
          <c:extLst>
            <c:ext xmlns:c16="http://schemas.microsoft.com/office/drawing/2014/chart" uri="{C3380CC4-5D6E-409C-BE32-E72D297353CC}">
              <c16:uniqueId val="{00000001-C4CB-944D-B1E0-3EA9694E7246}"/>
            </c:ext>
          </c:extLst>
        </c:ser>
        <c:ser>
          <c:idx val="2"/>
          <c:order val="2"/>
          <c:tx>
            <c:strRef>
              <c:f>'図06_分析3_列8区画別'!$I$1</c:f>
              <c:strCache>
                <c:ptCount val="1"/>
                <c:pt idx="0">
                  <c:v>区画1_休日</c:v>
                </c:pt>
              </c:strCache>
            </c:strRef>
          </c:tx>
          <c:spPr>
            <a:solidFill>
              <a:srgbClr val="C9D1DB"/>
            </a:solidFill>
            <a:ln w="6350" cap="rnd">
              <a:solidFill>
                <a:srgbClr val="C9D1DB"/>
              </a:solidFill>
              <a:round/>
            </a:ln>
          </c:spPr>
          <c:invertIfNegative val="0"/>
          <c:cat>
            <c:strRef>
              <c:f>'図06_分析3_列8区画別'!$B$2:$B$48</c:f>
              <c:strCache>
                <c:ptCount val="47"/>
                <c:pt idx="0">
                  <c:v>07-30</c:v>
                </c:pt>
                <c:pt idx="14">
                  <c:v>08-13</c:v>
                </c:pt>
                <c:pt idx="28">
                  <c:v>08-27</c:v>
                </c:pt>
                <c:pt idx="42">
                  <c:v>09-10</c:v>
                </c:pt>
              </c:strCache>
            </c:strRef>
          </c:cat>
          <c:val>
            <c:numRef>
              <c:f>'図06_分析3_列8区画別'!$I$2:$I$48</c:f>
              <c:numCache>
                <c:formatCode>General</c:formatCode>
                <c:ptCount val="47"/>
                <c:pt idx="2">
                  <c:v>0.21099999999999999</c:v>
                </c:pt>
                <c:pt idx="3">
                  <c:v>0.69399999999999995</c:v>
                </c:pt>
                <c:pt idx="9">
                  <c:v>-0.314</c:v>
                </c:pt>
                <c:pt idx="10">
                  <c:v>0.35899999999999999</c:v>
                </c:pt>
                <c:pt idx="12">
                  <c:v>6.7000000000000004E-2</c:v>
                </c:pt>
                <c:pt idx="16">
                  <c:v>4.1000000000000002E-2</c:v>
                </c:pt>
                <c:pt idx="17">
                  <c:v>-0.26700000000000002</c:v>
                </c:pt>
                <c:pt idx="23">
                  <c:v>-0.154</c:v>
                </c:pt>
                <c:pt idx="24">
                  <c:v>4.2000000000000003E-2</c:v>
                </c:pt>
                <c:pt idx="30">
                  <c:v>-0.64800000000000002</c:v>
                </c:pt>
                <c:pt idx="31">
                  <c:v>-0.33100000000000002</c:v>
                </c:pt>
                <c:pt idx="37">
                  <c:v>8.5999999999999993E-2</c:v>
                </c:pt>
                <c:pt idx="38">
                  <c:v>-1.5529999999999999</c:v>
                </c:pt>
                <c:pt idx="44">
                  <c:v>-0.79700000000000004</c:v>
                </c:pt>
                <c:pt idx="45">
                  <c:v>-0.58699999999999997</c:v>
                </c:pt>
              </c:numCache>
            </c:numRef>
          </c:val>
          <c:extLst>
            <c:ext xmlns:c16="http://schemas.microsoft.com/office/drawing/2014/chart" uri="{C3380CC4-5D6E-409C-BE32-E72D297353CC}">
              <c16:uniqueId val="{00000002-C4CB-944D-B1E0-3EA9694E7246}"/>
            </c:ext>
          </c:extLst>
        </c:ser>
        <c:dLbls>
          <c:showLegendKey val="0"/>
          <c:showVal val="0"/>
          <c:showCatName val="0"/>
          <c:showSerName val="0"/>
          <c:showPercent val="0"/>
          <c:showBubbleSize val="0"/>
        </c:dLbls>
        <c:gapWidth val="30"/>
        <c:overlap val="100"/>
        <c:axId val="10"/>
        <c:axId val="20"/>
      </c:barChart>
      <c:catAx>
        <c:axId val="10"/>
        <c:scaling>
          <c:orientation val="minMax"/>
        </c:scaling>
        <c:delete val="0"/>
        <c:axPos val="b"/>
        <c:numFmt formatCode="General" sourceLinked="1"/>
        <c:majorTickMark val="out"/>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1.5"/>
          <c:min val="-2"/>
        </c:scaling>
        <c:delete val="0"/>
        <c:axPos val="l"/>
        <c:majorGridlines>
          <c:spPr>
            <a:ln w="9525" cap="rnd">
              <a:solidFill>
                <a:srgbClr val="E3E7EC"/>
              </a:solidFill>
              <a:round/>
            </a:ln>
          </c:spPr>
        </c:majorGridlines>
        <c:title>
          <c:tx>
            <c:rich>
              <a:bodyPr rot="-5400000" vert="horz"/>
              <a:lstStyle/>
              <a:p>
                <a:pPr>
                  <a:defRPr sz="900" b="0"/>
                </a:pPr>
                <a:r>
                  <a:rPr lang="ja-JP" sz="900" b="0"/>
                  <a:t>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1"/>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4"/>
          <c:y val="0.2"/>
          <c:w val="0.72"/>
          <c:h val="0.57999999999999996"/>
        </c:manualLayout>
      </c:layout>
      <c:lineChart>
        <c:grouping val="standard"/>
        <c:varyColors val="0"/>
        <c:ser>
          <c:idx val="0"/>
          <c:order val="0"/>
          <c:tx>
            <c:strRef>
              <c:f>'図06_分析3_列8区画別'!$J$1</c:f>
              <c:strCache>
                <c:ptCount val="1"/>
                <c:pt idx="0">
                  <c:v>列3</c:v>
                </c:pt>
              </c:strCache>
            </c:strRef>
          </c:tx>
          <c:spPr>
            <a:ln w="22225" cap="rnd">
              <a:solidFill>
                <a:srgbClr val="5E6B7A"/>
              </a:solidFill>
              <a:round/>
            </a:ln>
          </c:spPr>
          <c:marker>
            <c:symbol val="none"/>
          </c:marker>
          <c:cat>
            <c:strRef>
              <c:f>'図06_分析3_列8区画別'!$B$2:$B$48</c:f>
              <c:strCache>
                <c:ptCount val="47"/>
                <c:pt idx="0">
                  <c:v>07-30</c:v>
                </c:pt>
                <c:pt idx="14">
                  <c:v>08-13</c:v>
                </c:pt>
                <c:pt idx="28">
                  <c:v>08-27</c:v>
                </c:pt>
                <c:pt idx="42">
                  <c:v>09-10</c:v>
                </c:pt>
              </c:strCache>
            </c:strRef>
          </c:cat>
          <c:val>
            <c:numRef>
              <c:f>'図06_分析3_列8区画別'!$J$2:$J$48</c:f>
              <c:numCache>
                <c:formatCode>General</c:formatCode>
                <c:ptCount val="47"/>
                <c:pt idx="0">
                  <c:v>34.892000000000003</c:v>
                </c:pt>
                <c:pt idx="1">
                  <c:v>34.249000000000002</c:v>
                </c:pt>
                <c:pt idx="2">
                  <c:v>34.884999999999998</c:v>
                </c:pt>
                <c:pt idx="3">
                  <c:v>33.555999999999997</c:v>
                </c:pt>
                <c:pt idx="4">
                  <c:v>28.042000000000002</c:v>
                </c:pt>
                <c:pt idx="5">
                  <c:v>29.693999999999999</c:v>
                </c:pt>
                <c:pt idx="6">
                  <c:v>30.736999999999998</c:v>
                </c:pt>
                <c:pt idx="7">
                  <c:v>30.626999999999999</c:v>
                </c:pt>
                <c:pt idx="8">
                  <c:v>33.420999999999999</c:v>
                </c:pt>
                <c:pt idx="9">
                  <c:v>33.005000000000003</c:v>
                </c:pt>
                <c:pt idx="10">
                  <c:v>32.478000000000002</c:v>
                </c:pt>
                <c:pt idx="11">
                  <c:v>30.707000000000001</c:v>
                </c:pt>
                <c:pt idx="12">
                  <c:v>29.466000000000001</c:v>
                </c:pt>
                <c:pt idx="13">
                  <c:v>28.381</c:v>
                </c:pt>
                <c:pt idx="14">
                  <c:v>27.306999999999999</c:v>
                </c:pt>
                <c:pt idx="15">
                  <c:v>29.608000000000001</c:v>
                </c:pt>
                <c:pt idx="16">
                  <c:v>28.14</c:v>
                </c:pt>
                <c:pt idx="17">
                  <c:v>26.5</c:v>
                </c:pt>
                <c:pt idx="18">
                  <c:v>30.108000000000001</c:v>
                </c:pt>
                <c:pt idx="19">
                  <c:v>31.35</c:v>
                </c:pt>
                <c:pt idx="20">
                  <c:v>31.670999999999999</c:v>
                </c:pt>
                <c:pt idx="21">
                  <c:v>32.180999999999997</c:v>
                </c:pt>
                <c:pt idx="22">
                  <c:v>31.542000000000002</c:v>
                </c:pt>
                <c:pt idx="23">
                  <c:v>29.323</c:v>
                </c:pt>
                <c:pt idx="24">
                  <c:v>29.948</c:v>
                </c:pt>
                <c:pt idx="25">
                  <c:v>33.033000000000001</c:v>
                </c:pt>
                <c:pt idx="26">
                  <c:v>34.332000000000001</c:v>
                </c:pt>
                <c:pt idx="27">
                  <c:v>33.746000000000002</c:v>
                </c:pt>
                <c:pt idx="28">
                  <c:v>29.282</c:v>
                </c:pt>
                <c:pt idx="29">
                  <c:v>32.112000000000002</c:v>
                </c:pt>
                <c:pt idx="30">
                  <c:v>24.12</c:v>
                </c:pt>
                <c:pt idx="31">
                  <c:v>26.832999999999998</c:v>
                </c:pt>
                <c:pt idx="32">
                  <c:v>28.137</c:v>
                </c:pt>
                <c:pt idx="33">
                  <c:v>28.908999999999999</c:v>
                </c:pt>
                <c:pt idx="34">
                  <c:v>30.832000000000001</c:v>
                </c:pt>
                <c:pt idx="35">
                  <c:v>30.835999999999999</c:v>
                </c:pt>
                <c:pt idx="36">
                  <c:v>27.242999999999999</c:v>
                </c:pt>
                <c:pt idx="37">
                  <c:v>24.931000000000001</c:v>
                </c:pt>
                <c:pt idx="38">
                  <c:v>21.806000000000001</c:v>
                </c:pt>
                <c:pt idx="39">
                  <c:v>25.096</c:v>
                </c:pt>
                <c:pt idx="40">
                  <c:v>28.431999999999999</c:v>
                </c:pt>
                <c:pt idx="41">
                  <c:v>29.92</c:v>
                </c:pt>
                <c:pt idx="42">
                  <c:v>22.946999999999999</c:v>
                </c:pt>
                <c:pt idx="43">
                  <c:v>21.277999999999999</c:v>
                </c:pt>
                <c:pt idx="44">
                  <c:v>24.355</c:v>
                </c:pt>
                <c:pt idx="45">
                  <c:v>25.335000000000001</c:v>
                </c:pt>
                <c:pt idx="46">
                  <c:v>31.681999999999999</c:v>
                </c:pt>
              </c:numCache>
            </c:numRef>
          </c:val>
          <c:smooth val="0"/>
          <c:extLst>
            <c:ext xmlns:c16="http://schemas.microsoft.com/office/drawing/2014/chart" uri="{C3380CC4-5D6E-409C-BE32-E72D297353CC}">
              <c16:uniqueId val="{00000000-A866-774D-93A2-F26FBDE9F343}"/>
            </c:ext>
          </c:extLst>
        </c:ser>
        <c:ser>
          <c:idx val="1"/>
          <c:order val="1"/>
          <c:tx>
            <c:strRef>
              <c:f>'図06_分析3_列8区画別'!$K$1</c:f>
              <c:strCache>
                <c:ptCount val="1"/>
                <c:pt idx="0">
                  <c:v>列8</c:v>
                </c:pt>
              </c:strCache>
            </c:strRef>
          </c:tx>
          <c:spPr>
            <a:ln w="22225" cap="rnd">
              <a:solidFill>
                <a:srgbClr val="01B8AA"/>
              </a:solidFill>
              <a:round/>
            </a:ln>
          </c:spPr>
          <c:marker>
            <c:symbol val="none"/>
          </c:marker>
          <c:cat>
            <c:strRef>
              <c:f>'図06_分析3_列8区画別'!$B$2:$B$48</c:f>
              <c:strCache>
                <c:ptCount val="47"/>
                <c:pt idx="0">
                  <c:v>07-30</c:v>
                </c:pt>
                <c:pt idx="14">
                  <c:v>08-13</c:v>
                </c:pt>
                <c:pt idx="28">
                  <c:v>08-27</c:v>
                </c:pt>
                <c:pt idx="42">
                  <c:v>09-10</c:v>
                </c:pt>
              </c:strCache>
            </c:strRef>
          </c:cat>
          <c:val>
            <c:numRef>
              <c:f>'図06_分析3_列8区画別'!$K$2:$K$48</c:f>
              <c:numCache>
                <c:formatCode>General</c:formatCode>
                <c:ptCount val="47"/>
                <c:pt idx="0">
                  <c:v>34.982999999999997</c:v>
                </c:pt>
                <c:pt idx="1">
                  <c:v>34.591999999999999</c:v>
                </c:pt>
                <c:pt idx="2">
                  <c:v>34.581000000000003</c:v>
                </c:pt>
                <c:pt idx="3">
                  <c:v>33.671999999999997</c:v>
                </c:pt>
                <c:pt idx="4">
                  <c:v>27.763000000000002</c:v>
                </c:pt>
                <c:pt idx="5">
                  <c:v>29.385999999999999</c:v>
                </c:pt>
                <c:pt idx="6">
                  <c:v>30.454000000000001</c:v>
                </c:pt>
                <c:pt idx="7">
                  <c:v>30.172000000000001</c:v>
                </c:pt>
                <c:pt idx="8">
                  <c:v>32.85</c:v>
                </c:pt>
                <c:pt idx="9">
                  <c:v>32.232999999999997</c:v>
                </c:pt>
                <c:pt idx="10">
                  <c:v>32.527000000000001</c:v>
                </c:pt>
                <c:pt idx="11">
                  <c:v>30.89</c:v>
                </c:pt>
                <c:pt idx="12">
                  <c:v>28.527000000000001</c:v>
                </c:pt>
                <c:pt idx="13">
                  <c:v>28.041</c:v>
                </c:pt>
                <c:pt idx="14">
                  <c:v>26.477</c:v>
                </c:pt>
                <c:pt idx="15">
                  <c:v>29.189</c:v>
                </c:pt>
                <c:pt idx="16">
                  <c:v>27.491</c:v>
                </c:pt>
                <c:pt idx="17">
                  <c:v>25.023</c:v>
                </c:pt>
                <c:pt idx="18">
                  <c:v>29.555</c:v>
                </c:pt>
                <c:pt idx="19">
                  <c:v>31.195</c:v>
                </c:pt>
                <c:pt idx="20">
                  <c:v>31.486000000000001</c:v>
                </c:pt>
                <c:pt idx="21">
                  <c:v>32.25</c:v>
                </c:pt>
                <c:pt idx="22">
                  <c:v>31.364000000000001</c:v>
                </c:pt>
                <c:pt idx="23">
                  <c:v>28.748000000000001</c:v>
                </c:pt>
                <c:pt idx="24">
                  <c:v>29.471</c:v>
                </c:pt>
                <c:pt idx="25">
                  <c:v>32.972999999999999</c:v>
                </c:pt>
                <c:pt idx="26">
                  <c:v>34.421999999999997</c:v>
                </c:pt>
                <c:pt idx="27">
                  <c:v>33.893000000000001</c:v>
                </c:pt>
                <c:pt idx="28">
                  <c:v>28.565000000000001</c:v>
                </c:pt>
                <c:pt idx="29">
                  <c:v>32.101999999999997</c:v>
                </c:pt>
                <c:pt idx="30">
                  <c:v>22.872</c:v>
                </c:pt>
                <c:pt idx="31">
                  <c:v>25.516999999999999</c:v>
                </c:pt>
                <c:pt idx="32">
                  <c:v>27.462</c:v>
                </c:pt>
                <c:pt idx="33">
                  <c:v>28.446000000000002</c:v>
                </c:pt>
                <c:pt idx="34">
                  <c:v>30.225999999999999</c:v>
                </c:pt>
                <c:pt idx="35">
                  <c:v>30.068000000000001</c:v>
                </c:pt>
                <c:pt idx="36">
                  <c:v>26.463999999999999</c:v>
                </c:pt>
                <c:pt idx="37">
                  <c:v>24.227</c:v>
                </c:pt>
                <c:pt idx="38">
                  <c:v>20.425000000000001</c:v>
                </c:pt>
                <c:pt idx="39">
                  <c:v>23.907</c:v>
                </c:pt>
                <c:pt idx="40">
                  <c:v>27.388999999999999</c:v>
                </c:pt>
                <c:pt idx="41">
                  <c:v>28.902999999999999</c:v>
                </c:pt>
                <c:pt idx="42">
                  <c:v>22.276</c:v>
                </c:pt>
                <c:pt idx="43">
                  <c:v>21.009</c:v>
                </c:pt>
                <c:pt idx="44">
                  <c:v>22.709</c:v>
                </c:pt>
                <c:pt idx="45">
                  <c:v>23.936</c:v>
                </c:pt>
                <c:pt idx="46">
                  <c:v>31.308</c:v>
                </c:pt>
              </c:numCache>
            </c:numRef>
          </c:val>
          <c:smooth val="0"/>
          <c:extLst>
            <c:ext xmlns:c16="http://schemas.microsoft.com/office/drawing/2014/chart" uri="{C3380CC4-5D6E-409C-BE32-E72D297353CC}">
              <c16:uniqueId val="{00000001-A866-774D-93A2-F26FBDE9F343}"/>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out"/>
        <c:minorTickMark val="none"/>
        <c:tickLblPos val="low"/>
        <c:spPr>
          <a:ln w="9525" cap="rnd">
            <a:solidFill>
              <a:srgbClr val="5E6B7A"/>
            </a:solidFill>
            <a:round/>
          </a:ln>
        </c:spPr>
        <c:crossAx val="20"/>
        <c:crosses val="autoZero"/>
        <c:auto val="1"/>
        <c:lblAlgn val="ctr"/>
        <c:lblOffset val="100"/>
        <c:noMultiLvlLbl val="0"/>
      </c:catAx>
      <c:valAx>
        <c:axId val="20"/>
        <c:scaling>
          <c:orientation val="minMax"/>
          <c:max val="40"/>
          <c:min val="15"/>
        </c:scaling>
        <c:delete val="0"/>
        <c:axPos val="l"/>
        <c:majorGridlines>
          <c:spPr>
            <a:ln w="9525" cap="rnd">
              <a:solidFill>
                <a:srgbClr val="E3E7EC"/>
              </a:solidFill>
              <a:round/>
            </a:ln>
          </c:spPr>
        </c:majorGridlines>
        <c:title>
          <c:tx>
            <c:rich>
              <a:bodyPr rot="-5400000" vert="horz"/>
              <a:lstStyle/>
              <a:p>
                <a:pPr>
                  <a:defRPr sz="900" b="0"/>
                </a:pPr>
                <a:r>
                  <a:rPr lang="ja-JP" sz="900" b="0"/>
                  <a:t>吸気温度［℃］</a:t>
                </a:r>
              </a:p>
            </c:rich>
          </c:tx>
          <c:overlay val="0"/>
        </c:title>
        <c:numFmt formatCode="0" sourceLinked="0"/>
        <c:majorTickMark val="out"/>
        <c:minorTickMark val="none"/>
        <c:tickLblPos val="nextTo"/>
        <c:spPr>
          <a:ln w="9525" cap="rnd">
            <a:solidFill>
              <a:srgbClr val="5E6B7A"/>
            </a:solidFill>
            <a:round/>
          </a:ln>
        </c:spPr>
        <c:crossAx val="10"/>
        <c:crosses val="autoZero"/>
        <c:crossBetween val="between"/>
        <c:majorUnit val="5"/>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4"/>
          <c:y val="0.05"/>
          <c:w val="0.72"/>
          <c:h val="0.68"/>
        </c:manualLayout>
      </c:layout>
      <c:barChart>
        <c:barDir val="col"/>
        <c:grouping val="clustered"/>
        <c:varyColors val="0"/>
        <c:ser>
          <c:idx val="0"/>
          <c:order val="0"/>
          <c:tx>
            <c:strRef>
              <c:f>'図06_分析3_列8区画別'!$M$1</c:f>
              <c:strCache>
                <c:ptCount val="1"/>
                <c:pt idx="0">
                  <c:v>区画2_列3より低い日</c:v>
                </c:pt>
              </c:strCache>
            </c:strRef>
          </c:tx>
          <c:spPr>
            <a:solidFill>
              <a:srgbClr val="01B8AA"/>
            </a:solidFill>
            <a:ln w="6350" cap="rnd">
              <a:solidFill>
                <a:srgbClr val="01B8AA"/>
              </a:solidFill>
              <a:round/>
            </a:ln>
          </c:spPr>
          <c:invertIfNegative val="0"/>
          <c:cat>
            <c:strRef>
              <c:f>'図06_分析3_列8区画別'!$B$2:$B$48</c:f>
              <c:strCache>
                <c:ptCount val="47"/>
                <c:pt idx="0">
                  <c:v>07-30</c:v>
                </c:pt>
                <c:pt idx="14">
                  <c:v>08-13</c:v>
                </c:pt>
                <c:pt idx="28">
                  <c:v>08-27</c:v>
                </c:pt>
                <c:pt idx="42">
                  <c:v>09-10</c:v>
                </c:pt>
              </c:strCache>
            </c:strRef>
          </c:cat>
          <c:val>
            <c:numRef>
              <c:f>'図06_分析3_列8区画別'!$M$2:$M$48</c:f>
              <c:numCache>
                <c:formatCode>General</c:formatCode>
                <c:ptCount val="47"/>
                <c:pt idx="4">
                  <c:v>-0.27900000000000003</c:v>
                </c:pt>
                <c:pt idx="5">
                  <c:v>-0.308</c:v>
                </c:pt>
                <c:pt idx="6">
                  <c:v>-0.28299999999999997</c:v>
                </c:pt>
                <c:pt idx="7">
                  <c:v>-0.45500000000000002</c:v>
                </c:pt>
                <c:pt idx="8">
                  <c:v>-0.56999999999999995</c:v>
                </c:pt>
                <c:pt idx="13">
                  <c:v>-0.34100000000000003</c:v>
                </c:pt>
                <c:pt idx="14">
                  <c:v>-0.83</c:v>
                </c:pt>
                <c:pt idx="15">
                  <c:v>-0.41899999999999998</c:v>
                </c:pt>
                <c:pt idx="18">
                  <c:v>-0.55300000000000005</c:v>
                </c:pt>
                <c:pt idx="19">
                  <c:v>-0.155</c:v>
                </c:pt>
                <c:pt idx="20">
                  <c:v>-0.185</c:v>
                </c:pt>
                <c:pt idx="22">
                  <c:v>-0.17799999999999999</c:v>
                </c:pt>
                <c:pt idx="25">
                  <c:v>-0.06</c:v>
                </c:pt>
                <c:pt idx="28">
                  <c:v>-0.71699999999999997</c:v>
                </c:pt>
                <c:pt idx="29">
                  <c:v>-0.01</c:v>
                </c:pt>
                <c:pt idx="32">
                  <c:v>-0.67500000000000004</c:v>
                </c:pt>
                <c:pt idx="33">
                  <c:v>-0.46300000000000002</c:v>
                </c:pt>
                <c:pt idx="34">
                  <c:v>-0.60599999999999998</c:v>
                </c:pt>
                <c:pt idx="35">
                  <c:v>-0.76800000000000002</c:v>
                </c:pt>
                <c:pt idx="36">
                  <c:v>-0.77900000000000003</c:v>
                </c:pt>
                <c:pt idx="39">
                  <c:v>-1.1890000000000001</c:v>
                </c:pt>
                <c:pt idx="40">
                  <c:v>-1.0429999999999999</c:v>
                </c:pt>
                <c:pt idx="41">
                  <c:v>-1.0169999999999999</c:v>
                </c:pt>
                <c:pt idx="42">
                  <c:v>-0.67100000000000004</c:v>
                </c:pt>
                <c:pt idx="43">
                  <c:v>-0.26900000000000002</c:v>
                </c:pt>
                <c:pt idx="46">
                  <c:v>-0.374</c:v>
                </c:pt>
              </c:numCache>
            </c:numRef>
          </c:val>
          <c:extLst>
            <c:ext xmlns:c16="http://schemas.microsoft.com/office/drawing/2014/chart" uri="{C3380CC4-5D6E-409C-BE32-E72D297353CC}">
              <c16:uniqueId val="{00000000-F31F-D149-887F-43F1946F13A8}"/>
            </c:ext>
          </c:extLst>
        </c:ser>
        <c:ser>
          <c:idx val="1"/>
          <c:order val="1"/>
          <c:tx>
            <c:strRef>
              <c:f>'図06_分析3_列8区画別'!$N$1</c:f>
              <c:strCache>
                <c:ptCount val="1"/>
                <c:pt idx="0">
                  <c:v>区画2_列3より高い日</c:v>
                </c:pt>
              </c:strCache>
            </c:strRef>
          </c:tx>
          <c:spPr>
            <a:solidFill>
              <a:srgbClr val="E66C64"/>
            </a:solidFill>
            <a:ln w="6350" cap="rnd">
              <a:solidFill>
                <a:srgbClr val="E66C64"/>
              </a:solidFill>
              <a:round/>
            </a:ln>
          </c:spPr>
          <c:invertIfNegative val="0"/>
          <c:cat>
            <c:strRef>
              <c:f>'図06_分析3_列8区画別'!$B$2:$B$48</c:f>
              <c:strCache>
                <c:ptCount val="47"/>
                <c:pt idx="0">
                  <c:v>07-30</c:v>
                </c:pt>
                <c:pt idx="14">
                  <c:v>08-13</c:v>
                </c:pt>
                <c:pt idx="28">
                  <c:v>08-27</c:v>
                </c:pt>
                <c:pt idx="42">
                  <c:v>09-10</c:v>
                </c:pt>
              </c:strCache>
            </c:strRef>
          </c:cat>
          <c:val>
            <c:numRef>
              <c:f>'図06_分析3_列8区画別'!$N$2:$N$48</c:f>
              <c:numCache>
                <c:formatCode>General</c:formatCode>
                <c:ptCount val="47"/>
                <c:pt idx="0">
                  <c:v>9.0999999999999998E-2</c:v>
                </c:pt>
                <c:pt idx="1">
                  <c:v>0.34300000000000003</c:v>
                </c:pt>
                <c:pt idx="11">
                  <c:v>0.182</c:v>
                </c:pt>
                <c:pt idx="21">
                  <c:v>6.9000000000000006E-2</c:v>
                </c:pt>
                <c:pt idx="26">
                  <c:v>8.8999999999999996E-2</c:v>
                </c:pt>
                <c:pt idx="27">
                  <c:v>0.14599999999999999</c:v>
                </c:pt>
              </c:numCache>
            </c:numRef>
          </c:val>
          <c:extLst>
            <c:ext xmlns:c16="http://schemas.microsoft.com/office/drawing/2014/chart" uri="{C3380CC4-5D6E-409C-BE32-E72D297353CC}">
              <c16:uniqueId val="{00000001-F31F-D149-887F-43F1946F13A8}"/>
            </c:ext>
          </c:extLst>
        </c:ser>
        <c:ser>
          <c:idx val="2"/>
          <c:order val="2"/>
          <c:tx>
            <c:strRef>
              <c:f>'図06_分析3_列8区画別'!$O$1</c:f>
              <c:strCache>
                <c:ptCount val="1"/>
                <c:pt idx="0">
                  <c:v>区画2_休日</c:v>
                </c:pt>
              </c:strCache>
            </c:strRef>
          </c:tx>
          <c:spPr>
            <a:solidFill>
              <a:srgbClr val="C9D1DB"/>
            </a:solidFill>
            <a:ln w="6350" cap="rnd">
              <a:solidFill>
                <a:srgbClr val="C9D1DB"/>
              </a:solidFill>
              <a:round/>
            </a:ln>
          </c:spPr>
          <c:invertIfNegative val="0"/>
          <c:cat>
            <c:strRef>
              <c:f>'図06_分析3_列8区画別'!$B$2:$B$48</c:f>
              <c:strCache>
                <c:ptCount val="47"/>
                <c:pt idx="0">
                  <c:v>07-30</c:v>
                </c:pt>
                <c:pt idx="14">
                  <c:v>08-13</c:v>
                </c:pt>
                <c:pt idx="28">
                  <c:v>08-27</c:v>
                </c:pt>
                <c:pt idx="42">
                  <c:v>09-10</c:v>
                </c:pt>
              </c:strCache>
            </c:strRef>
          </c:cat>
          <c:val>
            <c:numRef>
              <c:f>'図06_分析3_列8区画別'!$O$2:$O$48</c:f>
              <c:numCache>
                <c:formatCode>General</c:formatCode>
                <c:ptCount val="47"/>
                <c:pt idx="2">
                  <c:v>-0.30299999999999999</c:v>
                </c:pt>
                <c:pt idx="3">
                  <c:v>0.11700000000000001</c:v>
                </c:pt>
                <c:pt idx="9">
                  <c:v>-0.77200000000000002</c:v>
                </c:pt>
                <c:pt idx="10">
                  <c:v>4.9000000000000002E-2</c:v>
                </c:pt>
                <c:pt idx="12">
                  <c:v>-0.93899999999999995</c:v>
                </c:pt>
                <c:pt idx="16">
                  <c:v>-0.64900000000000002</c:v>
                </c:pt>
                <c:pt idx="17">
                  <c:v>-1.4770000000000001</c:v>
                </c:pt>
                <c:pt idx="23">
                  <c:v>-0.57499999999999996</c:v>
                </c:pt>
                <c:pt idx="24">
                  <c:v>-0.47699999999999998</c:v>
                </c:pt>
                <c:pt idx="30">
                  <c:v>-1.248</c:v>
                </c:pt>
                <c:pt idx="31">
                  <c:v>-1.3160000000000001</c:v>
                </c:pt>
                <c:pt idx="37">
                  <c:v>-0.70499999999999996</c:v>
                </c:pt>
                <c:pt idx="38">
                  <c:v>-1.381</c:v>
                </c:pt>
                <c:pt idx="44">
                  <c:v>-1.6459999999999999</c:v>
                </c:pt>
                <c:pt idx="45">
                  <c:v>-1.399</c:v>
                </c:pt>
              </c:numCache>
            </c:numRef>
          </c:val>
          <c:extLst>
            <c:ext xmlns:c16="http://schemas.microsoft.com/office/drawing/2014/chart" uri="{C3380CC4-5D6E-409C-BE32-E72D297353CC}">
              <c16:uniqueId val="{00000002-F31F-D149-887F-43F1946F13A8}"/>
            </c:ext>
          </c:extLst>
        </c:ser>
        <c:dLbls>
          <c:showLegendKey val="0"/>
          <c:showVal val="0"/>
          <c:showCatName val="0"/>
          <c:showSerName val="0"/>
          <c:showPercent val="0"/>
          <c:showBubbleSize val="0"/>
        </c:dLbls>
        <c:gapWidth val="30"/>
        <c:overlap val="100"/>
        <c:axId val="10"/>
        <c:axId val="20"/>
      </c:barChart>
      <c:catAx>
        <c:axId val="10"/>
        <c:scaling>
          <c:orientation val="minMax"/>
        </c:scaling>
        <c:delete val="0"/>
        <c:axPos val="b"/>
        <c:numFmt formatCode="General" sourceLinked="1"/>
        <c:majorTickMark val="out"/>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1.5"/>
          <c:min val="-2"/>
        </c:scaling>
        <c:delete val="0"/>
        <c:axPos val="l"/>
        <c:majorGridlines>
          <c:spPr>
            <a:ln w="9525" cap="rnd">
              <a:solidFill>
                <a:srgbClr val="E3E7EC"/>
              </a:solidFill>
              <a:round/>
            </a:ln>
          </c:spPr>
        </c:majorGridlines>
        <c:title>
          <c:tx>
            <c:rich>
              <a:bodyPr rot="-5400000" vert="horz"/>
              <a:lstStyle/>
              <a:p>
                <a:pPr>
                  <a:defRPr sz="900" b="0"/>
                </a:pPr>
                <a:r>
                  <a:rPr lang="ja-JP" sz="900" b="0"/>
                  <a:t>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1"/>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4"/>
          <c:y val="0.2"/>
          <c:w val="0.72"/>
          <c:h val="0.57999999999999996"/>
        </c:manualLayout>
      </c:layout>
      <c:lineChart>
        <c:grouping val="standard"/>
        <c:varyColors val="0"/>
        <c:ser>
          <c:idx val="0"/>
          <c:order val="0"/>
          <c:tx>
            <c:strRef>
              <c:f>'図06_分析3_列8区画別'!$P$1</c:f>
              <c:strCache>
                <c:ptCount val="1"/>
                <c:pt idx="0">
                  <c:v>列3</c:v>
                </c:pt>
              </c:strCache>
            </c:strRef>
          </c:tx>
          <c:spPr>
            <a:ln w="22225" cap="rnd">
              <a:solidFill>
                <a:srgbClr val="5E6B7A"/>
              </a:solidFill>
              <a:round/>
            </a:ln>
          </c:spPr>
          <c:marker>
            <c:symbol val="none"/>
          </c:marker>
          <c:cat>
            <c:strRef>
              <c:f>'図06_分析3_列8区画別'!$B$2:$B$48</c:f>
              <c:strCache>
                <c:ptCount val="47"/>
                <c:pt idx="0">
                  <c:v>07-30</c:v>
                </c:pt>
                <c:pt idx="14">
                  <c:v>08-13</c:v>
                </c:pt>
                <c:pt idx="28">
                  <c:v>08-27</c:v>
                </c:pt>
                <c:pt idx="42">
                  <c:v>09-10</c:v>
                </c:pt>
              </c:strCache>
            </c:strRef>
          </c:cat>
          <c:val>
            <c:numRef>
              <c:f>'図06_分析3_列8区画別'!$P$2:$P$48</c:f>
              <c:numCache>
                <c:formatCode>General</c:formatCode>
                <c:ptCount val="47"/>
                <c:pt idx="0">
                  <c:v>35.040999999999997</c:v>
                </c:pt>
                <c:pt idx="1">
                  <c:v>34.564</c:v>
                </c:pt>
                <c:pt idx="2">
                  <c:v>34.747</c:v>
                </c:pt>
                <c:pt idx="3">
                  <c:v>33.383000000000003</c:v>
                </c:pt>
                <c:pt idx="4">
                  <c:v>27.244</c:v>
                </c:pt>
                <c:pt idx="5">
                  <c:v>29.440999999999999</c:v>
                </c:pt>
                <c:pt idx="6">
                  <c:v>30.736000000000001</c:v>
                </c:pt>
                <c:pt idx="7">
                  <c:v>30.905000000000001</c:v>
                </c:pt>
                <c:pt idx="8">
                  <c:v>33.073999999999998</c:v>
                </c:pt>
                <c:pt idx="9">
                  <c:v>32.686</c:v>
                </c:pt>
                <c:pt idx="10">
                  <c:v>32.366</c:v>
                </c:pt>
                <c:pt idx="11">
                  <c:v>30.956</c:v>
                </c:pt>
                <c:pt idx="12">
                  <c:v>28.986000000000001</c:v>
                </c:pt>
                <c:pt idx="13">
                  <c:v>28.247</c:v>
                </c:pt>
                <c:pt idx="14">
                  <c:v>26.754999999999999</c:v>
                </c:pt>
                <c:pt idx="15">
                  <c:v>29.62</c:v>
                </c:pt>
                <c:pt idx="16">
                  <c:v>27.440999999999999</c:v>
                </c:pt>
                <c:pt idx="17">
                  <c:v>25.599</c:v>
                </c:pt>
                <c:pt idx="18">
                  <c:v>29.951000000000001</c:v>
                </c:pt>
                <c:pt idx="19">
                  <c:v>30.785</c:v>
                </c:pt>
                <c:pt idx="20">
                  <c:v>31.327999999999999</c:v>
                </c:pt>
                <c:pt idx="21">
                  <c:v>31.731999999999999</c:v>
                </c:pt>
                <c:pt idx="22">
                  <c:v>31.417999999999999</c:v>
                </c:pt>
                <c:pt idx="23">
                  <c:v>29.587</c:v>
                </c:pt>
                <c:pt idx="24">
                  <c:v>29.934999999999999</c:v>
                </c:pt>
                <c:pt idx="25">
                  <c:v>33.003</c:v>
                </c:pt>
                <c:pt idx="26">
                  <c:v>34.567999999999998</c:v>
                </c:pt>
                <c:pt idx="27">
                  <c:v>34.286000000000001</c:v>
                </c:pt>
                <c:pt idx="28">
                  <c:v>29.141999999999999</c:v>
                </c:pt>
                <c:pt idx="29">
                  <c:v>32.283999999999999</c:v>
                </c:pt>
                <c:pt idx="30">
                  <c:v>23.245000000000001</c:v>
                </c:pt>
                <c:pt idx="31">
                  <c:v>26.206</c:v>
                </c:pt>
                <c:pt idx="32">
                  <c:v>27.78</c:v>
                </c:pt>
                <c:pt idx="33">
                  <c:v>28.847999999999999</c:v>
                </c:pt>
                <c:pt idx="34">
                  <c:v>30.611999999999998</c:v>
                </c:pt>
                <c:pt idx="35">
                  <c:v>30.327000000000002</c:v>
                </c:pt>
                <c:pt idx="36">
                  <c:v>26.843</c:v>
                </c:pt>
                <c:pt idx="37">
                  <c:v>24.658999999999999</c:v>
                </c:pt>
                <c:pt idx="38">
                  <c:v>22.251000000000001</c:v>
                </c:pt>
                <c:pt idx="39">
                  <c:v>24.846</c:v>
                </c:pt>
                <c:pt idx="40">
                  <c:v>28.591000000000001</c:v>
                </c:pt>
                <c:pt idx="41">
                  <c:v>29.783999999999999</c:v>
                </c:pt>
                <c:pt idx="42">
                  <c:v>23.16</c:v>
                </c:pt>
                <c:pt idx="43">
                  <c:v>21.38</c:v>
                </c:pt>
                <c:pt idx="44">
                  <c:v>24.716999999999999</c:v>
                </c:pt>
                <c:pt idx="45">
                  <c:v>24.783000000000001</c:v>
                </c:pt>
                <c:pt idx="46">
                  <c:v>31.449000000000002</c:v>
                </c:pt>
              </c:numCache>
            </c:numRef>
          </c:val>
          <c:smooth val="0"/>
          <c:extLst>
            <c:ext xmlns:c16="http://schemas.microsoft.com/office/drawing/2014/chart" uri="{C3380CC4-5D6E-409C-BE32-E72D297353CC}">
              <c16:uniqueId val="{00000000-24FE-EE41-95E4-A2EBB6B9C76C}"/>
            </c:ext>
          </c:extLst>
        </c:ser>
        <c:ser>
          <c:idx val="1"/>
          <c:order val="1"/>
          <c:tx>
            <c:strRef>
              <c:f>'図06_分析3_列8区画別'!$Q$1</c:f>
              <c:strCache>
                <c:ptCount val="1"/>
                <c:pt idx="0">
                  <c:v>列8</c:v>
                </c:pt>
              </c:strCache>
            </c:strRef>
          </c:tx>
          <c:spPr>
            <a:ln w="22225" cap="rnd">
              <a:solidFill>
                <a:srgbClr val="01B8AA"/>
              </a:solidFill>
              <a:round/>
            </a:ln>
          </c:spPr>
          <c:marker>
            <c:symbol val="none"/>
          </c:marker>
          <c:cat>
            <c:strRef>
              <c:f>'図06_分析3_列8区画別'!$B$2:$B$48</c:f>
              <c:strCache>
                <c:ptCount val="47"/>
                <c:pt idx="0">
                  <c:v>07-30</c:v>
                </c:pt>
                <c:pt idx="14">
                  <c:v>08-13</c:v>
                </c:pt>
                <c:pt idx="28">
                  <c:v>08-27</c:v>
                </c:pt>
                <c:pt idx="42">
                  <c:v>09-10</c:v>
                </c:pt>
              </c:strCache>
            </c:strRef>
          </c:cat>
          <c:val>
            <c:numRef>
              <c:f>'図06_分析3_列8区画別'!$Q$2:$Q$48</c:f>
              <c:numCache>
                <c:formatCode>General</c:formatCode>
                <c:ptCount val="47"/>
                <c:pt idx="0">
                  <c:v>35.073999999999998</c:v>
                </c:pt>
                <c:pt idx="1">
                  <c:v>34.479999999999997</c:v>
                </c:pt>
                <c:pt idx="2">
                  <c:v>34.767000000000003</c:v>
                </c:pt>
                <c:pt idx="3">
                  <c:v>34.228999999999999</c:v>
                </c:pt>
                <c:pt idx="4">
                  <c:v>27.074999999999999</c:v>
                </c:pt>
                <c:pt idx="5">
                  <c:v>29.312999999999999</c:v>
                </c:pt>
                <c:pt idx="6">
                  <c:v>30.521999999999998</c:v>
                </c:pt>
                <c:pt idx="7">
                  <c:v>30.303000000000001</c:v>
                </c:pt>
                <c:pt idx="8">
                  <c:v>32.328000000000003</c:v>
                </c:pt>
                <c:pt idx="9">
                  <c:v>31.952000000000002</c:v>
                </c:pt>
                <c:pt idx="10">
                  <c:v>33.070999999999998</c:v>
                </c:pt>
                <c:pt idx="11">
                  <c:v>30.85</c:v>
                </c:pt>
                <c:pt idx="12">
                  <c:v>28.573</c:v>
                </c:pt>
                <c:pt idx="13">
                  <c:v>27.786999999999999</c:v>
                </c:pt>
                <c:pt idx="14">
                  <c:v>26.390999999999998</c:v>
                </c:pt>
                <c:pt idx="15">
                  <c:v>29.266999999999999</c:v>
                </c:pt>
                <c:pt idx="16">
                  <c:v>27.617999999999999</c:v>
                </c:pt>
                <c:pt idx="17">
                  <c:v>25.22</c:v>
                </c:pt>
                <c:pt idx="18">
                  <c:v>29.469000000000001</c:v>
                </c:pt>
                <c:pt idx="19">
                  <c:v>30.811</c:v>
                </c:pt>
                <c:pt idx="20">
                  <c:v>31.413</c:v>
                </c:pt>
                <c:pt idx="21">
                  <c:v>31.8</c:v>
                </c:pt>
                <c:pt idx="22">
                  <c:v>31.181000000000001</c:v>
                </c:pt>
                <c:pt idx="23">
                  <c:v>28.896999999999998</c:v>
                </c:pt>
                <c:pt idx="24">
                  <c:v>29.637</c:v>
                </c:pt>
                <c:pt idx="25">
                  <c:v>32.673999999999999</c:v>
                </c:pt>
                <c:pt idx="26">
                  <c:v>34.32</c:v>
                </c:pt>
                <c:pt idx="27">
                  <c:v>34.146999999999998</c:v>
                </c:pt>
                <c:pt idx="28">
                  <c:v>28.395</c:v>
                </c:pt>
                <c:pt idx="29">
                  <c:v>32.171999999999997</c:v>
                </c:pt>
                <c:pt idx="30">
                  <c:v>22.527000000000001</c:v>
                </c:pt>
                <c:pt idx="31">
                  <c:v>25.591999999999999</c:v>
                </c:pt>
                <c:pt idx="32">
                  <c:v>27.305</c:v>
                </c:pt>
                <c:pt idx="33">
                  <c:v>28.414000000000001</c:v>
                </c:pt>
                <c:pt idx="34">
                  <c:v>29.948</c:v>
                </c:pt>
                <c:pt idx="35">
                  <c:v>29.838999999999999</c:v>
                </c:pt>
                <c:pt idx="36">
                  <c:v>26.137</c:v>
                </c:pt>
                <c:pt idx="37">
                  <c:v>24.047000000000001</c:v>
                </c:pt>
                <c:pt idx="38">
                  <c:v>20.273</c:v>
                </c:pt>
                <c:pt idx="39">
                  <c:v>23.792999999999999</c:v>
                </c:pt>
                <c:pt idx="40">
                  <c:v>27.623999999999999</c:v>
                </c:pt>
                <c:pt idx="41">
                  <c:v>28.907</c:v>
                </c:pt>
                <c:pt idx="42">
                  <c:v>21.844999999999999</c:v>
                </c:pt>
                <c:pt idx="43">
                  <c:v>20.483000000000001</c:v>
                </c:pt>
                <c:pt idx="44">
                  <c:v>22.507000000000001</c:v>
                </c:pt>
                <c:pt idx="45">
                  <c:v>23.896000000000001</c:v>
                </c:pt>
                <c:pt idx="46">
                  <c:v>31.125</c:v>
                </c:pt>
              </c:numCache>
            </c:numRef>
          </c:val>
          <c:smooth val="0"/>
          <c:extLst>
            <c:ext xmlns:c16="http://schemas.microsoft.com/office/drawing/2014/chart" uri="{C3380CC4-5D6E-409C-BE32-E72D297353CC}">
              <c16:uniqueId val="{00000001-24FE-EE41-95E4-A2EBB6B9C76C}"/>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out"/>
        <c:minorTickMark val="none"/>
        <c:tickLblPos val="low"/>
        <c:spPr>
          <a:ln w="9525" cap="rnd">
            <a:solidFill>
              <a:srgbClr val="5E6B7A"/>
            </a:solidFill>
            <a:round/>
          </a:ln>
        </c:spPr>
        <c:crossAx val="20"/>
        <c:crosses val="autoZero"/>
        <c:auto val="1"/>
        <c:lblAlgn val="ctr"/>
        <c:lblOffset val="100"/>
        <c:noMultiLvlLbl val="0"/>
      </c:catAx>
      <c:valAx>
        <c:axId val="20"/>
        <c:scaling>
          <c:orientation val="minMax"/>
          <c:max val="40"/>
          <c:min val="15"/>
        </c:scaling>
        <c:delete val="0"/>
        <c:axPos val="l"/>
        <c:majorGridlines>
          <c:spPr>
            <a:ln w="9525" cap="rnd">
              <a:solidFill>
                <a:srgbClr val="E3E7EC"/>
              </a:solidFill>
              <a:round/>
            </a:ln>
          </c:spPr>
        </c:majorGridlines>
        <c:title>
          <c:tx>
            <c:rich>
              <a:bodyPr rot="-5400000" vert="horz"/>
              <a:lstStyle/>
              <a:p>
                <a:pPr>
                  <a:defRPr sz="900" b="0"/>
                </a:pPr>
                <a:r>
                  <a:rPr lang="ja-JP" sz="900" b="0"/>
                  <a:t>吸気温度［℃］</a:t>
                </a:r>
              </a:p>
            </c:rich>
          </c:tx>
          <c:overlay val="0"/>
        </c:title>
        <c:numFmt formatCode="0" sourceLinked="0"/>
        <c:majorTickMark val="out"/>
        <c:minorTickMark val="none"/>
        <c:tickLblPos val="nextTo"/>
        <c:spPr>
          <a:ln w="9525" cap="rnd">
            <a:solidFill>
              <a:srgbClr val="5E6B7A"/>
            </a:solidFill>
            <a:round/>
          </a:ln>
        </c:spPr>
        <c:crossAx val="10"/>
        <c:crosses val="autoZero"/>
        <c:crossBetween val="between"/>
        <c:majorUnit val="5"/>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4"/>
          <c:y val="0.05"/>
          <c:w val="0.72"/>
          <c:h val="0.68"/>
        </c:manualLayout>
      </c:layout>
      <c:barChart>
        <c:barDir val="col"/>
        <c:grouping val="clustered"/>
        <c:varyColors val="0"/>
        <c:ser>
          <c:idx val="0"/>
          <c:order val="0"/>
          <c:tx>
            <c:strRef>
              <c:f>'図06_分析3_列8区画別'!$S$1</c:f>
              <c:strCache>
                <c:ptCount val="1"/>
                <c:pt idx="0">
                  <c:v>区画3_列3より低い日</c:v>
                </c:pt>
              </c:strCache>
            </c:strRef>
          </c:tx>
          <c:spPr>
            <a:solidFill>
              <a:srgbClr val="01B8AA"/>
            </a:solidFill>
            <a:ln w="6350" cap="rnd">
              <a:solidFill>
                <a:srgbClr val="01B8AA"/>
              </a:solidFill>
              <a:round/>
            </a:ln>
          </c:spPr>
          <c:invertIfNegative val="0"/>
          <c:cat>
            <c:strRef>
              <c:f>'図06_分析3_列8区画別'!$B$2:$B$48</c:f>
              <c:strCache>
                <c:ptCount val="47"/>
                <c:pt idx="0">
                  <c:v>07-30</c:v>
                </c:pt>
                <c:pt idx="14">
                  <c:v>08-13</c:v>
                </c:pt>
                <c:pt idx="28">
                  <c:v>08-27</c:v>
                </c:pt>
                <c:pt idx="42">
                  <c:v>09-10</c:v>
                </c:pt>
              </c:strCache>
            </c:strRef>
          </c:cat>
          <c:val>
            <c:numRef>
              <c:f>'図06_分析3_列8区画別'!$S$2:$S$48</c:f>
              <c:numCache>
                <c:formatCode>General</c:formatCode>
                <c:ptCount val="47"/>
                <c:pt idx="1">
                  <c:v>-8.5000000000000006E-2</c:v>
                </c:pt>
                <c:pt idx="4">
                  <c:v>-0.16900000000000001</c:v>
                </c:pt>
                <c:pt idx="5">
                  <c:v>-0.129</c:v>
                </c:pt>
                <c:pt idx="6">
                  <c:v>-0.215</c:v>
                </c:pt>
                <c:pt idx="7">
                  <c:v>-0.60199999999999998</c:v>
                </c:pt>
                <c:pt idx="8">
                  <c:v>-0.746</c:v>
                </c:pt>
                <c:pt idx="11">
                  <c:v>-0.106</c:v>
                </c:pt>
                <c:pt idx="13">
                  <c:v>-0.46</c:v>
                </c:pt>
                <c:pt idx="14">
                  <c:v>-0.36499999999999999</c:v>
                </c:pt>
                <c:pt idx="15">
                  <c:v>-0.35299999999999998</c:v>
                </c:pt>
                <c:pt idx="18">
                  <c:v>-0.48199999999999998</c:v>
                </c:pt>
                <c:pt idx="22">
                  <c:v>-0.23699999999999999</c:v>
                </c:pt>
                <c:pt idx="25">
                  <c:v>-0.32900000000000001</c:v>
                </c:pt>
                <c:pt idx="26">
                  <c:v>-0.248</c:v>
                </c:pt>
                <c:pt idx="27">
                  <c:v>-0.13900000000000001</c:v>
                </c:pt>
                <c:pt idx="28">
                  <c:v>-0.747</c:v>
                </c:pt>
                <c:pt idx="29">
                  <c:v>-0.112</c:v>
                </c:pt>
                <c:pt idx="32">
                  <c:v>-0.47499999999999998</c:v>
                </c:pt>
                <c:pt idx="33">
                  <c:v>-0.434</c:v>
                </c:pt>
                <c:pt idx="34">
                  <c:v>-0.66400000000000003</c:v>
                </c:pt>
                <c:pt idx="35">
                  <c:v>-0.48799999999999999</c:v>
                </c:pt>
                <c:pt idx="36">
                  <c:v>-0.70599999999999996</c:v>
                </c:pt>
                <c:pt idx="39">
                  <c:v>-1.0529999999999999</c:v>
                </c:pt>
                <c:pt idx="40">
                  <c:v>-0.96699999999999997</c:v>
                </c:pt>
                <c:pt idx="41">
                  <c:v>-0.877</c:v>
                </c:pt>
                <c:pt idx="42">
                  <c:v>-1.3149999999999999</c:v>
                </c:pt>
                <c:pt idx="43">
                  <c:v>-0.89700000000000002</c:v>
                </c:pt>
                <c:pt idx="46">
                  <c:v>-0.32400000000000001</c:v>
                </c:pt>
              </c:numCache>
            </c:numRef>
          </c:val>
          <c:extLst>
            <c:ext xmlns:c16="http://schemas.microsoft.com/office/drawing/2014/chart" uri="{C3380CC4-5D6E-409C-BE32-E72D297353CC}">
              <c16:uniqueId val="{00000000-5A9B-3840-9B1D-60F91731E23E}"/>
            </c:ext>
          </c:extLst>
        </c:ser>
        <c:ser>
          <c:idx val="1"/>
          <c:order val="1"/>
          <c:tx>
            <c:strRef>
              <c:f>'図06_分析3_列8区画別'!$T$1</c:f>
              <c:strCache>
                <c:ptCount val="1"/>
                <c:pt idx="0">
                  <c:v>区画3_列3より高い日</c:v>
                </c:pt>
              </c:strCache>
            </c:strRef>
          </c:tx>
          <c:spPr>
            <a:solidFill>
              <a:srgbClr val="E66C64"/>
            </a:solidFill>
            <a:ln w="6350" cap="rnd">
              <a:solidFill>
                <a:srgbClr val="E66C64"/>
              </a:solidFill>
              <a:round/>
            </a:ln>
          </c:spPr>
          <c:invertIfNegative val="0"/>
          <c:cat>
            <c:strRef>
              <c:f>'図06_分析3_列8区画別'!$B$2:$B$48</c:f>
              <c:strCache>
                <c:ptCount val="47"/>
                <c:pt idx="0">
                  <c:v>07-30</c:v>
                </c:pt>
                <c:pt idx="14">
                  <c:v>08-13</c:v>
                </c:pt>
                <c:pt idx="28">
                  <c:v>08-27</c:v>
                </c:pt>
                <c:pt idx="42">
                  <c:v>09-10</c:v>
                </c:pt>
              </c:strCache>
            </c:strRef>
          </c:cat>
          <c:val>
            <c:numRef>
              <c:f>'図06_分析3_列8区画別'!$T$2:$T$48</c:f>
              <c:numCache>
                <c:formatCode>General</c:formatCode>
                <c:ptCount val="47"/>
                <c:pt idx="0">
                  <c:v>3.4000000000000002E-2</c:v>
                </c:pt>
                <c:pt idx="19">
                  <c:v>2.7E-2</c:v>
                </c:pt>
                <c:pt idx="20">
                  <c:v>8.5000000000000006E-2</c:v>
                </c:pt>
                <c:pt idx="21">
                  <c:v>6.8000000000000005E-2</c:v>
                </c:pt>
              </c:numCache>
            </c:numRef>
          </c:val>
          <c:extLst>
            <c:ext xmlns:c16="http://schemas.microsoft.com/office/drawing/2014/chart" uri="{C3380CC4-5D6E-409C-BE32-E72D297353CC}">
              <c16:uniqueId val="{00000001-5A9B-3840-9B1D-60F91731E23E}"/>
            </c:ext>
          </c:extLst>
        </c:ser>
        <c:ser>
          <c:idx val="2"/>
          <c:order val="2"/>
          <c:tx>
            <c:strRef>
              <c:f>'図06_分析3_列8区画別'!$U$1</c:f>
              <c:strCache>
                <c:ptCount val="1"/>
                <c:pt idx="0">
                  <c:v>区画3_休日</c:v>
                </c:pt>
              </c:strCache>
            </c:strRef>
          </c:tx>
          <c:spPr>
            <a:solidFill>
              <a:srgbClr val="C9D1DB"/>
            </a:solidFill>
            <a:ln w="6350" cap="rnd">
              <a:solidFill>
                <a:srgbClr val="C9D1DB"/>
              </a:solidFill>
              <a:round/>
            </a:ln>
          </c:spPr>
          <c:invertIfNegative val="0"/>
          <c:cat>
            <c:strRef>
              <c:f>'図06_分析3_列8区画別'!$B$2:$B$48</c:f>
              <c:strCache>
                <c:ptCount val="47"/>
                <c:pt idx="0">
                  <c:v>07-30</c:v>
                </c:pt>
                <c:pt idx="14">
                  <c:v>08-13</c:v>
                </c:pt>
                <c:pt idx="28">
                  <c:v>08-27</c:v>
                </c:pt>
                <c:pt idx="42">
                  <c:v>09-10</c:v>
                </c:pt>
              </c:strCache>
            </c:strRef>
          </c:cat>
          <c:val>
            <c:numRef>
              <c:f>'図06_分析3_列8区画別'!$U$2:$U$48</c:f>
              <c:numCache>
                <c:formatCode>General</c:formatCode>
                <c:ptCount val="47"/>
                <c:pt idx="2">
                  <c:v>0.02</c:v>
                </c:pt>
                <c:pt idx="3">
                  <c:v>0.84699999999999998</c:v>
                </c:pt>
                <c:pt idx="9">
                  <c:v>-0.73399999999999999</c:v>
                </c:pt>
                <c:pt idx="10">
                  <c:v>0.70499999999999996</c:v>
                </c:pt>
                <c:pt idx="12">
                  <c:v>-0.41299999999999998</c:v>
                </c:pt>
                <c:pt idx="16">
                  <c:v>0.17799999999999999</c:v>
                </c:pt>
                <c:pt idx="17">
                  <c:v>-0.379</c:v>
                </c:pt>
                <c:pt idx="23">
                  <c:v>-0.69</c:v>
                </c:pt>
                <c:pt idx="24">
                  <c:v>-0.29799999999999999</c:v>
                </c:pt>
                <c:pt idx="30">
                  <c:v>-0.71799999999999997</c:v>
                </c:pt>
                <c:pt idx="31">
                  <c:v>-0.61399999999999999</c:v>
                </c:pt>
                <c:pt idx="37">
                  <c:v>-0.61199999999999999</c:v>
                </c:pt>
                <c:pt idx="38">
                  <c:v>-1.978</c:v>
                </c:pt>
                <c:pt idx="44">
                  <c:v>-2.21</c:v>
                </c:pt>
                <c:pt idx="45">
                  <c:v>-0.88700000000000001</c:v>
                </c:pt>
              </c:numCache>
            </c:numRef>
          </c:val>
          <c:extLst>
            <c:ext xmlns:c16="http://schemas.microsoft.com/office/drawing/2014/chart" uri="{C3380CC4-5D6E-409C-BE32-E72D297353CC}">
              <c16:uniqueId val="{00000002-5A9B-3840-9B1D-60F91731E23E}"/>
            </c:ext>
          </c:extLst>
        </c:ser>
        <c:dLbls>
          <c:showLegendKey val="0"/>
          <c:showVal val="0"/>
          <c:showCatName val="0"/>
          <c:showSerName val="0"/>
          <c:showPercent val="0"/>
          <c:showBubbleSize val="0"/>
        </c:dLbls>
        <c:gapWidth val="30"/>
        <c:overlap val="100"/>
        <c:axId val="10"/>
        <c:axId val="20"/>
      </c:barChart>
      <c:catAx>
        <c:axId val="10"/>
        <c:scaling>
          <c:orientation val="minMax"/>
        </c:scaling>
        <c:delete val="0"/>
        <c:axPos val="b"/>
        <c:numFmt formatCode="General" sourceLinked="1"/>
        <c:majorTickMark val="out"/>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1.5"/>
          <c:min val="-2"/>
        </c:scaling>
        <c:delete val="0"/>
        <c:axPos val="l"/>
        <c:majorGridlines>
          <c:spPr>
            <a:ln w="9525" cap="rnd">
              <a:solidFill>
                <a:srgbClr val="E3E7EC"/>
              </a:solidFill>
              <a:round/>
            </a:ln>
          </c:spPr>
        </c:majorGridlines>
        <c:title>
          <c:tx>
            <c:rich>
              <a:bodyPr rot="-5400000" vert="horz"/>
              <a:lstStyle/>
              <a:p>
                <a:pPr>
                  <a:defRPr sz="900" b="0"/>
                </a:pPr>
                <a:r>
                  <a:rPr lang="ja-JP" sz="900" b="0"/>
                  <a:t>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1"/>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4"/>
          <c:y val="0.2"/>
          <c:w val="0.72"/>
          <c:h val="0.57999999999999996"/>
        </c:manualLayout>
      </c:layout>
      <c:lineChart>
        <c:grouping val="standard"/>
        <c:varyColors val="0"/>
        <c:ser>
          <c:idx val="0"/>
          <c:order val="0"/>
          <c:tx>
            <c:strRef>
              <c:f>'図07_分析3_列11区画別'!$D$1</c:f>
              <c:strCache>
                <c:ptCount val="1"/>
                <c:pt idx="0">
                  <c:v>列3</c:v>
                </c:pt>
              </c:strCache>
            </c:strRef>
          </c:tx>
          <c:spPr>
            <a:ln w="22225" cap="rnd">
              <a:solidFill>
                <a:srgbClr val="5E6B7A"/>
              </a:solidFill>
              <a:round/>
            </a:ln>
          </c:spPr>
          <c:marker>
            <c:symbol val="none"/>
          </c:marker>
          <c:cat>
            <c:strRef>
              <c:f>'図07_分析3_列11区画別'!$B$2:$B$48</c:f>
              <c:strCache>
                <c:ptCount val="47"/>
                <c:pt idx="0">
                  <c:v>07-30</c:v>
                </c:pt>
                <c:pt idx="14">
                  <c:v>08-13</c:v>
                </c:pt>
                <c:pt idx="28">
                  <c:v>08-27</c:v>
                </c:pt>
                <c:pt idx="42">
                  <c:v>09-10</c:v>
                </c:pt>
              </c:strCache>
            </c:strRef>
          </c:cat>
          <c:val>
            <c:numRef>
              <c:f>'図07_分析3_列11区画別'!$D$2:$D$48</c:f>
              <c:numCache>
                <c:formatCode>General</c:formatCode>
                <c:ptCount val="47"/>
                <c:pt idx="0">
                  <c:v>34.844000000000001</c:v>
                </c:pt>
                <c:pt idx="1">
                  <c:v>33.805999999999997</c:v>
                </c:pt>
                <c:pt idx="2">
                  <c:v>34.625999999999998</c:v>
                </c:pt>
                <c:pt idx="3">
                  <c:v>32.926000000000002</c:v>
                </c:pt>
                <c:pt idx="4">
                  <c:v>26.652000000000001</c:v>
                </c:pt>
                <c:pt idx="5">
                  <c:v>28.417000000000002</c:v>
                </c:pt>
                <c:pt idx="6">
                  <c:v>29.794</c:v>
                </c:pt>
                <c:pt idx="7">
                  <c:v>29.934999999999999</c:v>
                </c:pt>
                <c:pt idx="8">
                  <c:v>32.884</c:v>
                </c:pt>
                <c:pt idx="9">
                  <c:v>32.78</c:v>
                </c:pt>
                <c:pt idx="10">
                  <c:v>32.002000000000002</c:v>
                </c:pt>
                <c:pt idx="11">
                  <c:v>29.981000000000002</c:v>
                </c:pt>
                <c:pt idx="12">
                  <c:v>28.672999999999998</c:v>
                </c:pt>
                <c:pt idx="13">
                  <c:v>27.934000000000001</c:v>
                </c:pt>
                <c:pt idx="14">
                  <c:v>26.167999999999999</c:v>
                </c:pt>
                <c:pt idx="15">
                  <c:v>28.777999999999999</c:v>
                </c:pt>
                <c:pt idx="16">
                  <c:v>27.594999999999999</c:v>
                </c:pt>
                <c:pt idx="17">
                  <c:v>25.481999999999999</c:v>
                </c:pt>
                <c:pt idx="18">
                  <c:v>29.571000000000002</c:v>
                </c:pt>
                <c:pt idx="19">
                  <c:v>30.827999999999999</c:v>
                </c:pt>
                <c:pt idx="20">
                  <c:v>31.135999999999999</c:v>
                </c:pt>
                <c:pt idx="21">
                  <c:v>31.835000000000001</c:v>
                </c:pt>
                <c:pt idx="22">
                  <c:v>31.152000000000001</c:v>
                </c:pt>
                <c:pt idx="23">
                  <c:v>29.071000000000002</c:v>
                </c:pt>
                <c:pt idx="24">
                  <c:v>29.478000000000002</c:v>
                </c:pt>
                <c:pt idx="25">
                  <c:v>32.597999999999999</c:v>
                </c:pt>
                <c:pt idx="26">
                  <c:v>33.969000000000001</c:v>
                </c:pt>
                <c:pt idx="27">
                  <c:v>33.707000000000001</c:v>
                </c:pt>
                <c:pt idx="28">
                  <c:v>28.148</c:v>
                </c:pt>
                <c:pt idx="29">
                  <c:v>31.984999999999999</c:v>
                </c:pt>
                <c:pt idx="30">
                  <c:v>23.155000000000001</c:v>
                </c:pt>
                <c:pt idx="31">
                  <c:v>26.053000000000001</c:v>
                </c:pt>
                <c:pt idx="32">
                  <c:v>27.253</c:v>
                </c:pt>
                <c:pt idx="33">
                  <c:v>28.094999999999999</c:v>
                </c:pt>
                <c:pt idx="34">
                  <c:v>30.327000000000002</c:v>
                </c:pt>
                <c:pt idx="35">
                  <c:v>30.018999999999998</c:v>
                </c:pt>
                <c:pt idx="36">
                  <c:v>26.114000000000001</c:v>
                </c:pt>
                <c:pt idx="37">
                  <c:v>24.273</c:v>
                </c:pt>
                <c:pt idx="38">
                  <c:v>21.812999999999999</c:v>
                </c:pt>
                <c:pt idx="39">
                  <c:v>24.459</c:v>
                </c:pt>
                <c:pt idx="40">
                  <c:v>27.795000000000002</c:v>
                </c:pt>
                <c:pt idx="41">
                  <c:v>29.227</c:v>
                </c:pt>
                <c:pt idx="42">
                  <c:v>22.54</c:v>
                </c:pt>
                <c:pt idx="43">
                  <c:v>21.032</c:v>
                </c:pt>
                <c:pt idx="44">
                  <c:v>23.791</c:v>
                </c:pt>
                <c:pt idx="45">
                  <c:v>24.433</c:v>
                </c:pt>
                <c:pt idx="46">
                  <c:v>31.113</c:v>
                </c:pt>
              </c:numCache>
            </c:numRef>
          </c:val>
          <c:smooth val="0"/>
          <c:extLst>
            <c:ext xmlns:c16="http://schemas.microsoft.com/office/drawing/2014/chart" uri="{C3380CC4-5D6E-409C-BE32-E72D297353CC}">
              <c16:uniqueId val="{00000000-7D6F-3F49-B5E5-E747D0B9B18D}"/>
            </c:ext>
          </c:extLst>
        </c:ser>
        <c:ser>
          <c:idx val="1"/>
          <c:order val="1"/>
          <c:tx>
            <c:strRef>
              <c:f>'図07_分析3_列11区画別'!$E$1</c:f>
              <c:strCache>
                <c:ptCount val="1"/>
                <c:pt idx="0">
                  <c:v>列11</c:v>
                </c:pt>
              </c:strCache>
            </c:strRef>
          </c:tx>
          <c:spPr>
            <a:ln w="22225" cap="rnd">
              <a:solidFill>
                <a:srgbClr val="118DFF"/>
              </a:solidFill>
              <a:round/>
            </a:ln>
          </c:spPr>
          <c:marker>
            <c:symbol val="none"/>
          </c:marker>
          <c:cat>
            <c:strRef>
              <c:f>'図07_分析3_列11区画別'!$B$2:$B$48</c:f>
              <c:strCache>
                <c:ptCount val="47"/>
                <c:pt idx="0">
                  <c:v>07-30</c:v>
                </c:pt>
                <c:pt idx="14">
                  <c:v>08-13</c:v>
                </c:pt>
                <c:pt idx="28">
                  <c:v>08-27</c:v>
                </c:pt>
                <c:pt idx="42">
                  <c:v>09-10</c:v>
                </c:pt>
              </c:strCache>
            </c:strRef>
          </c:cat>
          <c:val>
            <c:numRef>
              <c:f>'図07_分析3_列11区画別'!$E$2:$E$48</c:f>
              <c:numCache>
                <c:formatCode>General</c:formatCode>
                <c:ptCount val="47"/>
                <c:pt idx="0">
                  <c:v>35.207999999999998</c:v>
                </c:pt>
                <c:pt idx="1">
                  <c:v>34.15</c:v>
                </c:pt>
                <c:pt idx="2">
                  <c:v>34.694000000000003</c:v>
                </c:pt>
                <c:pt idx="3">
                  <c:v>33.372</c:v>
                </c:pt>
                <c:pt idx="4">
                  <c:v>27.189</c:v>
                </c:pt>
                <c:pt idx="5">
                  <c:v>28.917999999999999</c:v>
                </c:pt>
                <c:pt idx="6">
                  <c:v>30.081</c:v>
                </c:pt>
                <c:pt idx="7">
                  <c:v>30.295999999999999</c:v>
                </c:pt>
                <c:pt idx="8">
                  <c:v>32.694000000000003</c:v>
                </c:pt>
                <c:pt idx="9">
                  <c:v>32.386000000000003</c:v>
                </c:pt>
                <c:pt idx="10">
                  <c:v>32.183999999999997</c:v>
                </c:pt>
                <c:pt idx="11">
                  <c:v>30.367999999999999</c:v>
                </c:pt>
                <c:pt idx="12">
                  <c:v>28.654</c:v>
                </c:pt>
                <c:pt idx="13">
                  <c:v>27.911999999999999</c:v>
                </c:pt>
                <c:pt idx="14">
                  <c:v>26.012</c:v>
                </c:pt>
                <c:pt idx="15">
                  <c:v>28.916</c:v>
                </c:pt>
                <c:pt idx="16">
                  <c:v>27.611000000000001</c:v>
                </c:pt>
                <c:pt idx="17">
                  <c:v>25.111999999999998</c:v>
                </c:pt>
                <c:pt idx="18">
                  <c:v>29.744</c:v>
                </c:pt>
                <c:pt idx="19">
                  <c:v>31.271000000000001</c:v>
                </c:pt>
                <c:pt idx="20">
                  <c:v>31.56</c:v>
                </c:pt>
                <c:pt idx="21">
                  <c:v>32.106000000000002</c:v>
                </c:pt>
                <c:pt idx="22">
                  <c:v>31.196000000000002</c:v>
                </c:pt>
                <c:pt idx="23">
                  <c:v>28.852</c:v>
                </c:pt>
                <c:pt idx="24">
                  <c:v>29.609000000000002</c:v>
                </c:pt>
                <c:pt idx="25">
                  <c:v>32.82</c:v>
                </c:pt>
                <c:pt idx="26">
                  <c:v>34.289000000000001</c:v>
                </c:pt>
                <c:pt idx="27">
                  <c:v>34.335000000000001</c:v>
                </c:pt>
                <c:pt idx="28">
                  <c:v>28.347999999999999</c:v>
                </c:pt>
                <c:pt idx="29">
                  <c:v>32.435000000000002</c:v>
                </c:pt>
                <c:pt idx="30">
                  <c:v>22.920999999999999</c:v>
                </c:pt>
                <c:pt idx="31">
                  <c:v>25.789000000000001</c:v>
                </c:pt>
                <c:pt idx="32">
                  <c:v>27.55</c:v>
                </c:pt>
                <c:pt idx="33">
                  <c:v>28.399000000000001</c:v>
                </c:pt>
                <c:pt idx="34">
                  <c:v>30.440999999999999</c:v>
                </c:pt>
                <c:pt idx="35">
                  <c:v>30.007999999999999</c:v>
                </c:pt>
                <c:pt idx="36">
                  <c:v>26.323</c:v>
                </c:pt>
                <c:pt idx="37">
                  <c:v>24.111000000000001</c:v>
                </c:pt>
                <c:pt idx="38">
                  <c:v>20.181000000000001</c:v>
                </c:pt>
                <c:pt idx="39">
                  <c:v>23.727</c:v>
                </c:pt>
                <c:pt idx="40">
                  <c:v>27.75</c:v>
                </c:pt>
                <c:pt idx="41">
                  <c:v>28.814</c:v>
                </c:pt>
                <c:pt idx="42">
                  <c:v>21.702999999999999</c:v>
                </c:pt>
                <c:pt idx="43">
                  <c:v>20.405999999999999</c:v>
                </c:pt>
                <c:pt idx="44">
                  <c:v>22.603000000000002</c:v>
                </c:pt>
                <c:pt idx="45">
                  <c:v>23.927</c:v>
                </c:pt>
                <c:pt idx="46">
                  <c:v>31.183</c:v>
                </c:pt>
              </c:numCache>
            </c:numRef>
          </c:val>
          <c:smooth val="0"/>
          <c:extLst>
            <c:ext xmlns:c16="http://schemas.microsoft.com/office/drawing/2014/chart" uri="{C3380CC4-5D6E-409C-BE32-E72D297353CC}">
              <c16:uniqueId val="{00000001-7D6F-3F49-B5E5-E747D0B9B18D}"/>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out"/>
        <c:minorTickMark val="none"/>
        <c:tickLblPos val="low"/>
        <c:spPr>
          <a:ln w="9525" cap="rnd">
            <a:solidFill>
              <a:srgbClr val="5E6B7A"/>
            </a:solidFill>
            <a:round/>
          </a:ln>
        </c:spPr>
        <c:crossAx val="20"/>
        <c:crosses val="autoZero"/>
        <c:auto val="1"/>
        <c:lblAlgn val="ctr"/>
        <c:lblOffset val="100"/>
        <c:noMultiLvlLbl val="0"/>
      </c:catAx>
      <c:valAx>
        <c:axId val="20"/>
        <c:scaling>
          <c:orientation val="minMax"/>
          <c:max val="40"/>
          <c:min val="15"/>
        </c:scaling>
        <c:delete val="0"/>
        <c:axPos val="l"/>
        <c:majorGridlines>
          <c:spPr>
            <a:ln w="9525" cap="rnd">
              <a:solidFill>
                <a:srgbClr val="E3E7EC"/>
              </a:solidFill>
              <a:round/>
            </a:ln>
          </c:spPr>
        </c:majorGridlines>
        <c:title>
          <c:tx>
            <c:rich>
              <a:bodyPr rot="-5400000" vert="horz"/>
              <a:lstStyle/>
              <a:p>
                <a:pPr>
                  <a:defRPr sz="900" b="0"/>
                </a:pPr>
                <a:r>
                  <a:rPr lang="ja-JP" sz="900" b="0"/>
                  <a:t>吸気温度［℃］</a:t>
                </a:r>
              </a:p>
            </c:rich>
          </c:tx>
          <c:overlay val="0"/>
        </c:title>
        <c:numFmt formatCode="0" sourceLinked="0"/>
        <c:majorTickMark val="out"/>
        <c:minorTickMark val="none"/>
        <c:tickLblPos val="nextTo"/>
        <c:spPr>
          <a:ln w="9525" cap="rnd">
            <a:solidFill>
              <a:srgbClr val="5E6B7A"/>
            </a:solidFill>
            <a:round/>
          </a:ln>
        </c:spPr>
        <c:crossAx val="10"/>
        <c:crosses val="autoZero"/>
        <c:crossBetween val="between"/>
        <c:majorUnit val="5"/>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4"/>
          <c:y val="0.05"/>
          <c:w val="0.72"/>
          <c:h val="0.68"/>
        </c:manualLayout>
      </c:layout>
      <c:barChart>
        <c:barDir val="col"/>
        <c:grouping val="clustered"/>
        <c:varyColors val="0"/>
        <c:ser>
          <c:idx val="0"/>
          <c:order val="0"/>
          <c:tx>
            <c:strRef>
              <c:f>'図07_分析3_列11区画別'!$G$1</c:f>
              <c:strCache>
                <c:ptCount val="1"/>
                <c:pt idx="0">
                  <c:v>区画1_列3より低い日</c:v>
                </c:pt>
              </c:strCache>
            </c:strRef>
          </c:tx>
          <c:spPr>
            <a:solidFill>
              <a:srgbClr val="118DFF"/>
            </a:solidFill>
            <a:ln w="6350" cap="rnd">
              <a:solidFill>
                <a:srgbClr val="118DFF"/>
              </a:solidFill>
              <a:round/>
            </a:ln>
          </c:spPr>
          <c:invertIfNegative val="0"/>
          <c:cat>
            <c:strRef>
              <c:f>'図07_分析3_列11区画別'!$B$2:$B$48</c:f>
              <c:strCache>
                <c:ptCount val="47"/>
                <c:pt idx="0">
                  <c:v>07-30</c:v>
                </c:pt>
                <c:pt idx="14">
                  <c:v>08-13</c:v>
                </c:pt>
                <c:pt idx="28">
                  <c:v>08-27</c:v>
                </c:pt>
                <c:pt idx="42">
                  <c:v>09-10</c:v>
                </c:pt>
              </c:strCache>
            </c:strRef>
          </c:cat>
          <c:val>
            <c:numRef>
              <c:f>'図07_分析3_列11区画別'!$G$2:$G$48</c:f>
              <c:numCache>
                <c:formatCode>General</c:formatCode>
                <c:ptCount val="47"/>
                <c:pt idx="8">
                  <c:v>-0.19</c:v>
                </c:pt>
                <c:pt idx="13">
                  <c:v>-2.1999999999999999E-2</c:v>
                </c:pt>
                <c:pt idx="14">
                  <c:v>-0.157</c:v>
                </c:pt>
                <c:pt idx="35">
                  <c:v>-1.0999999999999999E-2</c:v>
                </c:pt>
                <c:pt idx="39">
                  <c:v>-0.73199999999999998</c:v>
                </c:pt>
                <c:pt idx="40">
                  <c:v>-4.4999999999999998E-2</c:v>
                </c:pt>
                <c:pt idx="41">
                  <c:v>-0.41399999999999998</c:v>
                </c:pt>
                <c:pt idx="42">
                  <c:v>-0.83699999999999997</c:v>
                </c:pt>
                <c:pt idx="43">
                  <c:v>-0.627</c:v>
                </c:pt>
              </c:numCache>
            </c:numRef>
          </c:val>
          <c:extLst>
            <c:ext xmlns:c16="http://schemas.microsoft.com/office/drawing/2014/chart" uri="{C3380CC4-5D6E-409C-BE32-E72D297353CC}">
              <c16:uniqueId val="{00000000-C492-504B-883B-86DC2977C358}"/>
            </c:ext>
          </c:extLst>
        </c:ser>
        <c:ser>
          <c:idx val="1"/>
          <c:order val="1"/>
          <c:tx>
            <c:strRef>
              <c:f>'図07_分析3_列11区画別'!$H$1</c:f>
              <c:strCache>
                <c:ptCount val="1"/>
                <c:pt idx="0">
                  <c:v>区画1_列3より高い日</c:v>
                </c:pt>
              </c:strCache>
            </c:strRef>
          </c:tx>
          <c:spPr>
            <a:solidFill>
              <a:srgbClr val="E66C64"/>
            </a:solidFill>
            <a:ln w="6350" cap="rnd">
              <a:solidFill>
                <a:srgbClr val="E66C64"/>
              </a:solidFill>
              <a:round/>
            </a:ln>
          </c:spPr>
          <c:invertIfNegative val="0"/>
          <c:cat>
            <c:strRef>
              <c:f>'図07_分析3_列11区画別'!$B$2:$B$48</c:f>
              <c:strCache>
                <c:ptCount val="47"/>
                <c:pt idx="0">
                  <c:v>07-30</c:v>
                </c:pt>
                <c:pt idx="14">
                  <c:v>08-13</c:v>
                </c:pt>
                <c:pt idx="28">
                  <c:v>08-27</c:v>
                </c:pt>
                <c:pt idx="42">
                  <c:v>09-10</c:v>
                </c:pt>
              </c:strCache>
            </c:strRef>
          </c:cat>
          <c:val>
            <c:numRef>
              <c:f>'図07_分析3_列11区画別'!$H$2:$H$48</c:f>
              <c:numCache>
                <c:formatCode>General</c:formatCode>
                <c:ptCount val="47"/>
                <c:pt idx="0">
                  <c:v>0.36399999999999999</c:v>
                </c:pt>
                <c:pt idx="1">
                  <c:v>0.34399999999999997</c:v>
                </c:pt>
                <c:pt idx="4">
                  <c:v>0.53600000000000003</c:v>
                </c:pt>
                <c:pt idx="5">
                  <c:v>0.501</c:v>
                </c:pt>
                <c:pt idx="6">
                  <c:v>0.28699999999999998</c:v>
                </c:pt>
                <c:pt idx="7">
                  <c:v>0.36099999999999999</c:v>
                </c:pt>
                <c:pt idx="11">
                  <c:v>0.38700000000000001</c:v>
                </c:pt>
                <c:pt idx="15">
                  <c:v>0.13800000000000001</c:v>
                </c:pt>
                <c:pt idx="18">
                  <c:v>0.17299999999999999</c:v>
                </c:pt>
                <c:pt idx="19">
                  <c:v>0.443</c:v>
                </c:pt>
                <c:pt idx="20">
                  <c:v>0.42299999999999999</c:v>
                </c:pt>
                <c:pt idx="21">
                  <c:v>0.27100000000000002</c:v>
                </c:pt>
                <c:pt idx="22">
                  <c:v>4.3999999999999997E-2</c:v>
                </c:pt>
                <c:pt idx="25">
                  <c:v>0.222</c:v>
                </c:pt>
                <c:pt idx="26">
                  <c:v>0.32</c:v>
                </c:pt>
                <c:pt idx="27">
                  <c:v>0.628</c:v>
                </c:pt>
                <c:pt idx="28">
                  <c:v>0.2</c:v>
                </c:pt>
                <c:pt idx="29">
                  <c:v>0.45</c:v>
                </c:pt>
                <c:pt idx="32">
                  <c:v>0.29799999999999999</c:v>
                </c:pt>
                <c:pt idx="33">
                  <c:v>0.30399999999999999</c:v>
                </c:pt>
                <c:pt idx="34">
                  <c:v>0.114</c:v>
                </c:pt>
                <c:pt idx="36">
                  <c:v>0.20899999999999999</c:v>
                </c:pt>
                <c:pt idx="46">
                  <c:v>7.0000000000000007E-2</c:v>
                </c:pt>
              </c:numCache>
            </c:numRef>
          </c:val>
          <c:extLst>
            <c:ext xmlns:c16="http://schemas.microsoft.com/office/drawing/2014/chart" uri="{C3380CC4-5D6E-409C-BE32-E72D297353CC}">
              <c16:uniqueId val="{00000001-C492-504B-883B-86DC2977C358}"/>
            </c:ext>
          </c:extLst>
        </c:ser>
        <c:ser>
          <c:idx val="2"/>
          <c:order val="2"/>
          <c:tx>
            <c:strRef>
              <c:f>'図07_分析3_列11区画別'!$I$1</c:f>
              <c:strCache>
                <c:ptCount val="1"/>
                <c:pt idx="0">
                  <c:v>区画1_休日</c:v>
                </c:pt>
              </c:strCache>
            </c:strRef>
          </c:tx>
          <c:spPr>
            <a:solidFill>
              <a:srgbClr val="C9D1DB"/>
            </a:solidFill>
            <a:ln w="6350" cap="rnd">
              <a:solidFill>
                <a:srgbClr val="C9D1DB"/>
              </a:solidFill>
              <a:round/>
            </a:ln>
          </c:spPr>
          <c:invertIfNegative val="0"/>
          <c:cat>
            <c:strRef>
              <c:f>'図07_分析3_列11区画別'!$B$2:$B$48</c:f>
              <c:strCache>
                <c:ptCount val="47"/>
                <c:pt idx="0">
                  <c:v>07-30</c:v>
                </c:pt>
                <c:pt idx="14">
                  <c:v>08-13</c:v>
                </c:pt>
                <c:pt idx="28">
                  <c:v>08-27</c:v>
                </c:pt>
                <c:pt idx="42">
                  <c:v>09-10</c:v>
                </c:pt>
              </c:strCache>
            </c:strRef>
          </c:cat>
          <c:val>
            <c:numRef>
              <c:f>'図07_分析3_列11区画別'!$I$2:$I$48</c:f>
              <c:numCache>
                <c:formatCode>General</c:formatCode>
                <c:ptCount val="47"/>
                <c:pt idx="2">
                  <c:v>6.8000000000000005E-2</c:v>
                </c:pt>
                <c:pt idx="3">
                  <c:v>0.44600000000000001</c:v>
                </c:pt>
                <c:pt idx="9">
                  <c:v>-0.39400000000000002</c:v>
                </c:pt>
                <c:pt idx="10">
                  <c:v>0.18099999999999999</c:v>
                </c:pt>
                <c:pt idx="12">
                  <c:v>-1.9E-2</c:v>
                </c:pt>
                <c:pt idx="16">
                  <c:v>1.6E-2</c:v>
                </c:pt>
                <c:pt idx="17">
                  <c:v>-0.37</c:v>
                </c:pt>
                <c:pt idx="23">
                  <c:v>-0.219</c:v>
                </c:pt>
                <c:pt idx="24">
                  <c:v>0.13100000000000001</c:v>
                </c:pt>
                <c:pt idx="30">
                  <c:v>-0.23400000000000001</c:v>
                </c:pt>
                <c:pt idx="31">
                  <c:v>-0.26400000000000001</c:v>
                </c:pt>
                <c:pt idx="37">
                  <c:v>-0.16200000000000001</c:v>
                </c:pt>
                <c:pt idx="38">
                  <c:v>-1.6319999999999999</c:v>
                </c:pt>
                <c:pt idx="44">
                  <c:v>-1.1890000000000001</c:v>
                </c:pt>
                <c:pt idx="45">
                  <c:v>-0.50600000000000001</c:v>
                </c:pt>
              </c:numCache>
            </c:numRef>
          </c:val>
          <c:extLst>
            <c:ext xmlns:c16="http://schemas.microsoft.com/office/drawing/2014/chart" uri="{C3380CC4-5D6E-409C-BE32-E72D297353CC}">
              <c16:uniqueId val="{00000002-C492-504B-883B-86DC2977C358}"/>
            </c:ext>
          </c:extLst>
        </c:ser>
        <c:dLbls>
          <c:showLegendKey val="0"/>
          <c:showVal val="0"/>
          <c:showCatName val="0"/>
          <c:showSerName val="0"/>
          <c:showPercent val="0"/>
          <c:showBubbleSize val="0"/>
        </c:dLbls>
        <c:gapWidth val="30"/>
        <c:overlap val="100"/>
        <c:axId val="10"/>
        <c:axId val="20"/>
      </c:barChart>
      <c:catAx>
        <c:axId val="10"/>
        <c:scaling>
          <c:orientation val="minMax"/>
        </c:scaling>
        <c:delete val="0"/>
        <c:axPos val="b"/>
        <c:numFmt formatCode="General" sourceLinked="1"/>
        <c:majorTickMark val="out"/>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1.5"/>
          <c:min val="-2"/>
        </c:scaling>
        <c:delete val="0"/>
        <c:axPos val="l"/>
        <c:majorGridlines>
          <c:spPr>
            <a:ln w="9525" cap="rnd">
              <a:solidFill>
                <a:srgbClr val="E3E7EC"/>
              </a:solidFill>
              <a:round/>
            </a:ln>
          </c:spPr>
        </c:majorGridlines>
        <c:title>
          <c:tx>
            <c:rich>
              <a:bodyPr rot="-5400000" vert="horz"/>
              <a:lstStyle/>
              <a:p>
                <a:pPr>
                  <a:defRPr sz="900" b="0"/>
                </a:pPr>
                <a:r>
                  <a:rPr lang="ja-JP" sz="900" b="0"/>
                  <a:t>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1"/>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4"/>
          <c:y val="0.2"/>
          <c:w val="0.72"/>
          <c:h val="0.57999999999999996"/>
        </c:manualLayout>
      </c:layout>
      <c:lineChart>
        <c:grouping val="standard"/>
        <c:varyColors val="0"/>
        <c:ser>
          <c:idx val="0"/>
          <c:order val="0"/>
          <c:tx>
            <c:strRef>
              <c:f>'図07_分析3_列11区画別'!$J$1</c:f>
              <c:strCache>
                <c:ptCount val="1"/>
                <c:pt idx="0">
                  <c:v>列3</c:v>
                </c:pt>
              </c:strCache>
            </c:strRef>
          </c:tx>
          <c:spPr>
            <a:ln w="22225" cap="rnd">
              <a:solidFill>
                <a:srgbClr val="5E6B7A"/>
              </a:solidFill>
              <a:round/>
            </a:ln>
          </c:spPr>
          <c:marker>
            <c:symbol val="none"/>
          </c:marker>
          <c:cat>
            <c:strRef>
              <c:f>'図07_分析3_列11区画別'!$B$2:$B$48</c:f>
              <c:strCache>
                <c:ptCount val="47"/>
                <c:pt idx="0">
                  <c:v>07-30</c:v>
                </c:pt>
                <c:pt idx="14">
                  <c:v>08-13</c:v>
                </c:pt>
                <c:pt idx="28">
                  <c:v>08-27</c:v>
                </c:pt>
                <c:pt idx="42">
                  <c:v>09-10</c:v>
                </c:pt>
              </c:strCache>
            </c:strRef>
          </c:cat>
          <c:val>
            <c:numRef>
              <c:f>'図07_分析3_列11区画別'!$J$2:$J$48</c:f>
              <c:numCache>
                <c:formatCode>General</c:formatCode>
                <c:ptCount val="47"/>
                <c:pt idx="0">
                  <c:v>34.892000000000003</c:v>
                </c:pt>
                <c:pt idx="1">
                  <c:v>34.249000000000002</c:v>
                </c:pt>
                <c:pt idx="2">
                  <c:v>34.884999999999998</c:v>
                </c:pt>
                <c:pt idx="3">
                  <c:v>33.555999999999997</c:v>
                </c:pt>
                <c:pt idx="4">
                  <c:v>28.042000000000002</c:v>
                </c:pt>
                <c:pt idx="5">
                  <c:v>29.693999999999999</c:v>
                </c:pt>
                <c:pt idx="6">
                  <c:v>30.736999999999998</c:v>
                </c:pt>
                <c:pt idx="7">
                  <c:v>30.626999999999999</c:v>
                </c:pt>
                <c:pt idx="8">
                  <c:v>33.420999999999999</c:v>
                </c:pt>
                <c:pt idx="9">
                  <c:v>33.005000000000003</c:v>
                </c:pt>
                <c:pt idx="10">
                  <c:v>32.478000000000002</c:v>
                </c:pt>
                <c:pt idx="11">
                  <c:v>30.707000000000001</c:v>
                </c:pt>
                <c:pt idx="12">
                  <c:v>29.466000000000001</c:v>
                </c:pt>
                <c:pt idx="13">
                  <c:v>28.381</c:v>
                </c:pt>
                <c:pt idx="14">
                  <c:v>27.306000000000001</c:v>
                </c:pt>
                <c:pt idx="15">
                  <c:v>29.609000000000002</c:v>
                </c:pt>
                <c:pt idx="16">
                  <c:v>28.14</c:v>
                </c:pt>
                <c:pt idx="17">
                  <c:v>26.5</c:v>
                </c:pt>
                <c:pt idx="18">
                  <c:v>30.108000000000001</c:v>
                </c:pt>
                <c:pt idx="19">
                  <c:v>31.35</c:v>
                </c:pt>
                <c:pt idx="20">
                  <c:v>31.670999999999999</c:v>
                </c:pt>
                <c:pt idx="21">
                  <c:v>32.180999999999997</c:v>
                </c:pt>
                <c:pt idx="22">
                  <c:v>31.542000000000002</c:v>
                </c:pt>
                <c:pt idx="23">
                  <c:v>29.323</c:v>
                </c:pt>
                <c:pt idx="24">
                  <c:v>29.948</c:v>
                </c:pt>
                <c:pt idx="25">
                  <c:v>33.033000000000001</c:v>
                </c:pt>
                <c:pt idx="26">
                  <c:v>34.332000000000001</c:v>
                </c:pt>
                <c:pt idx="27">
                  <c:v>33.746000000000002</c:v>
                </c:pt>
                <c:pt idx="28">
                  <c:v>29.282</c:v>
                </c:pt>
                <c:pt idx="29">
                  <c:v>32.206000000000003</c:v>
                </c:pt>
                <c:pt idx="30">
                  <c:v>24.122</c:v>
                </c:pt>
                <c:pt idx="31">
                  <c:v>26.832000000000001</c:v>
                </c:pt>
                <c:pt idx="32">
                  <c:v>28.137</c:v>
                </c:pt>
                <c:pt idx="33">
                  <c:v>28.908999999999999</c:v>
                </c:pt>
                <c:pt idx="34">
                  <c:v>30.832000000000001</c:v>
                </c:pt>
                <c:pt idx="35">
                  <c:v>30.835999999999999</c:v>
                </c:pt>
                <c:pt idx="36">
                  <c:v>27.242999999999999</c:v>
                </c:pt>
                <c:pt idx="37">
                  <c:v>24.931000000000001</c:v>
                </c:pt>
                <c:pt idx="38">
                  <c:v>21.806000000000001</c:v>
                </c:pt>
                <c:pt idx="39">
                  <c:v>25.096</c:v>
                </c:pt>
                <c:pt idx="40">
                  <c:v>28.431000000000001</c:v>
                </c:pt>
                <c:pt idx="41">
                  <c:v>29.919</c:v>
                </c:pt>
                <c:pt idx="42">
                  <c:v>22.946999999999999</c:v>
                </c:pt>
                <c:pt idx="43">
                  <c:v>21.274999999999999</c:v>
                </c:pt>
                <c:pt idx="44">
                  <c:v>24.353999999999999</c:v>
                </c:pt>
                <c:pt idx="45">
                  <c:v>25.335000000000001</c:v>
                </c:pt>
                <c:pt idx="46">
                  <c:v>31.673999999999999</c:v>
                </c:pt>
              </c:numCache>
            </c:numRef>
          </c:val>
          <c:smooth val="0"/>
          <c:extLst>
            <c:ext xmlns:c16="http://schemas.microsoft.com/office/drawing/2014/chart" uri="{C3380CC4-5D6E-409C-BE32-E72D297353CC}">
              <c16:uniqueId val="{00000000-995F-2A4A-90E9-4E8AB998D81E}"/>
            </c:ext>
          </c:extLst>
        </c:ser>
        <c:ser>
          <c:idx val="1"/>
          <c:order val="1"/>
          <c:tx>
            <c:strRef>
              <c:f>'図07_分析3_列11区画別'!$K$1</c:f>
              <c:strCache>
                <c:ptCount val="1"/>
                <c:pt idx="0">
                  <c:v>列11</c:v>
                </c:pt>
              </c:strCache>
            </c:strRef>
          </c:tx>
          <c:spPr>
            <a:ln w="22225" cap="rnd">
              <a:solidFill>
                <a:srgbClr val="118DFF"/>
              </a:solidFill>
              <a:round/>
            </a:ln>
          </c:spPr>
          <c:marker>
            <c:symbol val="none"/>
          </c:marker>
          <c:cat>
            <c:strRef>
              <c:f>'図07_分析3_列11区画別'!$B$2:$B$48</c:f>
              <c:strCache>
                <c:ptCount val="47"/>
                <c:pt idx="0">
                  <c:v>07-30</c:v>
                </c:pt>
                <c:pt idx="14">
                  <c:v>08-13</c:v>
                </c:pt>
                <c:pt idx="28">
                  <c:v>08-27</c:v>
                </c:pt>
                <c:pt idx="42">
                  <c:v>09-10</c:v>
                </c:pt>
              </c:strCache>
            </c:strRef>
          </c:cat>
          <c:val>
            <c:numRef>
              <c:f>'図07_分析3_列11区画別'!$K$2:$K$48</c:f>
              <c:numCache>
                <c:formatCode>General</c:formatCode>
                <c:ptCount val="47"/>
                <c:pt idx="0">
                  <c:v>34.698</c:v>
                </c:pt>
                <c:pt idx="1">
                  <c:v>34.145000000000003</c:v>
                </c:pt>
                <c:pt idx="2">
                  <c:v>34.651000000000003</c:v>
                </c:pt>
                <c:pt idx="3">
                  <c:v>33.479999999999997</c:v>
                </c:pt>
                <c:pt idx="4">
                  <c:v>27.515999999999998</c:v>
                </c:pt>
                <c:pt idx="5">
                  <c:v>29.149000000000001</c:v>
                </c:pt>
                <c:pt idx="6">
                  <c:v>30.4</c:v>
                </c:pt>
                <c:pt idx="7">
                  <c:v>29.942</c:v>
                </c:pt>
                <c:pt idx="8">
                  <c:v>32.356000000000002</c:v>
                </c:pt>
                <c:pt idx="9">
                  <c:v>32.177999999999997</c:v>
                </c:pt>
                <c:pt idx="10">
                  <c:v>32.023000000000003</c:v>
                </c:pt>
                <c:pt idx="11">
                  <c:v>30.539000000000001</c:v>
                </c:pt>
                <c:pt idx="12">
                  <c:v>28.748000000000001</c:v>
                </c:pt>
                <c:pt idx="13">
                  <c:v>27.791</c:v>
                </c:pt>
                <c:pt idx="14">
                  <c:v>26.190999999999999</c:v>
                </c:pt>
                <c:pt idx="15">
                  <c:v>29.24</c:v>
                </c:pt>
                <c:pt idx="16">
                  <c:v>27.861000000000001</c:v>
                </c:pt>
                <c:pt idx="17">
                  <c:v>25.622</c:v>
                </c:pt>
                <c:pt idx="18">
                  <c:v>29.5</c:v>
                </c:pt>
                <c:pt idx="19">
                  <c:v>30.768000000000001</c:v>
                </c:pt>
                <c:pt idx="20">
                  <c:v>31.132999999999999</c:v>
                </c:pt>
                <c:pt idx="21">
                  <c:v>31.515999999999998</c:v>
                </c:pt>
                <c:pt idx="22">
                  <c:v>30.885000000000002</c:v>
                </c:pt>
                <c:pt idx="23">
                  <c:v>28.981999999999999</c:v>
                </c:pt>
                <c:pt idx="24">
                  <c:v>29.436</c:v>
                </c:pt>
                <c:pt idx="25">
                  <c:v>32.405999999999999</c:v>
                </c:pt>
                <c:pt idx="26">
                  <c:v>33.817</c:v>
                </c:pt>
                <c:pt idx="27">
                  <c:v>33.426000000000002</c:v>
                </c:pt>
                <c:pt idx="28">
                  <c:v>28.6</c:v>
                </c:pt>
                <c:pt idx="29">
                  <c:v>32.020000000000003</c:v>
                </c:pt>
                <c:pt idx="30">
                  <c:v>23.071999999999999</c:v>
                </c:pt>
                <c:pt idx="31">
                  <c:v>25.902999999999999</c:v>
                </c:pt>
                <c:pt idx="32">
                  <c:v>27.664000000000001</c:v>
                </c:pt>
                <c:pt idx="33">
                  <c:v>28.527000000000001</c:v>
                </c:pt>
                <c:pt idx="34">
                  <c:v>30.045999999999999</c:v>
                </c:pt>
                <c:pt idx="35">
                  <c:v>30.138999999999999</c:v>
                </c:pt>
                <c:pt idx="36">
                  <c:v>26.702999999999999</c:v>
                </c:pt>
                <c:pt idx="37">
                  <c:v>24.119</c:v>
                </c:pt>
                <c:pt idx="38">
                  <c:v>20.291</c:v>
                </c:pt>
                <c:pt idx="39">
                  <c:v>23.715</c:v>
                </c:pt>
                <c:pt idx="40">
                  <c:v>27.82</c:v>
                </c:pt>
                <c:pt idx="41">
                  <c:v>29.175999999999998</c:v>
                </c:pt>
                <c:pt idx="42">
                  <c:v>22.228000000000002</c:v>
                </c:pt>
                <c:pt idx="43">
                  <c:v>20.727</c:v>
                </c:pt>
                <c:pt idx="44">
                  <c:v>22.573</c:v>
                </c:pt>
                <c:pt idx="45">
                  <c:v>23.891999999999999</c:v>
                </c:pt>
                <c:pt idx="46">
                  <c:v>30.83</c:v>
                </c:pt>
              </c:numCache>
            </c:numRef>
          </c:val>
          <c:smooth val="0"/>
          <c:extLst>
            <c:ext xmlns:c16="http://schemas.microsoft.com/office/drawing/2014/chart" uri="{C3380CC4-5D6E-409C-BE32-E72D297353CC}">
              <c16:uniqueId val="{00000001-995F-2A4A-90E9-4E8AB998D81E}"/>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out"/>
        <c:minorTickMark val="none"/>
        <c:tickLblPos val="low"/>
        <c:spPr>
          <a:ln w="9525" cap="rnd">
            <a:solidFill>
              <a:srgbClr val="5E6B7A"/>
            </a:solidFill>
            <a:round/>
          </a:ln>
        </c:spPr>
        <c:crossAx val="20"/>
        <c:crosses val="autoZero"/>
        <c:auto val="1"/>
        <c:lblAlgn val="ctr"/>
        <c:lblOffset val="100"/>
        <c:noMultiLvlLbl val="0"/>
      </c:catAx>
      <c:valAx>
        <c:axId val="20"/>
        <c:scaling>
          <c:orientation val="minMax"/>
          <c:max val="40"/>
          <c:min val="15"/>
        </c:scaling>
        <c:delete val="0"/>
        <c:axPos val="l"/>
        <c:majorGridlines>
          <c:spPr>
            <a:ln w="9525" cap="rnd">
              <a:solidFill>
                <a:srgbClr val="E3E7EC"/>
              </a:solidFill>
              <a:round/>
            </a:ln>
          </c:spPr>
        </c:majorGridlines>
        <c:title>
          <c:tx>
            <c:rich>
              <a:bodyPr rot="-5400000" vert="horz"/>
              <a:lstStyle/>
              <a:p>
                <a:pPr>
                  <a:defRPr sz="900" b="0"/>
                </a:pPr>
                <a:r>
                  <a:rPr lang="ja-JP" sz="900" b="0"/>
                  <a:t>吸気温度［℃］</a:t>
                </a:r>
              </a:p>
            </c:rich>
          </c:tx>
          <c:overlay val="0"/>
        </c:title>
        <c:numFmt formatCode="0" sourceLinked="0"/>
        <c:majorTickMark val="out"/>
        <c:minorTickMark val="none"/>
        <c:tickLblPos val="nextTo"/>
        <c:spPr>
          <a:ln w="9525" cap="rnd">
            <a:solidFill>
              <a:srgbClr val="5E6B7A"/>
            </a:solidFill>
            <a:round/>
          </a:ln>
        </c:spPr>
        <c:crossAx val="10"/>
        <c:crosses val="autoZero"/>
        <c:crossBetween val="between"/>
        <c:majorUnit val="5"/>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4"/>
          <c:y val="0.05"/>
          <c:w val="0.72"/>
          <c:h val="0.68"/>
        </c:manualLayout>
      </c:layout>
      <c:barChart>
        <c:barDir val="col"/>
        <c:grouping val="clustered"/>
        <c:varyColors val="0"/>
        <c:ser>
          <c:idx val="0"/>
          <c:order val="0"/>
          <c:tx>
            <c:strRef>
              <c:f>'図07_分析3_列11区画別'!$M$1</c:f>
              <c:strCache>
                <c:ptCount val="1"/>
                <c:pt idx="0">
                  <c:v>区画2_列3より低い日</c:v>
                </c:pt>
              </c:strCache>
            </c:strRef>
          </c:tx>
          <c:spPr>
            <a:solidFill>
              <a:srgbClr val="118DFF"/>
            </a:solidFill>
            <a:ln w="6350" cap="rnd">
              <a:solidFill>
                <a:srgbClr val="118DFF"/>
              </a:solidFill>
              <a:round/>
            </a:ln>
          </c:spPr>
          <c:invertIfNegative val="0"/>
          <c:cat>
            <c:strRef>
              <c:f>'図07_分析3_列11区画別'!$B$2:$B$48</c:f>
              <c:strCache>
                <c:ptCount val="47"/>
                <c:pt idx="0">
                  <c:v>07-30</c:v>
                </c:pt>
                <c:pt idx="14">
                  <c:v>08-13</c:v>
                </c:pt>
                <c:pt idx="28">
                  <c:v>08-27</c:v>
                </c:pt>
                <c:pt idx="42">
                  <c:v>09-10</c:v>
                </c:pt>
              </c:strCache>
            </c:strRef>
          </c:cat>
          <c:val>
            <c:numRef>
              <c:f>'図07_分析3_列11区画別'!$M$2:$M$48</c:f>
              <c:numCache>
                <c:formatCode>General</c:formatCode>
                <c:ptCount val="47"/>
                <c:pt idx="0">
                  <c:v>-0.19500000000000001</c:v>
                </c:pt>
                <c:pt idx="1">
                  <c:v>-0.104</c:v>
                </c:pt>
                <c:pt idx="4">
                  <c:v>-0.52600000000000002</c:v>
                </c:pt>
                <c:pt idx="5">
                  <c:v>-0.54500000000000004</c:v>
                </c:pt>
                <c:pt idx="6">
                  <c:v>-0.33700000000000002</c:v>
                </c:pt>
                <c:pt idx="7">
                  <c:v>-0.68500000000000005</c:v>
                </c:pt>
                <c:pt idx="8">
                  <c:v>-1.0649999999999999</c:v>
                </c:pt>
                <c:pt idx="11">
                  <c:v>-0.16800000000000001</c:v>
                </c:pt>
                <c:pt idx="13">
                  <c:v>-0.59</c:v>
                </c:pt>
                <c:pt idx="14">
                  <c:v>-1.115</c:v>
                </c:pt>
                <c:pt idx="15">
                  <c:v>-0.36799999999999999</c:v>
                </c:pt>
                <c:pt idx="18">
                  <c:v>-0.60799999999999998</c:v>
                </c:pt>
                <c:pt idx="19">
                  <c:v>-0.58099999999999996</c:v>
                </c:pt>
                <c:pt idx="20">
                  <c:v>-0.53900000000000003</c:v>
                </c:pt>
                <c:pt idx="21">
                  <c:v>-0.66400000000000003</c:v>
                </c:pt>
                <c:pt idx="22">
                  <c:v>-0.65600000000000003</c:v>
                </c:pt>
                <c:pt idx="25">
                  <c:v>-0.627</c:v>
                </c:pt>
                <c:pt idx="26">
                  <c:v>-0.51500000000000001</c:v>
                </c:pt>
                <c:pt idx="27">
                  <c:v>-0.32</c:v>
                </c:pt>
                <c:pt idx="28">
                  <c:v>-0.68200000000000005</c:v>
                </c:pt>
                <c:pt idx="29">
                  <c:v>-0.186</c:v>
                </c:pt>
                <c:pt idx="32">
                  <c:v>-0.47299999999999998</c:v>
                </c:pt>
                <c:pt idx="33">
                  <c:v>-0.38200000000000001</c:v>
                </c:pt>
                <c:pt idx="34">
                  <c:v>-0.78700000000000003</c:v>
                </c:pt>
                <c:pt idx="35">
                  <c:v>-0.69699999999999995</c:v>
                </c:pt>
                <c:pt idx="36">
                  <c:v>-0.54100000000000004</c:v>
                </c:pt>
                <c:pt idx="39">
                  <c:v>-1.381</c:v>
                </c:pt>
                <c:pt idx="40">
                  <c:v>-0.61099999999999999</c:v>
                </c:pt>
                <c:pt idx="41">
                  <c:v>-0.74399999999999999</c:v>
                </c:pt>
                <c:pt idx="42">
                  <c:v>-0.71799999999999997</c:v>
                </c:pt>
                <c:pt idx="43">
                  <c:v>-0.54800000000000004</c:v>
                </c:pt>
                <c:pt idx="46">
                  <c:v>-0.84399999999999997</c:v>
                </c:pt>
              </c:numCache>
            </c:numRef>
          </c:val>
          <c:extLst>
            <c:ext xmlns:c16="http://schemas.microsoft.com/office/drawing/2014/chart" uri="{C3380CC4-5D6E-409C-BE32-E72D297353CC}">
              <c16:uniqueId val="{00000000-3258-0F48-AAC3-DCF0463BD5C9}"/>
            </c:ext>
          </c:extLst>
        </c:ser>
        <c:ser>
          <c:idx val="1"/>
          <c:order val="1"/>
          <c:tx>
            <c:strRef>
              <c:f>'図07_分析3_列11区画別'!$N$1</c:f>
              <c:strCache>
                <c:ptCount val="1"/>
                <c:pt idx="0">
                  <c:v>区画2_列3より高い日</c:v>
                </c:pt>
              </c:strCache>
            </c:strRef>
          </c:tx>
          <c:spPr>
            <a:solidFill>
              <a:srgbClr val="E66C64"/>
            </a:solidFill>
            <a:ln w="6350" cap="rnd">
              <a:solidFill>
                <a:srgbClr val="E66C64"/>
              </a:solidFill>
              <a:round/>
            </a:ln>
          </c:spPr>
          <c:invertIfNegative val="0"/>
          <c:cat>
            <c:strRef>
              <c:f>'図07_分析3_列11区画別'!$B$2:$B$48</c:f>
              <c:strCache>
                <c:ptCount val="47"/>
                <c:pt idx="0">
                  <c:v>07-30</c:v>
                </c:pt>
                <c:pt idx="14">
                  <c:v>08-13</c:v>
                </c:pt>
                <c:pt idx="28">
                  <c:v>08-27</c:v>
                </c:pt>
                <c:pt idx="42">
                  <c:v>09-10</c:v>
                </c:pt>
              </c:strCache>
            </c:strRef>
          </c:cat>
          <c:val>
            <c:numRef>
              <c:f>'図07_分析3_列11区画別'!$N$2:$N$48</c:f>
              <c:numCache>
                <c:formatCode>General</c:formatCode>
                <c:ptCount val="47"/>
              </c:numCache>
            </c:numRef>
          </c:val>
          <c:extLst>
            <c:ext xmlns:c16="http://schemas.microsoft.com/office/drawing/2014/chart" uri="{C3380CC4-5D6E-409C-BE32-E72D297353CC}">
              <c16:uniqueId val="{00000001-3258-0F48-AAC3-DCF0463BD5C9}"/>
            </c:ext>
          </c:extLst>
        </c:ser>
        <c:ser>
          <c:idx val="2"/>
          <c:order val="2"/>
          <c:tx>
            <c:strRef>
              <c:f>'図07_分析3_列11区画別'!$O$1</c:f>
              <c:strCache>
                <c:ptCount val="1"/>
                <c:pt idx="0">
                  <c:v>区画2_休日</c:v>
                </c:pt>
              </c:strCache>
            </c:strRef>
          </c:tx>
          <c:spPr>
            <a:solidFill>
              <a:srgbClr val="C9D1DB"/>
            </a:solidFill>
            <a:ln w="6350" cap="rnd">
              <a:solidFill>
                <a:srgbClr val="C9D1DB"/>
              </a:solidFill>
              <a:round/>
            </a:ln>
          </c:spPr>
          <c:invertIfNegative val="0"/>
          <c:cat>
            <c:strRef>
              <c:f>'図07_分析3_列11区画別'!$B$2:$B$48</c:f>
              <c:strCache>
                <c:ptCount val="47"/>
                <c:pt idx="0">
                  <c:v>07-30</c:v>
                </c:pt>
                <c:pt idx="14">
                  <c:v>08-13</c:v>
                </c:pt>
                <c:pt idx="28">
                  <c:v>08-27</c:v>
                </c:pt>
                <c:pt idx="42">
                  <c:v>09-10</c:v>
                </c:pt>
              </c:strCache>
            </c:strRef>
          </c:cat>
          <c:val>
            <c:numRef>
              <c:f>'図07_分析3_列11区画別'!$O$2:$O$48</c:f>
              <c:numCache>
                <c:formatCode>General</c:formatCode>
                <c:ptCount val="47"/>
                <c:pt idx="2">
                  <c:v>-0.23300000000000001</c:v>
                </c:pt>
                <c:pt idx="3">
                  <c:v>-7.4999999999999997E-2</c:v>
                </c:pt>
                <c:pt idx="9">
                  <c:v>-0.82699999999999996</c:v>
                </c:pt>
                <c:pt idx="10">
                  <c:v>-0.45500000000000002</c:v>
                </c:pt>
                <c:pt idx="12">
                  <c:v>-0.71799999999999997</c:v>
                </c:pt>
                <c:pt idx="16">
                  <c:v>-0.27900000000000003</c:v>
                </c:pt>
                <c:pt idx="17">
                  <c:v>-0.878</c:v>
                </c:pt>
                <c:pt idx="23">
                  <c:v>-0.34100000000000003</c:v>
                </c:pt>
                <c:pt idx="24">
                  <c:v>-0.51200000000000001</c:v>
                </c:pt>
                <c:pt idx="30">
                  <c:v>-1.05</c:v>
                </c:pt>
                <c:pt idx="31">
                  <c:v>-0.92900000000000005</c:v>
                </c:pt>
                <c:pt idx="37">
                  <c:v>-0.81299999999999994</c:v>
                </c:pt>
                <c:pt idx="38">
                  <c:v>-1.514</c:v>
                </c:pt>
                <c:pt idx="44">
                  <c:v>-1.7809999999999999</c:v>
                </c:pt>
                <c:pt idx="45">
                  <c:v>-1.4430000000000001</c:v>
                </c:pt>
              </c:numCache>
            </c:numRef>
          </c:val>
          <c:extLst>
            <c:ext xmlns:c16="http://schemas.microsoft.com/office/drawing/2014/chart" uri="{C3380CC4-5D6E-409C-BE32-E72D297353CC}">
              <c16:uniqueId val="{00000002-3258-0F48-AAC3-DCF0463BD5C9}"/>
            </c:ext>
          </c:extLst>
        </c:ser>
        <c:dLbls>
          <c:showLegendKey val="0"/>
          <c:showVal val="0"/>
          <c:showCatName val="0"/>
          <c:showSerName val="0"/>
          <c:showPercent val="0"/>
          <c:showBubbleSize val="0"/>
        </c:dLbls>
        <c:gapWidth val="30"/>
        <c:overlap val="100"/>
        <c:axId val="10"/>
        <c:axId val="20"/>
      </c:barChart>
      <c:catAx>
        <c:axId val="10"/>
        <c:scaling>
          <c:orientation val="minMax"/>
        </c:scaling>
        <c:delete val="0"/>
        <c:axPos val="b"/>
        <c:numFmt formatCode="General" sourceLinked="1"/>
        <c:majorTickMark val="out"/>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1.5"/>
          <c:min val="-2"/>
        </c:scaling>
        <c:delete val="0"/>
        <c:axPos val="l"/>
        <c:majorGridlines>
          <c:spPr>
            <a:ln w="9525" cap="rnd">
              <a:solidFill>
                <a:srgbClr val="E3E7EC"/>
              </a:solidFill>
              <a:round/>
            </a:ln>
          </c:spPr>
        </c:majorGridlines>
        <c:title>
          <c:tx>
            <c:rich>
              <a:bodyPr rot="-5400000" vert="horz"/>
              <a:lstStyle/>
              <a:p>
                <a:pPr>
                  <a:defRPr sz="900" b="0"/>
                </a:pPr>
                <a:r>
                  <a:rPr lang="ja-JP" sz="900" b="0"/>
                  <a:t>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1"/>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4"/>
          <c:y val="0.2"/>
          <c:w val="0.72"/>
          <c:h val="0.57999999999999996"/>
        </c:manualLayout>
      </c:layout>
      <c:lineChart>
        <c:grouping val="standard"/>
        <c:varyColors val="0"/>
        <c:ser>
          <c:idx val="0"/>
          <c:order val="0"/>
          <c:tx>
            <c:strRef>
              <c:f>'図07_分析3_列11区画別'!$P$1</c:f>
              <c:strCache>
                <c:ptCount val="1"/>
                <c:pt idx="0">
                  <c:v>列3</c:v>
                </c:pt>
              </c:strCache>
            </c:strRef>
          </c:tx>
          <c:spPr>
            <a:ln w="22225" cap="rnd">
              <a:solidFill>
                <a:srgbClr val="5E6B7A"/>
              </a:solidFill>
              <a:round/>
            </a:ln>
          </c:spPr>
          <c:marker>
            <c:symbol val="none"/>
          </c:marker>
          <c:cat>
            <c:strRef>
              <c:f>'図07_分析3_列11区画別'!$B$2:$B$48</c:f>
              <c:strCache>
                <c:ptCount val="47"/>
                <c:pt idx="0">
                  <c:v>07-30</c:v>
                </c:pt>
                <c:pt idx="14">
                  <c:v>08-13</c:v>
                </c:pt>
                <c:pt idx="28">
                  <c:v>08-27</c:v>
                </c:pt>
                <c:pt idx="42">
                  <c:v>09-10</c:v>
                </c:pt>
              </c:strCache>
            </c:strRef>
          </c:cat>
          <c:val>
            <c:numRef>
              <c:f>'図07_分析3_列11区画別'!$P$2:$P$48</c:f>
              <c:numCache>
                <c:formatCode>General</c:formatCode>
                <c:ptCount val="47"/>
                <c:pt idx="0">
                  <c:v>34.829000000000001</c:v>
                </c:pt>
                <c:pt idx="1">
                  <c:v>34.438000000000002</c:v>
                </c:pt>
                <c:pt idx="2">
                  <c:v>34.6</c:v>
                </c:pt>
                <c:pt idx="3">
                  <c:v>33.293999999999997</c:v>
                </c:pt>
                <c:pt idx="4">
                  <c:v>26.992000000000001</c:v>
                </c:pt>
                <c:pt idx="5">
                  <c:v>29.311</c:v>
                </c:pt>
                <c:pt idx="6">
                  <c:v>30.597999999999999</c:v>
                </c:pt>
                <c:pt idx="7">
                  <c:v>30.582000000000001</c:v>
                </c:pt>
                <c:pt idx="8">
                  <c:v>32.829000000000001</c:v>
                </c:pt>
                <c:pt idx="9">
                  <c:v>32.369</c:v>
                </c:pt>
                <c:pt idx="10">
                  <c:v>32.167000000000002</c:v>
                </c:pt>
                <c:pt idx="11">
                  <c:v>30.824999999999999</c:v>
                </c:pt>
                <c:pt idx="12">
                  <c:v>28.86</c:v>
                </c:pt>
                <c:pt idx="13">
                  <c:v>28.062999999999999</c:v>
                </c:pt>
                <c:pt idx="14">
                  <c:v>26.593</c:v>
                </c:pt>
                <c:pt idx="15">
                  <c:v>29.51</c:v>
                </c:pt>
                <c:pt idx="16">
                  <c:v>27.277000000000001</c:v>
                </c:pt>
                <c:pt idx="17">
                  <c:v>25.454999999999998</c:v>
                </c:pt>
                <c:pt idx="18">
                  <c:v>29.835000000000001</c:v>
                </c:pt>
                <c:pt idx="19">
                  <c:v>30.616</c:v>
                </c:pt>
                <c:pt idx="20">
                  <c:v>31.132999999999999</c:v>
                </c:pt>
                <c:pt idx="21">
                  <c:v>31.457999999999998</c:v>
                </c:pt>
                <c:pt idx="22">
                  <c:v>31.088000000000001</c:v>
                </c:pt>
                <c:pt idx="23">
                  <c:v>28.824000000000002</c:v>
                </c:pt>
                <c:pt idx="24">
                  <c:v>29.670999999999999</c:v>
                </c:pt>
                <c:pt idx="25">
                  <c:v>32.581000000000003</c:v>
                </c:pt>
                <c:pt idx="26">
                  <c:v>33.994</c:v>
                </c:pt>
                <c:pt idx="27">
                  <c:v>33.624000000000002</c:v>
                </c:pt>
                <c:pt idx="28">
                  <c:v>28.327999999999999</c:v>
                </c:pt>
                <c:pt idx="29">
                  <c:v>32.201999999999998</c:v>
                </c:pt>
                <c:pt idx="30">
                  <c:v>22.812000000000001</c:v>
                </c:pt>
                <c:pt idx="31">
                  <c:v>25.847000000000001</c:v>
                </c:pt>
                <c:pt idx="32">
                  <c:v>27.565000000000001</c:v>
                </c:pt>
                <c:pt idx="33">
                  <c:v>28.591999999999999</c:v>
                </c:pt>
                <c:pt idx="34">
                  <c:v>30.254999999999999</c:v>
                </c:pt>
                <c:pt idx="35">
                  <c:v>30.177</c:v>
                </c:pt>
                <c:pt idx="36">
                  <c:v>26.396999999999998</c:v>
                </c:pt>
                <c:pt idx="37">
                  <c:v>24.411999999999999</c:v>
                </c:pt>
                <c:pt idx="38">
                  <c:v>21.268000000000001</c:v>
                </c:pt>
                <c:pt idx="39">
                  <c:v>24.262</c:v>
                </c:pt>
                <c:pt idx="40">
                  <c:v>28.012</c:v>
                </c:pt>
                <c:pt idx="41">
                  <c:v>29.417000000000002</c:v>
                </c:pt>
                <c:pt idx="42">
                  <c:v>22.114999999999998</c:v>
                </c:pt>
                <c:pt idx="43">
                  <c:v>20.38</c:v>
                </c:pt>
                <c:pt idx="44">
                  <c:v>23.440999999999999</c:v>
                </c:pt>
                <c:pt idx="45">
                  <c:v>24.081</c:v>
                </c:pt>
                <c:pt idx="46">
                  <c:v>31.079000000000001</c:v>
                </c:pt>
              </c:numCache>
            </c:numRef>
          </c:val>
          <c:smooth val="0"/>
          <c:extLst>
            <c:ext xmlns:c16="http://schemas.microsoft.com/office/drawing/2014/chart" uri="{C3380CC4-5D6E-409C-BE32-E72D297353CC}">
              <c16:uniqueId val="{00000000-CA0B-DF4B-980D-113D9D6BBE5F}"/>
            </c:ext>
          </c:extLst>
        </c:ser>
        <c:ser>
          <c:idx val="1"/>
          <c:order val="1"/>
          <c:tx>
            <c:strRef>
              <c:f>'図07_分析3_列11区画別'!$Q$1</c:f>
              <c:strCache>
                <c:ptCount val="1"/>
                <c:pt idx="0">
                  <c:v>列11</c:v>
                </c:pt>
              </c:strCache>
            </c:strRef>
          </c:tx>
          <c:spPr>
            <a:ln w="22225" cap="rnd">
              <a:solidFill>
                <a:srgbClr val="118DFF"/>
              </a:solidFill>
              <a:round/>
            </a:ln>
          </c:spPr>
          <c:marker>
            <c:symbol val="none"/>
          </c:marker>
          <c:cat>
            <c:strRef>
              <c:f>'図07_分析3_列11区画別'!$B$2:$B$48</c:f>
              <c:strCache>
                <c:ptCount val="47"/>
                <c:pt idx="0">
                  <c:v>07-30</c:v>
                </c:pt>
                <c:pt idx="14">
                  <c:v>08-13</c:v>
                </c:pt>
                <c:pt idx="28">
                  <c:v>08-27</c:v>
                </c:pt>
                <c:pt idx="42">
                  <c:v>09-10</c:v>
                </c:pt>
              </c:strCache>
            </c:strRef>
          </c:cat>
          <c:val>
            <c:numRef>
              <c:f>'図07_分析3_列11区画別'!$Q$2:$Q$48</c:f>
              <c:numCache>
                <c:formatCode>General</c:formatCode>
                <c:ptCount val="47"/>
                <c:pt idx="0">
                  <c:v>34.856000000000002</c:v>
                </c:pt>
                <c:pt idx="1">
                  <c:v>34.097000000000001</c:v>
                </c:pt>
                <c:pt idx="2">
                  <c:v>34.417000000000002</c:v>
                </c:pt>
                <c:pt idx="3">
                  <c:v>32.96</c:v>
                </c:pt>
                <c:pt idx="4">
                  <c:v>26.774999999999999</c:v>
                </c:pt>
                <c:pt idx="5">
                  <c:v>28.89</c:v>
                </c:pt>
                <c:pt idx="6">
                  <c:v>30.204999999999998</c:v>
                </c:pt>
                <c:pt idx="7">
                  <c:v>30.106999999999999</c:v>
                </c:pt>
                <c:pt idx="8">
                  <c:v>31.943999999999999</c:v>
                </c:pt>
                <c:pt idx="9">
                  <c:v>31.440999999999999</c:v>
                </c:pt>
                <c:pt idx="10">
                  <c:v>31.84</c:v>
                </c:pt>
                <c:pt idx="11">
                  <c:v>30.204999999999998</c:v>
                </c:pt>
                <c:pt idx="12">
                  <c:v>28.47</c:v>
                </c:pt>
                <c:pt idx="13">
                  <c:v>27.350999999999999</c:v>
                </c:pt>
                <c:pt idx="14">
                  <c:v>25.922000000000001</c:v>
                </c:pt>
                <c:pt idx="15">
                  <c:v>28.9</c:v>
                </c:pt>
                <c:pt idx="16">
                  <c:v>27.167000000000002</c:v>
                </c:pt>
                <c:pt idx="17">
                  <c:v>24.954999999999998</c:v>
                </c:pt>
                <c:pt idx="18">
                  <c:v>29.294</c:v>
                </c:pt>
                <c:pt idx="19">
                  <c:v>30.53</c:v>
                </c:pt>
                <c:pt idx="20">
                  <c:v>31.097999999999999</c:v>
                </c:pt>
                <c:pt idx="21">
                  <c:v>31.637</c:v>
                </c:pt>
                <c:pt idx="22">
                  <c:v>30.661999999999999</c:v>
                </c:pt>
                <c:pt idx="23">
                  <c:v>28.468</c:v>
                </c:pt>
                <c:pt idx="24">
                  <c:v>29.346</c:v>
                </c:pt>
                <c:pt idx="25">
                  <c:v>32.316000000000003</c:v>
                </c:pt>
                <c:pt idx="26">
                  <c:v>33.704000000000001</c:v>
                </c:pt>
                <c:pt idx="27">
                  <c:v>33.762999999999998</c:v>
                </c:pt>
                <c:pt idx="28">
                  <c:v>28.282</c:v>
                </c:pt>
                <c:pt idx="29">
                  <c:v>32.049999999999997</c:v>
                </c:pt>
                <c:pt idx="30">
                  <c:v>22.494</c:v>
                </c:pt>
                <c:pt idx="31">
                  <c:v>25.314</c:v>
                </c:pt>
                <c:pt idx="32">
                  <c:v>27.062000000000001</c:v>
                </c:pt>
                <c:pt idx="33">
                  <c:v>28.22</c:v>
                </c:pt>
                <c:pt idx="34">
                  <c:v>29.875</c:v>
                </c:pt>
                <c:pt idx="35">
                  <c:v>29.734999999999999</c:v>
                </c:pt>
                <c:pt idx="36">
                  <c:v>25.992999999999999</c:v>
                </c:pt>
                <c:pt idx="37">
                  <c:v>24.044</c:v>
                </c:pt>
                <c:pt idx="38">
                  <c:v>20.521999999999998</c:v>
                </c:pt>
                <c:pt idx="39">
                  <c:v>23.722000000000001</c:v>
                </c:pt>
                <c:pt idx="40">
                  <c:v>27.428999999999998</c:v>
                </c:pt>
                <c:pt idx="41">
                  <c:v>28.681000000000001</c:v>
                </c:pt>
                <c:pt idx="42">
                  <c:v>21.704000000000001</c:v>
                </c:pt>
                <c:pt idx="43">
                  <c:v>20.399000000000001</c:v>
                </c:pt>
                <c:pt idx="44">
                  <c:v>22.91</c:v>
                </c:pt>
                <c:pt idx="45">
                  <c:v>23.675000000000001</c:v>
                </c:pt>
                <c:pt idx="46">
                  <c:v>30.646999999999998</c:v>
                </c:pt>
              </c:numCache>
            </c:numRef>
          </c:val>
          <c:smooth val="0"/>
          <c:extLst>
            <c:ext xmlns:c16="http://schemas.microsoft.com/office/drawing/2014/chart" uri="{C3380CC4-5D6E-409C-BE32-E72D297353CC}">
              <c16:uniqueId val="{00000001-CA0B-DF4B-980D-113D9D6BBE5F}"/>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out"/>
        <c:minorTickMark val="none"/>
        <c:tickLblPos val="low"/>
        <c:spPr>
          <a:ln w="9525" cap="rnd">
            <a:solidFill>
              <a:srgbClr val="5E6B7A"/>
            </a:solidFill>
            <a:round/>
          </a:ln>
        </c:spPr>
        <c:crossAx val="20"/>
        <c:crosses val="autoZero"/>
        <c:auto val="1"/>
        <c:lblAlgn val="ctr"/>
        <c:lblOffset val="100"/>
        <c:noMultiLvlLbl val="0"/>
      </c:catAx>
      <c:valAx>
        <c:axId val="20"/>
        <c:scaling>
          <c:orientation val="minMax"/>
          <c:max val="40"/>
          <c:min val="15"/>
        </c:scaling>
        <c:delete val="0"/>
        <c:axPos val="l"/>
        <c:majorGridlines>
          <c:spPr>
            <a:ln w="9525" cap="rnd">
              <a:solidFill>
                <a:srgbClr val="E3E7EC"/>
              </a:solidFill>
              <a:round/>
            </a:ln>
          </c:spPr>
        </c:majorGridlines>
        <c:title>
          <c:tx>
            <c:rich>
              <a:bodyPr rot="-5400000" vert="horz"/>
              <a:lstStyle/>
              <a:p>
                <a:pPr>
                  <a:defRPr sz="900" b="0"/>
                </a:pPr>
                <a:r>
                  <a:rPr lang="ja-JP" sz="900" b="0"/>
                  <a:t>吸気温度［℃］</a:t>
                </a:r>
              </a:p>
            </c:rich>
          </c:tx>
          <c:overlay val="0"/>
        </c:title>
        <c:numFmt formatCode="0" sourceLinked="0"/>
        <c:majorTickMark val="out"/>
        <c:minorTickMark val="none"/>
        <c:tickLblPos val="nextTo"/>
        <c:spPr>
          <a:ln w="9525" cap="rnd">
            <a:solidFill>
              <a:srgbClr val="5E6B7A"/>
            </a:solidFill>
            <a:round/>
          </a:ln>
        </c:spPr>
        <c:crossAx val="10"/>
        <c:crosses val="autoZero"/>
        <c:crossBetween val="between"/>
        <c:majorUnit val="5"/>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4"/>
          <c:y val="0.05"/>
          <c:w val="0.72"/>
          <c:h val="0.68"/>
        </c:manualLayout>
      </c:layout>
      <c:barChart>
        <c:barDir val="col"/>
        <c:grouping val="clustered"/>
        <c:varyColors val="0"/>
        <c:ser>
          <c:idx val="0"/>
          <c:order val="0"/>
          <c:tx>
            <c:strRef>
              <c:f>'図07_分析3_列11区画別'!$S$1</c:f>
              <c:strCache>
                <c:ptCount val="1"/>
                <c:pt idx="0">
                  <c:v>区画3_列3より低い日</c:v>
                </c:pt>
              </c:strCache>
            </c:strRef>
          </c:tx>
          <c:spPr>
            <a:solidFill>
              <a:srgbClr val="118DFF"/>
            </a:solidFill>
            <a:ln w="6350" cap="rnd">
              <a:solidFill>
                <a:srgbClr val="118DFF"/>
              </a:solidFill>
              <a:round/>
            </a:ln>
          </c:spPr>
          <c:invertIfNegative val="0"/>
          <c:cat>
            <c:strRef>
              <c:f>'図07_分析3_列11区画別'!$B$2:$B$48</c:f>
              <c:strCache>
                <c:ptCount val="47"/>
                <c:pt idx="0">
                  <c:v>07-30</c:v>
                </c:pt>
                <c:pt idx="14">
                  <c:v>08-13</c:v>
                </c:pt>
                <c:pt idx="28">
                  <c:v>08-27</c:v>
                </c:pt>
                <c:pt idx="42">
                  <c:v>09-10</c:v>
                </c:pt>
              </c:strCache>
            </c:strRef>
          </c:cat>
          <c:val>
            <c:numRef>
              <c:f>'図07_分析3_列11区画別'!$S$2:$S$48</c:f>
              <c:numCache>
                <c:formatCode>General</c:formatCode>
                <c:ptCount val="47"/>
                <c:pt idx="1">
                  <c:v>-0.34100000000000003</c:v>
                </c:pt>
                <c:pt idx="4">
                  <c:v>-0.217</c:v>
                </c:pt>
                <c:pt idx="5">
                  <c:v>-0.42199999999999999</c:v>
                </c:pt>
                <c:pt idx="6">
                  <c:v>-0.39300000000000002</c:v>
                </c:pt>
                <c:pt idx="7">
                  <c:v>-0.47499999999999998</c:v>
                </c:pt>
                <c:pt idx="8">
                  <c:v>-0.88500000000000001</c:v>
                </c:pt>
                <c:pt idx="11">
                  <c:v>-0.621</c:v>
                </c:pt>
                <c:pt idx="13">
                  <c:v>-0.71299999999999997</c:v>
                </c:pt>
                <c:pt idx="14">
                  <c:v>-0.67100000000000004</c:v>
                </c:pt>
                <c:pt idx="15">
                  <c:v>-0.61</c:v>
                </c:pt>
                <c:pt idx="18">
                  <c:v>-0.54</c:v>
                </c:pt>
                <c:pt idx="19">
                  <c:v>-8.5999999999999993E-2</c:v>
                </c:pt>
                <c:pt idx="20">
                  <c:v>-3.4000000000000002E-2</c:v>
                </c:pt>
                <c:pt idx="22">
                  <c:v>-0.42599999999999999</c:v>
                </c:pt>
                <c:pt idx="25">
                  <c:v>-0.26600000000000001</c:v>
                </c:pt>
                <c:pt idx="26">
                  <c:v>-0.28999999999999998</c:v>
                </c:pt>
                <c:pt idx="28">
                  <c:v>-4.4999999999999998E-2</c:v>
                </c:pt>
                <c:pt idx="29">
                  <c:v>-0.153</c:v>
                </c:pt>
                <c:pt idx="32">
                  <c:v>-0.504</c:v>
                </c:pt>
                <c:pt idx="33">
                  <c:v>-0.372</c:v>
                </c:pt>
                <c:pt idx="34">
                  <c:v>-0.38</c:v>
                </c:pt>
                <c:pt idx="35">
                  <c:v>-0.442</c:v>
                </c:pt>
                <c:pt idx="36">
                  <c:v>-0.40400000000000003</c:v>
                </c:pt>
                <c:pt idx="39">
                  <c:v>-0.53900000000000003</c:v>
                </c:pt>
                <c:pt idx="40">
                  <c:v>-0.58299999999999996</c:v>
                </c:pt>
                <c:pt idx="41">
                  <c:v>-0.73599999999999999</c:v>
                </c:pt>
                <c:pt idx="42">
                  <c:v>-0.41099999999999998</c:v>
                </c:pt>
                <c:pt idx="46">
                  <c:v>-0.432</c:v>
                </c:pt>
              </c:numCache>
            </c:numRef>
          </c:val>
          <c:extLst>
            <c:ext xmlns:c16="http://schemas.microsoft.com/office/drawing/2014/chart" uri="{C3380CC4-5D6E-409C-BE32-E72D297353CC}">
              <c16:uniqueId val="{00000000-8ACA-834E-B61E-161943D68DBB}"/>
            </c:ext>
          </c:extLst>
        </c:ser>
        <c:ser>
          <c:idx val="1"/>
          <c:order val="1"/>
          <c:tx>
            <c:strRef>
              <c:f>'図07_分析3_列11区画別'!$T$1</c:f>
              <c:strCache>
                <c:ptCount val="1"/>
                <c:pt idx="0">
                  <c:v>区画3_列3より高い日</c:v>
                </c:pt>
              </c:strCache>
            </c:strRef>
          </c:tx>
          <c:spPr>
            <a:solidFill>
              <a:srgbClr val="E66C64"/>
            </a:solidFill>
            <a:ln w="6350" cap="rnd">
              <a:solidFill>
                <a:srgbClr val="E66C64"/>
              </a:solidFill>
              <a:round/>
            </a:ln>
          </c:spPr>
          <c:invertIfNegative val="0"/>
          <c:cat>
            <c:strRef>
              <c:f>'図07_分析3_列11区画別'!$B$2:$B$48</c:f>
              <c:strCache>
                <c:ptCount val="47"/>
                <c:pt idx="0">
                  <c:v>07-30</c:v>
                </c:pt>
                <c:pt idx="14">
                  <c:v>08-13</c:v>
                </c:pt>
                <c:pt idx="28">
                  <c:v>08-27</c:v>
                </c:pt>
                <c:pt idx="42">
                  <c:v>09-10</c:v>
                </c:pt>
              </c:strCache>
            </c:strRef>
          </c:cat>
          <c:val>
            <c:numRef>
              <c:f>'図07_分析3_列11区画別'!$T$2:$T$48</c:f>
              <c:numCache>
                <c:formatCode>General</c:formatCode>
                <c:ptCount val="47"/>
                <c:pt idx="0">
                  <c:v>2.7E-2</c:v>
                </c:pt>
                <c:pt idx="21">
                  <c:v>0.18</c:v>
                </c:pt>
                <c:pt idx="27">
                  <c:v>0.13900000000000001</c:v>
                </c:pt>
                <c:pt idx="43">
                  <c:v>1.7999999999999999E-2</c:v>
                </c:pt>
              </c:numCache>
            </c:numRef>
          </c:val>
          <c:extLst>
            <c:ext xmlns:c16="http://schemas.microsoft.com/office/drawing/2014/chart" uri="{C3380CC4-5D6E-409C-BE32-E72D297353CC}">
              <c16:uniqueId val="{00000001-8ACA-834E-B61E-161943D68DBB}"/>
            </c:ext>
          </c:extLst>
        </c:ser>
        <c:ser>
          <c:idx val="2"/>
          <c:order val="2"/>
          <c:tx>
            <c:strRef>
              <c:f>'図07_分析3_列11区画別'!$U$1</c:f>
              <c:strCache>
                <c:ptCount val="1"/>
                <c:pt idx="0">
                  <c:v>区画3_休日</c:v>
                </c:pt>
              </c:strCache>
            </c:strRef>
          </c:tx>
          <c:spPr>
            <a:solidFill>
              <a:srgbClr val="C9D1DB"/>
            </a:solidFill>
            <a:ln w="6350" cap="rnd">
              <a:solidFill>
                <a:srgbClr val="C9D1DB"/>
              </a:solidFill>
              <a:round/>
            </a:ln>
          </c:spPr>
          <c:invertIfNegative val="0"/>
          <c:cat>
            <c:strRef>
              <c:f>'図07_分析3_列11区画別'!$B$2:$B$48</c:f>
              <c:strCache>
                <c:ptCount val="47"/>
                <c:pt idx="0">
                  <c:v>07-30</c:v>
                </c:pt>
                <c:pt idx="14">
                  <c:v>08-13</c:v>
                </c:pt>
                <c:pt idx="28">
                  <c:v>08-27</c:v>
                </c:pt>
                <c:pt idx="42">
                  <c:v>09-10</c:v>
                </c:pt>
              </c:strCache>
            </c:strRef>
          </c:cat>
          <c:val>
            <c:numRef>
              <c:f>'図07_分析3_列11区画別'!$U$2:$U$48</c:f>
              <c:numCache>
                <c:formatCode>General</c:formatCode>
                <c:ptCount val="47"/>
                <c:pt idx="2">
                  <c:v>-0.182</c:v>
                </c:pt>
                <c:pt idx="3">
                  <c:v>-0.33400000000000002</c:v>
                </c:pt>
                <c:pt idx="9">
                  <c:v>-0.92800000000000005</c:v>
                </c:pt>
                <c:pt idx="10">
                  <c:v>-0.32800000000000001</c:v>
                </c:pt>
                <c:pt idx="12">
                  <c:v>-0.39</c:v>
                </c:pt>
                <c:pt idx="16">
                  <c:v>-0.11</c:v>
                </c:pt>
                <c:pt idx="17">
                  <c:v>-0.5</c:v>
                </c:pt>
                <c:pt idx="23">
                  <c:v>-0.35599999999999998</c:v>
                </c:pt>
                <c:pt idx="24">
                  <c:v>-0.32500000000000001</c:v>
                </c:pt>
                <c:pt idx="30">
                  <c:v>-0.318</c:v>
                </c:pt>
                <c:pt idx="31">
                  <c:v>-0.53300000000000003</c:v>
                </c:pt>
                <c:pt idx="37">
                  <c:v>-0.36799999999999999</c:v>
                </c:pt>
                <c:pt idx="38">
                  <c:v>-0.746</c:v>
                </c:pt>
                <c:pt idx="44">
                  <c:v>-0.53100000000000003</c:v>
                </c:pt>
                <c:pt idx="45">
                  <c:v>-0.40600000000000003</c:v>
                </c:pt>
              </c:numCache>
            </c:numRef>
          </c:val>
          <c:extLst>
            <c:ext xmlns:c16="http://schemas.microsoft.com/office/drawing/2014/chart" uri="{C3380CC4-5D6E-409C-BE32-E72D297353CC}">
              <c16:uniqueId val="{00000002-8ACA-834E-B61E-161943D68DBB}"/>
            </c:ext>
          </c:extLst>
        </c:ser>
        <c:dLbls>
          <c:showLegendKey val="0"/>
          <c:showVal val="0"/>
          <c:showCatName val="0"/>
          <c:showSerName val="0"/>
          <c:showPercent val="0"/>
          <c:showBubbleSize val="0"/>
        </c:dLbls>
        <c:gapWidth val="30"/>
        <c:overlap val="100"/>
        <c:axId val="10"/>
        <c:axId val="20"/>
      </c:barChart>
      <c:catAx>
        <c:axId val="10"/>
        <c:scaling>
          <c:orientation val="minMax"/>
        </c:scaling>
        <c:delete val="0"/>
        <c:axPos val="b"/>
        <c:numFmt formatCode="General" sourceLinked="1"/>
        <c:majorTickMark val="out"/>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1.5"/>
          <c:min val="-2"/>
        </c:scaling>
        <c:delete val="0"/>
        <c:axPos val="l"/>
        <c:majorGridlines>
          <c:spPr>
            <a:ln w="9525" cap="rnd">
              <a:solidFill>
                <a:srgbClr val="E3E7EC"/>
              </a:solidFill>
              <a:round/>
            </a:ln>
          </c:spPr>
        </c:majorGridlines>
        <c:title>
          <c:tx>
            <c:rich>
              <a:bodyPr rot="-5400000" vert="horz"/>
              <a:lstStyle/>
              <a:p>
                <a:pPr>
                  <a:defRPr sz="900" b="0"/>
                </a:pPr>
                <a:r>
                  <a:rPr lang="ja-JP" sz="900" b="0"/>
                  <a:t>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1"/>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barChart>
        <c:barDir val="bar"/>
        <c:grouping val="clustered"/>
        <c:varyColors val="0"/>
        <c:ser>
          <c:idx val="0"/>
          <c:order val="0"/>
          <c:tx>
            <c:strRef>
              <c:f>'図12_分析4_回帰'!$B$1</c:f>
              <c:strCache>
                <c:ptCount val="1"/>
                <c:pt idx="0">
                  <c:v>8-1（列8の区画1）</c:v>
                </c:pt>
              </c:strCache>
            </c:strRef>
          </c:tx>
          <c:spPr>
            <a:solidFill>
              <a:srgbClr val="01B8AA"/>
            </a:solidFill>
            <a:ln w="6350" cap="rnd">
              <a:solidFill>
                <a:srgbClr val="01B8AA"/>
              </a:solidFill>
              <a:round/>
            </a:ln>
          </c:spPr>
          <c:invertIfNegative val="0"/>
          <c:cat>
            <c:strRef>
              <c:f>'図12_分析4_回帰'!$A$2:$A$13</c:f>
              <c:strCache>
                <c:ptCount val="12"/>
                <c:pt idx="0">
                  <c:v>夜間・全台停止（参考）</c:v>
                </c:pt>
                <c:pt idx="1">
                  <c:v>休日の日中（参考）</c:v>
                </c:pt>
                <c:pt idx="2">
                  <c:v>風速　中風</c:v>
                </c:pt>
                <c:pt idx="3">
                  <c:v>風速　弱風</c:v>
                </c:pt>
                <c:pt idx="4">
                  <c:v>風速　極弱風</c:v>
                </c:pt>
                <c:pt idx="5">
                  <c:v>天気　雨</c:v>
                </c:pt>
                <c:pt idx="6">
                  <c:v>天気　曇り</c:v>
                </c:pt>
                <c:pt idx="7">
                  <c:v>天気　晴れ</c:v>
                </c:pt>
                <c:pt idx="8">
                  <c:v>気温　31℃以上</c:v>
                </c:pt>
                <c:pt idx="9">
                  <c:v>気温　28〜31℃</c:v>
                </c:pt>
                <c:pt idx="10">
                  <c:v>気温　28℃未満</c:v>
                </c:pt>
                <c:pt idx="11">
                  <c:v>勤務日の日中（全体）</c:v>
                </c:pt>
              </c:strCache>
            </c:strRef>
          </c:cat>
          <c:val>
            <c:numRef>
              <c:f>'図12_分析4_回帰'!$B$2:$B$13</c:f>
              <c:numCache>
                <c:formatCode>General</c:formatCode>
                <c:ptCount val="12"/>
                <c:pt idx="0">
                  <c:v>-5.7000000000000002E-2</c:v>
                </c:pt>
                <c:pt idx="1">
                  <c:v>-0.21</c:v>
                </c:pt>
                <c:pt idx="2">
                  <c:v>0.74199999999999999</c:v>
                </c:pt>
                <c:pt idx="3">
                  <c:v>0.621</c:v>
                </c:pt>
                <c:pt idx="4">
                  <c:v>0.53900000000000003</c:v>
                </c:pt>
                <c:pt idx="5">
                  <c:v>0.33400000000000002</c:v>
                </c:pt>
                <c:pt idx="6">
                  <c:v>0.36099999999999999</c:v>
                </c:pt>
                <c:pt idx="7">
                  <c:v>0.93400000000000005</c:v>
                </c:pt>
                <c:pt idx="8">
                  <c:v>1.0009999999999999</c:v>
                </c:pt>
                <c:pt idx="9">
                  <c:v>0.57999999999999996</c:v>
                </c:pt>
                <c:pt idx="10">
                  <c:v>0.22900000000000001</c:v>
                </c:pt>
                <c:pt idx="11">
                  <c:v>0.63</c:v>
                </c:pt>
              </c:numCache>
            </c:numRef>
          </c:val>
          <c:extLst>
            <c:ext xmlns:c16="http://schemas.microsoft.com/office/drawing/2014/chart" uri="{C3380CC4-5D6E-409C-BE32-E72D297353CC}">
              <c16:uniqueId val="{00000000-CACA-BC4D-B824-29A45B8AFE5B}"/>
            </c:ext>
          </c:extLst>
        </c:ser>
        <c:ser>
          <c:idx val="1"/>
          <c:order val="1"/>
          <c:tx>
            <c:strRef>
              <c:f>'図12_分析4_回帰'!$G$1</c:f>
              <c:strCache>
                <c:ptCount val="1"/>
                <c:pt idx="0">
                  <c:v>11-1（列11の区画1）</c:v>
                </c:pt>
              </c:strCache>
            </c:strRef>
          </c:tx>
          <c:spPr>
            <a:solidFill>
              <a:srgbClr val="118DFF"/>
            </a:solidFill>
            <a:ln w="6350" cap="rnd">
              <a:solidFill>
                <a:srgbClr val="118DFF"/>
              </a:solidFill>
              <a:round/>
            </a:ln>
          </c:spPr>
          <c:invertIfNegative val="0"/>
          <c:cat>
            <c:strRef>
              <c:f>'図12_分析4_回帰'!$A$2:$A$13</c:f>
              <c:strCache>
                <c:ptCount val="12"/>
                <c:pt idx="0">
                  <c:v>夜間・全台停止（参考）</c:v>
                </c:pt>
                <c:pt idx="1">
                  <c:v>休日の日中（参考）</c:v>
                </c:pt>
                <c:pt idx="2">
                  <c:v>風速　中風</c:v>
                </c:pt>
                <c:pt idx="3">
                  <c:v>風速　弱風</c:v>
                </c:pt>
                <c:pt idx="4">
                  <c:v>風速　極弱風</c:v>
                </c:pt>
                <c:pt idx="5">
                  <c:v>天気　雨</c:v>
                </c:pt>
                <c:pt idx="6">
                  <c:v>天気　曇り</c:v>
                </c:pt>
                <c:pt idx="7">
                  <c:v>天気　晴れ</c:v>
                </c:pt>
                <c:pt idx="8">
                  <c:v>気温　31℃以上</c:v>
                </c:pt>
                <c:pt idx="9">
                  <c:v>気温　28〜31℃</c:v>
                </c:pt>
                <c:pt idx="10">
                  <c:v>気温　28℃未満</c:v>
                </c:pt>
                <c:pt idx="11">
                  <c:v>勤務日の日中（全体）</c:v>
                </c:pt>
              </c:strCache>
            </c:strRef>
          </c:cat>
          <c:val>
            <c:numRef>
              <c:f>'図12_分析4_回帰'!$G$2:$G$13</c:f>
              <c:numCache>
                <c:formatCode>General</c:formatCode>
                <c:ptCount val="12"/>
                <c:pt idx="0">
                  <c:v>-0.17299999999999999</c:v>
                </c:pt>
                <c:pt idx="1">
                  <c:v>-0.27600000000000002</c:v>
                </c:pt>
                <c:pt idx="2">
                  <c:v>0.157</c:v>
                </c:pt>
                <c:pt idx="3">
                  <c:v>0.14899999999999999</c:v>
                </c:pt>
                <c:pt idx="4">
                  <c:v>7.0999999999999994E-2</c:v>
                </c:pt>
                <c:pt idx="5">
                  <c:v>-6.8000000000000005E-2</c:v>
                </c:pt>
                <c:pt idx="6">
                  <c:v>-2E-3</c:v>
                </c:pt>
                <c:pt idx="7">
                  <c:v>0.30599999999999999</c:v>
                </c:pt>
                <c:pt idx="8">
                  <c:v>0.309</c:v>
                </c:pt>
                <c:pt idx="9">
                  <c:v>0.17799999999999999</c:v>
                </c:pt>
                <c:pt idx="10">
                  <c:v>-0.123</c:v>
                </c:pt>
                <c:pt idx="11">
                  <c:v>0.13</c:v>
                </c:pt>
              </c:numCache>
            </c:numRef>
          </c:val>
          <c:extLst>
            <c:ext xmlns:c16="http://schemas.microsoft.com/office/drawing/2014/chart" uri="{C3380CC4-5D6E-409C-BE32-E72D297353CC}">
              <c16:uniqueId val="{00000001-CACA-BC4D-B824-29A45B8AFE5B}"/>
            </c:ext>
          </c:extLst>
        </c:ser>
        <c:dLbls>
          <c:showLegendKey val="0"/>
          <c:showVal val="0"/>
          <c:showCatName val="0"/>
          <c:showSerName val="0"/>
          <c:showPercent val="0"/>
          <c:showBubbleSize val="0"/>
        </c:dLbls>
        <c:gapWidth val="80"/>
        <c:overlap val="-10"/>
        <c:axId val="10"/>
        <c:axId val="20"/>
      </c:barChart>
      <c:catAx>
        <c:axId val="10"/>
        <c:scaling>
          <c:orientation val="minMax"/>
        </c:scaling>
        <c:delete val="0"/>
        <c:axPos val="l"/>
        <c:numFmt formatCode="General" sourceLinked="1"/>
        <c:majorTickMark val="none"/>
        <c:minorTickMark val="none"/>
        <c:tickLblPos val="low"/>
        <c:spPr>
          <a:ln w="15875" cap="rnd">
            <a:solidFill>
              <a:srgbClr val="5E6B7A"/>
            </a:solidFill>
            <a:round/>
          </a:ln>
        </c:spPr>
        <c:txPr>
          <a:bodyPr/>
          <a:lstStyle/>
          <a:p>
            <a:pPr>
              <a:defRPr sz="700"/>
            </a:pPr>
            <a:endParaRPr lang="ja-JP"/>
          </a:p>
        </c:txPr>
        <c:crossAx val="20"/>
        <c:crosses val="autoZero"/>
        <c:auto val="1"/>
        <c:lblAlgn val="ctr"/>
        <c:lblOffset val="100"/>
        <c:tickLblSkip val="1"/>
        <c:noMultiLvlLbl val="0"/>
      </c:catAx>
      <c:valAx>
        <c:axId val="20"/>
        <c:scaling>
          <c:orientation val="minMax"/>
          <c:max val="1.2"/>
          <c:min val="-0.6"/>
        </c:scaling>
        <c:delete val="0"/>
        <c:axPos val="b"/>
        <c:majorGridlines>
          <c:spPr>
            <a:ln w="9525" cap="rnd">
              <a:solidFill>
                <a:srgbClr val="E3E7EC"/>
              </a:solidFill>
              <a:round/>
            </a:ln>
          </c:spPr>
        </c:majorGridlines>
        <c:title>
          <c:tx>
            <c:rich>
              <a:bodyPr rot="0" vert="horz"/>
              <a:lstStyle/>
              <a:p>
                <a:pPr>
                  <a:defRPr sz="900" b="0"/>
                </a:pPr>
                <a:r>
                  <a:rPr lang="ja-JP" sz="900" b="0"/>
                  <a:t>区画1の吸気温度差［℃］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3"/>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barChart>
        <c:barDir val="col"/>
        <c:grouping val="clustered"/>
        <c:varyColors val="0"/>
        <c:ser>
          <c:idx val="0"/>
          <c:order val="0"/>
          <c:tx>
            <c:strRef>
              <c:f>'図08_分析3_区画別箱ひげ'!$J$1</c:f>
              <c:strCache>
                <c:ptCount val="1"/>
                <c:pt idx="0">
                  <c:v>箱（0より下）</c:v>
                </c:pt>
              </c:strCache>
            </c:strRef>
          </c:tx>
          <c:spPr>
            <a:solidFill>
              <a:srgbClr val="01B8AA"/>
            </a:solidFill>
            <a:ln>
              <a:noFill/>
            </a:ln>
          </c:spPr>
          <c:invertIfNegative val="0"/>
          <c:cat>
            <c:strRef>
              <c:f>'図08_分析3_区画別箱ひげ'!$A$2:$A$4</c:f>
              <c:strCache>
                <c:ptCount val="3"/>
                <c:pt idx="0">
                  <c:v>区画1（左）</c:v>
                </c:pt>
                <c:pt idx="1">
                  <c:v>区画2（中央）</c:v>
                </c:pt>
                <c:pt idx="2">
                  <c:v>区画3（右）</c:v>
                </c:pt>
              </c:strCache>
            </c:strRef>
          </c:cat>
          <c:val>
            <c:numRef>
              <c:f>'図08_分析3_区画別箱ひげ'!$J$2:$J$4</c:f>
              <c:numCache>
                <c:formatCode>General</c:formatCode>
                <c:ptCount val="3"/>
                <c:pt idx="1">
                  <c:v>-0.76300000000000001</c:v>
                </c:pt>
                <c:pt idx="2">
                  <c:v>-0.753</c:v>
                </c:pt>
              </c:numCache>
            </c:numRef>
          </c:val>
          <c:extLst>
            <c:ext xmlns:c16="http://schemas.microsoft.com/office/drawing/2014/chart" uri="{C3380CC4-5D6E-409C-BE32-E72D297353CC}">
              <c16:uniqueId val="{00000000-78A3-8B4B-8872-6BA84C9D7BDB}"/>
            </c:ext>
          </c:extLst>
        </c:ser>
        <c:ser>
          <c:idx val="1"/>
          <c:order val="1"/>
          <c:tx>
            <c:strRef>
              <c:f>'図08_分析3_区画別箱ひげ'!$K$1</c:f>
              <c:strCache>
                <c:ptCount val="1"/>
                <c:pt idx="0">
                  <c:v>箱（0より上）</c:v>
                </c:pt>
              </c:strCache>
            </c:strRef>
          </c:tx>
          <c:spPr>
            <a:solidFill>
              <a:srgbClr val="01B8AA"/>
            </a:solidFill>
            <a:ln>
              <a:noFill/>
            </a:ln>
          </c:spPr>
          <c:invertIfNegative val="0"/>
          <c:cat>
            <c:strRef>
              <c:f>'図08_分析3_区画別箱ひげ'!$A$2:$A$4</c:f>
              <c:strCache>
                <c:ptCount val="3"/>
                <c:pt idx="0">
                  <c:v>区画1（左）</c:v>
                </c:pt>
                <c:pt idx="1">
                  <c:v>区画2（中央）</c:v>
                </c:pt>
                <c:pt idx="2">
                  <c:v>区画3（右）</c:v>
                </c:pt>
              </c:strCache>
            </c:strRef>
          </c:cat>
          <c:val>
            <c:numRef>
              <c:f>'図08_分析3_区画別箱ひげ'!$K$2:$K$4</c:f>
              <c:numCache>
                <c:formatCode>General</c:formatCode>
                <c:ptCount val="3"/>
                <c:pt idx="0">
                  <c:v>0.90900000000000003</c:v>
                </c:pt>
              </c:numCache>
            </c:numRef>
          </c:val>
          <c:extLst>
            <c:ext xmlns:c16="http://schemas.microsoft.com/office/drawing/2014/chart" uri="{C3380CC4-5D6E-409C-BE32-E72D297353CC}">
              <c16:uniqueId val="{00000001-78A3-8B4B-8872-6BA84C9D7BDB}"/>
            </c:ext>
          </c:extLst>
        </c:ser>
        <c:ser>
          <c:idx val="2"/>
          <c:order val="2"/>
          <c:tx>
            <c:strRef>
              <c:f>'図08_分析3_区画別箱ひげ'!$L$1</c:f>
              <c:strCache>
                <c:ptCount val="1"/>
                <c:pt idx="0">
                  <c:v>箱の外（白）</c:v>
                </c:pt>
              </c:strCache>
            </c:strRef>
          </c:tx>
          <c:spPr>
            <a:solidFill>
              <a:srgbClr val="FFFFFF"/>
            </a:solidFill>
            <a:ln>
              <a:noFill/>
            </a:ln>
          </c:spPr>
          <c:invertIfNegative val="0"/>
          <c:cat>
            <c:strRef>
              <c:f>'図08_分析3_区画別箱ひげ'!$A$2:$A$4</c:f>
              <c:strCache>
                <c:ptCount val="3"/>
                <c:pt idx="0">
                  <c:v>区画1（左）</c:v>
                </c:pt>
                <c:pt idx="1">
                  <c:v>区画2（中央）</c:v>
                </c:pt>
                <c:pt idx="2">
                  <c:v>区画3（右）</c:v>
                </c:pt>
              </c:strCache>
            </c:strRef>
          </c:cat>
          <c:val>
            <c:numRef>
              <c:f>'図08_分析3_区画別箱ひげ'!$L$2:$L$4</c:f>
              <c:numCache>
                <c:formatCode>General</c:formatCode>
                <c:ptCount val="3"/>
                <c:pt idx="0">
                  <c:v>0.33200000000000002</c:v>
                </c:pt>
                <c:pt idx="1">
                  <c:v>-2.1999999999999999E-2</c:v>
                </c:pt>
                <c:pt idx="2">
                  <c:v>-9.4E-2</c:v>
                </c:pt>
              </c:numCache>
            </c:numRef>
          </c:val>
          <c:extLst>
            <c:ext xmlns:c16="http://schemas.microsoft.com/office/drawing/2014/chart" uri="{C3380CC4-5D6E-409C-BE32-E72D297353CC}">
              <c16:uniqueId val="{00000002-78A3-8B4B-8872-6BA84C9D7BDB}"/>
            </c:ext>
          </c:extLst>
        </c:ser>
        <c:dLbls>
          <c:showLegendKey val="0"/>
          <c:showVal val="0"/>
          <c:showCatName val="0"/>
          <c:showSerName val="0"/>
          <c:showPercent val="0"/>
          <c:showBubbleSize val="0"/>
        </c:dLbls>
        <c:gapWidth val="120"/>
        <c:overlap val="100"/>
        <c:axId val="10"/>
        <c:axId val="20"/>
      </c:barChart>
      <c:lineChart>
        <c:grouping val="standard"/>
        <c:varyColors val="0"/>
        <c:ser>
          <c:idx val="3"/>
          <c:order val="3"/>
          <c:tx>
            <c:strRef>
              <c:f>'図08_分析3_区画別箱ひげ'!$E$1</c:f>
              <c:strCache>
                <c:ptCount val="1"/>
                <c:pt idx="0">
                  <c:v>中央値</c:v>
                </c:pt>
              </c:strCache>
            </c:strRef>
          </c:tx>
          <c:spPr>
            <a:ln>
              <a:noFill/>
            </a:ln>
          </c:spPr>
          <c:marker>
            <c:symbol val="dash"/>
            <c:size val="16"/>
            <c:spPr>
              <a:solidFill>
                <a:srgbClr val="FFFFFF"/>
              </a:solidFill>
              <a:ln w="9525" cap="rnd">
                <a:solidFill>
                  <a:srgbClr val="FFFFFF"/>
                </a:solidFill>
                <a:round/>
              </a:ln>
            </c:spPr>
          </c:marker>
          <c:errBars>
            <c:errDir val="y"/>
            <c:errBarType val="both"/>
            <c:errValType val="cust"/>
            <c:noEndCap val="0"/>
            <c:plus>
              <c:numRef>
                <c:f>'図08_分析3_区画別箱ひげ'!$M$2:$M$4</c:f>
                <c:numCache>
                  <c:formatCode>General</c:formatCode>
                  <c:ptCount val="3"/>
                  <c:pt idx="0">
                    <c:v>1.093</c:v>
                  </c:pt>
                  <c:pt idx="1">
                    <c:v>1.278</c:v>
                  </c:pt>
                  <c:pt idx="2">
                    <c:v>1.147</c:v>
                  </c:pt>
                </c:numCache>
              </c:numRef>
            </c:plus>
            <c:minus>
              <c:numRef>
                <c:f>'図08_分析3_区画別箱ひげ'!$N$2:$N$4</c:f>
                <c:numCache>
                  <c:formatCode>General</c:formatCode>
                  <c:ptCount val="3"/>
                  <c:pt idx="0">
                    <c:v>1.1279999999999999</c:v>
                  </c:pt>
                  <c:pt idx="1">
                    <c:v>1.502</c:v>
                  </c:pt>
                  <c:pt idx="2">
                    <c:v>1.2729999999999999</c:v>
                  </c:pt>
                </c:numCache>
              </c:numRef>
            </c:minus>
            <c:spPr>
              <a:ln w="15875" cap="rnd">
                <a:solidFill>
                  <a:srgbClr val="01B8AA"/>
                </a:solidFill>
                <a:round/>
              </a:ln>
            </c:spPr>
          </c:errBars>
          <c:cat>
            <c:strRef>
              <c:f>'図08_分析3_区画別箱ひげ'!$A$2:$A$4</c:f>
              <c:strCache>
                <c:ptCount val="3"/>
                <c:pt idx="0">
                  <c:v>区画1（左）</c:v>
                </c:pt>
                <c:pt idx="1">
                  <c:v>区画2（中央）</c:v>
                </c:pt>
                <c:pt idx="2">
                  <c:v>区画3（右）</c:v>
                </c:pt>
              </c:strCache>
            </c:strRef>
          </c:cat>
          <c:val>
            <c:numRef>
              <c:f>'図08_分析3_区画別箱ひげ'!$E$2:$E$4</c:f>
              <c:numCache>
                <c:formatCode>General</c:formatCode>
                <c:ptCount val="3"/>
                <c:pt idx="0">
                  <c:v>0.61599999999999999</c:v>
                </c:pt>
                <c:pt idx="1">
                  <c:v>-0.34799999999999998</c:v>
                </c:pt>
                <c:pt idx="2">
                  <c:v>-0.38800000000000001</c:v>
                </c:pt>
              </c:numCache>
            </c:numRef>
          </c:val>
          <c:smooth val="0"/>
          <c:extLst>
            <c:ext xmlns:c16="http://schemas.microsoft.com/office/drawing/2014/chart" uri="{C3380CC4-5D6E-409C-BE32-E72D297353CC}">
              <c16:uniqueId val="{00000003-78A3-8B4B-8872-6BA84C9D7BDB}"/>
            </c:ext>
          </c:extLst>
        </c:ser>
        <c:dLbls>
          <c:showLegendKey val="0"/>
          <c:showVal val="0"/>
          <c:showCatName val="0"/>
          <c:showSerName val="0"/>
          <c:showPercent val="0"/>
          <c:showBubbleSize val="0"/>
        </c:dLbls>
        <c:marker val="1"/>
        <c:smooth val="0"/>
        <c:axId val="10"/>
        <c:axId val="20"/>
      </c:lineChart>
      <c:catAx>
        <c:axId val="10"/>
        <c:scaling>
          <c:orientation val="minMax"/>
        </c:scaling>
        <c:delete val="0"/>
        <c:axPos val="b"/>
        <c:numFmt formatCode="General" sourceLinked="1"/>
        <c:majorTickMark val="none"/>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2"/>
          <c:min val="-2"/>
        </c:scaling>
        <c:delete val="0"/>
        <c:axPos val="l"/>
        <c:title>
          <c:tx>
            <c:rich>
              <a:bodyPr rot="-5400000" vert="horz"/>
              <a:lstStyle/>
              <a:p>
                <a:pPr>
                  <a:defRPr sz="900" b="0"/>
                </a:pPr>
                <a:r>
                  <a:rPr lang="ja-JP" sz="900" b="0"/>
                  <a:t>1時間平均の吸気温度差［℃］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5"/>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barChart>
        <c:barDir val="col"/>
        <c:grouping val="clustered"/>
        <c:varyColors val="0"/>
        <c:ser>
          <c:idx val="0"/>
          <c:order val="0"/>
          <c:tx>
            <c:strRef>
              <c:f>'図08_分析3_区画別箱ひげ'!$W$1</c:f>
              <c:strCache>
                <c:ptCount val="1"/>
                <c:pt idx="0">
                  <c:v>箱（0より下）</c:v>
                </c:pt>
              </c:strCache>
            </c:strRef>
          </c:tx>
          <c:spPr>
            <a:solidFill>
              <a:srgbClr val="118DFF"/>
            </a:solidFill>
            <a:ln>
              <a:noFill/>
            </a:ln>
          </c:spPr>
          <c:invertIfNegative val="0"/>
          <c:cat>
            <c:strRef>
              <c:f>'図08_分析3_区画別箱ひげ'!$A$2:$A$4</c:f>
              <c:strCache>
                <c:ptCount val="3"/>
                <c:pt idx="0">
                  <c:v>区画1（左）</c:v>
                </c:pt>
                <c:pt idx="1">
                  <c:v>区画2（中央）</c:v>
                </c:pt>
                <c:pt idx="2">
                  <c:v>区画3（右）</c:v>
                </c:pt>
              </c:strCache>
            </c:strRef>
          </c:cat>
          <c:val>
            <c:numRef>
              <c:f>'図08_分析3_区画別箱ひげ'!$W$2:$W$4</c:f>
              <c:numCache>
                <c:formatCode>General</c:formatCode>
                <c:ptCount val="3"/>
                <c:pt idx="0">
                  <c:v>-9.4E-2</c:v>
                </c:pt>
                <c:pt idx="1">
                  <c:v>-0.86299999999999999</c:v>
                </c:pt>
                <c:pt idx="2">
                  <c:v>-0.63800000000000001</c:v>
                </c:pt>
              </c:numCache>
            </c:numRef>
          </c:val>
          <c:extLst>
            <c:ext xmlns:c16="http://schemas.microsoft.com/office/drawing/2014/chart" uri="{C3380CC4-5D6E-409C-BE32-E72D297353CC}">
              <c16:uniqueId val="{00000000-8F7F-194A-8263-318EE77CF1EF}"/>
            </c:ext>
          </c:extLst>
        </c:ser>
        <c:ser>
          <c:idx val="1"/>
          <c:order val="1"/>
          <c:tx>
            <c:strRef>
              <c:f>'図08_分析3_区画別箱ひげ'!$X$1</c:f>
              <c:strCache>
                <c:ptCount val="1"/>
                <c:pt idx="0">
                  <c:v>箱（0より上）</c:v>
                </c:pt>
              </c:strCache>
            </c:strRef>
          </c:tx>
          <c:spPr>
            <a:solidFill>
              <a:srgbClr val="118DFF"/>
            </a:solidFill>
            <a:ln>
              <a:noFill/>
            </a:ln>
          </c:spPr>
          <c:invertIfNegative val="0"/>
          <c:cat>
            <c:strRef>
              <c:f>'図08_分析3_区画別箱ひげ'!$A$2:$A$4</c:f>
              <c:strCache>
                <c:ptCount val="3"/>
                <c:pt idx="0">
                  <c:v>区画1（左）</c:v>
                </c:pt>
                <c:pt idx="1">
                  <c:v>区画2（中央）</c:v>
                </c:pt>
                <c:pt idx="2">
                  <c:v>区画3（右）</c:v>
                </c:pt>
              </c:strCache>
            </c:strRef>
          </c:cat>
          <c:val>
            <c:numRef>
              <c:f>'図08_分析3_区画別箱ひげ'!$X$2:$X$4</c:f>
              <c:numCache>
                <c:formatCode>General</c:formatCode>
                <c:ptCount val="3"/>
                <c:pt idx="0">
                  <c:v>0.436</c:v>
                </c:pt>
              </c:numCache>
            </c:numRef>
          </c:val>
          <c:extLst>
            <c:ext xmlns:c16="http://schemas.microsoft.com/office/drawing/2014/chart" uri="{C3380CC4-5D6E-409C-BE32-E72D297353CC}">
              <c16:uniqueId val="{00000001-8F7F-194A-8263-318EE77CF1EF}"/>
            </c:ext>
          </c:extLst>
        </c:ser>
        <c:ser>
          <c:idx val="2"/>
          <c:order val="2"/>
          <c:tx>
            <c:strRef>
              <c:f>'図08_分析3_区画別箱ひげ'!$Y$1</c:f>
              <c:strCache>
                <c:ptCount val="1"/>
                <c:pt idx="0">
                  <c:v>箱の外（白）</c:v>
                </c:pt>
              </c:strCache>
            </c:strRef>
          </c:tx>
          <c:spPr>
            <a:solidFill>
              <a:srgbClr val="FFFFFF"/>
            </a:solidFill>
            <a:ln>
              <a:noFill/>
            </a:ln>
          </c:spPr>
          <c:invertIfNegative val="0"/>
          <c:cat>
            <c:strRef>
              <c:f>'図08_分析3_区画別箱ひげ'!$A$2:$A$4</c:f>
              <c:strCache>
                <c:ptCount val="3"/>
                <c:pt idx="0">
                  <c:v>区画1（左）</c:v>
                </c:pt>
                <c:pt idx="1">
                  <c:v>区画2（中央）</c:v>
                </c:pt>
                <c:pt idx="2">
                  <c:v>区画3（右）</c:v>
                </c:pt>
              </c:strCache>
            </c:strRef>
          </c:cat>
          <c:val>
            <c:numRef>
              <c:f>'図08_分析3_区画別箱ひげ'!$Y$2:$Y$4</c:f>
              <c:numCache>
                <c:formatCode>General</c:formatCode>
                <c:ptCount val="3"/>
                <c:pt idx="1">
                  <c:v>-0.26</c:v>
                </c:pt>
                <c:pt idx="2">
                  <c:v>-0.13700000000000001</c:v>
                </c:pt>
              </c:numCache>
            </c:numRef>
          </c:val>
          <c:extLst>
            <c:ext xmlns:c16="http://schemas.microsoft.com/office/drawing/2014/chart" uri="{C3380CC4-5D6E-409C-BE32-E72D297353CC}">
              <c16:uniqueId val="{00000002-8F7F-194A-8263-318EE77CF1EF}"/>
            </c:ext>
          </c:extLst>
        </c:ser>
        <c:dLbls>
          <c:showLegendKey val="0"/>
          <c:showVal val="0"/>
          <c:showCatName val="0"/>
          <c:showSerName val="0"/>
          <c:showPercent val="0"/>
          <c:showBubbleSize val="0"/>
        </c:dLbls>
        <c:gapWidth val="120"/>
        <c:overlap val="100"/>
        <c:axId val="10"/>
        <c:axId val="20"/>
      </c:barChart>
      <c:lineChart>
        <c:grouping val="standard"/>
        <c:varyColors val="0"/>
        <c:ser>
          <c:idx val="3"/>
          <c:order val="3"/>
          <c:tx>
            <c:strRef>
              <c:f>'図08_分析3_区画別箱ひげ'!$R$1</c:f>
              <c:strCache>
                <c:ptCount val="1"/>
                <c:pt idx="0">
                  <c:v>中央値</c:v>
                </c:pt>
              </c:strCache>
            </c:strRef>
          </c:tx>
          <c:spPr>
            <a:ln>
              <a:noFill/>
            </a:ln>
          </c:spPr>
          <c:marker>
            <c:symbol val="dash"/>
            <c:size val="16"/>
            <c:spPr>
              <a:solidFill>
                <a:srgbClr val="FFFFFF"/>
              </a:solidFill>
              <a:ln w="9525" cap="rnd">
                <a:solidFill>
                  <a:srgbClr val="FFFFFF"/>
                </a:solidFill>
                <a:round/>
              </a:ln>
            </c:spPr>
          </c:marker>
          <c:errBars>
            <c:errDir val="y"/>
            <c:errBarType val="both"/>
            <c:errValType val="cust"/>
            <c:noEndCap val="0"/>
            <c:plus>
              <c:numRef>
                <c:f>'図08_分析3_区画別箱ひげ'!$Z$2:$Z$4</c:f>
                <c:numCache>
                  <c:formatCode>General</c:formatCode>
                  <c:ptCount val="3"/>
                  <c:pt idx="0">
                    <c:v>1.0449999999999999</c:v>
                  </c:pt>
                  <c:pt idx="1">
                    <c:v>0.85199999999999998</c:v>
                  </c:pt>
                  <c:pt idx="2">
                    <c:v>0.99199999999999999</c:v>
                  </c:pt>
                </c:numCache>
              </c:numRef>
            </c:plus>
            <c:minus>
              <c:numRef>
                <c:f>'図08_分析3_区画別箱ひげ'!$AA$2:$AA$4</c:f>
                <c:numCache>
                  <c:formatCode>General</c:formatCode>
                  <c:ptCount val="3"/>
                  <c:pt idx="0">
                    <c:v>1.0429999999999999</c:v>
                  </c:pt>
                  <c:pt idx="1">
                    <c:v>1.1619999999999999</c:v>
                  </c:pt>
                  <c:pt idx="2">
                    <c:v>0.84099999999999997</c:v>
                  </c:pt>
                </c:numCache>
              </c:numRef>
            </c:minus>
            <c:spPr>
              <a:ln w="15875" cap="rnd">
                <a:solidFill>
                  <a:srgbClr val="118DFF"/>
                </a:solidFill>
                <a:round/>
              </a:ln>
            </c:spPr>
          </c:errBars>
          <c:cat>
            <c:strRef>
              <c:f>'図08_分析3_区画別箱ひげ'!$A$2:$A$4</c:f>
              <c:strCache>
                <c:ptCount val="3"/>
                <c:pt idx="0">
                  <c:v>区画1（左）</c:v>
                </c:pt>
                <c:pt idx="1">
                  <c:v>区画2（中央）</c:v>
                </c:pt>
                <c:pt idx="2">
                  <c:v>区画3（右）</c:v>
                </c:pt>
              </c:strCache>
            </c:strRef>
          </c:cat>
          <c:val>
            <c:numRef>
              <c:f>'図08_分析3_区画別箱ひげ'!$R$2:$R$4</c:f>
              <c:numCache>
                <c:formatCode>General</c:formatCode>
                <c:ptCount val="3"/>
                <c:pt idx="0">
                  <c:v>0.17199999999999999</c:v>
                </c:pt>
                <c:pt idx="1">
                  <c:v>-0.54600000000000004</c:v>
                </c:pt>
                <c:pt idx="2">
                  <c:v>-0.39700000000000002</c:v>
                </c:pt>
              </c:numCache>
            </c:numRef>
          </c:val>
          <c:smooth val="0"/>
          <c:extLst>
            <c:ext xmlns:c16="http://schemas.microsoft.com/office/drawing/2014/chart" uri="{C3380CC4-5D6E-409C-BE32-E72D297353CC}">
              <c16:uniqueId val="{00000003-8F7F-194A-8263-318EE77CF1EF}"/>
            </c:ext>
          </c:extLst>
        </c:ser>
        <c:dLbls>
          <c:showLegendKey val="0"/>
          <c:showVal val="0"/>
          <c:showCatName val="0"/>
          <c:showSerName val="0"/>
          <c:showPercent val="0"/>
          <c:showBubbleSize val="0"/>
        </c:dLbls>
        <c:marker val="1"/>
        <c:smooth val="0"/>
        <c:axId val="10"/>
        <c:axId val="20"/>
      </c:lineChart>
      <c:catAx>
        <c:axId val="10"/>
        <c:scaling>
          <c:orientation val="minMax"/>
        </c:scaling>
        <c:delete val="0"/>
        <c:axPos val="b"/>
        <c:numFmt formatCode="General" sourceLinked="1"/>
        <c:majorTickMark val="none"/>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2"/>
          <c:min val="-2"/>
        </c:scaling>
        <c:delete val="0"/>
        <c:axPos val="l"/>
        <c:title>
          <c:tx>
            <c:rich>
              <a:bodyPr rot="-5400000" vert="horz"/>
              <a:lstStyle/>
              <a:p>
                <a:pPr>
                  <a:defRPr sz="900" b="0"/>
                </a:pPr>
                <a:r>
                  <a:rPr lang="ja-JP" sz="900" b="0"/>
                  <a:t>1時間平均の吸気温度差［℃］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5"/>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barChart>
        <c:barDir val="col"/>
        <c:grouping val="clustered"/>
        <c:varyColors val="0"/>
        <c:ser>
          <c:idx val="0"/>
          <c:order val="0"/>
          <c:tx>
            <c:strRef>
              <c:f>'図11_分析4_気温区分'!$J$1</c:f>
              <c:strCache>
                <c:ptCount val="1"/>
                <c:pt idx="0">
                  <c:v>列8−列11_補助_箱下</c:v>
                </c:pt>
              </c:strCache>
            </c:strRef>
          </c:tx>
          <c:spPr>
            <a:solidFill>
              <a:srgbClr val="8E5BC4"/>
            </a:solidFill>
            <a:ln>
              <a:noFill/>
            </a:ln>
          </c:spPr>
          <c:invertIfNegative val="0"/>
          <c:cat>
            <c:strRef>
              <c:f>'図11_分析4_気温区分'!$A$2:$A$5</c:f>
              <c:strCache>
                <c:ptCount val="4"/>
                <c:pt idx="0">
                  <c:v>区画1</c:v>
                </c:pt>
                <c:pt idx="1">
                  <c:v>区画2</c:v>
                </c:pt>
                <c:pt idx="2">
                  <c:v>区画3</c:v>
                </c:pt>
                <c:pt idx="3">
                  <c:v>全体</c:v>
                </c:pt>
              </c:strCache>
            </c:strRef>
          </c:cat>
          <c:val>
            <c:numRef>
              <c:f>'図11_分析4_気温区分'!$J$2:$J$5</c:f>
              <c:numCache>
                <c:formatCode>General</c:formatCode>
                <c:ptCount val="4"/>
                <c:pt idx="1">
                  <c:v>-0.03</c:v>
                </c:pt>
                <c:pt idx="2">
                  <c:v>-5.8000000000000003E-2</c:v>
                </c:pt>
              </c:numCache>
            </c:numRef>
          </c:val>
          <c:extLst>
            <c:ext xmlns:c16="http://schemas.microsoft.com/office/drawing/2014/chart" uri="{C3380CC4-5D6E-409C-BE32-E72D297353CC}">
              <c16:uniqueId val="{00000000-ADA3-E24C-8AF9-97BFA520333E}"/>
            </c:ext>
          </c:extLst>
        </c:ser>
        <c:ser>
          <c:idx val="1"/>
          <c:order val="1"/>
          <c:tx>
            <c:strRef>
              <c:f>'図11_分析4_気温区分'!$K$1</c:f>
              <c:strCache>
                <c:ptCount val="1"/>
                <c:pt idx="0">
                  <c:v>列8−列11_補助_箱上</c:v>
                </c:pt>
              </c:strCache>
            </c:strRef>
          </c:tx>
          <c:spPr>
            <a:solidFill>
              <a:srgbClr val="8E5BC4"/>
            </a:solidFill>
            <a:ln>
              <a:noFill/>
            </a:ln>
          </c:spPr>
          <c:invertIfNegative val="0"/>
          <c:cat>
            <c:strRef>
              <c:f>'図11_分析4_気温区分'!$A$2:$A$5</c:f>
              <c:strCache>
                <c:ptCount val="4"/>
                <c:pt idx="0">
                  <c:v>区画1</c:v>
                </c:pt>
                <c:pt idx="1">
                  <c:v>区画2</c:v>
                </c:pt>
                <c:pt idx="2">
                  <c:v>区画3</c:v>
                </c:pt>
                <c:pt idx="3">
                  <c:v>全体</c:v>
                </c:pt>
              </c:strCache>
            </c:strRef>
          </c:cat>
          <c:val>
            <c:numRef>
              <c:f>'図11_分析4_気温区分'!$K$2:$K$5</c:f>
              <c:numCache>
                <c:formatCode>General</c:formatCode>
                <c:ptCount val="4"/>
                <c:pt idx="0">
                  <c:v>0.69299999999999995</c:v>
                </c:pt>
                <c:pt idx="1">
                  <c:v>0.41299999999999998</c:v>
                </c:pt>
                <c:pt idx="2">
                  <c:v>0.26800000000000002</c:v>
                </c:pt>
                <c:pt idx="3">
                  <c:v>0.38600000000000001</c:v>
                </c:pt>
              </c:numCache>
            </c:numRef>
          </c:val>
          <c:extLst>
            <c:ext xmlns:c16="http://schemas.microsoft.com/office/drawing/2014/chart" uri="{C3380CC4-5D6E-409C-BE32-E72D297353CC}">
              <c16:uniqueId val="{00000001-ADA3-E24C-8AF9-97BFA520333E}"/>
            </c:ext>
          </c:extLst>
        </c:ser>
        <c:ser>
          <c:idx val="2"/>
          <c:order val="2"/>
          <c:tx>
            <c:strRef>
              <c:f>'図11_分析4_気温区分'!$L$1</c:f>
              <c:strCache>
                <c:ptCount val="1"/>
                <c:pt idx="0">
                  <c:v>列8−列11_補助_白</c:v>
                </c:pt>
              </c:strCache>
            </c:strRef>
          </c:tx>
          <c:spPr>
            <a:solidFill>
              <a:srgbClr val="FFFFFF"/>
            </a:solidFill>
            <a:ln>
              <a:noFill/>
            </a:ln>
          </c:spPr>
          <c:invertIfNegative val="0"/>
          <c:cat>
            <c:strRef>
              <c:f>'図11_分析4_気温区分'!$A$2:$A$5</c:f>
              <c:strCache>
                <c:ptCount val="4"/>
                <c:pt idx="0">
                  <c:v>区画1</c:v>
                </c:pt>
                <c:pt idx="1">
                  <c:v>区画2</c:v>
                </c:pt>
                <c:pt idx="2">
                  <c:v>区画3</c:v>
                </c:pt>
                <c:pt idx="3">
                  <c:v>全体</c:v>
                </c:pt>
              </c:strCache>
            </c:strRef>
          </c:cat>
          <c:val>
            <c:numRef>
              <c:f>'図11_分析4_気温区分'!$L$2:$L$5</c:f>
              <c:numCache>
                <c:formatCode>General</c:formatCode>
                <c:ptCount val="4"/>
                <c:pt idx="0">
                  <c:v>0.27200000000000002</c:v>
                </c:pt>
                <c:pt idx="3">
                  <c:v>3.5000000000000003E-2</c:v>
                </c:pt>
              </c:numCache>
            </c:numRef>
          </c:val>
          <c:extLst>
            <c:ext xmlns:c16="http://schemas.microsoft.com/office/drawing/2014/chart" uri="{C3380CC4-5D6E-409C-BE32-E72D297353CC}">
              <c16:uniqueId val="{00000002-ADA3-E24C-8AF9-97BFA520333E}"/>
            </c:ext>
          </c:extLst>
        </c:ser>
        <c:dLbls>
          <c:showLegendKey val="0"/>
          <c:showVal val="0"/>
          <c:showCatName val="0"/>
          <c:showSerName val="0"/>
          <c:showPercent val="0"/>
          <c:showBubbleSize val="0"/>
        </c:dLbls>
        <c:gapWidth val="120"/>
        <c:overlap val="100"/>
        <c:axId val="10"/>
        <c:axId val="20"/>
      </c:barChart>
      <c:lineChart>
        <c:grouping val="standard"/>
        <c:varyColors val="0"/>
        <c:ser>
          <c:idx val="3"/>
          <c:order val="3"/>
          <c:tx>
            <c:strRef>
              <c:f>'図11_分析4_気温区分'!$E$1</c:f>
              <c:strCache>
                <c:ptCount val="1"/>
                <c:pt idx="0">
                  <c:v>列8−列11_中央値</c:v>
                </c:pt>
              </c:strCache>
            </c:strRef>
          </c:tx>
          <c:spPr>
            <a:ln>
              <a:noFill/>
            </a:ln>
          </c:spPr>
          <c:marker>
            <c:symbol val="dash"/>
            <c:size val="16"/>
            <c:spPr>
              <a:solidFill>
                <a:srgbClr val="FFFFFF"/>
              </a:solidFill>
              <a:ln w="9525" cap="rnd">
                <a:solidFill>
                  <a:srgbClr val="FFFFFF"/>
                </a:solidFill>
                <a:round/>
              </a:ln>
            </c:spPr>
          </c:marker>
          <c:errBars>
            <c:errDir val="y"/>
            <c:errBarType val="both"/>
            <c:errValType val="cust"/>
            <c:noEndCap val="0"/>
            <c:plus>
              <c:numRef>
                <c:f>'図11_分析4_気温区分'!$M$2:$M$5</c:f>
                <c:numCache>
                  <c:formatCode>General</c:formatCode>
                  <c:ptCount val="4"/>
                  <c:pt idx="0">
                    <c:v>0.80900000000000005</c:v>
                  </c:pt>
                  <c:pt idx="1">
                    <c:v>0.873</c:v>
                  </c:pt>
                  <c:pt idx="2">
                    <c:v>0.627</c:v>
                  </c:pt>
                  <c:pt idx="3">
                    <c:v>0.71</c:v>
                  </c:pt>
                </c:numCache>
              </c:numRef>
            </c:plus>
            <c:minus>
              <c:numRef>
                <c:f>'図11_分析4_気温区分'!$N$2:$N$5</c:f>
                <c:numCache>
                  <c:formatCode>General</c:formatCode>
                  <c:ptCount val="4"/>
                  <c:pt idx="0">
                    <c:v>0.78700000000000003</c:v>
                  </c:pt>
                  <c:pt idx="1">
                    <c:v>0.85899999999999999</c:v>
                  </c:pt>
                  <c:pt idx="2">
                    <c:v>0.623</c:v>
                  </c:pt>
                  <c:pt idx="3">
                    <c:v>0.68400000000000005</c:v>
                  </c:pt>
                </c:numCache>
              </c:numRef>
            </c:minus>
            <c:spPr>
              <a:ln w="15875" cap="rnd">
                <a:solidFill>
                  <a:srgbClr val="8E5BC4"/>
                </a:solidFill>
                <a:round/>
              </a:ln>
            </c:spPr>
          </c:errBars>
          <c:cat>
            <c:strRef>
              <c:f>'図11_分析4_気温区分'!$A$2:$A$5</c:f>
              <c:strCache>
                <c:ptCount val="4"/>
                <c:pt idx="0">
                  <c:v>区画1</c:v>
                </c:pt>
                <c:pt idx="1">
                  <c:v>区画2</c:v>
                </c:pt>
                <c:pt idx="2">
                  <c:v>区画3</c:v>
                </c:pt>
                <c:pt idx="3">
                  <c:v>全体</c:v>
                </c:pt>
              </c:strCache>
            </c:strRef>
          </c:cat>
          <c:val>
            <c:numRef>
              <c:f>'図11_分析4_気温区分'!$E$2:$E$5</c:f>
              <c:numCache>
                <c:formatCode>General</c:formatCode>
                <c:ptCount val="4"/>
                <c:pt idx="0">
                  <c:v>0.48899999999999999</c:v>
                </c:pt>
                <c:pt idx="1">
                  <c:v>0.20399999999999999</c:v>
                </c:pt>
                <c:pt idx="2">
                  <c:v>9.2999999999999999E-2</c:v>
                </c:pt>
                <c:pt idx="3">
                  <c:v>0.19400000000000001</c:v>
                </c:pt>
              </c:numCache>
            </c:numRef>
          </c:val>
          <c:smooth val="0"/>
          <c:extLst>
            <c:ext xmlns:c16="http://schemas.microsoft.com/office/drawing/2014/chart" uri="{C3380CC4-5D6E-409C-BE32-E72D297353CC}">
              <c16:uniqueId val="{00000003-ADA3-E24C-8AF9-97BFA520333E}"/>
            </c:ext>
          </c:extLst>
        </c:ser>
        <c:dLbls>
          <c:showLegendKey val="0"/>
          <c:showVal val="0"/>
          <c:showCatName val="0"/>
          <c:showSerName val="0"/>
          <c:showPercent val="0"/>
          <c:showBubbleSize val="0"/>
        </c:dLbls>
        <c:marker val="1"/>
        <c:smooth val="0"/>
        <c:axId val="10"/>
        <c:axId val="20"/>
      </c:lineChart>
      <c:catAx>
        <c:axId val="10"/>
        <c:scaling>
          <c:orientation val="minMax"/>
        </c:scaling>
        <c:delete val="0"/>
        <c:axPos val="b"/>
        <c:numFmt formatCode="General" sourceLinked="1"/>
        <c:majorTickMark val="none"/>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1.5"/>
          <c:min val="-1"/>
        </c:scaling>
        <c:delete val="0"/>
        <c:axPos val="l"/>
        <c:title>
          <c:tx>
            <c:rich>
              <a:bodyPr rot="-5400000" vert="horz"/>
              <a:lstStyle/>
              <a:p>
                <a:pPr>
                  <a:defRPr sz="900" b="0"/>
                </a:pPr>
                <a:r>
                  <a:rPr lang="ja-JP" sz="900" b="0"/>
                  <a:t>列8−列11［℃］</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5"/>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barChart>
        <c:barDir val="col"/>
        <c:grouping val="clustered"/>
        <c:varyColors val="0"/>
        <c:ser>
          <c:idx val="0"/>
          <c:order val="0"/>
          <c:tx>
            <c:strRef>
              <c:f>'図11_分析4_気温区分'!$J$1</c:f>
              <c:strCache>
                <c:ptCount val="1"/>
                <c:pt idx="0">
                  <c:v>列8−列11_補助_箱下</c:v>
                </c:pt>
              </c:strCache>
            </c:strRef>
          </c:tx>
          <c:spPr>
            <a:solidFill>
              <a:srgbClr val="8E5BC4"/>
            </a:solidFill>
            <a:ln>
              <a:noFill/>
            </a:ln>
          </c:spPr>
          <c:invertIfNegative val="0"/>
          <c:cat>
            <c:strRef>
              <c:f>'図11_分析4_気温区分'!$A$2:$A$6</c:f>
              <c:strCache>
                <c:ptCount val="5"/>
                <c:pt idx="0">
                  <c:v>2万lx未満</c:v>
                </c:pt>
                <c:pt idx="1">
                  <c:v>2〜4万lx</c:v>
                </c:pt>
                <c:pt idx="2">
                  <c:v>4〜6万lx</c:v>
                </c:pt>
                <c:pt idx="3">
                  <c:v>6〜8万lx</c:v>
                </c:pt>
                <c:pt idx="4">
                  <c:v>8万lx以上</c:v>
                </c:pt>
              </c:strCache>
            </c:strRef>
          </c:cat>
          <c:val>
            <c:numRef>
              <c:f>'図11_分析4_気温区分'!$J$2:$J$6</c:f>
              <c:numCache>
                <c:formatCode>General</c:formatCode>
                <c:ptCount val="5"/>
                <c:pt idx="0">
                  <c:v>-8.1000000000000003E-2</c:v>
                </c:pt>
              </c:numCache>
            </c:numRef>
          </c:val>
          <c:extLst>
            <c:ext xmlns:c16="http://schemas.microsoft.com/office/drawing/2014/chart" uri="{C3380CC4-5D6E-409C-BE32-E72D297353CC}">
              <c16:uniqueId val="{00000000-ADA3-E24C-8AF9-97BFA520333E}"/>
            </c:ext>
          </c:extLst>
        </c:ser>
        <c:ser>
          <c:idx val="1"/>
          <c:order val="1"/>
          <c:tx>
            <c:strRef>
              <c:f>'図11_分析4_気温区分'!$K$1</c:f>
              <c:strCache>
                <c:ptCount val="1"/>
                <c:pt idx="0">
                  <c:v>列8−列11_補助_箱上</c:v>
                </c:pt>
              </c:strCache>
            </c:strRef>
          </c:tx>
          <c:spPr>
            <a:solidFill>
              <a:srgbClr val="8E5BC4"/>
            </a:solidFill>
            <a:ln>
              <a:noFill/>
            </a:ln>
          </c:spPr>
          <c:invertIfNegative val="0"/>
          <c:cat>
            <c:strRef>
              <c:f>'図11_分析4_気温区分'!$A$2:$A$6</c:f>
              <c:strCache>
                <c:ptCount val="5"/>
                <c:pt idx="0">
                  <c:v>2万lx未満</c:v>
                </c:pt>
                <c:pt idx="1">
                  <c:v>2〜4万lx</c:v>
                </c:pt>
                <c:pt idx="2">
                  <c:v>4〜6万lx</c:v>
                </c:pt>
                <c:pt idx="3">
                  <c:v>6〜8万lx</c:v>
                </c:pt>
                <c:pt idx="4">
                  <c:v>8万lx以上</c:v>
                </c:pt>
              </c:strCache>
            </c:strRef>
          </c:cat>
          <c:val>
            <c:numRef>
              <c:f>'図11_分析4_気温区分'!$K$2:$K$6</c:f>
              <c:numCache>
                <c:formatCode>General</c:formatCode>
                <c:ptCount val="5"/>
                <c:pt idx="0">
                  <c:v>0.20499999999999999</c:v>
                </c:pt>
                <c:pt idx="1">
                  <c:v>0.34799999999999998</c:v>
                </c:pt>
                <c:pt idx="2">
                  <c:v>0.46300000000000002</c:v>
                </c:pt>
                <c:pt idx="3">
                  <c:v>0.436</c:v>
                </c:pt>
                <c:pt idx="4">
                  <c:v>0.625</c:v>
                </c:pt>
              </c:numCache>
            </c:numRef>
          </c:val>
          <c:extLst>
            <c:ext xmlns:c16="http://schemas.microsoft.com/office/drawing/2014/chart" uri="{C3380CC4-5D6E-409C-BE32-E72D297353CC}">
              <c16:uniqueId val="{00000001-ADA3-E24C-8AF9-97BFA520333E}"/>
            </c:ext>
          </c:extLst>
        </c:ser>
        <c:ser>
          <c:idx val="2"/>
          <c:order val="2"/>
          <c:tx>
            <c:strRef>
              <c:f>'図11_分析4_気温区分'!$L$1</c:f>
              <c:strCache>
                <c:ptCount val="1"/>
                <c:pt idx="0">
                  <c:v>列8−列11_補助_白</c:v>
                </c:pt>
              </c:strCache>
            </c:strRef>
          </c:tx>
          <c:spPr>
            <a:solidFill>
              <a:srgbClr val="FFFFFF"/>
            </a:solidFill>
            <a:ln>
              <a:noFill/>
            </a:ln>
          </c:spPr>
          <c:invertIfNegative val="0"/>
          <c:cat>
            <c:strRef>
              <c:f>'図11_分析4_気温区分'!$A$2:$A$6</c:f>
              <c:strCache>
                <c:ptCount val="5"/>
                <c:pt idx="0">
                  <c:v>2万lx未満</c:v>
                </c:pt>
                <c:pt idx="1">
                  <c:v>2〜4万lx</c:v>
                </c:pt>
                <c:pt idx="2">
                  <c:v>4〜6万lx</c:v>
                </c:pt>
                <c:pt idx="3">
                  <c:v>6〜8万lx</c:v>
                </c:pt>
                <c:pt idx="4">
                  <c:v>8万lx以上</c:v>
                </c:pt>
              </c:strCache>
            </c:strRef>
          </c:cat>
          <c:val>
            <c:numRef>
              <c:f>'図11_分析4_気温区分'!$L$2:$L$6</c:f>
              <c:numCache>
                <c:formatCode>General</c:formatCode>
                <c:ptCount val="5"/>
                <c:pt idx="1">
                  <c:v>7.0999999999999994E-2</c:v>
                </c:pt>
                <c:pt idx="2">
                  <c:v>2.1999999999999999E-2</c:v>
                </c:pt>
                <c:pt idx="3">
                  <c:v>0.12</c:v>
                </c:pt>
                <c:pt idx="4">
                  <c:v>0.35799999999999998</c:v>
                </c:pt>
              </c:numCache>
            </c:numRef>
          </c:val>
          <c:extLst>
            <c:ext xmlns:c16="http://schemas.microsoft.com/office/drawing/2014/chart" uri="{C3380CC4-5D6E-409C-BE32-E72D297353CC}">
              <c16:uniqueId val="{00000002-ADA3-E24C-8AF9-97BFA520333E}"/>
            </c:ext>
          </c:extLst>
        </c:ser>
        <c:dLbls>
          <c:showLegendKey val="0"/>
          <c:showVal val="0"/>
          <c:showCatName val="0"/>
          <c:showSerName val="0"/>
          <c:showPercent val="0"/>
          <c:showBubbleSize val="0"/>
        </c:dLbls>
        <c:gapWidth val="120"/>
        <c:overlap val="100"/>
        <c:axId val="10"/>
        <c:axId val="20"/>
      </c:barChart>
      <c:lineChart>
        <c:grouping val="standard"/>
        <c:varyColors val="0"/>
        <c:ser>
          <c:idx val="3"/>
          <c:order val="3"/>
          <c:tx>
            <c:strRef>
              <c:f>'図11_分析4_気温区分'!$E$1</c:f>
              <c:strCache>
                <c:ptCount val="1"/>
                <c:pt idx="0">
                  <c:v>列8−列11_中央値</c:v>
                </c:pt>
              </c:strCache>
            </c:strRef>
          </c:tx>
          <c:spPr>
            <a:ln>
              <a:noFill/>
            </a:ln>
          </c:spPr>
          <c:marker>
            <c:symbol val="dash"/>
            <c:size val="16"/>
            <c:spPr>
              <a:solidFill>
                <a:srgbClr val="FFFFFF"/>
              </a:solidFill>
              <a:ln w="9525" cap="rnd">
                <a:solidFill>
                  <a:srgbClr val="FFFFFF"/>
                </a:solidFill>
                <a:round/>
              </a:ln>
            </c:spPr>
          </c:marker>
          <c:errBars>
            <c:errDir val="y"/>
            <c:errBarType val="both"/>
            <c:errValType val="cust"/>
            <c:noEndCap val="0"/>
            <c:plus>
              <c:numRef>
                <c:f>'図11_分析4_気温区分'!$M$2:$M$6</c:f>
                <c:numCache>
                  <c:formatCode>General</c:formatCode>
                  <c:ptCount val="5"/>
                  <c:pt idx="0">
                    <c:v>0.48899999999999999</c:v>
                  </c:pt>
                  <c:pt idx="1">
                    <c:v>0.38100000000000001</c:v>
                  </c:pt>
                  <c:pt idx="2">
                    <c:v>0.442</c:v>
                  </c:pt>
                  <c:pt idx="3">
                    <c:v>0.40699999999999997</c:v>
                  </c:pt>
                  <c:pt idx="4">
                    <c:v>0.433</c:v>
                  </c:pt>
                </c:numCache>
              </c:numRef>
            </c:plus>
            <c:minus>
              <c:numRef>
                <c:f>'図11_分析4_気温区分'!$N$2:$N$6</c:f>
                <c:numCache>
                  <c:formatCode>General</c:formatCode>
                  <c:ptCount val="5"/>
                  <c:pt idx="0">
                    <c:v>0.57799999999999996</c:v>
                  </c:pt>
                  <c:pt idx="1">
                    <c:v>0.52</c:v>
                  </c:pt>
                  <c:pt idx="2">
                    <c:v>0.47699999999999998</c:v>
                  </c:pt>
                  <c:pt idx="3">
                    <c:v>0.50600000000000001</c:v>
                  </c:pt>
                  <c:pt idx="4">
                    <c:v>0.27700000000000002</c:v>
                  </c:pt>
                </c:numCache>
              </c:numRef>
            </c:minus>
            <c:spPr>
              <a:ln w="15875" cap="rnd">
                <a:solidFill>
                  <a:srgbClr val="8E5BC4"/>
                </a:solidFill>
                <a:round/>
              </a:ln>
            </c:spPr>
          </c:errBars>
          <c:cat>
            <c:strRef>
              <c:f>'図11_分析4_気温区分'!$A$2:$A$6</c:f>
              <c:strCache>
                <c:ptCount val="5"/>
                <c:pt idx="0">
                  <c:v>2万lx未満</c:v>
                </c:pt>
                <c:pt idx="1">
                  <c:v>2〜4万lx</c:v>
                </c:pt>
                <c:pt idx="2">
                  <c:v>4〜6万lx</c:v>
                </c:pt>
                <c:pt idx="3">
                  <c:v>6〜8万lx</c:v>
                </c:pt>
                <c:pt idx="4">
                  <c:v>8万lx以上</c:v>
                </c:pt>
              </c:strCache>
            </c:strRef>
          </c:cat>
          <c:val>
            <c:numRef>
              <c:f>'図11_分析4_気温区分'!$E$2:$E$6</c:f>
              <c:numCache>
                <c:formatCode>General</c:formatCode>
                <c:ptCount val="5"/>
                <c:pt idx="0">
                  <c:v>8.7999999999999995E-2</c:v>
                </c:pt>
                <c:pt idx="1">
                  <c:v>0.215</c:v>
                </c:pt>
                <c:pt idx="2">
                  <c:v>0.26400000000000001</c:v>
                </c:pt>
                <c:pt idx="3">
                  <c:v>0.30099999999999999</c:v>
                </c:pt>
                <c:pt idx="4">
                  <c:v>0.47099999999999997</c:v>
                </c:pt>
              </c:numCache>
            </c:numRef>
          </c:val>
          <c:smooth val="0"/>
          <c:extLst>
            <c:ext xmlns:c16="http://schemas.microsoft.com/office/drawing/2014/chart" uri="{C3380CC4-5D6E-409C-BE32-E72D297353CC}">
              <c16:uniqueId val="{00000003-ADA3-E24C-8AF9-97BFA520333E}"/>
            </c:ext>
          </c:extLst>
        </c:ser>
        <c:dLbls>
          <c:showLegendKey val="0"/>
          <c:showVal val="0"/>
          <c:showCatName val="0"/>
          <c:showSerName val="0"/>
          <c:showPercent val="0"/>
          <c:showBubbleSize val="0"/>
        </c:dLbls>
        <c:marker val="1"/>
        <c:smooth val="0"/>
        <c:axId val="10"/>
        <c:axId val="20"/>
      </c:lineChart>
      <c:catAx>
        <c:axId val="10"/>
        <c:scaling>
          <c:orientation val="minMax"/>
        </c:scaling>
        <c:delete val="0"/>
        <c:axPos val="b"/>
        <c:numFmt formatCode="General" sourceLinked="1"/>
        <c:majorTickMark val="none"/>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1.5"/>
          <c:min val="-1"/>
        </c:scaling>
        <c:delete val="0"/>
        <c:axPos val="l"/>
        <c:title>
          <c:tx>
            <c:rich>
              <a:bodyPr rot="-5400000" vert="horz"/>
              <a:lstStyle/>
              <a:p>
                <a:pPr>
                  <a:defRPr sz="900" b="0"/>
                </a:pPr>
                <a:r>
                  <a:rPr lang="ja-JP" sz="900" b="0"/>
                  <a:t>列8−列11［℃］</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5"/>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13"/>
          <c:y val="0.17"/>
          <c:w val="0.83"/>
          <c:h val="0.63"/>
        </c:manualLayout>
      </c:layout>
      <c:lineChart>
        <c:grouping val="standard"/>
        <c:varyColors val="0"/>
        <c:ser>
          <c:idx val="0"/>
          <c:order val="0"/>
          <c:tx>
            <c:strRef>
              <c:f>'図09_分析4_天気と吸気温度差'!$G$1</c:f>
              <c:strCache>
                <c:ptCount val="1"/>
                <c:pt idx="0">
                  <c:v>列3（なし）</c:v>
                </c:pt>
              </c:strCache>
            </c:strRef>
          </c:tx>
          <c:spPr>
            <a:ln w="25400" cap="rnd">
              <a:solidFill>
                <a:srgbClr val="5E6B7A"/>
              </a:solidFill>
              <a:round/>
            </a:ln>
          </c:spPr>
          <c:marker>
            <c:symbol val="none"/>
          </c:marker>
          <c:cat>
            <c:strRef>
              <c:f>'図09_分析4_天気と吸気温度差'!$B$2:$B$48</c:f>
              <c:strCache>
                <c:ptCount val="47"/>
                <c:pt idx="0">
                  <c:v>07-30</c:v>
                </c:pt>
                <c:pt idx="7">
                  <c:v>08-06</c:v>
                </c:pt>
                <c:pt idx="14">
                  <c:v>08-13</c:v>
                </c:pt>
                <c:pt idx="21">
                  <c:v>08-20</c:v>
                </c:pt>
                <c:pt idx="28">
                  <c:v>08-27</c:v>
                </c:pt>
                <c:pt idx="35">
                  <c:v>09-03</c:v>
                </c:pt>
                <c:pt idx="42">
                  <c:v>09-10</c:v>
                </c:pt>
              </c:strCache>
            </c:strRef>
          </c:cat>
          <c:val>
            <c:numRef>
              <c:f>'図09_分析4_天気と吸気温度差'!$G$2:$G$48</c:f>
              <c:numCache>
                <c:formatCode>General</c:formatCode>
                <c:ptCount val="47"/>
                <c:pt idx="0">
                  <c:v>34.926000000000002</c:v>
                </c:pt>
                <c:pt idx="1">
                  <c:v>34.206000000000003</c:v>
                </c:pt>
                <c:pt idx="2">
                  <c:v>34.753</c:v>
                </c:pt>
                <c:pt idx="3">
                  <c:v>33.287999999999997</c:v>
                </c:pt>
                <c:pt idx="4">
                  <c:v>27.312999999999999</c:v>
                </c:pt>
                <c:pt idx="5">
                  <c:v>29.184000000000001</c:v>
                </c:pt>
                <c:pt idx="6">
                  <c:v>30.422000000000001</c:v>
                </c:pt>
                <c:pt idx="7">
                  <c:v>30.489000000000001</c:v>
                </c:pt>
                <c:pt idx="8">
                  <c:v>33.125999999999998</c:v>
                </c:pt>
                <c:pt idx="9">
                  <c:v>32.823999999999998</c:v>
                </c:pt>
                <c:pt idx="10">
                  <c:v>32.281999999999996</c:v>
                </c:pt>
                <c:pt idx="11">
                  <c:v>30.547999999999998</c:v>
                </c:pt>
                <c:pt idx="12">
                  <c:v>29.041</c:v>
                </c:pt>
                <c:pt idx="13">
                  <c:v>28.187000000000001</c:v>
                </c:pt>
                <c:pt idx="14">
                  <c:v>26.742999999999999</c:v>
                </c:pt>
                <c:pt idx="15">
                  <c:v>29.335000000000001</c:v>
                </c:pt>
                <c:pt idx="16">
                  <c:v>27.725000000000001</c:v>
                </c:pt>
                <c:pt idx="17">
                  <c:v>25.86</c:v>
                </c:pt>
                <c:pt idx="18">
                  <c:v>29.876999999999999</c:v>
                </c:pt>
                <c:pt idx="19">
                  <c:v>30.986999999999998</c:v>
                </c:pt>
                <c:pt idx="20">
                  <c:v>31.379000000000001</c:v>
                </c:pt>
                <c:pt idx="21">
                  <c:v>31.916</c:v>
                </c:pt>
                <c:pt idx="22">
                  <c:v>31.370999999999999</c:v>
                </c:pt>
                <c:pt idx="23">
                  <c:v>29.327000000000002</c:v>
                </c:pt>
                <c:pt idx="24">
                  <c:v>29.786999999999999</c:v>
                </c:pt>
                <c:pt idx="25">
                  <c:v>32.878</c:v>
                </c:pt>
                <c:pt idx="26">
                  <c:v>34.29</c:v>
                </c:pt>
                <c:pt idx="27">
                  <c:v>33.878</c:v>
                </c:pt>
                <c:pt idx="28">
                  <c:v>28.856999999999999</c:v>
                </c:pt>
                <c:pt idx="29">
                  <c:v>32.106999999999999</c:v>
                </c:pt>
                <c:pt idx="30">
                  <c:v>23.507000000000001</c:v>
                </c:pt>
                <c:pt idx="31">
                  <c:v>26.364000000000001</c:v>
                </c:pt>
                <c:pt idx="32">
                  <c:v>27.722999999999999</c:v>
                </c:pt>
                <c:pt idx="33">
                  <c:v>28.617999999999999</c:v>
                </c:pt>
                <c:pt idx="34">
                  <c:v>30.59</c:v>
                </c:pt>
                <c:pt idx="35">
                  <c:v>30.393999999999998</c:v>
                </c:pt>
                <c:pt idx="36">
                  <c:v>26.734000000000002</c:v>
                </c:pt>
                <c:pt idx="37">
                  <c:v>24.620999999999999</c:v>
                </c:pt>
                <c:pt idx="38">
                  <c:v>21.956</c:v>
                </c:pt>
                <c:pt idx="39">
                  <c:v>24.8</c:v>
                </c:pt>
                <c:pt idx="40">
                  <c:v>28.273</c:v>
                </c:pt>
                <c:pt idx="41">
                  <c:v>29.643999999999998</c:v>
                </c:pt>
                <c:pt idx="42">
                  <c:v>22.882000000000001</c:v>
                </c:pt>
                <c:pt idx="43">
                  <c:v>21.23</c:v>
                </c:pt>
                <c:pt idx="44">
                  <c:v>24.288</c:v>
                </c:pt>
                <c:pt idx="45">
                  <c:v>24.85</c:v>
                </c:pt>
                <c:pt idx="46">
                  <c:v>31.417000000000002</c:v>
                </c:pt>
              </c:numCache>
            </c:numRef>
          </c:val>
          <c:smooth val="0"/>
          <c:extLst>
            <c:ext xmlns:c16="http://schemas.microsoft.com/office/drawing/2014/chart" uri="{C3380CC4-5D6E-409C-BE32-E72D297353CC}">
              <c16:uniqueId val="{00000000-8463-1E4A-9EB0-528241184090}"/>
            </c:ext>
          </c:extLst>
        </c:ser>
        <c:ser>
          <c:idx val="1"/>
          <c:order val="1"/>
          <c:tx>
            <c:strRef>
              <c:f>'図09_分析4_天気と吸気温度差'!$H$1</c:f>
              <c:strCache>
                <c:ptCount val="1"/>
                <c:pt idx="0">
                  <c:v>列8（あり）</c:v>
                </c:pt>
              </c:strCache>
            </c:strRef>
          </c:tx>
          <c:spPr>
            <a:ln w="25400" cap="rnd">
              <a:solidFill>
                <a:srgbClr val="01B8AA"/>
              </a:solidFill>
              <a:round/>
            </a:ln>
          </c:spPr>
          <c:marker>
            <c:symbol val="none"/>
          </c:marker>
          <c:cat>
            <c:strRef>
              <c:f>'図09_分析4_天気と吸気温度差'!$B$2:$B$48</c:f>
              <c:strCache>
                <c:ptCount val="47"/>
                <c:pt idx="0">
                  <c:v>07-30</c:v>
                </c:pt>
                <c:pt idx="7">
                  <c:v>08-06</c:v>
                </c:pt>
                <c:pt idx="14">
                  <c:v>08-13</c:v>
                </c:pt>
                <c:pt idx="21">
                  <c:v>08-20</c:v>
                </c:pt>
                <c:pt idx="28">
                  <c:v>08-27</c:v>
                </c:pt>
                <c:pt idx="35">
                  <c:v>09-03</c:v>
                </c:pt>
                <c:pt idx="42">
                  <c:v>09-10</c:v>
                </c:pt>
              </c:strCache>
            </c:strRef>
          </c:cat>
          <c:val>
            <c:numRef>
              <c:f>'図09_分析4_天気と吸気温度差'!$H$2:$H$48</c:f>
              <c:numCache>
                <c:formatCode>General</c:formatCode>
                <c:ptCount val="47"/>
                <c:pt idx="0">
                  <c:v>35.374000000000002</c:v>
                </c:pt>
                <c:pt idx="1">
                  <c:v>34.618000000000002</c:v>
                </c:pt>
                <c:pt idx="2">
                  <c:v>34.728000000000002</c:v>
                </c:pt>
                <c:pt idx="3">
                  <c:v>33.840000000000003</c:v>
                </c:pt>
                <c:pt idx="4">
                  <c:v>27.433</c:v>
                </c:pt>
                <c:pt idx="5">
                  <c:v>29.277000000000001</c:v>
                </c:pt>
                <c:pt idx="6">
                  <c:v>30.457999999999998</c:v>
                </c:pt>
                <c:pt idx="7">
                  <c:v>30.416</c:v>
                </c:pt>
                <c:pt idx="8">
                  <c:v>32.877000000000002</c:v>
                </c:pt>
                <c:pt idx="9">
                  <c:v>32.216999999999999</c:v>
                </c:pt>
                <c:pt idx="10">
                  <c:v>32.652999999999999</c:v>
                </c:pt>
                <c:pt idx="11">
                  <c:v>30.927</c:v>
                </c:pt>
                <c:pt idx="12">
                  <c:v>28.613</c:v>
                </c:pt>
                <c:pt idx="13">
                  <c:v>28.042000000000002</c:v>
                </c:pt>
                <c:pt idx="14">
                  <c:v>26.414000000000001</c:v>
                </c:pt>
                <c:pt idx="15">
                  <c:v>29.215</c:v>
                </c:pt>
                <c:pt idx="16">
                  <c:v>27.582000000000001</c:v>
                </c:pt>
                <c:pt idx="17">
                  <c:v>25.152999999999999</c:v>
                </c:pt>
                <c:pt idx="18">
                  <c:v>29.751999999999999</c:v>
                </c:pt>
                <c:pt idx="19">
                  <c:v>31.251999999999999</c:v>
                </c:pt>
                <c:pt idx="20">
                  <c:v>31.635999999999999</c:v>
                </c:pt>
                <c:pt idx="21">
                  <c:v>32.255000000000003</c:v>
                </c:pt>
                <c:pt idx="22">
                  <c:v>31.463999999999999</c:v>
                </c:pt>
                <c:pt idx="23">
                  <c:v>28.853999999999999</c:v>
                </c:pt>
                <c:pt idx="24">
                  <c:v>29.542999999999999</c:v>
                </c:pt>
                <c:pt idx="25">
                  <c:v>33.115000000000002</c:v>
                </c:pt>
                <c:pt idx="26">
                  <c:v>34.600999999999999</c:v>
                </c:pt>
                <c:pt idx="27">
                  <c:v>34.353000000000002</c:v>
                </c:pt>
                <c:pt idx="28">
                  <c:v>28.574000000000002</c:v>
                </c:pt>
                <c:pt idx="29">
                  <c:v>32.472999999999999</c:v>
                </c:pt>
                <c:pt idx="30">
                  <c:v>22.635000000000002</c:v>
                </c:pt>
                <c:pt idx="31">
                  <c:v>25.61</c:v>
                </c:pt>
                <c:pt idx="32">
                  <c:v>27.544</c:v>
                </c:pt>
                <c:pt idx="33">
                  <c:v>28.484999999999999</c:v>
                </c:pt>
                <c:pt idx="34">
                  <c:v>30.352</c:v>
                </c:pt>
                <c:pt idx="35">
                  <c:v>30.106000000000002</c:v>
                </c:pt>
                <c:pt idx="36">
                  <c:v>26.344999999999999</c:v>
                </c:pt>
                <c:pt idx="37">
                  <c:v>24.210999999999999</c:v>
                </c:pt>
                <c:pt idx="38">
                  <c:v>20.318999999999999</c:v>
                </c:pt>
                <c:pt idx="39">
                  <c:v>23.966000000000001</c:v>
                </c:pt>
                <c:pt idx="40">
                  <c:v>27.719000000000001</c:v>
                </c:pt>
                <c:pt idx="41">
                  <c:v>29.021000000000001</c:v>
                </c:pt>
                <c:pt idx="42">
                  <c:v>22.132999999999999</c:v>
                </c:pt>
                <c:pt idx="43">
                  <c:v>20.829000000000001</c:v>
                </c:pt>
                <c:pt idx="44">
                  <c:v>22.736000000000001</c:v>
                </c:pt>
                <c:pt idx="45">
                  <c:v>23.893000000000001</c:v>
                </c:pt>
                <c:pt idx="46">
                  <c:v>31.373999999999999</c:v>
                </c:pt>
              </c:numCache>
            </c:numRef>
          </c:val>
          <c:smooth val="0"/>
          <c:extLst>
            <c:ext xmlns:c16="http://schemas.microsoft.com/office/drawing/2014/chart" uri="{C3380CC4-5D6E-409C-BE32-E72D297353CC}">
              <c16:uniqueId val="{00000001-8463-1E4A-9EB0-528241184090}"/>
            </c:ext>
          </c:extLst>
        </c:ser>
        <c:ser>
          <c:idx val="2"/>
          <c:order val="2"/>
          <c:tx>
            <c:strRef>
              <c:f>'図09_分析4_天気と吸気温度差'!$I$1</c:f>
              <c:strCache>
                <c:ptCount val="1"/>
                <c:pt idx="0">
                  <c:v>列11（あり）</c:v>
                </c:pt>
              </c:strCache>
            </c:strRef>
          </c:tx>
          <c:spPr>
            <a:ln w="25400" cap="rnd">
              <a:solidFill>
                <a:srgbClr val="118DFF"/>
              </a:solidFill>
              <a:round/>
            </a:ln>
          </c:spPr>
          <c:marker>
            <c:symbol val="none"/>
          </c:marker>
          <c:cat>
            <c:strRef>
              <c:f>'図09_分析4_天気と吸気温度差'!$B$2:$B$48</c:f>
              <c:strCache>
                <c:ptCount val="47"/>
                <c:pt idx="0">
                  <c:v>07-30</c:v>
                </c:pt>
                <c:pt idx="7">
                  <c:v>08-06</c:v>
                </c:pt>
                <c:pt idx="14">
                  <c:v>08-13</c:v>
                </c:pt>
                <c:pt idx="21">
                  <c:v>08-20</c:v>
                </c:pt>
                <c:pt idx="28">
                  <c:v>08-27</c:v>
                </c:pt>
                <c:pt idx="35">
                  <c:v>09-03</c:v>
                </c:pt>
                <c:pt idx="42">
                  <c:v>09-10</c:v>
                </c:pt>
              </c:strCache>
            </c:strRef>
          </c:cat>
          <c:val>
            <c:numRef>
              <c:f>'図09_分析4_天気と吸気温度差'!$I$2:$I$48</c:f>
              <c:numCache>
                <c:formatCode>General</c:formatCode>
                <c:ptCount val="47"/>
                <c:pt idx="0">
                  <c:v>34.929000000000002</c:v>
                </c:pt>
                <c:pt idx="1">
                  <c:v>34.134999999999998</c:v>
                </c:pt>
                <c:pt idx="2">
                  <c:v>34.609000000000002</c:v>
                </c:pt>
                <c:pt idx="3">
                  <c:v>33.31</c:v>
                </c:pt>
                <c:pt idx="4">
                  <c:v>27.207999999999998</c:v>
                </c:pt>
                <c:pt idx="5">
                  <c:v>28.998000000000001</c:v>
                </c:pt>
                <c:pt idx="6">
                  <c:v>30.231999999999999</c:v>
                </c:pt>
                <c:pt idx="7">
                  <c:v>30.116</c:v>
                </c:pt>
                <c:pt idx="8">
                  <c:v>32.380000000000003</c:v>
                </c:pt>
                <c:pt idx="9">
                  <c:v>32.072000000000003</c:v>
                </c:pt>
                <c:pt idx="10">
                  <c:v>32.037999999999997</c:v>
                </c:pt>
                <c:pt idx="11">
                  <c:v>30.390999999999998</c:v>
                </c:pt>
                <c:pt idx="12">
                  <c:v>28.643000000000001</c:v>
                </c:pt>
                <c:pt idx="13">
                  <c:v>27.725999999999999</c:v>
                </c:pt>
                <c:pt idx="14">
                  <c:v>26.056000000000001</c:v>
                </c:pt>
                <c:pt idx="15">
                  <c:v>29.033999999999999</c:v>
                </c:pt>
                <c:pt idx="16">
                  <c:v>27.594000000000001</c:v>
                </c:pt>
                <c:pt idx="17">
                  <c:v>25.263999999999999</c:v>
                </c:pt>
                <c:pt idx="18">
                  <c:v>29.533999999999999</c:v>
                </c:pt>
                <c:pt idx="19">
                  <c:v>30.896999999999998</c:v>
                </c:pt>
                <c:pt idx="20">
                  <c:v>31.283999999999999</c:v>
                </c:pt>
                <c:pt idx="21">
                  <c:v>31.768000000000001</c:v>
                </c:pt>
                <c:pt idx="22">
                  <c:v>30.946000000000002</c:v>
                </c:pt>
                <c:pt idx="23">
                  <c:v>28.803999999999998</c:v>
                </c:pt>
                <c:pt idx="24">
                  <c:v>29.478000000000002</c:v>
                </c:pt>
                <c:pt idx="25">
                  <c:v>32.539000000000001</c:v>
                </c:pt>
                <c:pt idx="26">
                  <c:v>33.966000000000001</c:v>
                </c:pt>
                <c:pt idx="27">
                  <c:v>33.765000000000001</c:v>
                </c:pt>
                <c:pt idx="28">
                  <c:v>28.425999999999998</c:v>
                </c:pt>
                <c:pt idx="29">
                  <c:v>32.183</c:v>
                </c:pt>
                <c:pt idx="30">
                  <c:v>22.870999999999999</c:v>
                </c:pt>
                <c:pt idx="31">
                  <c:v>25.713000000000001</c:v>
                </c:pt>
                <c:pt idx="32">
                  <c:v>27.471</c:v>
                </c:pt>
                <c:pt idx="33">
                  <c:v>28.402999999999999</c:v>
                </c:pt>
                <c:pt idx="34">
                  <c:v>30.151</c:v>
                </c:pt>
                <c:pt idx="35">
                  <c:v>29.989000000000001</c:v>
                </c:pt>
                <c:pt idx="36">
                  <c:v>26.382999999999999</c:v>
                </c:pt>
                <c:pt idx="37">
                  <c:v>24.097000000000001</c:v>
                </c:pt>
                <c:pt idx="38">
                  <c:v>20.308</c:v>
                </c:pt>
                <c:pt idx="39">
                  <c:v>23.721</c:v>
                </c:pt>
                <c:pt idx="40">
                  <c:v>27.696000000000002</c:v>
                </c:pt>
                <c:pt idx="41">
                  <c:v>28.916</c:v>
                </c:pt>
                <c:pt idx="42">
                  <c:v>21.9</c:v>
                </c:pt>
                <c:pt idx="43">
                  <c:v>20.524000000000001</c:v>
                </c:pt>
                <c:pt idx="44">
                  <c:v>22.667999999999999</c:v>
                </c:pt>
                <c:pt idx="45">
                  <c:v>23.850999999999999</c:v>
                </c:pt>
                <c:pt idx="46">
                  <c:v>30.917000000000002</c:v>
                </c:pt>
              </c:numCache>
            </c:numRef>
          </c:val>
          <c:smooth val="0"/>
          <c:extLst>
            <c:ext xmlns:c16="http://schemas.microsoft.com/office/drawing/2014/chart" uri="{C3380CC4-5D6E-409C-BE32-E72D297353CC}">
              <c16:uniqueId val="{00000002-8463-1E4A-9EB0-528241184090}"/>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out"/>
        <c:minorTickMark val="none"/>
        <c:tickLblPos val="low"/>
        <c:spPr>
          <a:ln w="9525" cap="rnd">
            <a:solidFill>
              <a:srgbClr val="5E6B7A"/>
            </a:solidFill>
            <a:round/>
          </a:ln>
        </c:spPr>
        <c:crossAx val="20"/>
        <c:crosses val="autoZero"/>
        <c:auto val="1"/>
        <c:lblAlgn val="ctr"/>
        <c:lblOffset val="100"/>
        <c:noMultiLvlLbl val="0"/>
      </c:catAx>
      <c:valAx>
        <c:axId val="20"/>
        <c:scaling>
          <c:orientation val="minMax"/>
          <c:max val="37.5"/>
          <c:min val="20"/>
        </c:scaling>
        <c:delete val="0"/>
        <c:axPos val="l"/>
        <c:majorGridlines>
          <c:spPr>
            <a:ln w="9525" cap="rnd">
              <a:solidFill>
                <a:srgbClr val="E3E7EC"/>
              </a:solidFill>
              <a:round/>
            </a:ln>
          </c:spPr>
        </c:majorGridlines>
        <c:title>
          <c:tx>
            <c:rich>
              <a:bodyPr rot="-5400000" vert="horz"/>
              <a:lstStyle/>
              <a:p>
                <a:pPr>
                  <a:defRPr sz="900" b="0"/>
                </a:pPr>
                <a:r>
                  <a:rPr lang="ja-JP" sz="900" b="0"/>
                  <a:t>吸気温度［℃］</a:t>
                </a:r>
              </a:p>
            </c:rich>
          </c:tx>
          <c:overlay val="0"/>
        </c:title>
        <c:numFmt formatCode="0" sourceLinked="0"/>
        <c:majorTickMark val="out"/>
        <c:minorTickMark val="none"/>
        <c:tickLblPos val="nextTo"/>
        <c:spPr>
          <a:ln w="9525" cap="rnd">
            <a:solidFill>
              <a:srgbClr val="5E6B7A"/>
            </a:solidFill>
            <a:round/>
          </a:ln>
        </c:spPr>
        <c:crossAx val="10"/>
        <c:crosses val="autoZero"/>
        <c:crossBetween val="between"/>
        <c:majorUnit val="5"/>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13"/>
          <c:y val="0.13"/>
          <c:w val="0.83"/>
          <c:h val="0.62"/>
        </c:manualLayout>
      </c:layout>
      <c:barChart>
        <c:barDir val="col"/>
        <c:grouping val="clustered"/>
        <c:varyColors val="0"/>
        <c:ser>
          <c:idx val="0"/>
          <c:order val="0"/>
          <c:tx>
            <c:strRef>
              <c:f>'図09_分析4_天気と吸気温度差'!$J$1</c:f>
              <c:strCache>
                <c:ptCount val="1"/>
                <c:pt idx="0">
                  <c:v>列8</c:v>
                </c:pt>
              </c:strCache>
            </c:strRef>
          </c:tx>
          <c:spPr>
            <a:solidFill>
              <a:srgbClr val="01B8AA"/>
            </a:solidFill>
            <a:ln w="6350" cap="rnd">
              <a:solidFill>
                <a:srgbClr val="01B8AA"/>
              </a:solidFill>
              <a:round/>
            </a:ln>
          </c:spPr>
          <c:invertIfNegative val="0"/>
          <c:cat>
            <c:strRef>
              <c:f>'図09_分析4_天気と吸気温度差'!$B$2:$B$48</c:f>
              <c:strCache>
                <c:ptCount val="47"/>
                <c:pt idx="0">
                  <c:v>07-30</c:v>
                </c:pt>
                <c:pt idx="7">
                  <c:v>08-06</c:v>
                </c:pt>
                <c:pt idx="14">
                  <c:v>08-13</c:v>
                </c:pt>
                <c:pt idx="21">
                  <c:v>08-20</c:v>
                </c:pt>
                <c:pt idx="28">
                  <c:v>08-27</c:v>
                </c:pt>
                <c:pt idx="35">
                  <c:v>09-03</c:v>
                </c:pt>
                <c:pt idx="42">
                  <c:v>09-10</c:v>
                </c:pt>
              </c:strCache>
            </c:strRef>
          </c:cat>
          <c:val>
            <c:numRef>
              <c:f>'図09_分析4_天気と吸気温度差'!$J$2:$J$48</c:f>
              <c:numCache>
                <c:formatCode>General</c:formatCode>
                <c:ptCount val="47"/>
                <c:pt idx="0">
                  <c:v>0.44900000000000001</c:v>
                </c:pt>
                <c:pt idx="1">
                  <c:v>0.41099999999999998</c:v>
                </c:pt>
                <c:pt idx="2">
                  <c:v>-2.4E-2</c:v>
                </c:pt>
                <c:pt idx="3">
                  <c:v>0.55200000000000005</c:v>
                </c:pt>
                <c:pt idx="4">
                  <c:v>0.121</c:v>
                </c:pt>
                <c:pt idx="5">
                  <c:v>9.2999999999999999E-2</c:v>
                </c:pt>
                <c:pt idx="6">
                  <c:v>3.5999999999999997E-2</c:v>
                </c:pt>
                <c:pt idx="7">
                  <c:v>-7.2999999999999995E-2</c:v>
                </c:pt>
                <c:pt idx="8">
                  <c:v>-0.249</c:v>
                </c:pt>
                <c:pt idx="9">
                  <c:v>-0.60699999999999998</c:v>
                </c:pt>
                <c:pt idx="10">
                  <c:v>0.371</c:v>
                </c:pt>
                <c:pt idx="11">
                  <c:v>0.379</c:v>
                </c:pt>
                <c:pt idx="12">
                  <c:v>-0.42899999999999999</c:v>
                </c:pt>
                <c:pt idx="13">
                  <c:v>-0.14599999999999999</c:v>
                </c:pt>
                <c:pt idx="14">
                  <c:v>-0.32900000000000001</c:v>
                </c:pt>
                <c:pt idx="15">
                  <c:v>-0.121</c:v>
                </c:pt>
                <c:pt idx="16">
                  <c:v>-0.14399999999999999</c:v>
                </c:pt>
                <c:pt idx="17">
                  <c:v>-0.70799999999999996</c:v>
                </c:pt>
                <c:pt idx="18">
                  <c:v>-0.125</c:v>
                </c:pt>
                <c:pt idx="19">
                  <c:v>0.26500000000000001</c:v>
                </c:pt>
                <c:pt idx="20">
                  <c:v>0.25700000000000001</c:v>
                </c:pt>
                <c:pt idx="21">
                  <c:v>0.34</c:v>
                </c:pt>
                <c:pt idx="22">
                  <c:v>9.2999999999999999E-2</c:v>
                </c:pt>
                <c:pt idx="23">
                  <c:v>-0.47299999999999998</c:v>
                </c:pt>
                <c:pt idx="24">
                  <c:v>-0.24399999999999999</c:v>
                </c:pt>
                <c:pt idx="25">
                  <c:v>0.23699999999999999</c:v>
                </c:pt>
                <c:pt idx="26">
                  <c:v>0.311</c:v>
                </c:pt>
                <c:pt idx="27">
                  <c:v>0.47499999999999998</c:v>
                </c:pt>
                <c:pt idx="28">
                  <c:v>-0.28299999999999997</c:v>
                </c:pt>
                <c:pt idx="29">
                  <c:v>0.36599999999999999</c:v>
                </c:pt>
                <c:pt idx="30">
                  <c:v>-0.871</c:v>
                </c:pt>
                <c:pt idx="31">
                  <c:v>-0.754</c:v>
                </c:pt>
                <c:pt idx="32">
                  <c:v>-0.17899999999999999</c:v>
                </c:pt>
                <c:pt idx="33">
                  <c:v>-0.13300000000000001</c:v>
                </c:pt>
                <c:pt idx="34">
                  <c:v>-0.23899999999999999</c:v>
                </c:pt>
                <c:pt idx="35">
                  <c:v>-0.28799999999999998</c:v>
                </c:pt>
                <c:pt idx="36">
                  <c:v>-0.38800000000000001</c:v>
                </c:pt>
                <c:pt idx="37">
                  <c:v>-0.41</c:v>
                </c:pt>
                <c:pt idx="38">
                  <c:v>-1.637</c:v>
                </c:pt>
                <c:pt idx="39">
                  <c:v>-0.83499999999999996</c:v>
                </c:pt>
                <c:pt idx="40">
                  <c:v>-0.55300000000000005</c:v>
                </c:pt>
                <c:pt idx="41">
                  <c:v>-0.623</c:v>
                </c:pt>
                <c:pt idx="42">
                  <c:v>-0.749</c:v>
                </c:pt>
                <c:pt idx="43">
                  <c:v>-0.40100000000000002</c:v>
                </c:pt>
                <c:pt idx="44">
                  <c:v>-1.5509999999999999</c:v>
                </c:pt>
                <c:pt idx="45">
                  <c:v>-0.95699999999999996</c:v>
                </c:pt>
                <c:pt idx="46">
                  <c:v>-4.3999999999999997E-2</c:v>
                </c:pt>
              </c:numCache>
            </c:numRef>
          </c:val>
          <c:extLst>
            <c:ext xmlns:c16="http://schemas.microsoft.com/office/drawing/2014/chart" uri="{C3380CC4-5D6E-409C-BE32-E72D297353CC}">
              <c16:uniqueId val="{00000000-BC95-6144-B59E-47AAEE5C1F75}"/>
            </c:ext>
          </c:extLst>
        </c:ser>
        <c:ser>
          <c:idx val="1"/>
          <c:order val="1"/>
          <c:tx>
            <c:strRef>
              <c:f>'図09_分析4_天気と吸気温度差'!$K$1</c:f>
              <c:strCache>
                <c:ptCount val="1"/>
                <c:pt idx="0">
                  <c:v>列11</c:v>
                </c:pt>
              </c:strCache>
            </c:strRef>
          </c:tx>
          <c:spPr>
            <a:solidFill>
              <a:srgbClr val="118DFF"/>
            </a:solidFill>
            <a:ln w="6350" cap="rnd">
              <a:solidFill>
                <a:srgbClr val="118DFF"/>
              </a:solidFill>
              <a:round/>
            </a:ln>
          </c:spPr>
          <c:invertIfNegative val="0"/>
          <c:cat>
            <c:strRef>
              <c:f>'図09_分析4_天気と吸気温度差'!$B$2:$B$48</c:f>
              <c:strCache>
                <c:ptCount val="47"/>
                <c:pt idx="0">
                  <c:v>07-30</c:v>
                </c:pt>
                <c:pt idx="7">
                  <c:v>08-06</c:v>
                </c:pt>
                <c:pt idx="14">
                  <c:v>08-13</c:v>
                </c:pt>
                <c:pt idx="21">
                  <c:v>08-20</c:v>
                </c:pt>
                <c:pt idx="28">
                  <c:v>08-27</c:v>
                </c:pt>
                <c:pt idx="35">
                  <c:v>09-03</c:v>
                </c:pt>
                <c:pt idx="42">
                  <c:v>09-10</c:v>
                </c:pt>
              </c:strCache>
            </c:strRef>
          </c:cat>
          <c:val>
            <c:numRef>
              <c:f>'図09_分析4_天気と吸気温度差'!$K$2:$K$48</c:f>
              <c:numCache>
                <c:formatCode>General</c:formatCode>
                <c:ptCount val="47"/>
                <c:pt idx="0">
                  <c:v>7.0000000000000007E-2</c:v>
                </c:pt>
                <c:pt idx="1">
                  <c:v>5.0000000000000001E-3</c:v>
                </c:pt>
                <c:pt idx="2">
                  <c:v>-0.108</c:v>
                </c:pt>
                <c:pt idx="3">
                  <c:v>5.5E-2</c:v>
                </c:pt>
                <c:pt idx="4">
                  <c:v>-5.0999999999999997E-2</c:v>
                </c:pt>
                <c:pt idx="5">
                  <c:v>-0.122</c:v>
                </c:pt>
                <c:pt idx="6">
                  <c:v>-0.11700000000000001</c:v>
                </c:pt>
                <c:pt idx="7">
                  <c:v>-0.24</c:v>
                </c:pt>
                <c:pt idx="8">
                  <c:v>-0.69199999999999995</c:v>
                </c:pt>
                <c:pt idx="9">
                  <c:v>-0.69</c:v>
                </c:pt>
                <c:pt idx="10">
                  <c:v>-0.184</c:v>
                </c:pt>
                <c:pt idx="11">
                  <c:v>-7.2999999999999995E-2</c:v>
                </c:pt>
                <c:pt idx="12">
                  <c:v>-0.374</c:v>
                </c:pt>
                <c:pt idx="13">
                  <c:v>-0.40799999999999997</c:v>
                </c:pt>
                <c:pt idx="14">
                  <c:v>-0.64500000000000002</c:v>
                </c:pt>
                <c:pt idx="15">
                  <c:v>-0.23899999999999999</c:v>
                </c:pt>
                <c:pt idx="16">
                  <c:v>-0.126</c:v>
                </c:pt>
                <c:pt idx="17">
                  <c:v>-0.59299999999999997</c:v>
                </c:pt>
                <c:pt idx="18">
                  <c:v>-0.28599999999999998</c:v>
                </c:pt>
                <c:pt idx="19">
                  <c:v>-7.2999999999999995E-2</c:v>
                </c:pt>
                <c:pt idx="20">
                  <c:v>-5.1999999999999998E-2</c:v>
                </c:pt>
                <c:pt idx="21">
                  <c:v>-0.10299999999999999</c:v>
                </c:pt>
                <c:pt idx="22">
                  <c:v>-0.33600000000000002</c:v>
                </c:pt>
                <c:pt idx="23">
                  <c:v>-0.29899999999999999</c:v>
                </c:pt>
                <c:pt idx="24">
                  <c:v>-0.224</c:v>
                </c:pt>
                <c:pt idx="25">
                  <c:v>-0.218</c:v>
                </c:pt>
                <c:pt idx="26">
                  <c:v>-0.14599999999999999</c:v>
                </c:pt>
                <c:pt idx="27">
                  <c:v>0.111</c:v>
                </c:pt>
                <c:pt idx="28">
                  <c:v>-0.192</c:v>
                </c:pt>
                <c:pt idx="29">
                  <c:v>6.0999999999999999E-2</c:v>
                </c:pt>
                <c:pt idx="30">
                  <c:v>-0.56100000000000005</c:v>
                </c:pt>
                <c:pt idx="31">
                  <c:v>-0.58099999999999996</c:v>
                </c:pt>
                <c:pt idx="32">
                  <c:v>-0.192</c:v>
                </c:pt>
                <c:pt idx="33">
                  <c:v>-0.122</c:v>
                </c:pt>
                <c:pt idx="34">
                  <c:v>-0.34699999999999998</c:v>
                </c:pt>
                <c:pt idx="35">
                  <c:v>-0.376</c:v>
                </c:pt>
                <c:pt idx="36">
                  <c:v>-0.22500000000000001</c:v>
                </c:pt>
                <c:pt idx="37">
                  <c:v>-0.45700000000000002</c:v>
                </c:pt>
                <c:pt idx="38">
                  <c:v>-1.3660000000000001</c:v>
                </c:pt>
                <c:pt idx="39">
                  <c:v>-0.92700000000000005</c:v>
                </c:pt>
                <c:pt idx="40">
                  <c:v>-0.39200000000000002</c:v>
                </c:pt>
                <c:pt idx="41">
                  <c:v>-0.61799999999999999</c:v>
                </c:pt>
                <c:pt idx="42">
                  <c:v>-0.68600000000000005</c:v>
                </c:pt>
                <c:pt idx="43">
                  <c:v>-0.436</c:v>
                </c:pt>
                <c:pt idx="44">
                  <c:v>-1.246</c:v>
                </c:pt>
                <c:pt idx="45">
                  <c:v>-0.83199999999999996</c:v>
                </c:pt>
                <c:pt idx="46">
                  <c:v>-0.39800000000000002</c:v>
                </c:pt>
              </c:numCache>
            </c:numRef>
          </c:val>
          <c:extLst>
            <c:ext xmlns:c16="http://schemas.microsoft.com/office/drawing/2014/chart" uri="{C3380CC4-5D6E-409C-BE32-E72D297353CC}">
              <c16:uniqueId val="{00000001-BC95-6144-B59E-47AAEE5C1F75}"/>
            </c:ext>
          </c:extLst>
        </c:ser>
        <c:dLbls>
          <c:showLegendKey val="0"/>
          <c:showVal val="0"/>
          <c:showCatName val="0"/>
          <c:showSerName val="0"/>
          <c:showPercent val="0"/>
          <c:showBubbleSize val="0"/>
        </c:dLbls>
        <c:gapWidth val="30"/>
        <c:axId val="10"/>
        <c:axId val="20"/>
      </c:barChart>
      <c:catAx>
        <c:axId val="10"/>
        <c:scaling>
          <c:orientation val="minMax"/>
        </c:scaling>
        <c:delete val="0"/>
        <c:axPos val="b"/>
        <c:numFmt formatCode="General" sourceLinked="1"/>
        <c:majorTickMark val="out"/>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1"/>
          <c:min val="-2"/>
        </c:scaling>
        <c:delete val="0"/>
        <c:axPos val="l"/>
        <c:majorGridlines>
          <c:spPr>
            <a:ln w="9525" cap="rnd">
              <a:solidFill>
                <a:srgbClr val="E3E7EC"/>
              </a:solidFill>
              <a:round/>
            </a:ln>
          </c:spPr>
        </c:majorGridlines>
        <c:title>
          <c:tx>
            <c:rich>
              <a:bodyPr rot="-5400000" vert="horz"/>
              <a:lstStyle/>
              <a:p>
                <a:pPr>
                  <a:defRPr sz="900" b="0"/>
                </a:pPr>
                <a:r>
                  <a:rPr lang="ja-JP" sz="900" b="0"/>
                  <a:t>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1"/>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13"/>
          <c:y val="0.05"/>
          <c:w val="0.83"/>
          <c:h val="0.4"/>
        </c:manualLayout>
      </c:layout>
      <c:barChart>
        <c:barDir val="col"/>
        <c:grouping val="clustered"/>
        <c:varyColors val="0"/>
        <c:ser>
          <c:idx val="0"/>
          <c:order val="0"/>
          <c:tx>
            <c:strRef>
              <c:f>'図09_分析4_天気と吸気温度差'!$L$1</c:f>
              <c:strCache>
                <c:ptCount val="1"/>
                <c:pt idx="0">
                  <c:v>晴れ</c:v>
                </c:pt>
              </c:strCache>
            </c:strRef>
          </c:tx>
          <c:spPr>
            <a:solidFill>
              <a:srgbClr val="E66C64"/>
            </a:solidFill>
            <a:ln w="6350" cap="rnd">
              <a:solidFill>
                <a:srgbClr val="E66C64"/>
              </a:solidFill>
              <a:round/>
            </a:ln>
          </c:spPr>
          <c:invertIfNegative val="0"/>
          <c:cat>
            <c:strRef>
              <c:f>'図09_分析4_天気と吸気温度差'!$B$2:$B$48</c:f>
              <c:strCache>
                <c:ptCount val="47"/>
                <c:pt idx="0">
                  <c:v>07-30</c:v>
                </c:pt>
                <c:pt idx="7">
                  <c:v>08-06</c:v>
                </c:pt>
                <c:pt idx="14">
                  <c:v>08-13</c:v>
                </c:pt>
                <c:pt idx="21">
                  <c:v>08-20</c:v>
                </c:pt>
                <c:pt idx="28">
                  <c:v>08-27</c:v>
                </c:pt>
                <c:pt idx="35">
                  <c:v>09-03</c:v>
                </c:pt>
                <c:pt idx="42">
                  <c:v>09-10</c:v>
                </c:pt>
              </c:strCache>
            </c:strRef>
          </c:cat>
          <c:val>
            <c:numRef>
              <c:f>'図09_分析4_天気と吸気温度差'!$L$2:$L$48</c:f>
              <c:numCache>
                <c:formatCode>General</c:formatCode>
                <c:ptCount val="47"/>
                <c:pt idx="0">
                  <c:v>1</c:v>
                </c:pt>
                <c:pt idx="1">
                  <c:v>1</c:v>
                </c:pt>
                <c:pt idx="5">
                  <c:v>1</c:v>
                </c:pt>
                <c:pt idx="6">
                  <c:v>1</c:v>
                </c:pt>
                <c:pt idx="8">
                  <c:v>1</c:v>
                </c:pt>
                <c:pt idx="11">
                  <c:v>1</c:v>
                </c:pt>
                <c:pt idx="18">
                  <c:v>1</c:v>
                </c:pt>
                <c:pt idx="19">
                  <c:v>1</c:v>
                </c:pt>
                <c:pt idx="20">
                  <c:v>1</c:v>
                </c:pt>
                <c:pt idx="21">
                  <c:v>1</c:v>
                </c:pt>
                <c:pt idx="22">
                  <c:v>1</c:v>
                </c:pt>
                <c:pt idx="25">
                  <c:v>1</c:v>
                </c:pt>
                <c:pt idx="26">
                  <c:v>1</c:v>
                </c:pt>
                <c:pt idx="27">
                  <c:v>1</c:v>
                </c:pt>
                <c:pt idx="29">
                  <c:v>1</c:v>
                </c:pt>
              </c:numCache>
            </c:numRef>
          </c:val>
          <c:extLst>
            <c:ext xmlns:c16="http://schemas.microsoft.com/office/drawing/2014/chart" uri="{C3380CC4-5D6E-409C-BE32-E72D297353CC}">
              <c16:uniqueId val="{00000000-C851-8043-B61D-3A41802C16F1}"/>
            </c:ext>
          </c:extLst>
        </c:ser>
        <c:ser>
          <c:idx val="1"/>
          <c:order val="1"/>
          <c:tx>
            <c:strRef>
              <c:f>'図09_分析4_天気と吸気温度差'!$M$1</c:f>
              <c:strCache>
                <c:ptCount val="1"/>
                <c:pt idx="0">
                  <c:v>曇り</c:v>
                </c:pt>
              </c:strCache>
            </c:strRef>
          </c:tx>
          <c:spPr>
            <a:solidFill>
              <a:srgbClr val="8A949E"/>
            </a:solidFill>
            <a:ln w="6350" cap="rnd">
              <a:solidFill>
                <a:srgbClr val="8A949E"/>
              </a:solidFill>
              <a:round/>
            </a:ln>
          </c:spPr>
          <c:invertIfNegative val="0"/>
          <c:cat>
            <c:strRef>
              <c:f>'図09_分析4_天気と吸気温度差'!$B$2:$B$48</c:f>
              <c:strCache>
                <c:ptCount val="47"/>
                <c:pt idx="0">
                  <c:v>07-30</c:v>
                </c:pt>
                <c:pt idx="7">
                  <c:v>08-06</c:v>
                </c:pt>
                <c:pt idx="14">
                  <c:v>08-13</c:v>
                </c:pt>
                <c:pt idx="21">
                  <c:v>08-20</c:v>
                </c:pt>
                <c:pt idx="28">
                  <c:v>08-27</c:v>
                </c:pt>
                <c:pt idx="35">
                  <c:v>09-03</c:v>
                </c:pt>
                <c:pt idx="42">
                  <c:v>09-10</c:v>
                </c:pt>
              </c:strCache>
            </c:strRef>
          </c:cat>
          <c:val>
            <c:numRef>
              <c:f>'図09_分析4_天気と吸気温度差'!$M$2:$M$48</c:f>
              <c:numCache>
                <c:formatCode>General</c:formatCode>
                <c:ptCount val="47"/>
                <c:pt idx="4">
                  <c:v>1</c:v>
                </c:pt>
                <c:pt idx="32">
                  <c:v>1</c:v>
                </c:pt>
                <c:pt idx="33">
                  <c:v>1</c:v>
                </c:pt>
                <c:pt idx="34">
                  <c:v>1</c:v>
                </c:pt>
                <c:pt idx="35">
                  <c:v>1</c:v>
                </c:pt>
                <c:pt idx="36">
                  <c:v>1</c:v>
                </c:pt>
                <c:pt idx="42">
                  <c:v>1</c:v>
                </c:pt>
                <c:pt idx="43">
                  <c:v>1</c:v>
                </c:pt>
              </c:numCache>
            </c:numRef>
          </c:val>
          <c:extLst>
            <c:ext xmlns:c16="http://schemas.microsoft.com/office/drawing/2014/chart" uri="{C3380CC4-5D6E-409C-BE32-E72D297353CC}">
              <c16:uniqueId val="{00000001-C851-8043-B61D-3A41802C16F1}"/>
            </c:ext>
          </c:extLst>
        </c:ser>
        <c:ser>
          <c:idx val="2"/>
          <c:order val="2"/>
          <c:tx>
            <c:strRef>
              <c:f>'図09_分析4_天気と吸気温度差'!$N$1</c:f>
              <c:strCache>
                <c:ptCount val="1"/>
                <c:pt idx="0">
                  <c:v>雨</c:v>
                </c:pt>
              </c:strCache>
            </c:strRef>
          </c:tx>
          <c:spPr>
            <a:solidFill>
              <a:srgbClr val="118DFF"/>
            </a:solidFill>
            <a:ln w="6350" cap="rnd">
              <a:solidFill>
                <a:srgbClr val="118DFF"/>
              </a:solidFill>
              <a:round/>
            </a:ln>
          </c:spPr>
          <c:invertIfNegative val="0"/>
          <c:cat>
            <c:strRef>
              <c:f>'図09_分析4_天気と吸気温度差'!$B$2:$B$48</c:f>
              <c:strCache>
                <c:ptCount val="47"/>
                <c:pt idx="0">
                  <c:v>07-30</c:v>
                </c:pt>
                <c:pt idx="7">
                  <c:v>08-06</c:v>
                </c:pt>
                <c:pt idx="14">
                  <c:v>08-13</c:v>
                </c:pt>
                <c:pt idx="21">
                  <c:v>08-20</c:v>
                </c:pt>
                <c:pt idx="28">
                  <c:v>08-27</c:v>
                </c:pt>
                <c:pt idx="35">
                  <c:v>09-03</c:v>
                </c:pt>
                <c:pt idx="42">
                  <c:v>09-10</c:v>
                </c:pt>
              </c:strCache>
            </c:strRef>
          </c:cat>
          <c:val>
            <c:numRef>
              <c:f>'図09_分析4_天気と吸気温度差'!$N$2:$N$48</c:f>
              <c:numCache>
                <c:formatCode>General</c:formatCode>
                <c:ptCount val="47"/>
                <c:pt idx="7">
                  <c:v>1</c:v>
                </c:pt>
                <c:pt idx="13">
                  <c:v>1</c:v>
                </c:pt>
                <c:pt idx="14">
                  <c:v>1</c:v>
                </c:pt>
                <c:pt idx="15">
                  <c:v>1</c:v>
                </c:pt>
                <c:pt idx="28">
                  <c:v>1</c:v>
                </c:pt>
                <c:pt idx="39">
                  <c:v>1</c:v>
                </c:pt>
                <c:pt idx="40">
                  <c:v>1</c:v>
                </c:pt>
                <c:pt idx="41">
                  <c:v>1</c:v>
                </c:pt>
              </c:numCache>
            </c:numRef>
          </c:val>
          <c:extLst>
            <c:ext xmlns:c16="http://schemas.microsoft.com/office/drawing/2014/chart" uri="{C3380CC4-5D6E-409C-BE32-E72D297353CC}">
              <c16:uniqueId val="{00000002-C851-8043-B61D-3A41802C16F1}"/>
            </c:ext>
          </c:extLst>
        </c:ser>
        <c:ser>
          <c:idx val="3"/>
          <c:order val="3"/>
          <c:tx>
            <c:strRef>
              <c:f>'図09_分析4_天気と吸気温度差'!$O$1</c:f>
              <c:strCache>
                <c:ptCount val="1"/>
                <c:pt idx="0">
                  <c:v>晴れ（休日）</c:v>
                </c:pt>
              </c:strCache>
            </c:strRef>
          </c:tx>
          <c:spPr>
            <a:solidFill>
              <a:srgbClr val="F6C3BF"/>
            </a:solidFill>
            <a:ln w="6350" cap="rnd">
              <a:solidFill>
                <a:srgbClr val="F6C3BF"/>
              </a:solidFill>
              <a:round/>
            </a:ln>
          </c:spPr>
          <c:invertIfNegative val="0"/>
          <c:cat>
            <c:strRef>
              <c:f>'図09_分析4_天気と吸気温度差'!$B$2:$B$48</c:f>
              <c:strCache>
                <c:ptCount val="47"/>
                <c:pt idx="0">
                  <c:v>07-30</c:v>
                </c:pt>
                <c:pt idx="7">
                  <c:v>08-06</c:v>
                </c:pt>
                <c:pt idx="14">
                  <c:v>08-13</c:v>
                </c:pt>
                <c:pt idx="21">
                  <c:v>08-20</c:v>
                </c:pt>
                <c:pt idx="28">
                  <c:v>08-27</c:v>
                </c:pt>
                <c:pt idx="35">
                  <c:v>09-03</c:v>
                </c:pt>
                <c:pt idx="42">
                  <c:v>09-10</c:v>
                </c:pt>
              </c:strCache>
            </c:strRef>
          </c:cat>
          <c:val>
            <c:numRef>
              <c:f>'図09_分析4_天気と吸気温度差'!$O$2:$O$48</c:f>
              <c:numCache>
                <c:formatCode>General</c:formatCode>
                <c:ptCount val="47"/>
                <c:pt idx="2">
                  <c:v>1</c:v>
                </c:pt>
                <c:pt idx="3">
                  <c:v>1</c:v>
                </c:pt>
                <c:pt idx="9">
                  <c:v>1</c:v>
                </c:pt>
                <c:pt idx="10">
                  <c:v>1</c:v>
                </c:pt>
              </c:numCache>
            </c:numRef>
          </c:val>
          <c:extLst>
            <c:ext xmlns:c16="http://schemas.microsoft.com/office/drawing/2014/chart" uri="{C3380CC4-5D6E-409C-BE32-E72D297353CC}">
              <c16:uniqueId val="{00000003-C851-8043-B61D-3A41802C16F1}"/>
            </c:ext>
          </c:extLst>
        </c:ser>
        <c:ser>
          <c:idx val="4"/>
          <c:order val="4"/>
          <c:tx>
            <c:strRef>
              <c:f>'図09_分析4_天気と吸気温度差'!$P$1</c:f>
              <c:strCache>
                <c:ptCount val="1"/>
                <c:pt idx="0">
                  <c:v>曇り（休日）</c:v>
                </c:pt>
              </c:strCache>
            </c:strRef>
          </c:tx>
          <c:spPr>
            <a:solidFill>
              <a:srgbClr val="D3D8DD"/>
            </a:solidFill>
            <a:ln w="6350" cap="rnd">
              <a:solidFill>
                <a:srgbClr val="D3D8DD"/>
              </a:solidFill>
              <a:round/>
            </a:ln>
          </c:spPr>
          <c:invertIfNegative val="0"/>
          <c:cat>
            <c:strRef>
              <c:f>'図09_分析4_天気と吸気温度差'!$B$2:$B$48</c:f>
              <c:strCache>
                <c:ptCount val="47"/>
                <c:pt idx="0">
                  <c:v>07-30</c:v>
                </c:pt>
                <c:pt idx="7">
                  <c:v>08-06</c:v>
                </c:pt>
                <c:pt idx="14">
                  <c:v>08-13</c:v>
                </c:pt>
                <c:pt idx="21">
                  <c:v>08-20</c:v>
                </c:pt>
                <c:pt idx="28">
                  <c:v>08-27</c:v>
                </c:pt>
                <c:pt idx="35">
                  <c:v>09-03</c:v>
                </c:pt>
                <c:pt idx="42">
                  <c:v>09-10</c:v>
                </c:pt>
              </c:strCache>
            </c:strRef>
          </c:cat>
          <c:val>
            <c:numRef>
              <c:f>'図09_分析4_天気と吸気温度差'!$P$2:$P$48</c:f>
              <c:numCache>
                <c:formatCode>General</c:formatCode>
                <c:ptCount val="47"/>
                <c:pt idx="12">
                  <c:v>1</c:v>
                </c:pt>
                <c:pt idx="16">
                  <c:v>1</c:v>
                </c:pt>
                <c:pt idx="24">
                  <c:v>1</c:v>
                </c:pt>
                <c:pt idx="31">
                  <c:v>1</c:v>
                </c:pt>
                <c:pt idx="37">
                  <c:v>1</c:v>
                </c:pt>
                <c:pt idx="44">
                  <c:v>1</c:v>
                </c:pt>
                <c:pt idx="45">
                  <c:v>1</c:v>
                </c:pt>
              </c:numCache>
            </c:numRef>
          </c:val>
          <c:extLst>
            <c:ext xmlns:c16="http://schemas.microsoft.com/office/drawing/2014/chart" uri="{C3380CC4-5D6E-409C-BE32-E72D297353CC}">
              <c16:uniqueId val="{00000004-C851-8043-B61D-3A41802C16F1}"/>
            </c:ext>
          </c:extLst>
        </c:ser>
        <c:ser>
          <c:idx val="5"/>
          <c:order val="5"/>
          <c:tx>
            <c:strRef>
              <c:f>'図09_分析4_天気と吸気温度差'!$Q$1</c:f>
              <c:strCache>
                <c:ptCount val="1"/>
                <c:pt idx="0">
                  <c:v>雨（休日）</c:v>
                </c:pt>
              </c:strCache>
            </c:strRef>
          </c:tx>
          <c:spPr>
            <a:solidFill>
              <a:srgbClr val="A8D3FF"/>
            </a:solidFill>
            <a:ln w="6350" cap="rnd">
              <a:solidFill>
                <a:srgbClr val="A8D3FF"/>
              </a:solidFill>
              <a:round/>
            </a:ln>
          </c:spPr>
          <c:invertIfNegative val="0"/>
          <c:cat>
            <c:strRef>
              <c:f>'図09_分析4_天気と吸気温度差'!$B$2:$B$48</c:f>
              <c:strCache>
                <c:ptCount val="47"/>
                <c:pt idx="0">
                  <c:v>07-30</c:v>
                </c:pt>
                <c:pt idx="7">
                  <c:v>08-06</c:v>
                </c:pt>
                <c:pt idx="14">
                  <c:v>08-13</c:v>
                </c:pt>
                <c:pt idx="21">
                  <c:v>08-20</c:v>
                </c:pt>
                <c:pt idx="28">
                  <c:v>08-27</c:v>
                </c:pt>
                <c:pt idx="35">
                  <c:v>09-03</c:v>
                </c:pt>
                <c:pt idx="42">
                  <c:v>09-10</c:v>
                </c:pt>
              </c:strCache>
            </c:strRef>
          </c:cat>
          <c:val>
            <c:numRef>
              <c:f>'図09_分析4_天気と吸気温度差'!$Q$2:$Q$48</c:f>
              <c:numCache>
                <c:formatCode>General</c:formatCode>
                <c:ptCount val="47"/>
                <c:pt idx="17">
                  <c:v>1</c:v>
                </c:pt>
                <c:pt idx="23">
                  <c:v>1</c:v>
                </c:pt>
                <c:pt idx="30">
                  <c:v>1</c:v>
                </c:pt>
                <c:pt idx="38">
                  <c:v>1</c:v>
                </c:pt>
              </c:numCache>
            </c:numRef>
          </c:val>
          <c:extLst>
            <c:ext xmlns:c16="http://schemas.microsoft.com/office/drawing/2014/chart" uri="{C3380CC4-5D6E-409C-BE32-E72D297353CC}">
              <c16:uniqueId val="{00000005-C851-8043-B61D-3A41802C16F1}"/>
            </c:ext>
          </c:extLst>
        </c:ser>
        <c:ser>
          <c:idx val="6"/>
          <c:order val="6"/>
          <c:tx>
            <c:strRef>
              <c:f>'図09_分析4_天気と吸気温度差'!$R$1</c:f>
              <c:strCache>
                <c:ptCount val="1"/>
                <c:pt idx="0">
                  <c:v>データなし</c:v>
                </c:pt>
              </c:strCache>
            </c:strRef>
          </c:tx>
          <c:spPr>
            <a:solidFill>
              <a:srgbClr val="FFFFFF"/>
            </a:solidFill>
            <a:ln w="6350" cap="rnd">
              <a:solidFill>
                <a:srgbClr val="FFFFFF"/>
              </a:solidFill>
              <a:round/>
            </a:ln>
          </c:spPr>
          <c:invertIfNegative val="0"/>
          <c:cat>
            <c:strRef>
              <c:f>'図09_分析4_天気と吸気温度差'!$B$2:$B$48</c:f>
              <c:strCache>
                <c:ptCount val="47"/>
                <c:pt idx="0">
                  <c:v>07-30</c:v>
                </c:pt>
                <c:pt idx="7">
                  <c:v>08-06</c:v>
                </c:pt>
                <c:pt idx="14">
                  <c:v>08-13</c:v>
                </c:pt>
                <c:pt idx="21">
                  <c:v>08-20</c:v>
                </c:pt>
                <c:pt idx="28">
                  <c:v>08-27</c:v>
                </c:pt>
                <c:pt idx="35">
                  <c:v>09-03</c:v>
                </c:pt>
                <c:pt idx="42">
                  <c:v>09-10</c:v>
                </c:pt>
              </c:strCache>
            </c:strRef>
          </c:cat>
          <c:val>
            <c:numRef>
              <c:f>'図09_分析4_天気と吸気温度差'!$R$2:$R$48</c:f>
              <c:numCache>
                <c:formatCode>General</c:formatCode>
                <c:ptCount val="47"/>
                <c:pt idx="46">
                  <c:v>1</c:v>
                </c:pt>
              </c:numCache>
            </c:numRef>
          </c:val>
          <c:extLst>
            <c:ext xmlns:c16="http://schemas.microsoft.com/office/drawing/2014/chart" uri="{C3380CC4-5D6E-409C-BE32-E72D297353CC}">
              <c16:uniqueId val="{00000006-C851-8043-B61D-3A41802C16F1}"/>
            </c:ext>
          </c:extLst>
        </c:ser>
        <c:dLbls>
          <c:showLegendKey val="0"/>
          <c:showVal val="0"/>
          <c:showCatName val="0"/>
          <c:showSerName val="0"/>
          <c:showPercent val="0"/>
          <c:showBubbleSize val="0"/>
        </c:dLbls>
        <c:gapWidth val="8"/>
        <c:overlap val="100"/>
        <c:axId val="10"/>
        <c:axId val="20"/>
      </c:barChart>
      <c:catAx>
        <c:axId val="10"/>
        <c:scaling>
          <c:orientation val="minMax"/>
        </c:scaling>
        <c:delete val="0"/>
        <c:axPos val="b"/>
        <c:numFmt formatCode="General" sourceLinked="1"/>
        <c:majorTickMark val="out"/>
        <c:minorTickMark val="none"/>
        <c:tickLblPos val="low"/>
        <c:spPr>
          <a:ln w="9525" cap="rnd">
            <a:solidFill>
              <a:srgbClr val="5E6B7A"/>
            </a:solidFill>
            <a:round/>
          </a:ln>
        </c:spPr>
        <c:crossAx val="20"/>
        <c:crosses val="autoZero"/>
        <c:auto val="1"/>
        <c:lblAlgn val="ctr"/>
        <c:lblOffset val="100"/>
        <c:noMultiLvlLbl val="0"/>
      </c:catAx>
      <c:valAx>
        <c:axId val="20"/>
        <c:scaling>
          <c:orientation val="minMax"/>
          <c:max val="1"/>
          <c:min val="0"/>
        </c:scaling>
        <c:delete val="1"/>
        <c:axPos val="l"/>
        <c:title>
          <c:tx>
            <c:rich>
              <a:bodyPr rot="-5400000" vert="horz"/>
              <a:lstStyle/>
              <a:p>
                <a:pPr>
                  <a:defRPr sz="900" b="0"/>
                </a:pPr>
                <a:r>
                  <a:rPr lang="ja-JP" sz="900" b="0"/>
                  <a:t>天気</a:t>
                </a:r>
              </a:p>
            </c:rich>
          </c:tx>
          <c:overlay val="0"/>
        </c:title>
        <c:numFmt formatCode="0.0" sourceLinked="0"/>
        <c:majorTickMark val="out"/>
        <c:minorTickMark val="none"/>
        <c:tickLblPos val="nextTo"/>
        <c:crossAx val="10"/>
        <c:crosses val="autoZero"/>
        <c:crossBetween val="between"/>
        <c:majorUnit val="1"/>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barChart>
        <c:barDir val="col"/>
        <c:grouping val="clustered"/>
        <c:varyColors val="0"/>
        <c:ser>
          <c:idx val="0"/>
          <c:order val="0"/>
          <c:tx>
            <c:strRef>
              <c:f>'図10_分析4_天気別'!$J$1</c:f>
              <c:strCache>
                <c:ptCount val="1"/>
                <c:pt idx="0">
                  <c:v>箱（0より下）</c:v>
                </c:pt>
              </c:strCache>
            </c:strRef>
          </c:tx>
          <c:spPr>
            <a:solidFill>
              <a:srgbClr val="01B8AA"/>
            </a:solidFill>
            <a:ln>
              <a:noFill/>
            </a:ln>
          </c:spPr>
          <c:invertIfNegative val="0"/>
          <c:cat>
            <c:strRef>
              <c:f>'図10_分析4_天気別'!$A$2:$A$4</c:f>
              <c:strCache>
                <c:ptCount val="3"/>
                <c:pt idx="0">
                  <c:v>晴れ</c:v>
                </c:pt>
                <c:pt idx="1">
                  <c:v>曇り</c:v>
                </c:pt>
                <c:pt idx="2">
                  <c:v>雨</c:v>
                </c:pt>
              </c:strCache>
            </c:strRef>
          </c:cat>
          <c:val>
            <c:numRef>
              <c:f>'図10_分析4_天気別'!$J$2:$J$4</c:f>
              <c:numCache>
                <c:formatCode>General</c:formatCode>
                <c:ptCount val="3"/>
                <c:pt idx="1">
                  <c:v>-0.39100000000000001</c:v>
                </c:pt>
                <c:pt idx="2">
                  <c:v>-0.57099999999999995</c:v>
                </c:pt>
              </c:numCache>
            </c:numRef>
          </c:val>
          <c:extLst>
            <c:ext xmlns:c16="http://schemas.microsoft.com/office/drawing/2014/chart" uri="{C3380CC4-5D6E-409C-BE32-E72D297353CC}">
              <c16:uniqueId val="{00000000-CD20-2E45-9F0C-B748732DD51A}"/>
            </c:ext>
          </c:extLst>
        </c:ser>
        <c:ser>
          <c:idx val="1"/>
          <c:order val="1"/>
          <c:tx>
            <c:strRef>
              <c:f>'図10_分析4_天気別'!$K$1</c:f>
              <c:strCache>
                <c:ptCount val="1"/>
                <c:pt idx="0">
                  <c:v>箱（0より上）</c:v>
                </c:pt>
              </c:strCache>
            </c:strRef>
          </c:tx>
          <c:spPr>
            <a:solidFill>
              <a:srgbClr val="01B8AA"/>
            </a:solidFill>
            <a:ln>
              <a:noFill/>
            </a:ln>
          </c:spPr>
          <c:invertIfNegative val="0"/>
          <c:cat>
            <c:strRef>
              <c:f>'図10_分析4_天気別'!$A$2:$A$4</c:f>
              <c:strCache>
                <c:ptCount val="3"/>
                <c:pt idx="0">
                  <c:v>晴れ</c:v>
                </c:pt>
                <c:pt idx="1">
                  <c:v>曇り</c:v>
                </c:pt>
                <c:pt idx="2">
                  <c:v>雨</c:v>
                </c:pt>
              </c:strCache>
            </c:strRef>
          </c:cat>
          <c:val>
            <c:numRef>
              <c:f>'図10_分析4_天気別'!$K$2:$K$4</c:f>
              <c:numCache>
                <c:formatCode>General</c:formatCode>
                <c:ptCount val="3"/>
                <c:pt idx="0">
                  <c:v>0.372</c:v>
                </c:pt>
              </c:numCache>
            </c:numRef>
          </c:val>
          <c:extLst>
            <c:ext xmlns:c16="http://schemas.microsoft.com/office/drawing/2014/chart" uri="{C3380CC4-5D6E-409C-BE32-E72D297353CC}">
              <c16:uniqueId val="{00000001-CD20-2E45-9F0C-B748732DD51A}"/>
            </c:ext>
          </c:extLst>
        </c:ser>
        <c:ser>
          <c:idx val="2"/>
          <c:order val="2"/>
          <c:tx>
            <c:strRef>
              <c:f>'図10_分析4_天気別'!$L$1</c:f>
              <c:strCache>
                <c:ptCount val="1"/>
                <c:pt idx="0">
                  <c:v>箱の外（白）</c:v>
                </c:pt>
              </c:strCache>
            </c:strRef>
          </c:tx>
          <c:spPr>
            <a:solidFill>
              <a:srgbClr val="FFFFFF"/>
            </a:solidFill>
            <a:ln>
              <a:noFill/>
            </a:ln>
          </c:spPr>
          <c:invertIfNegative val="0"/>
          <c:cat>
            <c:strRef>
              <c:f>'図10_分析4_天気別'!$A$2:$A$4</c:f>
              <c:strCache>
                <c:ptCount val="3"/>
                <c:pt idx="0">
                  <c:v>晴れ</c:v>
                </c:pt>
                <c:pt idx="1">
                  <c:v>曇り</c:v>
                </c:pt>
                <c:pt idx="2">
                  <c:v>雨</c:v>
                </c:pt>
              </c:strCache>
            </c:strRef>
          </c:cat>
          <c:val>
            <c:numRef>
              <c:f>'図10_分析4_天気別'!$L$2:$L$4</c:f>
              <c:numCache>
                <c:formatCode>General</c:formatCode>
                <c:ptCount val="3"/>
                <c:pt idx="0">
                  <c:v>9.2999999999999999E-2</c:v>
                </c:pt>
                <c:pt idx="1">
                  <c:v>-0.16700000000000001</c:v>
                </c:pt>
                <c:pt idx="2">
                  <c:v>-0.14000000000000001</c:v>
                </c:pt>
              </c:numCache>
            </c:numRef>
          </c:val>
          <c:extLst>
            <c:ext xmlns:c16="http://schemas.microsoft.com/office/drawing/2014/chart" uri="{C3380CC4-5D6E-409C-BE32-E72D297353CC}">
              <c16:uniqueId val="{00000002-CD20-2E45-9F0C-B748732DD51A}"/>
            </c:ext>
          </c:extLst>
        </c:ser>
        <c:dLbls>
          <c:showLegendKey val="0"/>
          <c:showVal val="0"/>
          <c:showCatName val="0"/>
          <c:showSerName val="0"/>
          <c:showPercent val="0"/>
          <c:showBubbleSize val="0"/>
        </c:dLbls>
        <c:gapWidth val="120"/>
        <c:overlap val="100"/>
        <c:axId val="10"/>
        <c:axId val="20"/>
      </c:barChart>
      <c:lineChart>
        <c:grouping val="standard"/>
        <c:varyColors val="0"/>
        <c:ser>
          <c:idx val="3"/>
          <c:order val="3"/>
          <c:tx>
            <c:strRef>
              <c:f>'図10_分析4_天気別'!$E$1</c:f>
              <c:strCache>
                <c:ptCount val="1"/>
                <c:pt idx="0">
                  <c:v>中央値</c:v>
                </c:pt>
              </c:strCache>
            </c:strRef>
          </c:tx>
          <c:spPr>
            <a:ln>
              <a:noFill/>
            </a:ln>
          </c:spPr>
          <c:marker>
            <c:symbol val="dash"/>
            <c:size val="16"/>
            <c:spPr>
              <a:solidFill>
                <a:srgbClr val="FFFFFF"/>
              </a:solidFill>
              <a:ln w="9525" cap="rnd">
                <a:solidFill>
                  <a:srgbClr val="FFFFFF"/>
                </a:solidFill>
                <a:round/>
              </a:ln>
            </c:spPr>
          </c:marker>
          <c:errBars>
            <c:errDir val="y"/>
            <c:errBarType val="both"/>
            <c:errValType val="cust"/>
            <c:noEndCap val="0"/>
            <c:plus>
              <c:numRef>
                <c:f>'図10_分析4_天気別'!$M$2:$M$4</c:f>
                <c:numCache>
                  <c:formatCode>General</c:formatCode>
                  <c:ptCount val="3"/>
                  <c:pt idx="0">
                    <c:v>0.21</c:v>
                  </c:pt>
                  <c:pt idx="1">
                    <c:v>0.38400000000000001</c:v>
                  </c:pt>
                  <c:pt idx="2">
                    <c:v>0.23300000000000001</c:v>
                  </c:pt>
                </c:numCache>
              </c:numRef>
            </c:plus>
            <c:minus>
              <c:numRef>
                <c:f>'図10_分析4_天気別'!$N$2:$N$4</c:f>
                <c:numCache>
                  <c:formatCode>General</c:formatCode>
                  <c:ptCount val="3"/>
                  <c:pt idx="0">
                    <c:v>0.51400000000000001</c:v>
                  </c:pt>
                  <c:pt idx="1">
                    <c:v>0.13800000000000001</c:v>
                  </c:pt>
                  <c:pt idx="2">
                    <c:v>0.52800000000000002</c:v>
                  </c:pt>
                </c:numCache>
              </c:numRef>
            </c:minus>
            <c:spPr>
              <a:ln w="15875" cap="rnd">
                <a:solidFill>
                  <a:srgbClr val="01B8AA"/>
                </a:solidFill>
                <a:round/>
              </a:ln>
            </c:spPr>
          </c:errBars>
          <c:cat>
            <c:strRef>
              <c:f>'図10_分析4_天気別'!$A$2:$A$4</c:f>
              <c:strCache>
                <c:ptCount val="3"/>
                <c:pt idx="0">
                  <c:v>晴れ</c:v>
                </c:pt>
                <c:pt idx="1">
                  <c:v>曇り</c:v>
                </c:pt>
                <c:pt idx="2">
                  <c:v>雨</c:v>
                </c:pt>
              </c:strCache>
            </c:strRef>
          </c:cat>
          <c:val>
            <c:numRef>
              <c:f>'図10_分析4_天気別'!$E$2:$E$4</c:f>
              <c:numCache>
                <c:formatCode>General</c:formatCode>
                <c:ptCount val="3"/>
                <c:pt idx="0">
                  <c:v>0.26500000000000001</c:v>
                </c:pt>
                <c:pt idx="1">
                  <c:v>-0.26300000000000001</c:v>
                </c:pt>
                <c:pt idx="2">
                  <c:v>-0.30599999999999999</c:v>
                </c:pt>
              </c:numCache>
            </c:numRef>
          </c:val>
          <c:smooth val="0"/>
          <c:extLst>
            <c:ext xmlns:c16="http://schemas.microsoft.com/office/drawing/2014/chart" uri="{C3380CC4-5D6E-409C-BE32-E72D297353CC}">
              <c16:uniqueId val="{00000003-CD20-2E45-9F0C-B748732DD51A}"/>
            </c:ext>
          </c:extLst>
        </c:ser>
        <c:dLbls>
          <c:showLegendKey val="0"/>
          <c:showVal val="0"/>
          <c:showCatName val="0"/>
          <c:showSerName val="0"/>
          <c:showPercent val="0"/>
          <c:showBubbleSize val="0"/>
        </c:dLbls>
        <c:marker val="1"/>
        <c:smooth val="0"/>
        <c:axId val="10"/>
        <c:axId val="20"/>
      </c:lineChart>
      <c:catAx>
        <c:axId val="10"/>
        <c:scaling>
          <c:orientation val="minMax"/>
        </c:scaling>
        <c:delete val="0"/>
        <c:axPos val="b"/>
        <c:numFmt formatCode="General" sourceLinked="1"/>
        <c:majorTickMark val="none"/>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1"/>
          <c:min val="-1"/>
        </c:scaling>
        <c:delete val="0"/>
        <c:axPos val="l"/>
        <c:title>
          <c:tx>
            <c:rich>
              <a:bodyPr rot="-5400000" vert="horz"/>
              <a:lstStyle/>
              <a:p>
                <a:pPr>
                  <a:defRPr sz="900" b="0"/>
                </a:pPr>
                <a:r>
                  <a:rPr lang="ja-JP" sz="900" b="0"/>
                  <a:t>日中平均の吸気温度差［℃］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5"/>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barChart>
        <c:barDir val="col"/>
        <c:grouping val="clustered"/>
        <c:varyColors val="0"/>
        <c:ser>
          <c:idx val="0"/>
          <c:order val="0"/>
          <c:tx>
            <c:strRef>
              <c:f>'図10_分析4_天気別'!$W$1</c:f>
              <c:strCache>
                <c:ptCount val="1"/>
                <c:pt idx="0">
                  <c:v>箱（0より下）</c:v>
                </c:pt>
              </c:strCache>
            </c:strRef>
          </c:tx>
          <c:spPr>
            <a:solidFill>
              <a:srgbClr val="118DFF"/>
            </a:solidFill>
            <a:ln>
              <a:noFill/>
            </a:ln>
          </c:spPr>
          <c:invertIfNegative val="0"/>
          <c:cat>
            <c:strRef>
              <c:f>'図10_分析4_天気別'!$A$2:$A$4</c:f>
              <c:strCache>
                <c:ptCount val="3"/>
                <c:pt idx="0">
                  <c:v>晴れ</c:v>
                </c:pt>
                <c:pt idx="1">
                  <c:v>曇り</c:v>
                </c:pt>
                <c:pt idx="2">
                  <c:v>雨</c:v>
                </c:pt>
              </c:strCache>
            </c:strRef>
          </c:cat>
          <c:val>
            <c:numRef>
              <c:f>'図10_分析4_天気別'!$W$2:$W$4</c:f>
              <c:numCache>
                <c:formatCode>General</c:formatCode>
                <c:ptCount val="3"/>
                <c:pt idx="0">
                  <c:v>-0.182</c:v>
                </c:pt>
                <c:pt idx="1">
                  <c:v>-0.39100000000000001</c:v>
                </c:pt>
                <c:pt idx="2">
                  <c:v>-0.625</c:v>
                </c:pt>
              </c:numCache>
            </c:numRef>
          </c:val>
          <c:extLst>
            <c:ext xmlns:c16="http://schemas.microsoft.com/office/drawing/2014/chart" uri="{C3380CC4-5D6E-409C-BE32-E72D297353CC}">
              <c16:uniqueId val="{00000000-800C-BB45-95E7-1110D2D07D6C}"/>
            </c:ext>
          </c:extLst>
        </c:ser>
        <c:ser>
          <c:idx val="1"/>
          <c:order val="1"/>
          <c:tx>
            <c:strRef>
              <c:f>'図10_分析4_天気別'!$X$1</c:f>
              <c:strCache>
                <c:ptCount val="1"/>
                <c:pt idx="0">
                  <c:v>箱（0より上）</c:v>
                </c:pt>
              </c:strCache>
            </c:strRef>
          </c:tx>
          <c:spPr>
            <a:solidFill>
              <a:srgbClr val="118DFF"/>
            </a:solidFill>
            <a:ln>
              <a:noFill/>
            </a:ln>
          </c:spPr>
          <c:invertIfNegative val="0"/>
          <c:cat>
            <c:strRef>
              <c:f>'図10_分析4_天気別'!$A$2:$A$4</c:f>
              <c:strCache>
                <c:ptCount val="3"/>
                <c:pt idx="0">
                  <c:v>晴れ</c:v>
                </c:pt>
                <c:pt idx="1">
                  <c:v>曇り</c:v>
                </c:pt>
                <c:pt idx="2">
                  <c:v>雨</c:v>
                </c:pt>
              </c:strCache>
            </c:strRef>
          </c:cat>
          <c:val>
            <c:numRef>
              <c:f>'図10_分析4_天気別'!$X$2:$X$4</c:f>
              <c:numCache>
                <c:formatCode>General</c:formatCode>
                <c:ptCount val="3"/>
              </c:numCache>
            </c:numRef>
          </c:val>
          <c:extLst>
            <c:ext xmlns:c16="http://schemas.microsoft.com/office/drawing/2014/chart" uri="{C3380CC4-5D6E-409C-BE32-E72D297353CC}">
              <c16:uniqueId val="{00000001-800C-BB45-95E7-1110D2D07D6C}"/>
            </c:ext>
          </c:extLst>
        </c:ser>
        <c:ser>
          <c:idx val="2"/>
          <c:order val="2"/>
          <c:tx>
            <c:strRef>
              <c:f>'図10_分析4_天気別'!$Y$1</c:f>
              <c:strCache>
                <c:ptCount val="1"/>
                <c:pt idx="0">
                  <c:v>箱の外（白）</c:v>
                </c:pt>
              </c:strCache>
            </c:strRef>
          </c:tx>
          <c:spPr>
            <a:solidFill>
              <a:srgbClr val="FFFFFF"/>
            </a:solidFill>
            <a:ln>
              <a:noFill/>
            </a:ln>
          </c:spPr>
          <c:invertIfNegative val="0"/>
          <c:cat>
            <c:strRef>
              <c:f>'図10_分析4_天気別'!$A$2:$A$4</c:f>
              <c:strCache>
                <c:ptCount val="3"/>
                <c:pt idx="0">
                  <c:v>晴れ</c:v>
                </c:pt>
                <c:pt idx="1">
                  <c:v>曇り</c:v>
                </c:pt>
                <c:pt idx="2">
                  <c:v>雨</c:v>
                </c:pt>
              </c:strCache>
            </c:strRef>
          </c:cat>
          <c:val>
            <c:numRef>
              <c:f>'図10_分析4_天気別'!$Y$2:$Y$4</c:f>
              <c:numCache>
                <c:formatCode>General</c:formatCode>
                <c:ptCount val="3"/>
                <c:pt idx="0">
                  <c:v>-2.3E-2</c:v>
                </c:pt>
                <c:pt idx="1">
                  <c:v>-0.17399999999999999</c:v>
                </c:pt>
                <c:pt idx="2">
                  <c:v>-0.24</c:v>
                </c:pt>
              </c:numCache>
            </c:numRef>
          </c:val>
          <c:extLst>
            <c:ext xmlns:c16="http://schemas.microsoft.com/office/drawing/2014/chart" uri="{C3380CC4-5D6E-409C-BE32-E72D297353CC}">
              <c16:uniqueId val="{00000002-800C-BB45-95E7-1110D2D07D6C}"/>
            </c:ext>
          </c:extLst>
        </c:ser>
        <c:dLbls>
          <c:showLegendKey val="0"/>
          <c:showVal val="0"/>
          <c:showCatName val="0"/>
          <c:showSerName val="0"/>
          <c:showPercent val="0"/>
          <c:showBubbleSize val="0"/>
        </c:dLbls>
        <c:gapWidth val="120"/>
        <c:overlap val="100"/>
        <c:axId val="10"/>
        <c:axId val="20"/>
      </c:barChart>
      <c:lineChart>
        <c:grouping val="standard"/>
        <c:varyColors val="0"/>
        <c:ser>
          <c:idx val="3"/>
          <c:order val="3"/>
          <c:tx>
            <c:strRef>
              <c:f>'図10_分析4_天気別'!$R$1</c:f>
              <c:strCache>
                <c:ptCount val="1"/>
                <c:pt idx="0">
                  <c:v>中央値</c:v>
                </c:pt>
              </c:strCache>
            </c:strRef>
          </c:tx>
          <c:spPr>
            <a:ln>
              <a:noFill/>
            </a:ln>
          </c:spPr>
          <c:marker>
            <c:symbol val="dash"/>
            <c:size val="16"/>
            <c:spPr>
              <a:solidFill>
                <a:srgbClr val="FFFFFF"/>
              </a:solidFill>
              <a:ln w="9525" cap="rnd">
                <a:solidFill>
                  <a:srgbClr val="FFFFFF"/>
                </a:solidFill>
                <a:round/>
              </a:ln>
            </c:spPr>
          </c:marker>
          <c:errBars>
            <c:errDir val="y"/>
            <c:errBarType val="both"/>
            <c:errValType val="cust"/>
            <c:noEndCap val="0"/>
            <c:plus>
              <c:numRef>
                <c:f>'図10_分析4_天気別'!$Z$2:$Z$4</c:f>
                <c:numCache>
                  <c:formatCode>General</c:formatCode>
                  <c:ptCount val="3"/>
                  <c:pt idx="0">
                    <c:v>0.21299999999999999</c:v>
                  </c:pt>
                  <c:pt idx="1">
                    <c:v>0.23599999999999999</c:v>
                  </c:pt>
                  <c:pt idx="2">
                    <c:v>0.20799999999999999</c:v>
                  </c:pt>
                </c:numCache>
              </c:numRef>
            </c:plus>
            <c:minus>
              <c:numRef>
                <c:f>'図10_分析4_天気別'!$AA$2:$AA$4</c:f>
                <c:numCache>
                  <c:formatCode>General</c:formatCode>
                  <c:ptCount val="3"/>
                  <c:pt idx="0">
                    <c:v>0.23400000000000001</c:v>
                  </c:pt>
                  <c:pt idx="1">
                    <c:v>0.4</c:v>
                  </c:pt>
                  <c:pt idx="2">
                    <c:v>0.52700000000000002</c:v>
                  </c:pt>
                </c:numCache>
              </c:numRef>
            </c:minus>
            <c:spPr>
              <a:ln w="15875" cap="rnd">
                <a:solidFill>
                  <a:srgbClr val="118DFF"/>
                </a:solidFill>
                <a:round/>
              </a:ln>
            </c:spPr>
          </c:errBars>
          <c:cat>
            <c:strRef>
              <c:f>'図10_分析4_天気別'!$A$2:$A$4</c:f>
              <c:strCache>
                <c:ptCount val="3"/>
                <c:pt idx="0">
                  <c:v>晴れ</c:v>
                </c:pt>
                <c:pt idx="1">
                  <c:v>曇り</c:v>
                </c:pt>
                <c:pt idx="2">
                  <c:v>雨</c:v>
                </c:pt>
              </c:strCache>
            </c:strRef>
          </c:cat>
          <c:val>
            <c:numRef>
              <c:f>'図10_分析4_天気別'!$R$2:$R$4</c:f>
              <c:numCache>
                <c:formatCode>General</c:formatCode>
                <c:ptCount val="3"/>
                <c:pt idx="0">
                  <c:v>-0.10299999999999999</c:v>
                </c:pt>
                <c:pt idx="1">
                  <c:v>-0.28599999999999998</c:v>
                </c:pt>
                <c:pt idx="2">
                  <c:v>-0.4</c:v>
                </c:pt>
              </c:numCache>
            </c:numRef>
          </c:val>
          <c:smooth val="0"/>
          <c:extLst>
            <c:ext xmlns:c16="http://schemas.microsoft.com/office/drawing/2014/chart" uri="{C3380CC4-5D6E-409C-BE32-E72D297353CC}">
              <c16:uniqueId val="{00000003-800C-BB45-95E7-1110D2D07D6C}"/>
            </c:ext>
          </c:extLst>
        </c:ser>
        <c:dLbls>
          <c:showLegendKey val="0"/>
          <c:showVal val="0"/>
          <c:showCatName val="0"/>
          <c:showSerName val="0"/>
          <c:showPercent val="0"/>
          <c:showBubbleSize val="0"/>
        </c:dLbls>
        <c:marker val="1"/>
        <c:smooth val="0"/>
        <c:axId val="10"/>
        <c:axId val="20"/>
      </c:lineChart>
      <c:catAx>
        <c:axId val="10"/>
        <c:scaling>
          <c:orientation val="minMax"/>
        </c:scaling>
        <c:delete val="0"/>
        <c:axPos val="b"/>
        <c:numFmt formatCode="General" sourceLinked="1"/>
        <c:majorTickMark val="none"/>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1"/>
          <c:min val="-1"/>
        </c:scaling>
        <c:delete val="0"/>
        <c:axPos val="l"/>
        <c:title>
          <c:tx>
            <c:rich>
              <a:bodyPr rot="-5400000" vert="horz"/>
              <a:lstStyle/>
              <a:p>
                <a:pPr>
                  <a:defRPr sz="900" b="0"/>
                </a:pPr>
                <a:r>
                  <a:rPr lang="ja-JP" sz="900" b="0"/>
                  <a:t>日中平均の吸気温度差［℃］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5"/>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barChart>
        <c:barDir val="col"/>
        <c:grouping val="clustered"/>
        <c:varyColors val="0"/>
        <c:ser>
          <c:idx val="0"/>
          <c:order val="0"/>
          <c:tx>
            <c:strRef>
              <c:f>'図11_分析4_気温区分'!$J$1</c:f>
              <c:strCache>
                <c:ptCount val="1"/>
                <c:pt idx="0">
                  <c:v>箱（0より下）</c:v>
                </c:pt>
              </c:strCache>
            </c:strRef>
          </c:tx>
          <c:spPr>
            <a:solidFill>
              <a:srgbClr val="01B8AA"/>
            </a:solidFill>
            <a:ln>
              <a:noFill/>
            </a:ln>
          </c:spPr>
          <c:invertIfNegative val="0"/>
          <c:cat>
            <c:strRef>
              <c:f>'図11_分析4_気温区分'!$A$2:$A$4</c:f>
              <c:strCache>
                <c:ptCount val="3"/>
                <c:pt idx="0">
                  <c:v>28.0℃未満</c:v>
                </c:pt>
                <c:pt idx="1">
                  <c:v>28.0〜31.0℃</c:v>
                </c:pt>
                <c:pt idx="2">
                  <c:v>31.0℃以上</c:v>
                </c:pt>
              </c:strCache>
            </c:strRef>
          </c:cat>
          <c:val>
            <c:numRef>
              <c:f>'図11_分析4_気温区分'!$J$2:$J$4</c:f>
              <c:numCache>
                <c:formatCode>General</c:formatCode>
                <c:ptCount val="3"/>
                <c:pt idx="0">
                  <c:v>-0.40100000000000002</c:v>
                </c:pt>
                <c:pt idx="1">
                  <c:v>-0.28499999999999998</c:v>
                </c:pt>
              </c:numCache>
            </c:numRef>
          </c:val>
          <c:extLst>
            <c:ext xmlns:c16="http://schemas.microsoft.com/office/drawing/2014/chart" uri="{C3380CC4-5D6E-409C-BE32-E72D297353CC}">
              <c16:uniqueId val="{00000000-ADA3-E24C-8AF9-97BFA520333E}"/>
            </c:ext>
          </c:extLst>
        </c:ser>
        <c:ser>
          <c:idx val="1"/>
          <c:order val="1"/>
          <c:tx>
            <c:strRef>
              <c:f>'図11_分析4_気温区分'!$K$1</c:f>
              <c:strCache>
                <c:ptCount val="1"/>
                <c:pt idx="0">
                  <c:v>箱（0より上）</c:v>
                </c:pt>
              </c:strCache>
            </c:strRef>
          </c:tx>
          <c:spPr>
            <a:solidFill>
              <a:srgbClr val="01B8AA"/>
            </a:solidFill>
            <a:ln>
              <a:noFill/>
            </a:ln>
          </c:spPr>
          <c:invertIfNegative val="0"/>
          <c:cat>
            <c:strRef>
              <c:f>'図11_分析4_気温区分'!$A$2:$A$4</c:f>
              <c:strCache>
                <c:ptCount val="3"/>
                <c:pt idx="0">
                  <c:v>28.0℃未満</c:v>
                </c:pt>
                <c:pt idx="1">
                  <c:v>28.0〜31.0℃</c:v>
                </c:pt>
                <c:pt idx="2">
                  <c:v>31.0℃以上</c:v>
                </c:pt>
              </c:strCache>
            </c:strRef>
          </c:cat>
          <c:val>
            <c:numRef>
              <c:f>'図11_分析4_気温区分'!$K$2:$K$4</c:f>
              <c:numCache>
                <c:formatCode>General</c:formatCode>
                <c:ptCount val="3"/>
                <c:pt idx="2">
                  <c:v>0.38800000000000001</c:v>
                </c:pt>
              </c:numCache>
            </c:numRef>
          </c:val>
          <c:extLst>
            <c:ext xmlns:c16="http://schemas.microsoft.com/office/drawing/2014/chart" uri="{C3380CC4-5D6E-409C-BE32-E72D297353CC}">
              <c16:uniqueId val="{00000001-ADA3-E24C-8AF9-97BFA520333E}"/>
            </c:ext>
          </c:extLst>
        </c:ser>
        <c:ser>
          <c:idx val="2"/>
          <c:order val="2"/>
          <c:tx>
            <c:strRef>
              <c:f>'図11_分析4_気温区分'!$L$1</c:f>
              <c:strCache>
                <c:ptCount val="1"/>
                <c:pt idx="0">
                  <c:v>箱の外（白）</c:v>
                </c:pt>
              </c:strCache>
            </c:strRef>
          </c:tx>
          <c:spPr>
            <a:solidFill>
              <a:srgbClr val="FFFFFF"/>
            </a:solidFill>
            <a:ln>
              <a:noFill/>
            </a:ln>
          </c:spPr>
          <c:invertIfNegative val="0"/>
          <c:cat>
            <c:strRef>
              <c:f>'図11_分析4_気温区分'!$A$2:$A$4</c:f>
              <c:strCache>
                <c:ptCount val="3"/>
                <c:pt idx="0">
                  <c:v>28.0℃未満</c:v>
                </c:pt>
                <c:pt idx="1">
                  <c:v>28.0〜31.0℃</c:v>
                </c:pt>
                <c:pt idx="2">
                  <c:v>31.0℃以上</c:v>
                </c:pt>
              </c:strCache>
            </c:strRef>
          </c:cat>
          <c:val>
            <c:numRef>
              <c:f>'図11_分析4_気温区分'!$L$2:$L$4</c:f>
              <c:numCache>
                <c:formatCode>General</c:formatCode>
                <c:ptCount val="3"/>
                <c:pt idx="0">
                  <c:v>-0.14599999999999999</c:v>
                </c:pt>
                <c:pt idx="1">
                  <c:v>-1.9E-2</c:v>
                </c:pt>
                <c:pt idx="2">
                  <c:v>0.247</c:v>
                </c:pt>
              </c:numCache>
            </c:numRef>
          </c:val>
          <c:extLst>
            <c:ext xmlns:c16="http://schemas.microsoft.com/office/drawing/2014/chart" uri="{C3380CC4-5D6E-409C-BE32-E72D297353CC}">
              <c16:uniqueId val="{00000002-ADA3-E24C-8AF9-97BFA520333E}"/>
            </c:ext>
          </c:extLst>
        </c:ser>
        <c:dLbls>
          <c:showLegendKey val="0"/>
          <c:showVal val="0"/>
          <c:showCatName val="0"/>
          <c:showSerName val="0"/>
          <c:showPercent val="0"/>
          <c:showBubbleSize val="0"/>
        </c:dLbls>
        <c:gapWidth val="120"/>
        <c:overlap val="100"/>
        <c:axId val="10"/>
        <c:axId val="20"/>
      </c:barChart>
      <c:lineChart>
        <c:grouping val="standard"/>
        <c:varyColors val="0"/>
        <c:ser>
          <c:idx val="3"/>
          <c:order val="3"/>
          <c:tx>
            <c:strRef>
              <c:f>'図11_分析4_気温区分'!$E$1</c:f>
              <c:strCache>
                <c:ptCount val="1"/>
                <c:pt idx="0">
                  <c:v>中央値</c:v>
                </c:pt>
              </c:strCache>
            </c:strRef>
          </c:tx>
          <c:spPr>
            <a:ln>
              <a:noFill/>
            </a:ln>
          </c:spPr>
          <c:marker>
            <c:symbol val="dash"/>
            <c:size val="16"/>
            <c:spPr>
              <a:solidFill>
                <a:srgbClr val="FFFFFF"/>
              </a:solidFill>
              <a:ln w="9525" cap="rnd">
                <a:solidFill>
                  <a:srgbClr val="FFFFFF"/>
                </a:solidFill>
                <a:round/>
              </a:ln>
            </c:spPr>
          </c:marker>
          <c:errBars>
            <c:errDir val="y"/>
            <c:errBarType val="both"/>
            <c:errValType val="cust"/>
            <c:noEndCap val="0"/>
            <c:plus>
              <c:numRef>
                <c:f>'図11_分析4_気温区分'!$M$2:$M$4</c:f>
                <c:numCache>
                  <c:formatCode>General</c:formatCode>
                  <c:ptCount val="3"/>
                  <c:pt idx="0">
                    <c:v>0.45</c:v>
                  </c:pt>
                  <c:pt idx="1">
                    <c:v>0.504</c:v>
                  </c:pt>
                  <c:pt idx="2">
                    <c:v>0.16400000000000001</c:v>
                  </c:pt>
                </c:numCache>
              </c:numRef>
            </c:plus>
            <c:minus>
              <c:numRef>
                <c:f>'図11_分析4_気温区分'!$N$2:$N$4</c:f>
                <c:numCache>
                  <c:formatCode>General</c:formatCode>
                  <c:ptCount val="3"/>
                  <c:pt idx="0">
                    <c:v>0.42</c:v>
                  </c:pt>
                  <c:pt idx="1">
                    <c:v>0.498</c:v>
                  </c:pt>
                  <c:pt idx="2">
                    <c:v>0.218</c:v>
                  </c:pt>
                </c:numCache>
              </c:numRef>
            </c:minus>
            <c:spPr>
              <a:ln w="15875" cap="rnd">
                <a:solidFill>
                  <a:srgbClr val="01B8AA"/>
                </a:solidFill>
                <a:round/>
              </a:ln>
            </c:spPr>
          </c:errBars>
          <c:cat>
            <c:strRef>
              <c:f>'図11_分析4_気温区分'!$A$2:$A$4</c:f>
              <c:strCache>
                <c:ptCount val="3"/>
                <c:pt idx="0">
                  <c:v>28.0℃未満</c:v>
                </c:pt>
                <c:pt idx="1">
                  <c:v>28.0〜31.0℃</c:v>
                </c:pt>
                <c:pt idx="2">
                  <c:v>31.0℃以上</c:v>
                </c:pt>
              </c:strCache>
            </c:strRef>
          </c:cat>
          <c:val>
            <c:numRef>
              <c:f>'図11_分析4_気温区分'!$E$2:$E$4</c:f>
              <c:numCache>
                <c:formatCode>General</c:formatCode>
                <c:ptCount val="3"/>
                <c:pt idx="0">
                  <c:v>-0.32900000000000001</c:v>
                </c:pt>
                <c:pt idx="1">
                  <c:v>-0.125</c:v>
                </c:pt>
                <c:pt idx="2">
                  <c:v>0.311</c:v>
                </c:pt>
              </c:numCache>
            </c:numRef>
          </c:val>
          <c:smooth val="0"/>
          <c:extLst>
            <c:ext xmlns:c16="http://schemas.microsoft.com/office/drawing/2014/chart" uri="{C3380CC4-5D6E-409C-BE32-E72D297353CC}">
              <c16:uniqueId val="{00000003-ADA3-E24C-8AF9-97BFA520333E}"/>
            </c:ext>
          </c:extLst>
        </c:ser>
        <c:dLbls>
          <c:showLegendKey val="0"/>
          <c:showVal val="0"/>
          <c:showCatName val="0"/>
          <c:showSerName val="0"/>
          <c:showPercent val="0"/>
          <c:showBubbleSize val="0"/>
        </c:dLbls>
        <c:marker val="1"/>
        <c:smooth val="0"/>
        <c:axId val="10"/>
        <c:axId val="20"/>
      </c:lineChart>
      <c:catAx>
        <c:axId val="10"/>
        <c:scaling>
          <c:orientation val="minMax"/>
        </c:scaling>
        <c:delete val="0"/>
        <c:axPos val="b"/>
        <c:numFmt formatCode="General" sourceLinked="1"/>
        <c:majorTickMark val="none"/>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1"/>
          <c:min val="-1"/>
        </c:scaling>
        <c:delete val="0"/>
        <c:axPos val="l"/>
        <c:title>
          <c:tx>
            <c:rich>
              <a:bodyPr rot="-5400000" vert="horz"/>
              <a:lstStyle/>
              <a:p>
                <a:pPr>
                  <a:defRPr sz="900" b="0"/>
                </a:pPr>
                <a:r>
                  <a:rPr lang="ja-JP" sz="900" b="0"/>
                  <a:t>日中平均の吸気温度差［℃］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5"/>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barChart>
        <c:barDir val="col"/>
        <c:grouping val="clustered"/>
        <c:varyColors val="0"/>
        <c:ser>
          <c:idx val="0"/>
          <c:order val="0"/>
          <c:tx>
            <c:strRef>
              <c:f>'図11_分析4_気温区分'!$W$1</c:f>
              <c:strCache>
                <c:ptCount val="1"/>
                <c:pt idx="0">
                  <c:v>箱（0より下）</c:v>
                </c:pt>
              </c:strCache>
            </c:strRef>
          </c:tx>
          <c:spPr>
            <a:solidFill>
              <a:srgbClr val="118DFF"/>
            </a:solidFill>
            <a:ln>
              <a:noFill/>
            </a:ln>
          </c:spPr>
          <c:invertIfNegative val="0"/>
          <c:cat>
            <c:strRef>
              <c:f>'図11_分析4_気温区分'!$A$2:$A$4</c:f>
              <c:strCache>
                <c:ptCount val="3"/>
                <c:pt idx="0">
                  <c:v>28.0℃未満</c:v>
                </c:pt>
                <c:pt idx="1">
                  <c:v>28.0〜31.0℃</c:v>
                </c:pt>
                <c:pt idx="2">
                  <c:v>31.0℃以上</c:v>
                </c:pt>
              </c:strCache>
            </c:strRef>
          </c:cat>
          <c:val>
            <c:numRef>
              <c:f>'図11_分析4_気温区分'!$W$2:$W$4</c:f>
              <c:numCache>
                <c:formatCode>General</c:formatCode>
                <c:ptCount val="3"/>
                <c:pt idx="0">
                  <c:v>-0.64500000000000002</c:v>
                </c:pt>
                <c:pt idx="1">
                  <c:v>-0.36199999999999999</c:v>
                </c:pt>
                <c:pt idx="2">
                  <c:v>-0.182</c:v>
                </c:pt>
              </c:numCache>
            </c:numRef>
          </c:val>
          <c:extLst>
            <c:ext xmlns:c16="http://schemas.microsoft.com/office/drawing/2014/chart" uri="{C3380CC4-5D6E-409C-BE32-E72D297353CC}">
              <c16:uniqueId val="{00000000-0B6B-C34C-8B62-D411D2B12863}"/>
            </c:ext>
          </c:extLst>
        </c:ser>
        <c:ser>
          <c:idx val="1"/>
          <c:order val="1"/>
          <c:tx>
            <c:strRef>
              <c:f>'図11_分析4_気温区分'!$X$1</c:f>
              <c:strCache>
                <c:ptCount val="1"/>
                <c:pt idx="0">
                  <c:v>箱（0より上）</c:v>
                </c:pt>
              </c:strCache>
            </c:strRef>
          </c:tx>
          <c:spPr>
            <a:solidFill>
              <a:srgbClr val="118DFF"/>
            </a:solidFill>
            <a:ln>
              <a:noFill/>
            </a:ln>
          </c:spPr>
          <c:invertIfNegative val="0"/>
          <c:cat>
            <c:strRef>
              <c:f>'図11_分析4_気温区分'!$A$2:$A$4</c:f>
              <c:strCache>
                <c:ptCount val="3"/>
                <c:pt idx="0">
                  <c:v>28.0℃未満</c:v>
                </c:pt>
                <c:pt idx="1">
                  <c:v>28.0〜31.0℃</c:v>
                </c:pt>
                <c:pt idx="2">
                  <c:v>31.0℃以上</c:v>
                </c:pt>
              </c:strCache>
            </c:strRef>
          </c:cat>
          <c:val>
            <c:numRef>
              <c:f>'図11_分析4_気温区分'!$X$2:$X$4</c:f>
              <c:numCache>
                <c:formatCode>General</c:formatCode>
                <c:ptCount val="3"/>
                <c:pt idx="2">
                  <c:v>3.3000000000000002E-2</c:v>
                </c:pt>
              </c:numCache>
            </c:numRef>
          </c:val>
          <c:extLst>
            <c:ext xmlns:c16="http://schemas.microsoft.com/office/drawing/2014/chart" uri="{C3380CC4-5D6E-409C-BE32-E72D297353CC}">
              <c16:uniqueId val="{00000001-0B6B-C34C-8B62-D411D2B12863}"/>
            </c:ext>
          </c:extLst>
        </c:ser>
        <c:ser>
          <c:idx val="2"/>
          <c:order val="2"/>
          <c:tx>
            <c:strRef>
              <c:f>'図11_分析4_気温区分'!$Y$1</c:f>
              <c:strCache>
                <c:ptCount val="1"/>
                <c:pt idx="0">
                  <c:v>箱の外（白）</c:v>
                </c:pt>
              </c:strCache>
            </c:strRef>
          </c:tx>
          <c:spPr>
            <a:solidFill>
              <a:srgbClr val="FFFFFF"/>
            </a:solidFill>
            <a:ln>
              <a:noFill/>
            </a:ln>
          </c:spPr>
          <c:invertIfNegative val="0"/>
          <c:cat>
            <c:strRef>
              <c:f>'図11_分析4_気温区分'!$A$2:$A$4</c:f>
              <c:strCache>
                <c:ptCount val="3"/>
                <c:pt idx="0">
                  <c:v>28.0℃未満</c:v>
                </c:pt>
                <c:pt idx="1">
                  <c:v>28.0〜31.0℃</c:v>
                </c:pt>
                <c:pt idx="2">
                  <c:v>31.0℃以上</c:v>
                </c:pt>
              </c:strCache>
            </c:strRef>
          </c:cat>
          <c:val>
            <c:numRef>
              <c:f>'図11_分析4_気温区分'!$Y$2:$Y$4</c:f>
              <c:numCache>
                <c:formatCode>General</c:formatCode>
                <c:ptCount val="3"/>
                <c:pt idx="0">
                  <c:v>-0.192</c:v>
                </c:pt>
                <c:pt idx="1">
                  <c:v>-0.157</c:v>
                </c:pt>
              </c:numCache>
            </c:numRef>
          </c:val>
          <c:extLst>
            <c:ext xmlns:c16="http://schemas.microsoft.com/office/drawing/2014/chart" uri="{C3380CC4-5D6E-409C-BE32-E72D297353CC}">
              <c16:uniqueId val="{00000002-0B6B-C34C-8B62-D411D2B12863}"/>
            </c:ext>
          </c:extLst>
        </c:ser>
        <c:dLbls>
          <c:showLegendKey val="0"/>
          <c:showVal val="0"/>
          <c:showCatName val="0"/>
          <c:showSerName val="0"/>
          <c:showPercent val="0"/>
          <c:showBubbleSize val="0"/>
        </c:dLbls>
        <c:gapWidth val="120"/>
        <c:overlap val="100"/>
        <c:axId val="10"/>
        <c:axId val="20"/>
      </c:barChart>
      <c:lineChart>
        <c:grouping val="standard"/>
        <c:varyColors val="0"/>
        <c:ser>
          <c:idx val="3"/>
          <c:order val="3"/>
          <c:tx>
            <c:strRef>
              <c:f>'図11_分析4_気温区分'!$R$1</c:f>
              <c:strCache>
                <c:ptCount val="1"/>
                <c:pt idx="0">
                  <c:v>中央値</c:v>
                </c:pt>
              </c:strCache>
            </c:strRef>
          </c:tx>
          <c:spPr>
            <a:ln>
              <a:noFill/>
            </a:ln>
          </c:spPr>
          <c:marker>
            <c:symbol val="dash"/>
            <c:size val="16"/>
            <c:spPr>
              <a:solidFill>
                <a:srgbClr val="FFFFFF"/>
              </a:solidFill>
              <a:ln w="9525" cap="rnd">
                <a:solidFill>
                  <a:srgbClr val="FFFFFF"/>
                </a:solidFill>
                <a:round/>
              </a:ln>
            </c:spPr>
          </c:marker>
          <c:errBars>
            <c:errDir val="y"/>
            <c:errBarType val="both"/>
            <c:errValType val="cust"/>
            <c:noEndCap val="0"/>
            <c:plus>
              <c:numRef>
                <c:f>'図11_分析4_気温区分'!$Z$2:$Z$4</c:f>
                <c:numCache>
                  <c:formatCode>General</c:formatCode>
                  <c:ptCount val="3"/>
                  <c:pt idx="0">
                    <c:v>0.35699999999999998</c:v>
                  </c:pt>
                  <c:pt idx="1">
                    <c:v>0.16700000000000001</c:v>
                  </c:pt>
                  <c:pt idx="2">
                    <c:v>0.184</c:v>
                  </c:pt>
                </c:numCache>
              </c:numRef>
            </c:plus>
            <c:minus>
              <c:numRef>
                <c:f>'図11_分析4_気温区分'!$AA$2:$AA$4</c:f>
                <c:numCache>
                  <c:formatCode>General</c:formatCode>
                  <c:ptCount val="3"/>
                  <c:pt idx="0">
                    <c:v>0.51900000000000002</c:v>
                  </c:pt>
                  <c:pt idx="1">
                    <c:v>0.378</c:v>
                  </c:pt>
                  <c:pt idx="2">
                    <c:v>0.26300000000000001</c:v>
                  </c:pt>
                </c:numCache>
              </c:numRef>
            </c:minus>
            <c:spPr>
              <a:ln w="15875" cap="rnd">
                <a:solidFill>
                  <a:srgbClr val="118DFF"/>
                </a:solidFill>
                <a:round/>
              </a:ln>
            </c:spPr>
          </c:errBars>
          <c:cat>
            <c:strRef>
              <c:f>'図11_分析4_気温区分'!$A$2:$A$4</c:f>
              <c:strCache>
                <c:ptCount val="3"/>
                <c:pt idx="0">
                  <c:v>28.0℃未満</c:v>
                </c:pt>
                <c:pt idx="1">
                  <c:v>28.0〜31.0℃</c:v>
                </c:pt>
                <c:pt idx="2">
                  <c:v>31.0℃以上</c:v>
                </c:pt>
              </c:strCache>
            </c:strRef>
          </c:cat>
          <c:val>
            <c:numRef>
              <c:f>'図11_分析4_気温区分'!$R$2:$R$4</c:f>
              <c:numCache>
                <c:formatCode>General</c:formatCode>
                <c:ptCount val="3"/>
                <c:pt idx="0">
                  <c:v>-0.40799999999999997</c:v>
                </c:pt>
                <c:pt idx="1">
                  <c:v>-0.24</c:v>
                </c:pt>
                <c:pt idx="2">
                  <c:v>-7.2999999999999995E-2</c:v>
                </c:pt>
              </c:numCache>
            </c:numRef>
          </c:val>
          <c:smooth val="0"/>
          <c:extLst>
            <c:ext xmlns:c16="http://schemas.microsoft.com/office/drawing/2014/chart" uri="{C3380CC4-5D6E-409C-BE32-E72D297353CC}">
              <c16:uniqueId val="{00000003-0B6B-C34C-8B62-D411D2B12863}"/>
            </c:ext>
          </c:extLst>
        </c:ser>
        <c:dLbls>
          <c:showLegendKey val="0"/>
          <c:showVal val="0"/>
          <c:showCatName val="0"/>
          <c:showSerName val="0"/>
          <c:showPercent val="0"/>
          <c:showBubbleSize val="0"/>
        </c:dLbls>
        <c:marker val="1"/>
        <c:smooth val="0"/>
        <c:axId val="10"/>
        <c:axId val="20"/>
      </c:lineChart>
      <c:catAx>
        <c:axId val="10"/>
        <c:scaling>
          <c:orientation val="minMax"/>
        </c:scaling>
        <c:delete val="0"/>
        <c:axPos val="b"/>
        <c:numFmt formatCode="General" sourceLinked="1"/>
        <c:majorTickMark val="none"/>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1"/>
          <c:min val="-1"/>
        </c:scaling>
        <c:delete val="0"/>
        <c:axPos val="l"/>
        <c:title>
          <c:tx>
            <c:rich>
              <a:bodyPr rot="-5400000" vert="horz"/>
              <a:lstStyle/>
              <a:p>
                <a:pPr>
                  <a:defRPr sz="900" b="0"/>
                </a:pPr>
                <a:r>
                  <a:rPr lang="ja-JP" sz="900" b="0"/>
                  <a:t>日中平均の吸気温度差［℃］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5"/>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barChart>
        <c:barDir val="col"/>
        <c:grouping val="clustered"/>
        <c:varyColors val="0"/>
        <c:ser>
          <c:idx val="0"/>
          <c:order val="0"/>
          <c:tx>
            <c:strRef>
              <c:f>'図12_分析4_回帰'!$B$1</c:f>
              <c:strCache>
                <c:ptCount val="1"/>
                <c:pt idx="0">
                  <c:v>列8</c:v>
                </c:pt>
              </c:strCache>
            </c:strRef>
          </c:tx>
          <c:spPr>
            <a:solidFill>
              <a:srgbClr val="01B8AA"/>
            </a:solidFill>
            <a:ln w="6350" cap="rnd">
              <a:solidFill>
                <a:srgbClr val="01B8AA"/>
              </a:solidFill>
              <a:round/>
            </a:ln>
          </c:spPr>
          <c:invertIfNegative val="0"/>
          <c:dLbls>
            <c:numFmt formatCode="0.00" sourceLinked="0"/>
            <c:spPr>
              <a:noFill/>
              <a:ln>
                <a:noFill/>
              </a:ln>
            </c:spPr>
            <c:txPr>
              <a:bodyPr/>
              <a:lstStyle/>
              <a:p>
                <a:pPr>
                  <a:defRPr sz="800">
                    <a:solidFill>
                      <a:srgbClr val="172033"/>
                    </a:solidFill>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'図12_分析4_回帰'!$A$2:$A$5</c:f>
              <c:strCache>
                <c:ptCount val="4"/>
                <c:pt idx="0">
                  <c:v>気温のみ</c:v>
                </c:pt>
                <c:pt idx="1">
                  <c:v>気温＋雨（採用）</c:v>
                </c:pt>
                <c:pt idx="2">
                  <c:v>気温＋雨＋照度</c:v>
                </c:pt>
                <c:pt idx="3">
                  <c:v>4項目すべて</c:v>
                </c:pt>
              </c:strCache>
            </c:strRef>
          </c:cat>
          <c:val>
            <c:numRef>
              <c:f>'図12_分析4_回帰'!$B$2:$B$5</c:f>
              <c:numCache>
                <c:formatCode>General</c:formatCode>
                <c:ptCount val="4"/>
                <c:pt idx="0">
                  <c:v>0.33100000000000002</c:v>
                </c:pt>
                <c:pt idx="1">
                  <c:v>0.35399999999999998</c:v>
                </c:pt>
                <c:pt idx="2">
                  <c:v>0.33700000000000002</c:v>
                </c:pt>
                <c:pt idx="3">
                  <c:v>0.317</c:v>
                </c:pt>
              </c:numCache>
            </c:numRef>
          </c:val>
          <c:extLst>
            <c:ext xmlns:c16="http://schemas.microsoft.com/office/drawing/2014/chart" uri="{C3380CC4-5D6E-409C-BE32-E72D297353CC}">
              <c16:uniqueId val="{00000000-CACA-BC4D-B824-29A45B8AFE5B}"/>
            </c:ext>
          </c:extLst>
        </c:ser>
        <c:ser>
          <c:idx val="1"/>
          <c:order val="1"/>
          <c:tx>
            <c:strRef>
              <c:f>'図12_分析4_回帰'!$G$1</c:f>
              <c:strCache>
                <c:ptCount val="1"/>
                <c:pt idx="0">
                  <c:v>列11</c:v>
                </c:pt>
              </c:strCache>
            </c:strRef>
          </c:tx>
          <c:spPr>
            <a:solidFill>
              <a:srgbClr val="118DFF"/>
            </a:solidFill>
            <a:ln w="6350" cap="rnd">
              <a:solidFill>
                <a:srgbClr val="118DFF"/>
              </a:solidFill>
              <a:round/>
            </a:ln>
          </c:spPr>
          <c:invertIfNegative val="0"/>
          <c:dLbls>
            <c:numFmt formatCode="0.00" sourceLinked="0"/>
            <c:spPr>
              <a:noFill/>
              <a:ln>
                <a:noFill/>
              </a:ln>
            </c:spPr>
            <c:txPr>
              <a:bodyPr/>
              <a:lstStyle/>
              <a:p>
                <a:pPr>
                  <a:defRPr sz="800">
                    <a:solidFill>
                      <a:srgbClr val="172033"/>
                    </a:solidFill>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'図12_分析4_回帰'!$A$2:$A$5</c:f>
              <c:strCache>
                <c:ptCount val="4"/>
                <c:pt idx="0">
                  <c:v>気温のみ</c:v>
                </c:pt>
                <c:pt idx="1">
                  <c:v>気温＋雨（採用）</c:v>
                </c:pt>
                <c:pt idx="2">
                  <c:v>気温＋雨＋照度</c:v>
                </c:pt>
                <c:pt idx="3">
                  <c:v>4項目すべて</c:v>
                </c:pt>
              </c:strCache>
            </c:strRef>
          </c:cat>
          <c:val>
            <c:numRef>
              <c:f>'図12_分析4_回帰'!$G$2:$G$5</c:f>
              <c:numCache>
                <c:formatCode>General</c:formatCode>
                <c:ptCount val="4"/>
                <c:pt idx="0">
                  <c:v>0.14000000000000001</c:v>
                </c:pt>
                <c:pt idx="1">
                  <c:v>0.184</c:v>
                </c:pt>
                <c:pt idx="2">
                  <c:v>0.16500000000000001</c:v>
                </c:pt>
                <c:pt idx="3">
                  <c:v>0.16700000000000001</c:v>
                </c:pt>
              </c:numCache>
            </c:numRef>
          </c:val>
          <c:extLst>
            <c:ext xmlns:c16="http://schemas.microsoft.com/office/drawing/2014/chart" uri="{C3380CC4-5D6E-409C-BE32-E72D297353CC}">
              <c16:uniqueId val="{00000001-CACA-BC4D-B824-29A45B8AFE5B}"/>
            </c:ext>
          </c:extLst>
        </c:ser>
        <c:dLbls>
          <c:showLegendKey val="0"/>
          <c:showVal val="0"/>
          <c:showCatName val="0"/>
          <c:showSerName val="0"/>
          <c:showPercent val="0"/>
          <c:showBubbleSize val="0"/>
        </c:dLbls>
        <c:gapWidth val="80"/>
        <c:overlap val="-10"/>
        <c:axId val="10"/>
        <c:axId val="20"/>
      </c:barChart>
      <c:catAx>
        <c:axId val="10"/>
        <c:scaling>
          <c:orientation val="minMax"/>
        </c:scaling>
        <c:delete val="0"/>
        <c:axPos val="b"/>
        <c:numFmt formatCode="General" sourceLinked="1"/>
        <c:majorTickMark val="none"/>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0.5"/>
          <c:min val="0"/>
        </c:scaling>
        <c:delete val="0"/>
        <c:axPos val="l"/>
        <c:majorGridlines>
          <c:spPr>
            <a:ln w="9525" cap="rnd">
              <a:solidFill>
                <a:srgbClr val="E3E7EC"/>
              </a:solidFill>
              <a:round/>
            </a:ln>
          </c:spPr>
        </c:majorGridlines>
        <c:title>
          <c:tx>
            <c:rich>
              <a:bodyPr rot="-5400000" vert="horz"/>
              <a:lstStyle/>
              <a:p>
                <a:pPr>
                  <a:defRPr sz="900" b="0"/>
                </a:pPr>
                <a:r>
                  <a:rPr lang="ja-JP" sz="900" b="0"/>
                  <a:t>検証で説明できた割合（R²）</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1"/>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barChart>
        <c:barDir val="col"/>
        <c:grouping val="clustered"/>
        <c:varyColors val="0"/>
        <c:ser>
          <c:idx val="0"/>
          <c:order val="0"/>
          <c:tx>
            <c:strRef>
              <c:f>'図13_分析5_風速'!$J$1</c:f>
              <c:strCache>
                <c:ptCount val="1"/>
                <c:pt idx="0">
                  <c:v>列8_補助_箱下</c:v>
                </c:pt>
              </c:strCache>
            </c:strRef>
          </c:tx>
          <c:spPr>
            <a:solidFill>
              <a:srgbClr val="01B8AA"/>
            </a:solidFill>
            <a:ln>
              <a:noFill/>
            </a:ln>
          </c:spPr>
          <c:invertIfNegative val="0"/>
          <c:cat>
            <c:strRef>
              <c:f>'図13_分析5_風速'!$A$2:$A$5</c:f>
              <c:strCache>
                <c:ptCount val="4"/>
                <c:pt idx="0">
                  <c:v>極弱風（1.0以下）</c:v>
                </c:pt>
                <c:pt idx="1">
                  <c:v>弱風（1.0超〜2.7）</c:v>
                </c:pt>
                <c:pt idx="2">
                  <c:v>中風（2.7超〜4.1）</c:v>
                </c:pt>
                <c:pt idx="3">
                  <c:v>強風（4.1超）</c:v>
                </c:pt>
              </c:strCache>
            </c:strRef>
          </c:cat>
          <c:val>
            <c:numRef>
              <c:f>'図13_分析5_風速'!$J$2:$J$5</c:f>
              <c:numCache>
                <c:formatCode>General</c:formatCode>
                <c:ptCount val="4"/>
                <c:pt idx="0">
                  <c:v>-0.20499999999999999</c:v>
                </c:pt>
                <c:pt idx="1">
                  <c:v>-0.40400000000000003</c:v>
                </c:pt>
                <c:pt idx="2">
                  <c:v>-0.25</c:v>
                </c:pt>
                <c:pt idx="3">
                  <c:v>-0.23799999999999999</c:v>
                </c:pt>
              </c:numCache>
            </c:numRef>
          </c:val>
          <c:extLst>
            <c:ext xmlns:c16="http://schemas.microsoft.com/office/drawing/2014/chart" uri="{C3380CC4-5D6E-409C-BE32-E72D297353CC}">
              <c16:uniqueId val="{00000000-7267-B74B-82A7-E5F9CEC3A336}"/>
            </c:ext>
          </c:extLst>
        </c:ser>
        <c:ser>
          <c:idx val="1"/>
          <c:order val="1"/>
          <c:tx>
            <c:strRef>
              <c:f>'図13_分析5_風速'!$K$1</c:f>
              <c:strCache>
                <c:ptCount val="1"/>
                <c:pt idx="0">
                  <c:v>列8_補助_箱上</c:v>
                </c:pt>
              </c:strCache>
            </c:strRef>
          </c:tx>
          <c:spPr>
            <a:solidFill>
              <a:srgbClr val="01B8AA"/>
            </a:solidFill>
            <a:ln>
              <a:noFill/>
            </a:ln>
          </c:spPr>
          <c:invertIfNegative val="0"/>
          <c:cat>
            <c:strRef>
              <c:f>'図13_分析5_風速'!$A$2:$A$5</c:f>
              <c:strCache>
                <c:ptCount val="4"/>
                <c:pt idx="0">
                  <c:v>極弱風（1.0以下）</c:v>
                </c:pt>
                <c:pt idx="1">
                  <c:v>弱風（1.0超〜2.7）</c:v>
                </c:pt>
                <c:pt idx="2">
                  <c:v>中風（2.7超〜4.1）</c:v>
                </c:pt>
                <c:pt idx="3">
                  <c:v>強風（4.1超）</c:v>
                </c:pt>
              </c:strCache>
            </c:strRef>
          </c:cat>
          <c:val>
            <c:numRef>
              <c:f>'図13_分析5_風速'!$K$2:$K$5</c:f>
              <c:numCache>
                <c:formatCode>General</c:formatCode>
                <c:ptCount val="4"/>
                <c:pt idx="0">
                  <c:v>8.3000000000000004E-2</c:v>
                </c:pt>
                <c:pt idx="1">
                  <c:v>0.24299999999999999</c:v>
                </c:pt>
                <c:pt idx="2">
                  <c:v>0.36899999999999999</c:v>
                </c:pt>
              </c:numCache>
            </c:numRef>
          </c:val>
          <c:extLst>
            <c:ext xmlns:c16="http://schemas.microsoft.com/office/drawing/2014/chart" uri="{C3380CC4-5D6E-409C-BE32-E72D297353CC}">
              <c16:uniqueId val="{00000001-7267-B74B-82A7-E5F9CEC3A336}"/>
            </c:ext>
          </c:extLst>
        </c:ser>
        <c:ser>
          <c:idx val="2"/>
          <c:order val="2"/>
          <c:tx>
            <c:strRef>
              <c:f>'図13_分析5_風速'!$L$1</c:f>
              <c:strCache>
                <c:ptCount val="1"/>
                <c:pt idx="0">
                  <c:v>列8_補助_白</c:v>
                </c:pt>
              </c:strCache>
            </c:strRef>
          </c:tx>
          <c:spPr>
            <a:solidFill>
              <a:srgbClr val="FFFFFF"/>
            </a:solidFill>
            <a:ln>
              <a:noFill/>
            </a:ln>
          </c:spPr>
          <c:invertIfNegative val="0"/>
          <c:cat>
            <c:strRef>
              <c:f>'図13_分析5_風速'!$A$2:$A$5</c:f>
              <c:strCache>
                <c:ptCount val="4"/>
                <c:pt idx="0">
                  <c:v>極弱風（1.0以下）</c:v>
                </c:pt>
                <c:pt idx="1">
                  <c:v>弱風（1.0超〜2.7）</c:v>
                </c:pt>
                <c:pt idx="2">
                  <c:v>中風（2.7超〜4.1）</c:v>
                </c:pt>
                <c:pt idx="3">
                  <c:v>強風（4.1超）</c:v>
                </c:pt>
              </c:strCache>
            </c:strRef>
          </c:cat>
          <c:val>
            <c:numRef>
              <c:f>'図13_分析5_風速'!$L$2:$L$5</c:f>
              <c:numCache>
                <c:formatCode>General</c:formatCode>
                <c:ptCount val="4"/>
                <c:pt idx="3">
                  <c:v>-0.01</c:v>
                </c:pt>
              </c:numCache>
            </c:numRef>
          </c:val>
          <c:extLst>
            <c:ext xmlns:c16="http://schemas.microsoft.com/office/drawing/2014/chart" uri="{C3380CC4-5D6E-409C-BE32-E72D297353CC}">
              <c16:uniqueId val="{00000002-7267-B74B-82A7-E5F9CEC3A336}"/>
            </c:ext>
          </c:extLst>
        </c:ser>
        <c:dLbls>
          <c:showLegendKey val="0"/>
          <c:showVal val="0"/>
          <c:showCatName val="0"/>
          <c:showSerName val="0"/>
          <c:showPercent val="0"/>
          <c:showBubbleSize val="0"/>
        </c:dLbls>
        <c:gapWidth val="120"/>
        <c:overlap val="100"/>
        <c:axId val="10"/>
        <c:axId val="20"/>
      </c:barChart>
      <c:lineChart>
        <c:grouping val="standard"/>
        <c:varyColors val="0"/>
        <c:ser>
          <c:idx val="3"/>
          <c:order val="3"/>
          <c:tx>
            <c:strRef>
              <c:f>'図13_分析5_風速'!$E$1</c:f>
              <c:strCache>
                <c:ptCount val="1"/>
                <c:pt idx="0">
                  <c:v>列8_中央値</c:v>
                </c:pt>
              </c:strCache>
            </c:strRef>
          </c:tx>
          <c:spPr>
            <a:ln>
              <a:noFill/>
            </a:ln>
          </c:spPr>
          <c:marker>
            <c:symbol val="dash"/>
            <c:size val="16"/>
            <c:spPr>
              <a:solidFill>
                <a:srgbClr val="FFFFFF"/>
              </a:solidFill>
              <a:ln w="9525" cap="rnd">
                <a:solidFill>
                  <a:srgbClr val="FFFFFF"/>
                </a:solidFill>
                <a:round/>
              </a:ln>
            </c:spPr>
          </c:marker>
          <c:errBars>
            <c:errDir val="y"/>
            <c:errBarType val="both"/>
            <c:errValType val="cust"/>
            <c:noEndCap val="0"/>
            <c:plus>
              <c:numRef>
                <c:f>'図13_分析5_風速'!$M$2:$M$5</c:f>
                <c:numCache>
                  <c:formatCode>General</c:formatCode>
                  <c:ptCount val="4"/>
                  <c:pt idx="0">
                    <c:v>0.56599999999999995</c:v>
                  </c:pt>
                  <c:pt idx="1">
                    <c:v>1.1279999999999999</c:v>
                  </c:pt>
                  <c:pt idx="2">
                    <c:v>1.2350000000000001</c:v>
                  </c:pt>
                  <c:pt idx="3">
                    <c:v>0.104</c:v>
                  </c:pt>
                </c:numCache>
              </c:numRef>
            </c:plus>
            <c:minus>
              <c:numRef>
                <c:f>'図13_分析5_風速'!$N$2:$N$5</c:f>
                <c:numCache>
                  <c:formatCode>General</c:formatCode>
                  <c:ptCount val="4"/>
                  <c:pt idx="0">
                    <c:v>0.36799999999999999</c:v>
                  </c:pt>
                  <c:pt idx="1">
                    <c:v>1.2549999999999999</c:v>
                  </c:pt>
                  <c:pt idx="2">
                    <c:v>0.91</c:v>
                  </c:pt>
                  <c:pt idx="3">
                    <c:v>0.35099999999999998</c:v>
                  </c:pt>
                </c:numCache>
              </c:numRef>
            </c:minus>
            <c:spPr>
              <a:ln w="15875" cap="rnd">
                <a:solidFill>
                  <a:srgbClr val="01B8AA"/>
                </a:solidFill>
                <a:round/>
              </a:ln>
            </c:spPr>
          </c:errBars>
          <c:cat>
            <c:strRef>
              <c:f>'図13_分析5_風速'!$A$2:$A$5</c:f>
              <c:strCache>
                <c:ptCount val="4"/>
                <c:pt idx="0">
                  <c:v>極弱風（1.0以下）</c:v>
                </c:pt>
                <c:pt idx="1">
                  <c:v>弱風（1.0超〜2.7）</c:v>
                </c:pt>
                <c:pt idx="2">
                  <c:v>中風（2.7超〜4.1）</c:v>
                </c:pt>
                <c:pt idx="3">
                  <c:v>強風（4.1超）</c:v>
                </c:pt>
              </c:strCache>
            </c:strRef>
          </c:cat>
          <c:val>
            <c:numRef>
              <c:f>'図13_分析5_風速'!$E$2:$E$5</c:f>
              <c:numCache>
                <c:formatCode>General</c:formatCode>
                <c:ptCount val="4"/>
                <c:pt idx="0">
                  <c:v>-0.13800000000000001</c:v>
                </c:pt>
                <c:pt idx="1">
                  <c:v>-0.108</c:v>
                </c:pt>
                <c:pt idx="2">
                  <c:v>-2.9000000000000001E-2</c:v>
                </c:pt>
                <c:pt idx="3">
                  <c:v>-6.3E-2</c:v>
                </c:pt>
              </c:numCache>
            </c:numRef>
          </c:val>
          <c:smooth val="0"/>
          <c:extLst>
            <c:ext xmlns:c16="http://schemas.microsoft.com/office/drawing/2014/chart" uri="{C3380CC4-5D6E-409C-BE32-E72D297353CC}">
              <c16:uniqueId val="{00000003-7267-B74B-82A7-E5F9CEC3A336}"/>
            </c:ext>
          </c:extLst>
        </c:ser>
        <c:dLbls>
          <c:showLegendKey val="0"/>
          <c:showVal val="0"/>
          <c:showCatName val="0"/>
          <c:showSerName val="0"/>
          <c:showPercent val="0"/>
          <c:showBubbleSize val="0"/>
        </c:dLbls>
        <c:marker val="1"/>
        <c:smooth val="0"/>
        <c:axId val="10"/>
        <c:axId val="20"/>
      </c:lineChart>
      <c:catAx>
        <c:axId val="10"/>
        <c:scaling>
          <c:orientation val="minMax"/>
        </c:scaling>
        <c:delete val="0"/>
        <c:axPos val="b"/>
        <c:numFmt formatCode="General" sourceLinked="1"/>
        <c:majorTickMark val="none"/>
        <c:minorTickMark val="none"/>
        <c:tickLblPos val="low"/>
        <c:spPr>
          <a:ln w="15875" cap="rnd">
            <a:solidFill>
              <a:srgbClr val="5E6B7A"/>
            </a:solidFill>
            <a:round/>
          </a:ln>
        </c:spPr>
        <c:txPr>
          <a:bodyPr/>
          <a:lstStyle/>
          <a:p>
            <a:pPr>
              <a:defRPr sz="700"/>
            </a:pPr>
            <a:endParaRPr lang="ja-JP"/>
          </a:p>
        </c:txPr>
        <c:crossAx val="20"/>
        <c:crosses val="autoZero"/>
        <c:auto val="1"/>
        <c:lblAlgn val="ctr"/>
        <c:lblOffset val="100"/>
        <c:noMultiLvlLbl val="0"/>
      </c:catAx>
      <c:valAx>
        <c:axId val="20"/>
        <c:scaling>
          <c:orientation val="minMax"/>
          <c:max val="1.5"/>
          <c:min val="-1.5"/>
        </c:scaling>
        <c:delete val="0"/>
        <c:axPos val="l"/>
        <c:title>
          <c:tx>
            <c:rich>
              <a:bodyPr rot="-5400000" vert="horz"/>
              <a:lstStyle/>
              <a:p>
                <a:pPr>
                  <a:defRPr sz="900" b="0"/>
                </a:pPr>
                <a:r>
                  <a:rPr lang="ja-JP" sz="900" b="0"/>
                  <a:t>1時間平均の吸気温度差［℃］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5"/>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barChart>
        <c:barDir val="col"/>
        <c:grouping val="clustered"/>
        <c:varyColors val="0"/>
        <c:ser>
          <c:idx val="0"/>
          <c:order val="0"/>
          <c:tx>
            <c:strRef>
              <c:f>'図13_分析5_風速'!$W$1</c:f>
              <c:strCache>
                <c:ptCount val="1"/>
                <c:pt idx="0">
                  <c:v>列11_補助_箱下</c:v>
                </c:pt>
              </c:strCache>
            </c:strRef>
          </c:tx>
          <c:spPr>
            <a:solidFill>
              <a:srgbClr val="118DFF"/>
            </a:solidFill>
            <a:ln>
              <a:noFill/>
            </a:ln>
          </c:spPr>
          <c:invertIfNegative val="0"/>
          <c:cat>
            <c:strRef>
              <c:f>'図13_分析5_風速'!$A$2:$A$5</c:f>
              <c:strCache>
                <c:ptCount val="4"/>
                <c:pt idx="0">
                  <c:v>極弱風（1.0以下）</c:v>
                </c:pt>
                <c:pt idx="1">
                  <c:v>弱風（1.0超〜2.7）</c:v>
                </c:pt>
                <c:pt idx="2">
                  <c:v>中風（2.7超〜4.1）</c:v>
                </c:pt>
                <c:pt idx="3">
                  <c:v>強風（4.1超）</c:v>
                </c:pt>
              </c:strCache>
            </c:strRef>
          </c:cat>
          <c:val>
            <c:numRef>
              <c:f>'図13_分析5_風速'!$W$2:$W$5</c:f>
              <c:numCache>
                <c:formatCode>General</c:formatCode>
                <c:ptCount val="4"/>
                <c:pt idx="0">
                  <c:v>-0.33200000000000002</c:v>
                </c:pt>
                <c:pt idx="1">
                  <c:v>-0.46500000000000002</c:v>
                </c:pt>
                <c:pt idx="2">
                  <c:v>-0.434</c:v>
                </c:pt>
                <c:pt idx="3">
                  <c:v>-0.9</c:v>
                </c:pt>
              </c:numCache>
            </c:numRef>
          </c:val>
          <c:extLst>
            <c:ext xmlns:c16="http://schemas.microsoft.com/office/drawing/2014/chart" uri="{C3380CC4-5D6E-409C-BE32-E72D297353CC}">
              <c16:uniqueId val="{00000000-8044-724C-9489-7028D10188ED}"/>
            </c:ext>
          </c:extLst>
        </c:ser>
        <c:ser>
          <c:idx val="1"/>
          <c:order val="1"/>
          <c:tx>
            <c:strRef>
              <c:f>'図13_分析5_風速'!$X$1</c:f>
              <c:strCache>
                <c:ptCount val="1"/>
                <c:pt idx="0">
                  <c:v>列11_補助_箱上</c:v>
                </c:pt>
              </c:strCache>
            </c:strRef>
          </c:tx>
          <c:spPr>
            <a:solidFill>
              <a:srgbClr val="118DFF"/>
            </a:solidFill>
            <a:ln>
              <a:noFill/>
            </a:ln>
          </c:spPr>
          <c:invertIfNegative val="0"/>
          <c:cat>
            <c:strRef>
              <c:f>'図13_分析5_風速'!$A$2:$A$5</c:f>
              <c:strCache>
                <c:ptCount val="4"/>
                <c:pt idx="0">
                  <c:v>極弱風（1.0以下）</c:v>
                </c:pt>
                <c:pt idx="1">
                  <c:v>弱風（1.0超〜2.7）</c:v>
                </c:pt>
                <c:pt idx="2">
                  <c:v>中風（2.7超〜4.1）</c:v>
                </c:pt>
                <c:pt idx="3">
                  <c:v>強風（4.1超）</c:v>
                </c:pt>
              </c:strCache>
            </c:strRef>
          </c:cat>
          <c:val>
            <c:numRef>
              <c:f>'図13_分析5_風速'!$X$2:$X$5</c:f>
              <c:numCache>
                <c:formatCode>General</c:formatCode>
                <c:ptCount val="4"/>
              </c:numCache>
            </c:numRef>
          </c:val>
          <c:extLst>
            <c:ext xmlns:c16="http://schemas.microsoft.com/office/drawing/2014/chart" uri="{C3380CC4-5D6E-409C-BE32-E72D297353CC}">
              <c16:uniqueId val="{00000001-8044-724C-9489-7028D10188ED}"/>
            </c:ext>
          </c:extLst>
        </c:ser>
        <c:ser>
          <c:idx val="2"/>
          <c:order val="2"/>
          <c:tx>
            <c:strRef>
              <c:f>'図13_分析5_風速'!$Y$1</c:f>
              <c:strCache>
                <c:ptCount val="1"/>
                <c:pt idx="0">
                  <c:v>列11_補助_白</c:v>
                </c:pt>
              </c:strCache>
            </c:strRef>
          </c:tx>
          <c:spPr>
            <a:solidFill>
              <a:srgbClr val="FFFFFF"/>
            </a:solidFill>
            <a:ln>
              <a:noFill/>
            </a:ln>
          </c:spPr>
          <c:invertIfNegative val="0"/>
          <c:cat>
            <c:strRef>
              <c:f>'図13_分析5_風速'!$A$2:$A$5</c:f>
              <c:strCache>
                <c:ptCount val="4"/>
                <c:pt idx="0">
                  <c:v>極弱風（1.0以下）</c:v>
                </c:pt>
                <c:pt idx="1">
                  <c:v>弱風（1.0超〜2.7）</c:v>
                </c:pt>
                <c:pt idx="2">
                  <c:v>中風（2.7超〜4.1）</c:v>
                </c:pt>
                <c:pt idx="3">
                  <c:v>強風（4.1超）</c:v>
                </c:pt>
              </c:strCache>
            </c:strRef>
          </c:cat>
          <c:val>
            <c:numRef>
              <c:f>'図13_分析5_風速'!$Y$2:$Y$5</c:f>
              <c:numCache>
                <c:formatCode>General</c:formatCode>
                <c:ptCount val="4"/>
                <c:pt idx="0">
                  <c:v>-6.0999999999999999E-2</c:v>
                </c:pt>
                <c:pt idx="1">
                  <c:v>-0.01</c:v>
                </c:pt>
                <c:pt idx="2">
                  <c:v>-8.8999999999999996E-2</c:v>
                </c:pt>
                <c:pt idx="3">
                  <c:v>-0.66300000000000003</c:v>
                </c:pt>
              </c:numCache>
            </c:numRef>
          </c:val>
          <c:extLst>
            <c:ext xmlns:c16="http://schemas.microsoft.com/office/drawing/2014/chart" uri="{C3380CC4-5D6E-409C-BE32-E72D297353CC}">
              <c16:uniqueId val="{00000002-8044-724C-9489-7028D10188ED}"/>
            </c:ext>
          </c:extLst>
        </c:ser>
        <c:dLbls>
          <c:showLegendKey val="0"/>
          <c:showVal val="0"/>
          <c:showCatName val="0"/>
          <c:showSerName val="0"/>
          <c:showPercent val="0"/>
          <c:showBubbleSize val="0"/>
        </c:dLbls>
        <c:gapWidth val="120"/>
        <c:overlap val="100"/>
        <c:axId val="10"/>
        <c:axId val="20"/>
      </c:barChart>
      <c:lineChart>
        <c:grouping val="standard"/>
        <c:varyColors val="0"/>
        <c:ser>
          <c:idx val="3"/>
          <c:order val="3"/>
          <c:tx>
            <c:strRef>
              <c:f>'図13_分析5_風速'!$R$1</c:f>
              <c:strCache>
                <c:ptCount val="1"/>
                <c:pt idx="0">
                  <c:v>列11_中央値</c:v>
                </c:pt>
              </c:strCache>
            </c:strRef>
          </c:tx>
          <c:spPr>
            <a:ln>
              <a:noFill/>
            </a:ln>
          </c:spPr>
          <c:marker>
            <c:symbol val="dash"/>
            <c:size val="16"/>
            <c:spPr>
              <a:solidFill>
                <a:srgbClr val="FFFFFF"/>
              </a:solidFill>
              <a:ln w="9525" cap="rnd">
                <a:solidFill>
                  <a:srgbClr val="FFFFFF"/>
                </a:solidFill>
                <a:round/>
              </a:ln>
            </c:spPr>
          </c:marker>
          <c:errBars>
            <c:errDir val="y"/>
            <c:errBarType val="both"/>
            <c:errValType val="cust"/>
            <c:noEndCap val="0"/>
            <c:plus>
              <c:numRef>
                <c:f>'図13_分析5_風速'!$Z$2:$Z$5</c:f>
                <c:numCache>
                  <c:formatCode>General</c:formatCode>
                  <c:ptCount val="4"/>
                  <c:pt idx="0">
                    <c:v>0.33700000000000002</c:v>
                  </c:pt>
                  <c:pt idx="1">
                    <c:v>0.83499999999999996</c:v>
                  </c:pt>
                  <c:pt idx="2">
                    <c:v>0.48899999999999999</c:v>
                  </c:pt>
                  <c:pt idx="3">
                    <c:v>0.34100000000000003</c:v>
                  </c:pt>
                </c:numCache>
              </c:numRef>
            </c:plus>
            <c:minus>
              <c:numRef>
                <c:f>'図13_分析5_風速'!$AA$2:$AA$5</c:f>
                <c:numCache>
                  <c:formatCode>General</c:formatCode>
                  <c:ptCount val="4"/>
                  <c:pt idx="0">
                    <c:v>0.56899999999999995</c:v>
                  </c:pt>
                  <c:pt idx="1">
                    <c:v>0.877</c:v>
                  </c:pt>
                  <c:pt idx="2">
                    <c:v>0.73899999999999999</c:v>
                  </c:pt>
                  <c:pt idx="3">
                    <c:v>0.13300000000000001</c:v>
                  </c:pt>
                </c:numCache>
              </c:numRef>
            </c:minus>
            <c:spPr>
              <a:ln w="15875" cap="rnd">
                <a:solidFill>
                  <a:srgbClr val="118DFF"/>
                </a:solidFill>
                <a:round/>
              </a:ln>
            </c:spPr>
          </c:errBars>
          <c:cat>
            <c:strRef>
              <c:f>'図13_分析5_風速'!$A$2:$A$5</c:f>
              <c:strCache>
                <c:ptCount val="4"/>
                <c:pt idx="0">
                  <c:v>極弱風（1.0以下）</c:v>
                </c:pt>
                <c:pt idx="1">
                  <c:v>弱風（1.0超〜2.7）</c:v>
                </c:pt>
                <c:pt idx="2">
                  <c:v>中風（2.7超〜4.1）</c:v>
                </c:pt>
                <c:pt idx="3">
                  <c:v>強風（4.1超）</c:v>
                </c:pt>
              </c:strCache>
            </c:strRef>
          </c:cat>
          <c:val>
            <c:numRef>
              <c:f>'図13_分析5_風速'!$R$2:$R$5</c:f>
              <c:numCache>
                <c:formatCode>General</c:formatCode>
                <c:ptCount val="4"/>
                <c:pt idx="0">
                  <c:v>-0.154</c:v>
                </c:pt>
                <c:pt idx="1">
                  <c:v>-0.253</c:v>
                </c:pt>
                <c:pt idx="2">
                  <c:v>-0.19500000000000001</c:v>
                </c:pt>
                <c:pt idx="3">
                  <c:v>-0.83399999999999996</c:v>
                </c:pt>
              </c:numCache>
            </c:numRef>
          </c:val>
          <c:smooth val="0"/>
          <c:extLst>
            <c:ext xmlns:c16="http://schemas.microsoft.com/office/drawing/2014/chart" uri="{C3380CC4-5D6E-409C-BE32-E72D297353CC}">
              <c16:uniqueId val="{00000003-8044-724C-9489-7028D10188ED}"/>
            </c:ext>
          </c:extLst>
        </c:ser>
        <c:dLbls>
          <c:showLegendKey val="0"/>
          <c:showVal val="0"/>
          <c:showCatName val="0"/>
          <c:showSerName val="0"/>
          <c:showPercent val="0"/>
          <c:showBubbleSize val="0"/>
        </c:dLbls>
        <c:marker val="1"/>
        <c:smooth val="0"/>
        <c:axId val="10"/>
        <c:axId val="20"/>
      </c:lineChart>
      <c:catAx>
        <c:axId val="10"/>
        <c:scaling>
          <c:orientation val="minMax"/>
        </c:scaling>
        <c:delete val="0"/>
        <c:axPos val="b"/>
        <c:numFmt formatCode="General" sourceLinked="1"/>
        <c:majorTickMark val="none"/>
        <c:minorTickMark val="none"/>
        <c:tickLblPos val="low"/>
        <c:spPr>
          <a:ln w="15875" cap="rnd">
            <a:solidFill>
              <a:srgbClr val="5E6B7A"/>
            </a:solidFill>
            <a:round/>
          </a:ln>
        </c:spPr>
        <c:txPr>
          <a:bodyPr/>
          <a:lstStyle/>
          <a:p>
            <a:pPr>
              <a:defRPr sz="700"/>
            </a:pPr>
            <a:endParaRPr lang="ja-JP"/>
          </a:p>
        </c:txPr>
        <c:crossAx val="20"/>
        <c:crosses val="autoZero"/>
        <c:auto val="1"/>
        <c:lblAlgn val="ctr"/>
        <c:lblOffset val="100"/>
        <c:noMultiLvlLbl val="0"/>
      </c:catAx>
      <c:valAx>
        <c:axId val="20"/>
        <c:scaling>
          <c:orientation val="minMax"/>
          <c:max val="1.5"/>
          <c:min val="-1.5"/>
        </c:scaling>
        <c:delete val="0"/>
        <c:axPos val="l"/>
        <c:title>
          <c:tx>
            <c:rich>
              <a:bodyPr rot="-5400000" vert="horz"/>
              <a:lstStyle/>
              <a:p>
                <a:pPr>
                  <a:defRPr sz="900" b="0"/>
                </a:pPr>
                <a:r>
                  <a:rPr lang="ja-JP" sz="900" b="0"/>
                  <a:t>1時間平均の吸気温度差［℃］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5"/>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13"/>
          <c:y val="0.17"/>
          <c:w val="0.83"/>
          <c:h val="0.63"/>
        </c:manualLayout>
      </c:layout>
      <c:lineChart>
        <c:grouping val="standard"/>
        <c:varyColors val="0"/>
        <c:ser>
          <c:idx val="0"/>
          <c:order val="0"/>
          <c:tx>
            <c:strRef>
              <c:f>'図09_分析4_天気と吸気温度差'!$G$1</c:f>
              <c:strCache>
                <c:ptCount val="1"/>
                <c:pt idx="0">
                  <c:v>列3（なし）</c:v>
                </c:pt>
              </c:strCache>
            </c:strRef>
          </c:tx>
          <c:spPr>
            <a:ln w="25400" cap="rnd">
              <a:solidFill>
                <a:srgbClr val="5E6B7A"/>
              </a:solidFill>
              <a:round/>
            </a:ln>
          </c:spPr>
          <c:marker>
            <c:symbol val="none"/>
          </c:marker>
          <c:cat>
            <c:strRef>
              <c:f>'図09_分析4_天気と吸気温度差'!$B$2:$B$48</c:f>
              <c:strCache>
                <c:ptCount val="47"/>
                <c:pt idx="0">
                  <c:v>07-30</c:v>
                </c:pt>
                <c:pt idx="7">
                  <c:v>08-06</c:v>
                </c:pt>
                <c:pt idx="14">
                  <c:v>08-13</c:v>
                </c:pt>
                <c:pt idx="21">
                  <c:v>08-20</c:v>
                </c:pt>
                <c:pt idx="28">
                  <c:v>08-27</c:v>
                </c:pt>
                <c:pt idx="35">
                  <c:v>09-03</c:v>
                </c:pt>
                <c:pt idx="42">
                  <c:v>09-10</c:v>
                </c:pt>
              </c:strCache>
            </c:strRef>
          </c:cat>
          <c:val>
            <c:numRef>
              <c:f>'図09_分析4_天気と吸気温度差'!$G$2:$G$48</c:f>
              <c:numCache>
                <c:formatCode>General</c:formatCode>
                <c:ptCount val="47"/>
                <c:pt idx="0">
                  <c:v>34.926000000000002</c:v>
                </c:pt>
                <c:pt idx="1">
                  <c:v>34.206000000000003</c:v>
                </c:pt>
                <c:pt idx="2">
                  <c:v>34.753</c:v>
                </c:pt>
                <c:pt idx="3">
                  <c:v>33.287999999999997</c:v>
                </c:pt>
                <c:pt idx="4">
                  <c:v>27.312999999999999</c:v>
                </c:pt>
                <c:pt idx="5">
                  <c:v>29.184000000000001</c:v>
                </c:pt>
                <c:pt idx="6">
                  <c:v>30.422000000000001</c:v>
                </c:pt>
                <c:pt idx="7">
                  <c:v>30.489000000000001</c:v>
                </c:pt>
                <c:pt idx="8">
                  <c:v>33.125999999999998</c:v>
                </c:pt>
                <c:pt idx="9">
                  <c:v>32.823999999999998</c:v>
                </c:pt>
                <c:pt idx="10">
                  <c:v>32.281999999999996</c:v>
                </c:pt>
                <c:pt idx="11">
                  <c:v>30.547999999999998</c:v>
                </c:pt>
                <c:pt idx="12">
                  <c:v>29.041</c:v>
                </c:pt>
                <c:pt idx="13">
                  <c:v>28.187000000000001</c:v>
                </c:pt>
                <c:pt idx="14">
                  <c:v>26.742999999999999</c:v>
                </c:pt>
                <c:pt idx="15">
                  <c:v>29.535</c:v>
                </c:pt>
                <c:pt idx="16">
                  <c:v>27.725000000000001</c:v>
                </c:pt>
                <c:pt idx="17">
                  <c:v>25.86</c:v>
                </c:pt>
                <c:pt idx="18">
                  <c:v>29.876999999999999</c:v>
                </c:pt>
                <c:pt idx="19">
                  <c:v>30.986999999999998</c:v>
                </c:pt>
                <c:pt idx="20">
                  <c:v>31.379000000000001</c:v>
                </c:pt>
                <c:pt idx="21">
                  <c:v>31.916</c:v>
                </c:pt>
                <c:pt idx="22">
                  <c:v>31.370999999999999</c:v>
                </c:pt>
                <c:pt idx="23">
                  <c:v>29.326000000000001</c:v>
                </c:pt>
                <c:pt idx="24">
                  <c:v>29.786999999999999</c:v>
                </c:pt>
                <c:pt idx="25">
                  <c:v>32.878</c:v>
                </c:pt>
                <c:pt idx="26">
                  <c:v>34.29</c:v>
                </c:pt>
                <c:pt idx="27">
                  <c:v>33.878</c:v>
                </c:pt>
                <c:pt idx="28">
                  <c:v>28.856999999999999</c:v>
                </c:pt>
                <c:pt idx="29">
                  <c:v>32.198</c:v>
                </c:pt>
                <c:pt idx="30">
                  <c:v>23.507000000000001</c:v>
                </c:pt>
                <c:pt idx="31">
                  <c:v>26.364000000000001</c:v>
                </c:pt>
                <c:pt idx="32">
                  <c:v>27.722999999999999</c:v>
                </c:pt>
                <c:pt idx="33">
                  <c:v>28.617999999999999</c:v>
                </c:pt>
                <c:pt idx="34">
                  <c:v>30.59</c:v>
                </c:pt>
                <c:pt idx="35">
                  <c:v>30.393999999999998</c:v>
                </c:pt>
                <c:pt idx="36">
                  <c:v>26.734000000000002</c:v>
                </c:pt>
                <c:pt idx="37">
                  <c:v>24.620999999999999</c:v>
                </c:pt>
                <c:pt idx="38">
                  <c:v>21.956</c:v>
                </c:pt>
                <c:pt idx="39">
                  <c:v>24.8</c:v>
                </c:pt>
                <c:pt idx="40">
                  <c:v>28.273</c:v>
                </c:pt>
                <c:pt idx="41">
                  <c:v>29.643999999999998</c:v>
                </c:pt>
                <c:pt idx="42">
                  <c:v>22.882000000000001</c:v>
                </c:pt>
                <c:pt idx="43">
                  <c:v>21.23</c:v>
                </c:pt>
                <c:pt idx="44">
                  <c:v>24.288</c:v>
                </c:pt>
                <c:pt idx="45">
                  <c:v>24.85</c:v>
                </c:pt>
                <c:pt idx="46">
                  <c:v>31.407</c:v>
                </c:pt>
              </c:numCache>
            </c:numRef>
          </c:val>
          <c:smooth val="0"/>
          <c:extLst>
            <c:ext xmlns:c16="http://schemas.microsoft.com/office/drawing/2014/chart" uri="{C3380CC4-5D6E-409C-BE32-E72D297353CC}">
              <c16:uniqueId val="{00000000-8463-1E4A-9EB0-528241184090}"/>
            </c:ext>
          </c:extLst>
        </c:ser>
        <c:ser>
          <c:idx val="1"/>
          <c:order val="1"/>
          <c:tx>
            <c:strRef>
              <c:f>'図09_分析4_天気と吸気温度差'!$H$1</c:f>
              <c:strCache>
                <c:ptCount val="1"/>
                <c:pt idx="0">
                  <c:v>列8（あり）</c:v>
                </c:pt>
              </c:strCache>
            </c:strRef>
          </c:tx>
          <c:spPr>
            <a:ln w="25400" cap="rnd">
              <a:solidFill>
                <a:srgbClr val="01B8AA"/>
              </a:solidFill>
              <a:round/>
            </a:ln>
          </c:spPr>
          <c:marker>
            <c:symbol val="none"/>
          </c:marker>
          <c:cat>
            <c:strRef>
              <c:f>'図09_分析4_天気と吸気温度差'!$B$2:$B$48</c:f>
              <c:strCache>
                <c:ptCount val="47"/>
                <c:pt idx="0">
                  <c:v>07-30</c:v>
                </c:pt>
                <c:pt idx="7">
                  <c:v>08-06</c:v>
                </c:pt>
                <c:pt idx="14">
                  <c:v>08-13</c:v>
                </c:pt>
                <c:pt idx="21">
                  <c:v>08-20</c:v>
                </c:pt>
                <c:pt idx="28">
                  <c:v>08-27</c:v>
                </c:pt>
                <c:pt idx="35">
                  <c:v>09-03</c:v>
                </c:pt>
                <c:pt idx="42">
                  <c:v>09-10</c:v>
                </c:pt>
              </c:strCache>
            </c:strRef>
          </c:cat>
          <c:val>
            <c:numRef>
              <c:f>'図09_分析4_天気と吸気温度差'!$H$2:$H$48</c:f>
              <c:numCache>
                <c:formatCode>General</c:formatCode>
                <c:ptCount val="47"/>
                <c:pt idx="0">
                  <c:v>35.375999999999998</c:v>
                </c:pt>
                <c:pt idx="1">
                  <c:v>34.618000000000002</c:v>
                </c:pt>
                <c:pt idx="2">
                  <c:v>34.728000000000002</c:v>
                </c:pt>
                <c:pt idx="3">
                  <c:v>33.840000000000003</c:v>
                </c:pt>
                <c:pt idx="4">
                  <c:v>27.433</c:v>
                </c:pt>
                <c:pt idx="5">
                  <c:v>29.277000000000001</c:v>
                </c:pt>
                <c:pt idx="6">
                  <c:v>30.457999999999998</c:v>
                </c:pt>
                <c:pt idx="7">
                  <c:v>30.416</c:v>
                </c:pt>
                <c:pt idx="8">
                  <c:v>32.877000000000002</c:v>
                </c:pt>
                <c:pt idx="9">
                  <c:v>32.216999999999999</c:v>
                </c:pt>
                <c:pt idx="10">
                  <c:v>32.652999999999999</c:v>
                </c:pt>
                <c:pt idx="11">
                  <c:v>30.927</c:v>
                </c:pt>
                <c:pt idx="12">
                  <c:v>28.613</c:v>
                </c:pt>
                <c:pt idx="13">
                  <c:v>28.042000000000002</c:v>
                </c:pt>
                <c:pt idx="14">
                  <c:v>26.413</c:v>
                </c:pt>
                <c:pt idx="15">
                  <c:v>29.215</c:v>
                </c:pt>
                <c:pt idx="16">
                  <c:v>27.581</c:v>
                </c:pt>
                <c:pt idx="17">
                  <c:v>25.152999999999999</c:v>
                </c:pt>
                <c:pt idx="18">
                  <c:v>29.751999999999999</c:v>
                </c:pt>
                <c:pt idx="19">
                  <c:v>31.253</c:v>
                </c:pt>
                <c:pt idx="20">
                  <c:v>31.635999999999999</c:v>
                </c:pt>
                <c:pt idx="21">
                  <c:v>32.255000000000003</c:v>
                </c:pt>
                <c:pt idx="22">
                  <c:v>31.463999999999999</c:v>
                </c:pt>
                <c:pt idx="23">
                  <c:v>28.853000000000002</c:v>
                </c:pt>
                <c:pt idx="24">
                  <c:v>29.542999999999999</c:v>
                </c:pt>
                <c:pt idx="25">
                  <c:v>33.115000000000002</c:v>
                </c:pt>
                <c:pt idx="26">
                  <c:v>34.600999999999999</c:v>
                </c:pt>
                <c:pt idx="27">
                  <c:v>34.363</c:v>
                </c:pt>
                <c:pt idx="28">
                  <c:v>28.574000000000002</c:v>
                </c:pt>
                <c:pt idx="29">
                  <c:v>32.473999999999997</c:v>
                </c:pt>
                <c:pt idx="30">
                  <c:v>22.635000000000002</c:v>
                </c:pt>
                <c:pt idx="31">
                  <c:v>25.611000000000001</c:v>
                </c:pt>
                <c:pt idx="32">
                  <c:v>27.544</c:v>
                </c:pt>
                <c:pt idx="33">
                  <c:v>28.484999999999999</c:v>
                </c:pt>
                <c:pt idx="34">
                  <c:v>30.352</c:v>
                </c:pt>
                <c:pt idx="35">
                  <c:v>30.106000000000002</c:v>
                </c:pt>
                <c:pt idx="36">
                  <c:v>26.344999999999999</c:v>
                </c:pt>
                <c:pt idx="37">
                  <c:v>24.210999999999999</c:v>
                </c:pt>
                <c:pt idx="38">
                  <c:v>20.318999999999999</c:v>
                </c:pt>
                <c:pt idx="39">
                  <c:v>23.957000000000001</c:v>
                </c:pt>
                <c:pt idx="40">
                  <c:v>27.719000000000001</c:v>
                </c:pt>
                <c:pt idx="41">
                  <c:v>29.021000000000001</c:v>
                </c:pt>
                <c:pt idx="42">
                  <c:v>22.132000000000001</c:v>
                </c:pt>
                <c:pt idx="43">
                  <c:v>20.829000000000001</c:v>
                </c:pt>
                <c:pt idx="44">
                  <c:v>22.736000000000001</c:v>
                </c:pt>
                <c:pt idx="45">
                  <c:v>23.893000000000001</c:v>
                </c:pt>
                <c:pt idx="46">
                  <c:v>31.373999999999999</c:v>
                </c:pt>
              </c:numCache>
            </c:numRef>
          </c:val>
          <c:smooth val="0"/>
          <c:extLst>
            <c:ext xmlns:c16="http://schemas.microsoft.com/office/drawing/2014/chart" uri="{C3380CC4-5D6E-409C-BE32-E72D297353CC}">
              <c16:uniqueId val="{00000001-8463-1E4A-9EB0-528241184090}"/>
            </c:ext>
          </c:extLst>
        </c:ser>
        <c:ser>
          <c:idx val="2"/>
          <c:order val="2"/>
          <c:tx>
            <c:strRef>
              <c:f>'図09_分析4_天気と吸気温度差'!$I$1</c:f>
              <c:strCache>
                <c:ptCount val="1"/>
                <c:pt idx="0">
                  <c:v>列11（あり）</c:v>
                </c:pt>
              </c:strCache>
            </c:strRef>
          </c:tx>
          <c:spPr>
            <a:ln w="25400" cap="rnd">
              <a:solidFill>
                <a:srgbClr val="118DFF"/>
              </a:solidFill>
              <a:round/>
            </a:ln>
          </c:spPr>
          <c:marker>
            <c:symbol val="none"/>
          </c:marker>
          <c:cat>
            <c:strRef>
              <c:f>'図09_分析4_天気と吸気温度差'!$B$2:$B$48</c:f>
              <c:strCache>
                <c:ptCount val="47"/>
                <c:pt idx="0">
                  <c:v>07-30</c:v>
                </c:pt>
                <c:pt idx="7">
                  <c:v>08-06</c:v>
                </c:pt>
                <c:pt idx="14">
                  <c:v>08-13</c:v>
                </c:pt>
                <c:pt idx="21">
                  <c:v>08-20</c:v>
                </c:pt>
                <c:pt idx="28">
                  <c:v>08-27</c:v>
                </c:pt>
                <c:pt idx="35">
                  <c:v>09-03</c:v>
                </c:pt>
                <c:pt idx="42">
                  <c:v>09-10</c:v>
                </c:pt>
              </c:strCache>
            </c:strRef>
          </c:cat>
          <c:val>
            <c:numRef>
              <c:f>'図09_分析4_天気と吸気温度差'!$I$2:$I$48</c:f>
              <c:numCache>
                <c:formatCode>General</c:formatCode>
                <c:ptCount val="47"/>
                <c:pt idx="0">
                  <c:v>34.929000000000002</c:v>
                </c:pt>
                <c:pt idx="1">
                  <c:v>34.134999999999998</c:v>
                </c:pt>
                <c:pt idx="2">
                  <c:v>34.609000000000002</c:v>
                </c:pt>
                <c:pt idx="3">
                  <c:v>33.31</c:v>
                </c:pt>
                <c:pt idx="4">
                  <c:v>27.207999999999998</c:v>
                </c:pt>
                <c:pt idx="5">
                  <c:v>28.998000000000001</c:v>
                </c:pt>
                <c:pt idx="6">
                  <c:v>30.231999999999999</c:v>
                </c:pt>
                <c:pt idx="7">
                  <c:v>30.116</c:v>
                </c:pt>
                <c:pt idx="8">
                  <c:v>32.380000000000003</c:v>
                </c:pt>
                <c:pt idx="9">
                  <c:v>32.072000000000003</c:v>
                </c:pt>
                <c:pt idx="10">
                  <c:v>32.037999999999997</c:v>
                </c:pt>
                <c:pt idx="11">
                  <c:v>30.390999999999998</c:v>
                </c:pt>
                <c:pt idx="12">
                  <c:v>28.643000000000001</c:v>
                </c:pt>
                <c:pt idx="13">
                  <c:v>27.725999999999999</c:v>
                </c:pt>
                <c:pt idx="14">
                  <c:v>26.056000000000001</c:v>
                </c:pt>
                <c:pt idx="15">
                  <c:v>29.033999999999999</c:v>
                </c:pt>
                <c:pt idx="16">
                  <c:v>27.594000000000001</c:v>
                </c:pt>
                <c:pt idx="17">
                  <c:v>25.263999999999999</c:v>
                </c:pt>
                <c:pt idx="18">
                  <c:v>29.533999999999999</c:v>
                </c:pt>
                <c:pt idx="19">
                  <c:v>30.896999999999998</c:v>
                </c:pt>
                <c:pt idx="20">
                  <c:v>31.283999999999999</c:v>
                </c:pt>
                <c:pt idx="21">
                  <c:v>31.768000000000001</c:v>
                </c:pt>
                <c:pt idx="22">
                  <c:v>30.946000000000002</c:v>
                </c:pt>
                <c:pt idx="23">
                  <c:v>28.803999999999998</c:v>
                </c:pt>
                <c:pt idx="24">
                  <c:v>29.478000000000002</c:v>
                </c:pt>
                <c:pt idx="25">
                  <c:v>32.537999999999997</c:v>
                </c:pt>
                <c:pt idx="26">
                  <c:v>33.965000000000003</c:v>
                </c:pt>
                <c:pt idx="27">
                  <c:v>33.768999999999998</c:v>
                </c:pt>
                <c:pt idx="28">
                  <c:v>28.425999999999998</c:v>
                </c:pt>
                <c:pt idx="29">
                  <c:v>32.180999999999997</c:v>
                </c:pt>
                <c:pt idx="30">
                  <c:v>22.870999999999999</c:v>
                </c:pt>
                <c:pt idx="31">
                  <c:v>25.713000000000001</c:v>
                </c:pt>
                <c:pt idx="32">
                  <c:v>27.471</c:v>
                </c:pt>
                <c:pt idx="33">
                  <c:v>28.402999999999999</c:v>
                </c:pt>
                <c:pt idx="34">
                  <c:v>30.151</c:v>
                </c:pt>
                <c:pt idx="35">
                  <c:v>29.989000000000001</c:v>
                </c:pt>
                <c:pt idx="36">
                  <c:v>26.382999999999999</c:v>
                </c:pt>
                <c:pt idx="37">
                  <c:v>24.097000000000001</c:v>
                </c:pt>
                <c:pt idx="38">
                  <c:v>20.308</c:v>
                </c:pt>
                <c:pt idx="39">
                  <c:v>23.777999999999999</c:v>
                </c:pt>
                <c:pt idx="40">
                  <c:v>27.696000000000002</c:v>
                </c:pt>
                <c:pt idx="41">
                  <c:v>28.916</c:v>
                </c:pt>
                <c:pt idx="42">
                  <c:v>21.9</c:v>
                </c:pt>
                <c:pt idx="43">
                  <c:v>20.524000000000001</c:v>
                </c:pt>
                <c:pt idx="44">
                  <c:v>22.669</c:v>
                </c:pt>
                <c:pt idx="45">
                  <c:v>23.850999999999999</c:v>
                </c:pt>
                <c:pt idx="46">
                  <c:v>30.917000000000002</c:v>
                </c:pt>
              </c:numCache>
            </c:numRef>
          </c:val>
          <c:smooth val="0"/>
          <c:extLst>
            <c:ext xmlns:c16="http://schemas.microsoft.com/office/drawing/2014/chart" uri="{C3380CC4-5D6E-409C-BE32-E72D297353CC}">
              <c16:uniqueId val="{00000002-8463-1E4A-9EB0-528241184090}"/>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out"/>
        <c:minorTickMark val="none"/>
        <c:tickLblPos val="low"/>
        <c:spPr>
          <a:ln w="9525" cap="rnd">
            <a:solidFill>
              <a:srgbClr val="5E6B7A"/>
            </a:solidFill>
            <a:round/>
          </a:ln>
        </c:spPr>
        <c:crossAx val="20"/>
        <c:crosses val="autoZero"/>
        <c:auto val="1"/>
        <c:lblAlgn val="ctr"/>
        <c:lblOffset val="100"/>
        <c:noMultiLvlLbl val="0"/>
      </c:catAx>
      <c:valAx>
        <c:axId val="20"/>
        <c:scaling>
          <c:orientation val="minMax"/>
          <c:max val="37.5"/>
          <c:min val="20"/>
        </c:scaling>
        <c:delete val="0"/>
        <c:axPos val="l"/>
        <c:majorGridlines>
          <c:spPr>
            <a:ln w="9525" cap="rnd">
              <a:solidFill>
                <a:srgbClr val="E3E7EC"/>
              </a:solidFill>
              <a:round/>
            </a:ln>
          </c:spPr>
        </c:majorGridlines>
        <c:title>
          <c:tx>
            <c:rich>
              <a:bodyPr rot="-5400000" vert="horz"/>
              <a:lstStyle/>
              <a:p>
                <a:pPr>
                  <a:defRPr sz="900" b="0"/>
                </a:pPr>
                <a:r>
                  <a:rPr lang="ja-JP" sz="900" b="0"/>
                  <a:t>吸気温度［℃］</a:t>
                </a:r>
              </a:p>
            </c:rich>
          </c:tx>
          <c:overlay val="0"/>
        </c:title>
        <c:numFmt formatCode="0" sourceLinked="0"/>
        <c:majorTickMark val="out"/>
        <c:minorTickMark val="none"/>
        <c:tickLblPos val="nextTo"/>
        <c:spPr>
          <a:ln w="9525" cap="rnd">
            <a:solidFill>
              <a:srgbClr val="5E6B7A"/>
            </a:solidFill>
            <a:round/>
          </a:ln>
        </c:spPr>
        <c:crossAx val="10"/>
        <c:crosses val="autoZero"/>
        <c:crossBetween val="between"/>
        <c:majorUnit val="5"/>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13"/>
          <c:y val="0.13"/>
          <c:w val="0.83"/>
          <c:h val="0.62"/>
        </c:manualLayout>
      </c:layout>
      <c:barChart>
        <c:barDir val="col"/>
        <c:grouping val="clustered"/>
        <c:varyColors val="0"/>
        <c:ser>
          <c:idx val="0"/>
          <c:order val="0"/>
          <c:tx>
            <c:strRef>
              <c:f>'図09_分析4_天気と吸気温度差'!$J$1</c:f>
              <c:strCache>
                <c:ptCount val="1"/>
                <c:pt idx="0">
                  <c:v>列8</c:v>
                </c:pt>
              </c:strCache>
            </c:strRef>
          </c:tx>
          <c:spPr>
            <a:solidFill>
              <a:srgbClr val="01B8AA"/>
            </a:solidFill>
            <a:ln w="6350" cap="rnd">
              <a:solidFill>
                <a:srgbClr val="01B8AA"/>
              </a:solidFill>
              <a:round/>
            </a:ln>
          </c:spPr>
          <c:invertIfNegative val="0"/>
          <c:cat>
            <c:strRef>
              <c:f>'図09_分析4_天気と吸気温度差'!$B$2:$B$48</c:f>
              <c:strCache>
                <c:ptCount val="47"/>
                <c:pt idx="0">
                  <c:v>07-30</c:v>
                </c:pt>
                <c:pt idx="7">
                  <c:v>08-06</c:v>
                </c:pt>
                <c:pt idx="14">
                  <c:v>08-13</c:v>
                </c:pt>
                <c:pt idx="21">
                  <c:v>08-20</c:v>
                </c:pt>
                <c:pt idx="28">
                  <c:v>08-27</c:v>
                </c:pt>
                <c:pt idx="35">
                  <c:v>09-03</c:v>
                </c:pt>
                <c:pt idx="42">
                  <c:v>09-10</c:v>
                </c:pt>
              </c:strCache>
            </c:strRef>
          </c:cat>
          <c:val>
            <c:numRef>
              <c:f>'図09_分析4_天気と吸気温度差'!$J$2:$J$48</c:f>
              <c:numCache>
                <c:formatCode>General</c:formatCode>
                <c:ptCount val="47"/>
                <c:pt idx="0">
                  <c:v>0.44900000000000001</c:v>
                </c:pt>
                <c:pt idx="1">
                  <c:v>0.41099999999999998</c:v>
                </c:pt>
                <c:pt idx="2">
                  <c:v>-2.4E-2</c:v>
                </c:pt>
                <c:pt idx="3">
                  <c:v>0.55200000000000005</c:v>
                </c:pt>
                <c:pt idx="4">
                  <c:v>0.121</c:v>
                </c:pt>
                <c:pt idx="5">
                  <c:v>9.2999999999999999E-2</c:v>
                </c:pt>
                <c:pt idx="6">
                  <c:v>3.5999999999999997E-2</c:v>
                </c:pt>
                <c:pt idx="7">
                  <c:v>-7.2999999999999995E-2</c:v>
                </c:pt>
                <c:pt idx="8">
                  <c:v>-0.249</c:v>
                </c:pt>
                <c:pt idx="9">
                  <c:v>-0.60699999999999998</c:v>
                </c:pt>
                <c:pt idx="10">
                  <c:v>0.371</c:v>
                </c:pt>
                <c:pt idx="11">
                  <c:v>0.379</c:v>
                </c:pt>
                <c:pt idx="12">
                  <c:v>-0.42899999999999999</c:v>
                </c:pt>
                <c:pt idx="13">
                  <c:v>-0.14599999999999999</c:v>
                </c:pt>
                <c:pt idx="14">
                  <c:v>-0.32900000000000001</c:v>
                </c:pt>
                <c:pt idx="15">
                  <c:v>-0.121</c:v>
                </c:pt>
                <c:pt idx="16">
                  <c:v>-0.14399999999999999</c:v>
                </c:pt>
                <c:pt idx="17">
                  <c:v>-0.70799999999999996</c:v>
                </c:pt>
                <c:pt idx="18">
                  <c:v>-0.125</c:v>
                </c:pt>
                <c:pt idx="19">
                  <c:v>0.26500000000000001</c:v>
                </c:pt>
                <c:pt idx="20">
                  <c:v>0.25700000000000001</c:v>
                </c:pt>
                <c:pt idx="21">
                  <c:v>0.34</c:v>
                </c:pt>
                <c:pt idx="22">
                  <c:v>9.2999999999999999E-2</c:v>
                </c:pt>
                <c:pt idx="23">
                  <c:v>-0.47299999999999998</c:v>
                </c:pt>
                <c:pt idx="24">
                  <c:v>-0.24399999999999999</c:v>
                </c:pt>
                <c:pt idx="25">
                  <c:v>0.23699999999999999</c:v>
                </c:pt>
                <c:pt idx="26">
                  <c:v>0.311</c:v>
                </c:pt>
                <c:pt idx="27">
                  <c:v>0.47499999999999998</c:v>
                </c:pt>
                <c:pt idx="28">
                  <c:v>-0.28299999999999997</c:v>
                </c:pt>
                <c:pt idx="29">
                  <c:v>0.36599999999999999</c:v>
                </c:pt>
                <c:pt idx="30">
                  <c:v>-0.871</c:v>
                </c:pt>
                <c:pt idx="31">
                  <c:v>-0.754</c:v>
                </c:pt>
                <c:pt idx="32">
                  <c:v>-0.17899999999999999</c:v>
                </c:pt>
                <c:pt idx="33">
                  <c:v>-0.13300000000000001</c:v>
                </c:pt>
                <c:pt idx="34">
                  <c:v>-0.23899999999999999</c:v>
                </c:pt>
                <c:pt idx="35">
                  <c:v>-0.28799999999999998</c:v>
                </c:pt>
                <c:pt idx="36">
                  <c:v>-0.38800000000000001</c:v>
                </c:pt>
                <c:pt idx="37">
                  <c:v>-0.41</c:v>
                </c:pt>
                <c:pt idx="38">
                  <c:v>-1.637</c:v>
                </c:pt>
                <c:pt idx="39">
                  <c:v>-0.83499999999999996</c:v>
                </c:pt>
                <c:pt idx="40">
                  <c:v>-0.55300000000000005</c:v>
                </c:pt>
                <c:pt idx="41">
                  <c:v>-0.623</c:v>
                </c:pt>
                <c:pt idx="42">
                  <c:v>-0.749</c:v>
                </c:pt>
                <c:pt idx="43">
                  <c:v>-0.40100000000000002</c:v>
                </c:pt>
                <c:pt idx="44">
                  <c:v>-1.5509999999999999</c:v>
                </c:pt>
                <c:pt idx="45">
                  <c:v>-0.95699999999999996</c:v>
                </c:pt>
                <c:pt idx="46">
                  <c:v>-4.3999999999999997E-2</c:v>
                </c:pt>
              </c:numCache>
            </c:numRef>
          </c:val>
          <c:extLst>
            <c:ext xmlns:c16="http://schemas.microsoft.com/office/drawing/2014/chart" uri="{C3380CC4-5D6E-409C-BE32-E72D297353CC}">
              <c16:uniqueId val="{00000000-BC95-6144-B59E-47AAEE5C1F75}"/>
            </c:ext>
          </c:extLst>
        </c:ser>
        <c:ser>
          <c:idx val="1"/>
          <c:order val="1"/>
          <c:tx>
            <c:strRef>
              <c:f>'図09_分析4_天気と吸気温度差'!$K$1</c:f>
              <c:strCache>
                <c:ptCount val="1"/>
                <c:pt idx="0">
                  <c:v>列11</c:v>
                </c:pt>
              </c:strCache>
            </c:strRef>
          </c:tx>
          <c:spPr>
            <a:solidFill>
              <a:srgbClr val="118DFF"/>
            </a:solidFill>
            <a:ln w="6350" cap="rnd">
              <a:solidFill>
                <a:srgbClr val="118DFF"/>
              </a:solidFill>
              <a:round/>
            </a:ln>
          </c:spPr>
          <c:invertIfNegative val="0"/>
          <c:cat>
            <c:strRef>
              <c:f>'図09_分析4_天気と吸気温度差'!$B$2:$B$48</c:f>
              <c:strCache>
                <c:ptCount val="47"/>
                <c:pt idx="0">
                  <c:v>07-30</c:v>
                </c:pt>
                <c:pt idx="7">
                  <c:v>08-06</c:v>
                </c:pt>
                <c:pt idx="14">
                  <c:v>08-13</c:v>
                </c:pt>
                <c:pt idx="21">
                  <c:v>08-20</c:v>
                </c:pt>
                <c:pt idx="28">
                  <c:v>08-27</c:v>
                </c:pt>
                <c:pt idx="35">
                  <c:v>09-03</c:v>
                </c:pt>
                <c:pt idx="42">
                  <c:v>09-10</c:v>
                </c:pt>
              </c:strCache>
            </c:strRef>
          </c:cat>
          <c:val>
            <c:numRef>
              <c:f>'図09_分析4_天気と吸気温度差'!$K$2:$K$48</c:f>
              <c:numCache>
                <c:formatCode>General</c:formatCode>
                <c:ptCount val="47"/>
                <c:pt idx="0">
                  <c:v>7.0000000000000007E-2</c:v>
                </c:pt>
                <c:pt idx="1">
                  <c:v>5.0000000000000001E-3</c:v>
                </c:pt>
                <c:pt idx="2">
                  <c:v>-0.108</c:v>
                </c:pt>
                <c:pt idx="3">
                  <c:v>5.5E-2</c:v>
                </c:pt>
                <c:pt idx="4">
                  <c:v>-5.0999999999999997E-2</c:v>
                </c:pt>
                <c:pt idx="5">
                  <c:v>-0.122</c:v>
                </c:pt>
                <c:pt idx="6">
                  <c:v>-0.11700000000000001</c:v>
                </c:pt>
                <c:pt idx="7">
                  <c:v>-0.24</c:v>
                </c:pt>
                <c:pt idx="8">
                  <c:v>-0.69199999999999995</c:v>
                </c:pt>
                <c:pt idx="9">
                  <c:v>-0.69</c:v>
                </c:pt>
                <c:pt idx="10">
                  <c:v>-0.184</c:v>
                </c:pt>
                <c:pt idx="11">
                  <c:v>-7.2999999999999995E-2</c:v>
                </c:pt>
                <c:pt idx="12">
                  <c:v>-0.374</c:v>
                </c:pt>
                <c:pt idx="13">
                  <c:v>-0.40799999999999997</c:v>
                </c:pt>
                <c:pt idx="14">
                  <c:v>-0.64500000000000002</c:v>
                </c:pt>
                <c:pt idx="15">
                  <c:v>-0.23899999999999999</c:v>
                </c:pt>
                <c:pt idx="16">
                  <c:v>-0.126</c:v>
                </c:pt>
                <c:pt idx="17">
                  <c:v>-0.59299999999999997</c:v>
                </c:pt>
                <c:pt idx="18">
                  <c:v>-0.28599999999999998</c:v>
                </c:pt>
                <c:pt idx="19">
                  <c:v>-7.2999999999999995E-2</c:v>
                </c:pt>
                <c:pt idx="20">
                  <c:v>-5.1999999999999998E-2</c:v>
                </c:pt>
                <c:pt idx="21">
                  <c:v>-0.10299999999999999</c:v>
                </c:pt>
                <c:pt idx="22">
                  <c:v>-0.33600000000000002</c:v>
                </c:pt>
                <c:pt idx="23">
                  <c:v>-0.29899999999999999</c:v>
                </c:pt>
                <c:pt idx="24">
                  <c:v>-0.224</c:v>
                </c:pt>
                <c:pt idx="25">
                  <c:v>-0.218</c:v>
                </c:pt>
                <c:pt idx="26">
                  <c:v>-0.14599999999999999</c:v>
                </c:pt>
                <c:pt idx="27">
                  <c:v>0.111</c:v>
                </c:pt>
                <c:pt idx="28">
                  <c:v>-0.192</c:v>
                </c:pt>
                <c:pt idx="29">
                  <c:v>6.0999999999999999E-2</c:v>
                </c:pt>
                <c:pt idx="30">
                  <c:v>-0.56100000000000005</c:v>
                </c:pt>
                <c:pt idx="31">
                  <c:v>-0.58099999999999996</c:v>
                </c:pt>
                <c:pt idx="32">
                  <c:v>-0.192</c:v>
                </c:pt>
                <c:pt idx="33">
                  <c:v>-0.122</c:v>
                </c:pt>
                <c:pt idx="34">
                  <c:v>-0.34699999999999998</c:v>
                </c:pt>
                <c:pt idx="35">
                  <c:v>-0.376</c:v>
                </c:pt>
                <c:pt idx="36">
                  <c:v>-0.22500000000000001</c:v>
                </c:pt>
                <c:pt idx="37">
                  <c:v>-0.45700000000000002</c:v>
                </c:pt>
                <c:pt idx="38">
                  <c:v>-1.3660000000000001</c:v>
                </c:pt>
                <c:pt idx="39">
                  <c:v>-0.92700000000000005</c:v>
                </c:pt>
                <c:pt idx="40">
                  <c:v>-0.39200000000000002</c:v>
                </c:pt>
                <c:pt idx="41">
                  <c:v>-0.61799999999999999</c:v>
                </c:pt>
                <c:pt idx="42">
                  <c:v>-0.68600000000000005</c:v>
                </c:pt>
                <c:pt idx="43">
                  <c:v>-0.436</c:v>
                </c:pt>
                <c:pt idx="44">
                  <c:v>-1.246</c:v>
                </c:pt>
                <c:pt idx="45">
                  <c:v>-0.83199999999999996</c:v>
                </c:pt>
                <c:pt idx="46">
                  <c:v>-0.39800000000000002</c:v>
                </c:pt>
              </c:numCache>
            </c:numRef>
          </c:val>
          <c:extLst>
            <c:ext xmlns:c16="http://schemas.microsoft.com/office/drawing/2014/chart" uri="{C3380CC4-5D6E-409C-BE32-E72D297353CC}">
              <c16:uniqueId val="{00000001-BC95-6144-B59E-47AAEE5C1F75}"/>
            </c:ext>
          </c:extLst>
        </c:ser>
        <c:dLbls>
          <c:showLegendKey val="0"/>
          <c:showVal val="0"/>
          <c:showCatName val="0"/>
          <c:showSerName val="0"/>
          <c:showPercent val="0"/>
          <c:showBubbleSize val="0"/>
        </c:dLbls>
        <c:gapWidth val="30"/>
        <c:axId val="10"/>
        <c:axId val="20"/>
      </c:barChart>
      <c:catAx>
        <c:axId val="10"/>
        <c:scaling>
          <c:orientation val="minMax"/>
        </c:scaling>
        <c:delete val="0"/>
        <c:axPos val="b"/>
        <c:numFmt formatCode="General" sourceLinked="1"/>
        <c:majorTickMark val="out"/>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1"/>
          <c:min val="-2"/>
        </c:scaling>
        <c:delete val="0"/>
        <c:axPos val="l"/>
        <c:majorGridlines>
          <c:spPr>
            <a:ln w="9525" cap="rnd">
              <a:solidFill>
                <a:srgbClr val="E3E7EC"/>
              </a:solidFill>
              <a:round/>
            </a:ln>
          </c:spPr>
        </c:majorGridlines>
        <c:title>
          <c:tx>
            <c:rich>
              <a:bodyPr rot="-5400000" vert="horz"/>
              <a:lstStyle/>
              <a:p>
                <a:pPr>
                  <a:defRPr sz="900" b="0"/>
                </a:pPr>
                <a:r>
                  <a:rPr lang="ja-JP" sz="900" b="0"/>
                  <a:t>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1"/>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13"/>
          <c:y val="0.05"/>
          <c:w val="0.83"/>
          <c:h val="0.4"/>
        </c:manualLayout>
      </c:layout>
      <c:barChart>
        <c:barDir val="col"/>
        <c:grouping val="stacked"/>
        <c:varyColors val="0"/>
        <c:ser>
          <c:idx val="0"/>
          <c:order val="0"/>
          <c:tx>
            <c:strRef>
              <c:f>'図09_分析4_天気と吸気温度差'!$L$1</c:f>
              <c:strCache>
                <c:ptCount val="1"/>
                <c:pt idx="0">
                  <c:v>休日（下の帯）</c:v>
                </c:pt>
              </c:strCache>
            </c:strRef>
          </c:tx>
          <c:spPr>
            <a:solidFill>
              <a:srgbClr val="5E6B7A"/>
            </a:solidFill>
            <a:ln w="6350" cap="rnd">
              <a:solidFill>
                <a:srgbClr val="5E6B7A"/>
              </a:solidFill>
              <a:round/>
            </a:ln>
          </c:spPr>
          <c:invertIfNegative val="0"/>
          <c:cat>
            <c:strRef>
              <c:f>'図09_分析4_天気と吸気温度差'!$B$2:$B$48</c:f>
              <c:strCache>
                <c:ptCount val="47"/>
                <c:pt idx="0">
                  <c:v>07-30</c:v>
                </c:pt>
                <c:pt idx="7">
                  <c:v>08-06</c:v>
                </c:pt>
                <c:pt idx="14">
                  <c:v>08-13</c:v>
                </c:pt>
                <c:pt idx="21">
                  <c:v>08-20</c:v>
                </c:pt>
                <c:pt idx="28">
                  <c:v>08-27</c:v>
                </c:pt>
                <c:pt idx="35">
                  <c:v>09-03</c:v>
                </c:pt>
                <c:pt idx="42">
                  <c:v>09-10</c:v>
                </c:pt>
              </c:strCache>
            </c:strRef>
          </c:cat>
          <c:val>
            <c:numRef>
              <c:f>'図09_分析4_天気と吸気温度差'!$L$2:$L$48</c:f>
              <c:numCache>
                <c:formatCode>General</c:formatCode>
                <c:ptCount val="47"/>
                <c:pt idx="2">
                  <c:v>0.2</c:v>
                </c:pt>
                <c:pt idx="3">
                  <c:v>0.2</c:v>
                </c:pt>
                <c:pt idx="9">
                  <c:v>0.2</c:v>
                </c:pt>
                <c:pt idx="10">
                  <c:v>0.2</c:v>
                </c:pt>
                <c:pt idx="12">
                  <c:v>0.2</c:v>
                </c:pt>
                <c:pt idx="16">
                  <c:v>0.2</c:v>
                </c:pt>
                <c:pt idx="17">
                  <c:v>0.2</c:v>
                </c:pt>
                <c:pt idx="23">
                  <c:v>0.2</c:v>
                </c:pt>
                <c:pt idx="24">
                  <c:v>0.2</c:v>
                </c:pt>
                <c:pt idx="30">
                  <c:v>0.2</c:v>
                </c:pt>
                <c:pt idx="31">
                  <c:v>0.2</c:v>
                </c:pt>
                <c:pt idx="37">
                  <c:v>0.2</c:v>
                </c:pt>
                <c:pt idx="38">
                  <c:v>0.2</c:v>
                </c:pt>
                <c:pt idx="44">
                  <c:v>0.2</c:v>
                </c:pt>
                <c:pt idx="45">
                  <c:v>0.2</c:v>
                </c:pt>
              </c:numCache>
            </c:numRef>
          </c:val>
          <c:extLst>
            <c:ext xmlns:c16="http://schemas.microsoft.com/office/drawing/2014/chart" uri="{C3380CC4-5D6E-409C-BE32-E72D297353CC}">
              <c16:uniqueId val="{00000000-C851-8043-B61D-3A41802C16F1}"/>
            </c:ext>
          </c:extLst>
        </c:ser>
        <c:ser>
          <c:idx val="1"/>
          <c:order val="1"/>
          <c:tx>
            <c:strRef>
              <c:f>'図09_分析4_天気と吸気温度差'!$M$1</c:f>
              <c:strCache>
                <c:ptCount val="1"/>
                <c:pt idx="0">
                  <c:v>勤務日（下の帯）</c:v>
                </c:pt>
              </c:strCache>
            </c:strRef>
          </c:tx>
          <c:spPr>
            <a:solidFill>
              <a:srgbClr val="FFFFFF"/>
            </a:solidFill>
            <a:ln w="6350" cap="rnd">
              <a:solidFill>
                <a:srgbClr val="FFFFFF"/>
              </a:solidFill>
              <a:round/>
            </a:ln>
          </c:spPr>
          <c:invertIfNegative val="0"/>
          <c:cat>
            <c:strRef>
              <c:f>'図09_分析4_天気と吸気温度差'!$B$2:$B$48</c:f>
              <c:strCache>
                <c:ptCount val="47"/>
                <c:pt idx="0">
                  <c:v>07-30</c:v>
                </c:pt>
                <c:pt idx="7">
                  <c:v>08-06</c:v>
                </c:pt>
                <c:pt idx="14">
                  <c:v>08-13</c:v>
                </c:pt>
                <c:pt idx="21">
                  <c:v>08-20</c:v>
                </c:pt>
                <c:pt idx="28">
                  <c:v>08-27</c:v>
                </c:pt>
                <c:pt idx="35">
                  <c:v>09-03</c:v>
                </c:pt>
                <c:pt idx="42">
                  <c:v>09-10</c:v>
                </c:pt>
              </c:strCache>
            </c:strRef>
          </c:cat>
          <c:val>
            <c:numRef>
              <c:f>'図09_分析4_天気と吸気温度差'!$M$2:$M$48</c:f>
              <c:numCache>
                <c:formatCode>General</c:formatCode>
                <c:ptCount val="47"/>
                <c:pt idx="0">
                  <c:v>0.2</c:v>
                </c:pt>
                <c:pt idx="1">
                  <c:v>0.2</c:v>
                </c:pt>
                <c:pt idx="4">
                  <c:v>0.2</c:v>
                </c:pt>
                <c:pt idx="5">
                  <c:v>0.2</c:v>
                </c:pt>
                <c:pt idx="6">
                  <c:v>0.2</c:v>
                </c:pt>
                <c:pt idx="7">
                  <c:v>0.2</c:v>
                </c:pt>
                <c:pt idx="8">
                  <c:v>0.2</c:v>
                </c:pt>
                <c:pt idx="11">
                  <c:v>0.2</c:v>
                </c:pt>
                <c:pt idx="13">
                  <c:v>0.2</c:v>
                </c:pt>
                <c:pt idx="14">
                  <c:v>0.2</c:v>
                </c:pt>
                <c:pt idx="15">
                  <c:v>0.2</c:v>
                </c:pt>
                <c:pt idx="18">
                  <c:v>0.2</c:v>
                </c:pt>
                <c:pt idx="19">
                  <c:v>0.2</c:v>
                </c:pt>
                <c:pt idx="20">
                  <c:v>0.2</c:v>
                </c:pt>
                <c:pt idx="21">
                  <c:v>0.2</c:v>
                </c:pt>
                <c:pt idx="22">
                  <c:v>0.2</c:v>
                </c:pt>
                <c:pt idx="25">
                  <c:v>0.2</c:v>
                </c:pt>
                <c:pt idx="26">
                  <c:v>0.2</c:v>
                </c:pt>
                <c:pt idx="27">
                  <c:v>0.2</c:v>
                </c:pt>
                <c:pt idx="28">
                  <c:v>0.2</c:v>
                </c:pt>
                <c:pt idx="29">
                  <c:v>0.2</c:v>
                </c:pt>
                <c:pt idx="32">
                  <c:v>0.2</c:v>
                </c:pt>
                <c:pt idx="33">
                  <c:v>0.2</c:v>
                </c:pt>
                <c:pt idx="34">
                  <c:v>0.2</c:v>
                </c:pt>
                <c:pt idx="35">
                  <c:v>0.2</c:v>
                </c:pt>
                <c:pt idx="36">
                  <c:v>0.2</c:v>
                </c:pt>
                <c:pt idx="39">
                  <c:v>0.2</c:v>
                </c:pt>
                <c:pt idx="40">
                  <c:v>0.2</c:v>
                </c:pt>
                <c:pt idx="41">
                  <c:v>0.2</c:v>
                </c:pt>
                <c:pt idx="42">
                  <c:v>0.2</c:v>
                </c:pt>
                <c:pt idx="43">
                  <c:v>0.2</c:v>
                </c:pt>
                <c:pt idx="46">
                  <c:v>0.2</c:v>
                </c:pt>
              </c:numCache>
            </c:numRef>
          </c:val>
          <c:extLst>
            <c:ext xmlns:c16="http://schemas.microsoft.com/office/drawing/2014/chart" uri="{C3380CC4-5D6E-409C-BE32-E72D297353CC}">
              <c16:uniqueId val="{00000001-C851-8043-B61D-3A41802C16F1}"/>
            </c:ext>
          </c:extLst>
        </c:ser>
        <c:ser>
          <c:idx val="2"/>
          <c:order val="2"/>
          <c:tx>
            <c:strRef>
              <c:f>'図09_分析4_天気と吸気温度差'!$N$1</c:f>
              <c:strCache>
                <c:ptCount val="1"/>
                <c:pt idx="0">
                  <c:v>極弱風</c:v>
                </c:pt>
              </c:strCache>
            </c:strRef>
          </c:tx>
          <c:spPr>
            <a:solidFill>
              <a:srgbClr val="BDD7EE"/>
            </a:solidFill>
            <a:ln w="6350" cap="rnd">
              <a:solidFill>
                <a:srgbClr val="BDD7EE"/>
              </a:solidFill>
              <a:round/>
            </a:ln>
          </c:spPr>
          <c:invertIfNegative val="0"/>
          <c:cat>
            <c:strRef>
              <c:f>'図09_分析4_天気と吸気温度差'!$B$2:$B$48</c:f>
              <c:strCache>
                <c:ptCount val="47"/>
                <c:pt idx="0">
                  <c:v>07-30</c:v>
                </c:pt>
                <c:pt idx="7">
                  <c:v>08-06</c:v>
                </c:pt>
                <c:pt idx="14">
                  <c:v>08-13</c:v>
                </c:pt>
                <c:pt idx="21">
                  <c:v>08-20</c:v>
                </c:pt>
                <c:pt idx="28">
                  <c:v>08-27</c:v>
                </c:pt>
                <c:pt idx="35">
                  <c:v>09-03</c:v>
                </c:pt>
                <c:pt idx="42">
                  <c:v>09-10</c:v>
                </c:pt>
              </c:strCache>
            </c:strRef>
          </c:cat>
          <c:val>
            <c:numRef>
              <c:f>'図09_分析4_天気と吸気温度差'!$N$2:$N$48</c:f>
              <c:numCache>
                <c:formatCode>General</c:formatCode>
                <c:ptCount val="47"/>
                <c:pt idx="16">
                  <c:v>1</c:v>
                </c:pt>
                <c:pt idx="17">
                  <c:v>1</c:v>
                </c:pt>
                <c:pt idx="30">
                  <c:v>1</c:v>
                </c:pt>
                <c:pt idx="31">
                  <c:v>1</c:v>
                </c:pt>
                <c:pt idx="32">
                  <c:v>1</c:v>
                </c:pt>
                <c:pt idx="33">
                  <c:v>1</c:v>
                </c:pt>
                <c:pt idx="39">
                  <c:v>1</c:v>
                </c:pt>
              </c:numCache>
            </c:numRef>
          </c:val>
          <c:extLst>
            <c:ext xmlns:c16="http://schemas.microsoft.com/office/drawing/2014/chart" uri="{C3380CC4-5D6E-409C-BE32-E72D297353CC}">
              <c16:uniqueId val="{00000002-C851-8043-B61D-3A41802C16F1}"/>
            </c:ext>
          </c:extLst>
        </c:ser>
        <c:ser>
          <c:idx val="3"/>
          <c:order val="3"/>
          <c:tx>
            <c:strRef>
              <c:f>'図09_分析4_天気と吸気温度差'!$O$1</c:f>
              <c:strCache>
                <c:ptCount val="1"/>
                <c:pt idx="0">
                  <c:v>弱風</c:v>
                </c:pt>
              </c:strCache>
            </c:strRef>
          </c:tx>
          <c:spPr>
            <a:solidFill>
              <a:srgbClr val="6FA8DC"/>
            </a:solidFill>
            <a:ln w="6350" cap="rnd">
              <a:solidFill>
                <a:srgbClr val="6FA8DC"/>
              </a:solidFill>
              <a:round/>
            </a:ln>
          </c:spPr>
          <c:invertIfNegative val="0"/>
          <c:cat>
            <c:strRef>
              <c:f>'図09_分析4_天気と吸気温度差'!$B$2:$B$48</c:f>
              <c:strCache>
                <c:ptCount val="47"/>
                <c:pt idx="0">
                  <c:v>07-30</c:v>
                </c:pt>
                <c:pt idx="7">
                  <c:v>08-06</c:v>
                </c:pt>
                <c:pt idx="14">
                  <c:v>08-13</c:v>
                </c:pt>
                <c:pt idx="21">
                  <c:v>08-20</c:v>
                </c:pt>
                <c:pt idx="28">
                  <c:v>08-27</c:v>
                </c:pt>
                <c:pt idx="35">
                  <c:v>09-03</c:v>
                </c:pt>
                <c:pt idx="42">
                  <c:v>09-10</c:v>
                </c:pt>
              </c:strCache>
            </c:strRef>
          </c:cat>
          <c:val>
            <c:numRef>
              <c:f>'図09_分析4_天気と吸気温度差'!$O$2:$O$48</c:f>
              <c:numCache>
                <c:formatCode>General</c:formatCode>
                <c:ptCount val="47"/>
                <c:pt idx="0">
                  <c:v>1</c:v>
                </c:pt>
                <c:pt idx="1">
                  <c:v>1</c:v>
                </c:pt>
                <c:pt idx="2">
                  <c:v>1</c:v>
                </c:pt>
                <c:pt idx="3">
                  <c:v>1</c:v>
                </c:pt>
                <c:pt idx="4">
                  <c:v>1</c:v>
                </c:pt>
                <c:pt idx="5">
                  <c:v>1</c:v>
                </c:pt>
                <c:pt idx="6">
                  <c:v>1</c:v>
                </c:pt>
                <c:pt idx="7">
                  <c:v>1</c:v>
                </c:pt>
                <c:pt idx="10">
                  <c:v>1</c:v>
                </c:pt>
                <c:pt idx="11">
                  <c:v>1</c:v>
                </c:pt>
                <c:pt idx="12">
                  <c:v>1</c:v>
                </c:pt>
                <c:pt idx="13">
                  <c:v>1</c:v>
                </c:pt>
                <c:pt idx="14">
                  <c:v>1</c:v>
                </c:pt>
                <c:pt idx="15">
                  <c:v>1</c:v>
                </c:pt>
                <c:pt idx="18">
                  <c:v>1</c:v>
                </c:pt>
                <c:pt idx="20">
                  <c:v>1</c:v>
                </c:pt>
                <c:pt idx="21">
                  <c:v>1</c:v>
                </c:pt>
                <c:pt idx="23">
                  <c:v>1</c:v>
                </c:pt>
                <c:pt idx="24">
                  <c:v>1</c:v>
                </c:pt>
                <c:pt idx="27">
                  <c:v>1</c:v>
                </c:pt>
                <c:pt idx="28">
                  <c:v>1</c:v>
                </c:pt>
                <c:pt idx="29">
                  <c:v>1</c:v>
                </c:pt>
                <c:pt idx="34">
                  <c:v>1</c:v>
                </c:pt>
                <c:pt idx="35">
                  <c:v>1</c:v>
                </c:pt>
                <c:pt idx="36">
                  <c:v>1</c:v>
                </c:pt>
                <c:pt idx="37">
                  <c:v>1</c:v>
                </c:pt>
                <c:pt idx="38">
                  <c:v>1</c:v>
                </c:pt>
                <c:pt idx="40">
                  <c:v>1</c:v>
                </c:pt>
                <c:pt idx="42">
                  <c:v>1</c:v>
                </c:pt>
                <c:pt idx="43">
                  <c:v>1</c:v>
                </c:pt>
                <c:pt idx="44">
                  <c:v>1</c:v>
                </c:pt>
                <c:pt idx="45">
                  <c:v>1</c:v>
                </c:pt>
              </c:numCache>
            </c:numRef>
          </c:val>
          <c:extLst>
            <c:ext xmlns:c16="http://schemas.microsoft.com/office/drawing/2014/chart" uri="{C3380CC4-5D6E-409C-BE32-E72D297353CC}">
              <c16:uniqueId val="{00000003-C851-8043-B61D-3A41802C16F1}"/>
            </c:ext>
          </c:extLst>
        </c:ser>
        <c:ser>
          <c:idx val="4"/>
          <c:order val="4"/>
          <c:tx>
            <c:strRef>
              <c:f>'図09_分析4_天気と吸気温度差'!$P$1</c:f>
              <c:strCache>
                <c:ptCount val="1"/>
                <c:pt idx="0">
                  <c:v>中風</c:v>
                </c:pt>
              </c:strCache>
            </c:strRef>
          </c:tx>
          <c:spPr>
            <a:solidFill>
              <a:srgbClr val="2E75B6"/>
            </a:solidFill>
            <a:ln w="6350" cap="rnd">
              <a:solidFill>
                <a:srgbClr val="2E75B6"/>
              </a:solidFill>
              <a:round/>
            </a:ln>
          </c:spPr>
          <c:invertIfNegative val="0"/>
          <c:cat>
            <c:strRef>
              <c:f>'図09_分析4_天気と吸気温度差'!$B$2:$B$48</c:f>
              <c:strCache>
                <c:ptCount val="47"/>
                <c:pt idx="0">
                  <c:v>07-30</c:v>
                </c:pt>
                <c:pt idx="7">
                  <c:v>08-06</c:v>
                </c:pt>
                <c:pt idx="14">
                  <c:v>08-13</c:v>
                </c:pt>
                <c:pt idx="21">
                  <c:v>08-20</c:v>
                </c:pt>
                <c:pt idx="28">
                  <c:v>08-27</c:v>
                </c:pt>
                <c:pt idx="35">
                  <c:v>09-03</c:v>
                </c:pt>
                <c:pt idx="42">
                  <c:v>09-10</c:v>
                </c:pt>
              </c:strCache>
            </c:strRef>
          </c:cat>
          <c:val>
            <c:numRef>
              <c:f>'図09_分析4_天気と吸気温度差'!$P$2:$P$48</c:f>
              <c:numCache>
                <c:formatCode>General</c:formatCode>
                <c:ptCount val="47"/>
                <c:pt idx="8">
                  <c:v>1</c:v>
                </c:pt>
                <c:pt idx="9">
                  <c:v>1</c:v>
                </c:pt>
                <c:pt idx="19">
                  <c:v>1</c:v>
                </c:pt>
                <c:pt idx="22">
                  <c:v>1</c:v>
                </c:pt>
                <c:pt idx="25">
                  <c:v>1</c:v>
                </c:pt>
                <c:pt idx="26">
                  <c:v>1</c:v>
                </c:pt>
                <c:pt idx="41">
                  <c:v>1</c:v>
                </c:pt>
              </c:numCache>
            </c:numRef>
          </c:val>
          <c:extLst>
            <c:ext xmlns:c16="http://schemas.microsoft.com/office/drawing/2014/chart" uri="{C3380CC4-5D6E-409C-BE32-E72D297353CC}">
              <c16:uniqueId val="{00000004-C851-8043-B61D-3A41802C16F1}"/>
            </c:ext>
          </c:extLst>
        </c:ser>
        <c:ser>
          <c:idx val="5"/>
          <c:order val="5"/>
          <c:tx>
            <c:strRef>
              <c:f>'図09_分析4_天気と吸気温度差'!$Q$1</c:f>
              <c:strCache>
                <c:ptCount val="1"/>
                <c:pt idx="0">
                  <c:v>強風</c:v>
                </c:pt>
              </c:strCache>
            </c:strRef>
          </c:tx>
          <c:spPr>
            <a:solidFill>
              <a:srgbClr val="1F3864"/>
            </a:solidFill>
            <a:ln w="6350" cap="rnd">
              <a:solidFill>
                <a:srgbClr val="1F3864"/>
              </a:solidFill>
              <a:round/>
            </a:ln>
          </c:spPr>
          <c:invertIfNegative val="0"/>
          <c:cat>
            <c:strRef>
              <c:f>'図09_分析4_天気と吸気温度差'!$B$2:$B$48</c:f>
              <c:strCache>
                <c:ptCount val="47"/>
                <c:pt idx="0">
                  <c:v>07-30</c:v>
                </c:pt>
                <c:pt idx="7">
                  <c:v>08-06</c:v>
                </c:pt>
                <c:pt idx="14">
                  <c:v>08-13</c:v>
                </c:pt>
                <c:pt idx="21">
                  <c:v>08-20</c:v>
                </c:pt>
                <c:pt idx="28">
                  <c:v>08-27</c:v>
                </c:pt>
                <c:pt idx="35">
                  <c:v>09-03</c:v>
                </c:pt>
                <c:pt idx="42">
                  <c:v>09-10</c:v>
                </c:pt>
              </c:strCache>
            </c:strRef>
          </c:cat>
          <c:val>
            <c:numRef>
              <c:f>'図09_分析4_天気と吸気温度差'!$Q$2:$Q$48</c:f>
              <c:numCache>
                <c:formatCode>General</c:formatCode>
                <c:ptCount val="47"/>
              </c:numCache>
            </c:numRef>
          </c:val>
          <c:extLst>
            <c:ext xmlns:c16="http://schemas.microsoft.com/office/drawing/2014/chart" uri="{C3380CC4-5D6E-409C-BE32-E72D297353CC}">
              <c16:uniqueId val="{00000005-C851-8043-B61D-3A41802C16F1}"/>
            </c:ext>
          </c:extLst>
        </c:ser>
        <c:ser>
          <c:idx val="6"/>
          <c:order val="6"/>
          <c:tx>
            <c:strRef>
              <c:f>'図09_分析4_天気と吸気温度差'!$R$1</c:f>
              <c:strCache>
                <c:ptCount val="1"/>
                <c:pt idx="0">
                  <c:v>データなし</c:v>
                </c:pt>
              </c:strCache>
            </c:strRef>
          </c:tx>
          <c:spPr>
            <a:solidFill>
              <a:srgbClr val="D9D9D9"/>
            </a:solidFill>
            <a:ln w="6350" cap="rnd">
              <a:solidFill>
                <a:srgbClr val="D9D9D9"/>
              </a:solidFill>
              <a:round/>
            </a:ln>
          </c:spPr>
          <c:invertIfNegative val="0"/>
          <c:cat>
            <c:strRef>
              <c:f>'図09_分析4_天気と吸気温度差'!$B$2:$B$48</c:f>
              <c:strCache>
                <c:ptCount val="47"/>
                <c:pt idx="0">
                  <c:v>07-30</c:v>
                </c:pt>
                <c:pt idx="7">
                  <c:v>08-06</c:v>
                </c:pt>
                <c:pt idx="14">
                  <c:v>08-13</c:v>
                </c:pt>
                <c:pt idx="21">
                  <c:v>08-20</c:v>
                </c:pt>
                <c:pt idx="28">
                  <c:v>08-27</c:v>
                </c:pt>
                <c:pt idx="35">
                  <c:v>09-03</c:v>
                </c:pt>
                <c:pt idx="42">
                  <c:v>09-10</c:v>
                </c:pt>
              </c:strCache>
            </c:strRef>
          </c:cat>
          <c:val>
            <c:numRef>
              <c:f>'図09_分析4_天気と吸気温度差'!$R$2:$R$48</c:f>
              <c:numCache>
                <c:formatCode>General</c:formatCode>
                <c:ptCount val="47"/>
                <c:pt idx="46">
                  <c:v>1</c:v>
                </c:pt>
              </c:numCache>
            </c:numRef>
          </c:val>
          <c:extLst>
            <c:ext xmlns:c16="http://schemas.microsoft.com/office/drawing/2014/chart" uri="{C3380CC4-5D6E-409C-BE32-E72D297353CC}">
              <c16:uniqueId val="{00000006-C851-8043-B61D-3A41802C16F1}"/>
            </c:ext>
          </c:extLst>
        </c:ser>
        <c:dLbls>
          <c:showLegendKey val="0"/>
          <c:showVal val="0"/>
          <c:showCatName val="0"/>
          <c:showSerName val="0"/>
          <c:showPercent val="0"/>
          <c:showBubbleSize val="0"/>
        </c:dLbls>
        <c:gapWidth val="8"/>
        <c:overlap val="100"/>
        <c:axId val="10"/>
        <c:axId val="20"/>
      </c:barChart>
      <c:catAx>
        <c:axId val="10"/>
        <c:scaling>
          <c:orientation val="minMax"/>
        </c:scaling>
        <c:delete val="0"/>
        <c:axPos val="b"/>
        <c:numFmt formatCode="General" sourceLinked="1"/>
        <c:majorTickMark val="out"/>
        <c:minorTickMark val="none"/>
        <c:tickLblPos val="low"/>
        <c:spPr>
          <a:ln w="9525" cap="rnd">
            <a:solidFill>
              <a:srgbClr val="5E6B7A"/>
            </a:solidFill>
            <a:round/>
          </a:ln>
        </c:spPr>
        <c:crossAx val="20"/>
        <c:crosses val="autoZero"/>
        <c:auto val="1"/>
        <c:lblAlgn val="ctr"/>
        <c:lblOffset val="100"/>
        <c:noMultiLvlLbl val="0"/>
      </c:catAx>
      <c:valAx>
        <c:axId val="20"/>
        <c:scaling>
          <c:orientation val="minMax"/>
          <c:max val="1.2"/>
          <c:min val="0"/>
        </c:scaling>
        <c:delete val="1"/>
        <c:axPos val="l"/>
        <c:title>
          <c:tx>
            <c:rich>
              <a:bodyPr rot="-5400000" vert="horz"/>
              <a:lstStyle/>
              <a:p>
                <a:pPr>
                  <a:defRPr sz="900" b="0"/>
                </a:pPr>
                <a:r>
                  <a:rPr lang="ja-JP" sz="900" b="0"/>
                  <a:t>風速</a:t>
                </a:r>
              </a:p>
            </c:rich>
          </c:tx>
          <c:overlay val="0"/>
        </c:title>
        <c:numFmt formatCode="0.0" sourceLinked="0"/>
        <c:majorTickMark val="out"/>
        <c:minorTickMark val="none"/>
        <c:tickLblPos val="nextTo"/>
        <c:crossAx val="10"/>
        <c:crosses val="autoZero"/>
        <c:crossBetween val="between"/>
        <c:majorUnit val="1"/>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lineChart>
        <c:grouping val="standard"/>
        <c:varyColors val="0"/>
        <c:ser>
          <c:idx val="0"/>
          <c:order val="0"/>
          <c:tx>
            <c:strRef>
              <c:f>'図14_分析7_推移'!$C$1</c:f>
              <c:strCache>
                <c:ptCount val="1"/>
                <c:pt idx="0">
                  <c:v>列8（そのまま）</c:v>
                </c:pt>
              </c:strCache>
            </c:strRef>
          </c:tx>
          <c:spPr>
            <a:ln>
              <a:noFill/>
            </a:ln>
          </c:spPr>
          <c:marker>
            <c:symbol val="circle"/>
            <c:size val="4"/>
            <c:spPr>
              <a:solidFill>
                <a:srgbClr val="9FE3DB"/>
              </a:solidFill>
              <a:ln w="9525" cap="rnd">
                <a:solidFill>
                  <a:srgbClr val="9FE3DB"/>
                </a:solidFill>
                <a:round/>
              </a:ln>
            </c:spPr>
          </c:marker>
          <c:cat>
            <c:strRef>
              <c:f>'図14_分析7_推移'!$B$2:$B$7</c:f>
              <c:strCache>
                <c:ptCount val="6"/>
                <c:pt idx="0">
                  <c:v>1.0以下</c:v>
                </c:pt>
                <c:pt idx="1">
                  <c:v>1.0〜1.5</c:v>
                </c:pt>
                <c:pt idx="2">
                  <c:v>1.5〜2.0</c:v>
                </c:pt>
                <c:pt idx="3">
                  <c:v>2.0〜2.7</c:v>
                </c:pt>
                <c:pt idx="4">
                  <c:v>2.7〜3.4</c:v>
                </c:pt>
                <c:pt idx="5">
                  <c:v>3.4〜4.1</c:v>
                </c:pt>
              </c:strCache>
            </c:strRef>
          </c:cat>
          <c:val>
            <c:numRef>
              <c:f>'図14_分析7_推移'!$C$2:$C$7</c:f>
              <c:numCache>
                <c:formatCode>General</c:formatCode>
                <c:ptCount val="6"/>
                <c:pt idx="0">
                  <c:v>-0.09</c:v>
                </c:pt>
                <c:pt idx="1">
                  <c:v>-7.6999999999999999E-2</c:v>
                </c:pt>
                <c:pt idx="2">
                  <c:v>-0.24099999999999999</c:v>
                </c:pt>
                <c:pt idx="3">
                  <c:v>4.7E-2</c:v>
                </c:pt>
                <c:pt idx="4">
                  <c:v>3.5999999999999997E-2</c:v>
                </c:pt>
                <c:pt idx="5">
                  <c:v>5.0999999999999997E-2</c:v>
                </c:pt>
              </c:numCache>
            </c:numRef>
          </c:val>
          <c:smooth val="0"/>
          <c:extLst>
            <c:ext xmlns:c16="http://schemas.microsoft.com/office/drawing/2014/chart" uri="{C3380CC4-5D6E-409C-BE32-E72D297353CC}">
              <c16:uniqueId val="{00000000-BF18-8E43-98DA-4FA109A78CDA}"/>
            </c:ext>
          </c:extLst>
        </c:ser>
        <c:ser>
          <c:idx val="1"/>
          <c:order val="1"/>
          <c:tx>
            <c:strRef>
              <c:f>'図14_分析7_推移'!$D$1</c:f>
              <c:strCache>
                <c:ptCount val="1"/>
                <c:pt idx="0">
                  <c:v>列8（気温・雨をそろえた値）</c:v>
                </c:pt>
              </c:strCache>
            </c:strRef>
          </c:tx>
          <c:spPr>
            <a:ln w="28575" cap="rnd">
              <a:solidFill>
                <a:srgbClr val="01B8AA"/>
              </a:solidFill>
              <a:round/>
            </a:ln>
          </c:spPr>
          <c:marker>
            <c:symbol val="none"/>
          </c:marker>
          <c:cat>
            <c:strRef>
              <c:f>'図14_分析7_推移'!$B$2:$B$7</c:f>
              <c:strCache>
                <c:ptCount val="6"/>
                <c:pt idx="0">
                  <c:v>1.0以下</c:v>
                </c:pt>
                <c:pt idx="1">
                  <c:v>1.0〜1.5</c:v>
                </c:pt>
                <c:pt idx="2">
                  <c:v>1.5〜2.0</c:v>
                </c:pt>
                <c:pt idx="3">
                  <c:v>2.0〜2.7</c:v>
                </c:pt>
                <c:pt idx="4">
                  <c:v>2.7〜3.4</c:v>
                </c:pt>
                <c:pt idx="5">
                  <c:v>3.4〜4.1</c:v>
                </c:pt>
              </c:strCache>
            </c:strRef>
          </c:cat>
          <c:val>
            <c:numRef>
              <c:f>'図14_分析7_推移'!$D$2:$D$7</c:f>
              <c:numCache>
                <c:formatCode>General</c:formatCode>
                <c:ptCount val="6"/>
                <c:pt idx="0">
                  <c:v>5.1999999999999998E-2</c:v>
                </c:pt>
                <c:pt idx="1">
                  <c:v>-7.9000000000000001E-2</c:v>
                </c:pt>
                <c:pt idx="2">
                  <c:v>-0.16500000000000001</c:v>
                </c:pt>
                <c:pt idx="3">
                  <c:v>-0.01</c:v>
                </c:pt>
                <c:pt idx="4">
                  <c:v>-0.105</c:v>
                </c:pt>
                <c:pt idx="5">
                  <c:v>8.9999999999999993E-3</c:v>
                </c:pt>
              </c:numCache>
            </c:numRef>
          </c:val>
          <c:smooth val="0"/>
          <c:extLst>
            <c:ext xmlns:c16="http://schemas.microsoft.com/office/drawing/2014/chart" uri="{C3380CC4-5D6E-409C-BE32-E72D297353CC}">
              <c16:uniqueId val="{00000001-BF18-8E43-98DA-4FA109A78CDA}"/>
            </c:ext>
          </c:extLst>
        </c:ser>
        <c:ser>
          <c:idx val="2"/>
          <c:order val="2"/>
          <c:tx>
            <c:strRef>
              <c:f>'図14_分析7_推移'!$E$1</c:f>
              <c:strCache>
                <c:ptCount val="1"/>
                <c:pt idx="0">
                  <c:v>列11（そのまま）</c:v>
                </c:pt>
              </c:strCache>
            </c:strRef>
          </c:tx>
          <c:spPr>
            <a:ln>
              <a:noFill/>
            </a:ln>
          </c:spPr>
          <c:marker>
            <c:symbol val="circle"/>
            <c:size val="4"/>
            <c:spPr>
              <a:solidFill>
                <a:srgbClr val="A8D3FF"/>
              </a:solidFill>
              <a:ln w="9525" cap="rnd">
                <a:solidFill>
                  <a:srgbClr val="A8D3FF"/>
                </a:solidFill>
                <a:round/>
              </a:ln>
            </c:spPr>
          </c:marker>
          <c:cat>
            <c:strRef>
              <c:f>'図14_分析7_推移'!$B$2:$B$7</c:f>
              <c:strCache>
                <c:ptCount val="6"/>
                <c:pt idx="0">
                  <c:v>1.0以下</c:v>
                </c:pt>
                <c:pt idx="1">
                  <c:v>1.0〜1.5</c:v>
                </c:pt>
                <c:pt idx="2">
                  <c:v>1.5〜2.0</c:v>
                </c:pt>
                <c:pt idx="3">
                  <c:v>2.0〜2.7</c:v>
                </c:pt>
                <c:pt idx="4">
                  <c:v>2.7〜3.4</c:v>
                </c:pt>
                <c:pt idx="5">
                  <c:v>3.4〜4.1</c:v>
                </c:pt>
              </c:strCache>
            </c:strRef>
          </c:cat>
          <c:val>
            <c:numRef>
              <c:f>'図14_分析7_推移'!$E$2:$E$7</c:f>
              <c:numCache>
                <c:formatCode>General</c:formatCode>
                <c:ptCount val="6"/>
                <c:pt idx="0">
                  <c:v>-0.252</c:v>
                </c:pt>
                <c:pt idx="1">
                  <c:v>-0.214</c:v>
                </c:pt>
                <c:pt idx="2">
                  <c:v>-0.34599999999999997</c:v>
                </c:pt>
                <c:pt idx="3">
                  <c:v>-0.19500000000000001</c:v>
                </c:pt>
                <c:pt idx="4">
                  <c:v>-0.245</c:v>
                </c:pt>
                <c:pt idx="5">
                  <c:v>-0.26300000000000001</c:v>
                </c:pt>
              </c:numCache>
            </c:numRef>
          </c:val>
          <c:smooth val="0"/>
          <c:extLst>
            <c:ext xmlns:c16="http://schemas.microsoft.com/office/drawing/2014/chart" uri="{C3380CC4-5D6E-409C-BE32-E72D297353CC}">
              <c16:uniqueId val="{00000002-BF18-8E43-98DA-4FA109A78CDA}"/>
            </c:ext>
          </c:extLst>
        </c:ser>
        <c:ser>
          <c:idx val="3"/>
          <c:order val="3"/>
          <c:tx>
            <c:strRef>
              <c:f>'図14_分析7_推移'!$F$1</c:f>
              <c:strCache>
                <c:ptCount val="1"/>
                <c:pt idx="0">
                  <c:v>列11（気温・雨をそろえた値）</c:v>
                </c:pt>
              </c:strCache>
            </c:strRef>
          </c:tx>
          <c:spPr>
            <a:ln w="28575" cap="rnd">
              <a:solidFill>
                <a:srgbClr val="118DFF"/>
              </a:solidFill>
              <a:round/>
            </a:ln>
          </c:spPr>
          <c:marker>
            <c:symbol val="none"/>
          </c:marker>
          <c:cat>
            <c:strRef>
              <c:f>'図14_分析7_推移'!$B$2:$B$7</c:f>
              <c:strCache>
                <c:ptCount val="6"/>
                <c:pt idx="0">
                  <c:v>1.0以下</c:v>
                </c:pt>
                <c:pt idx="1">
                  <c:v>1.0〜1.5</c:v>
                </c:pt>
                <c:pt idx="2">
                  <c:v>1.5〜2.0</c:v>
                </c:pt>
                <c:pt idx="3">
                  <c:v>2.0〜2.7</c:v>
                </c:pt>
                <c:pt idx="4">
                  <c:v>2.7〜3.4</c:v>
                </c:pt>
                <c:pt idx="5">
                  <c:v>3.4〜4.1</c:v>
                </c:pt>
              </c:strCache>
            </c:strRef>
          </c:cat>
          <c:val>
            <c:numRef>
              <c:f>'図14_分析7_推移'!$F$2:$F$7</c:f>
              <c:numCache>
                <c:formatCode>General</c:formatCode>
                <c:ptCount val="6"/>
                <c:pt idx="0">
                  <c:v>-0.17100000000000001</c:v>
                </c:pt>
                <c:pt idx="1">
                  <c:v>-0.216</c:v>
                </c:pt>
                <c:pt idx="2">
                  <c:v>-0.311</c:v>
                </c:pt>
                <c:pt idx="3">
                  <c:v>-0.22700000000000001</c:v>
                </c:pt>
                <c:pt idx="4">
                  <c:v>-0.32100000000000001</c:v>
                </c:pt>
                <c:pt idx="5">
                  <c:v>-0.27500000000000002</c:v>
                </c:pt>
              </c:numCache>
            </c:numRef>
          </c:val>
          <c:smooth val="0"/>
          <c:extLst>
            <c:ext xmlns:c16="http://schemas.microsoft.com/office/drawing/2014/chart" uri="{C3380CC4-5D6E-409C-BE32-E72D297353CC}">
              <c16:uniqueId val="{00000003-BF18-8E43-98DA-4FA109A78CDA}"/>
            </c:ext>
          </c:extLst>
        </c:ser>
        <c:dLbls>
          <c:showLegendKey val="0"/>
          <c:showVal val="0"/>
          <c:showCatName val="0"/>
          <c:showSerName val="0"/>
          <c:showPercent val="0"/>
          <c:showBubbleSize val="0"/>
        </c:dLbls>
        <c:marker val="1"/>
        <c:smooth val="0"/>
        <c:axId val="10"/>
        <c:axId val="20"/>
      </c:lineChart>
      <c:catAx>
        <c:axId val="10"/>
        <c:scaling>
          <c:orientation val="minMax"/>
        </c:scaling>
        <c:delete val="0"/>
        <c:axPos val="b"/>
        <c:numFmt formatCode="General" sourceLinked="1"/>
        <c:majorTickMark val="out"/>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0.3"/>
          <c:min val="-0.6"/>
        </c:scaling>
        <c:delete val="0"/>
        <c:axPos val="l"/>
        <c:majorGridlines>
          <c:spPr>
            <a:ln w="9525" cap="rnd">
              <a:solidFill>
                <a:srgbClr val="E3E7EC"/>
              </a:solidFill>
              <a:round/>
            </a:ln>
          </c:spPr>
        </c:majorGridlines>
        <c:title>
          <c:tx>
            <c:rich>
              <a:bodyPr rot="-5400000" vert="horz"/>
              <a:lstStyle/>
              <a:p>
                <a:pPr>
                  <a:defRPr sz="900" b="0"/>
                </a:pPr>
                <a:r>
                  <a:rPr lang="ja-JP" sz="900" b="0"/>
                  <a:t>吸気温度差の平均［℃］</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3"/>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lineChart>
        <c:grouping val="standard"/>
        <c:varyColors val="0"/>
        <c:ser>
          <c:idx val="0"/>
          <c:order val="0"/>
          <c:tx>
            <c:strRef>
              <c:f>'図14_分析7_推移'!$C$1</c:f>
              <c:strCache>
                <c:ptCount val="1"/>
                <c:pt idx="0">
                  <c:v>列8（そのまま）</c:v>
                </c:pt>
              </c:strCache>
            </c:strRef>
          </c:tx>
          <c:spPr>
            <a:ln>
              <a:noFill/>
            </a:ln>
          </c:spPr>
          <c:marker>
            <c:symbol val="circle"/>
            <c:size val="4"/>
            <c:spPr>
              <a:solidFill>
                <a:srgbClr val="9FE3DB"/>
              </a:solidFill>
              <a:ln w="9525" cap="rnd">
                <a:solidFill>
                  <a:srgbClr val="9FE3DB"/>
                </a:solidFill>
                <a:round/>
              </a:ln>
            </c:spPr>
          </c:marker>
          <c:cat>
            <c:strRef>
              <c:f>'図14_分析7_推移'!$B$2:$B$7</c:f>
              <c:strCache>
                <c:ptCount val="6"/>
                <c:pt idx="0">
                  <c:v>0.75以下</c:v>
                </c:pt>
                <c:pt idx="1">
                  <c:v>0.75〜1.0</c:v>
                </c:pt>
                <c:pt idx="2">
                  <c:v>1.0〜1.25</c:v>
                </c:pt>
                <c:pt idx="3">
                  <c:v>1.25〜1.5</c:v>
                </c:pt>
                <c:pt idx="4">
                  <c:v>1.5〜1.75</c:v>
                </c:pt>
                <c:pt idx="5">
                  <c:v>1.75超</c:v>
                </c:pt>
              </c:strCache>
            </c:strRef>
          </c:cat>
          <c:val>
            <c:numRef>
              <c:f>'図14_分析7_推移'!$C$2:$C$7</c:f>
              <c:numCache>
                <c:formatCode>General</c:formatCode>
                <c:ptCount val="6"/>
                <c:pt idx="0">
                  <c:v>-0.48799999999999999</c:v>
                </c:pt>
                <c:pt idx="1">
                  <c:v>-0.28999999999999998</c:v>
                </c:pt>
                <c:pt idx="2">
                  <c:v>-9.4E-2</c:v>
                </c:pt>
                <c:pt idx="3">
                  <c:v>-2.7E-2</c:v>
                </c:pt>
                <c:pt idx="4">
                  <c:v>0.18099999999999999</c:v>
                </c:pt>
                <c:pt idx="5">
                  <c:v>-7.1999999999999995E-2</c:v>
                </c:pt>
              </c:numCache>
            </c:numRef>
          </c:val>
          <c:smooth val="0"/>
          <c:extLst>
            <c:ext xmlns:c16="http://schemas.microsoft.com/office/drawing/2014/chart" uri="{C3380CC4-5D6E-409C-BE32-E72D297353CC}">
              <c16:uniqueId val="{00000000-BF18-8E43-98DA-4FA109A78CDA}"/>
            </c:ext>
          </c:extLst>
        </c:ser>
        <c:ser>
          <c:idx val="1"/>
          <c:order val="1"/>
          <c:tx>
            <c:strRef>
              <c:f>'図14_分析7_推移'!$D$1</c:f>
              <c:strCache>
                <c:ptCount val="1"/>
                <c:pt idx="0">
                  <c:v>列8（気温・雨をそろえた値）</c:v>
                </c:pt>
              </c:strCache>
            </c:strRef>
          </c:tx>
          <c:spPr>
            <a:ln w="28575" cap="rnd">
              <a:solidFill>
                <a:srgbClr val="01B8AA"/>
              </a:solidFill>
              <a:round/>
            </a:ln>
          </c:spPr>
          <c:marker>
            <c:symbol val="none"/>
          </c:marker>
          <c:cat>
            <c:strRef>
              <c:f>'図14_分析7_推移'!$B$2:$B$7</c:f>
              <c:strCache>
                <c:ptCount val="6"/>
                <c:pt idx="0">
                  <c:v>0.75以下</c:v>
                </c:pt>
                <c:pt idx="1">
                  <c:v>0.75〜1.0</c:v>
                </c:pt>
                <c:pt idx="2">
                  <c:v>1.0〜1.25</c:v>
                </c:pt>
                <c:pt idx="3">
                  <c:v>1.25〜1.5</c:v>
                </c:pt>
                <c:pt idx="4">
                  <c:v>1.5〜1.75</c:v>
                </c:pt>
                <c:pt idx="5">
                  <c:v>1.75超</c:v>
                </c:pt>
              </c:strCache>
            </c:strRef>
          </c:cat>
          <c:val>
            <c:numRef>
              <c:f>'図14_分析7_推移'!$D$2:$D$7</c:f>
              <c:numCache>
                <c:formatCode>General</c:formatCode>
                <c:ptCount val="6"/>
                <c:pt idx="0">
                  <c:v>-7.6999999999999999E-2</c:v>
                </c:pt>
                <c:pt idx="1">
                  <c:v>-0.14000000000000001</c:v>
                </c:pt>
                <c:pt idx="2">
                  <c:v>-0.128</c:v>
                </c:pt>
                <c:pt idx="3">
                  <c:v>-0.161</c:v>
                </c:pt>
                <c:pt idx="4">
                  <c:v>-9.4E-2</c:v>
                </c:pt>
                <c:pt idx="5">
                  <c:v>-4.7E-2</c:v>
                </c:pt>
              </c:numCache>
            </c:numRef>
          </c:val>
          <c:smooth val="0"/>
          <c:extLst>
            <c:ext xmlns:c16="http://schemas.microsoft.com/office/drawing/2014/chart" uri="{C3380CC4-5D6E-409C-BE32-E72D297353CC}">
              <c16:uniqueId val="{00000001-BF18-8E43-98DA-4FA109A78CDA}"/>
            </c:ext>
          </c:extLst>
        </c:ser>
        <c:ser>
          <c:idx val="2"/>
          <c:order val="2"/>
          <c:tx>
            <c:strRef>
              <c:f>'図14_分析7_推移'!$E$1</c:f>
              <c:strCache>
                <c:ptCount val="1"/>
                <c:pt idx="0">
                  <c:v>列11（そのまま）</c:v>
                </c:pt>
              </c:strCache>
            </c:strRef>
          </c:tx>
          <c:spPr>
            <a:ln>
              <a:noFill/>
            </a:ln>
          </c:spPr>
          <c:marker>
            <c:symbol val="circle"/>
            <c:size val="4"/>
            <c:spPr>
              <a:solidFill>
                <a:srgbClr val="A8D3FF"/>
              </a:solidFill>
              <a:ln w="9525" cap="rnd">
                <a:solidFill>
                  <a:srgbClr val="A8D3FF"/>
                </a:solidFill>
                <a:round/>
              </a:ln>
            </c:spPr>
          </c:marker>
          <c:cat>
            <c:strRef>
              <c:f>'図14_分析7_推移'!$B$2:$B$7</c:f>
              <c:strCache>
                <c:ptCount val="6"/>
                <c:pt idx="0">
                  <c:v>0.75以下</c:v>
                </c:pt>
                <c:pt idx="1">
                  <c:v>0.75〜1.0</c:v>
                </c:pt>
                <c:pt idx="2">
                  <c:v>1.0〜1.25</c:v>
                </c:pt>
                <c:pt idx="3">
                  <c:v>1.25〜1.5</c:v>
                </c:pt>
                <c:pt idx="4">
                  <c:v>1.5〜1.75</c:v>
                </c:pt>
                <c:pt idx="5">
                  <c:v>1.75超</c:v>
                </c:pt>
              </c:strCache>
            </c:strRef>
          </c:cat>
          <c:val>
            <c:numRef>
              <c:f>'図14_分析7_推移'!$E$2:$E$7</c:f>
              <c:numCache>
                <c:formatCode>General</c:formatCode>
                <c:ptCount val="6"/>
                <c:pt idx="0">
                  <c:v>-0.53</c:v>
                </c:pt>
                <c:pt idx="1">
                  <c:v>-0.33400000000000002</c:v>
                </c:pt>
                <c:pt idx="2">
                  <c:v>-0.26300000000000001</c:v>
                </c:pt>
                <c:pt idx="3">
                  <c:v>-0.224</c:v>
                </c:pt>
                <c:pt idx="4">
                  <c:v>-0.10199999999999999</c:v>
                </c:pt>
                <c:pt idx="5">
                  <c:v>-0.22</c:v>
                </c:pt>
              </c:numCache>
            </c:numRef>
          </c:val>
          <c:smooth val="0"/>
          <c:extLst>
            <c:ext xmlns:c16="http://schemas.microsoft.com/office/drawing/2014/chart" uri="{C3380CC4-5D6E-409C-BE32-E72D297353CC}">
              <c16:uniqueId val="{00000002-BF18-8E43-98DA-4FA109A78CDA}"/>
            </c:ext>
          </c:extLst>
        </c:ser>
        <c:ser>
          <c:idx val="3"/>
          <c:order val="3"/>
          <c:tx>
            <c:strRef>
              <c:f>'図14_分析7_推移'!$F$1</c:f>
              <c:strCache>
                <c:ptCount val="1"/>
                <c:pt idx="0">
                  <c:v>列11（気温・雨をそろえた値）</c:v>
                </c:pt>
              </c:strCache>
            </c:strRef>
          </c:tx>
          <c:spPr>
            <a:ln w="28575" cap="rnd">
              <a:solidFill>
                <a:srgbClr val="118DFF"/>
              </a:solidFill>
              <a:round/>
            </a:ln>
          </c:spPr>
          <c:marker>
            <c:symbol val="none"/>
          </c:marker>
          <c:cat>
            <c:strRef>
              <c:f>'図14_分析7_推移'!$B$2:$B$7</c:f>
              <c:strCache>
                <c:ptCount val="6"/>
                <c:pt idx="0">
                  <c:v>0.75以下</c:v>
                </c:pt>
                <c:pt idx="1">
                  <c:v>0.75〜1.0</c:v>
                </c:pt>
                <c:pt idx="2">
                  <c:v>1.0〜1.25</c:v>
                </c:pt>
                <c:pt idx="3">
                  <c:v>1.25〜1.5</c:v>
                </c:pt>
                <c:pt idx="4">
                  <c:v>1.5〜1.75</c:v>
                </c:pt>
                <c:pt idx="5">
                  <c:v>1.75超</c:v>
                </c:pt>
              </c:strCache>
            </c:strRef>
          </c:cat>
          <c:val>
            <c:numRef>
              <c:f>'図14_分析7_推移'!$F$2:$F$7</c:f>
              <c:numCache>
                <c:formatCode>General</c:formatCode>
                <c:ptCount val="6"/>
                <c:pt idx="0">
                  <c:v>-0.32</c:v>
                </c:pt>
                <c:pt idx="1">
                  <c:v>-0.25800000000000001</c:v>
                </c:pt>
                <c:pt idx="2">
                  <c:v>-0.28000000000000003</c:v>
                </c:pt>
                <c:pt idx="3">
                  <c:v>-0.29299999999999998</c:v>
                </c:pt>
                <c:pt idx="4">
                  <c:v>-0.24099999999999999</c:v>
                </c:pt>
                <c:pt idx="5">
                  <c:v>-0.20699999999999999</c:v>
                </c:pt>
              </c:numCache>
            </c:numRef>
          </c:val>
          <c:smooth val="0"/>
          <c:extLst>
            <c:ext xmlns:c16="http://schemas.microsoft.com/office/drawing/2014/chart" uri="{C3380CC4-5D6E-409C-BE32-E72D297353CC}">
              <c16:uniqueId val="{00000003-BF18-8E43-98DA-4FA109A78CDA}"/>
            </c:ext>
          </c:extLst>
        </c:ser>
        <c:dLbls>
          <c:showLegendKey val="0"/>
          <c:showVal val="0"/>
          <c:showCatName val="0"/>
          <c:showSerName val="0"/>
          <c:showPercent val="0"/>
          <c:showBubbleSize val="0"/>
        </c:dLbls>
        <c:marker val="1"/>
        <c:smooth val="0"/>
        <c:axId val="10"/>
        <c:axId val="20"/>
      </c:lineChart>
      <c:catAx>
        <c:axId val="10"/>
        <c:scaling>
          <c:orientation val="minMax"/>
        </c:scaling>
        <c:delete val="0"/>
        <c:axPos val="b"/>
        <c:numFmt formatCode="General" sourceLinked="1"/>
        <c:majorTickMark val="out"/>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0.3"/>
          <c:min val="-0.6"/>
        </c:scaling>
        <c:delete val="0"/>
        <c:axPos val="l"/>
        <c:majorGridlines>
          <c:spPr>
            <a:ln w="9525" cap="rnd">
              <a:solidFill>
                <a:srgbClr val="E3E7EC"/>
              </a:solidFill>
              <a:round/>
            </a:ln>
          </c:spPr>
        </c:majorGridlines>
        <c:title>
          <c:tx>
            <c:rich>
              <a:bodyPr rot="-5400000" vert="horz"/>
              <a:lstStyle/>
              <a:p>
                <a:pPr>
                  <a:defRPr sz="900" b="0"/>
                </a:pPr>
                <a:r>
                  <a:rPr lang="ja-JP" sz="900" b="0"/>
                  <a:t>吸気温度差の平均［℃］</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3"/>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lineChart>
        <c:grouping val="standard"/>
        <c:varyColors val="0"/>
        <c:ser>
          <c:idx val="0"/>
          <c:order val="0"/>
          <c:tx>
            <c:strRef>
              <c:f>'図14_分析7_推移'!$C$1</c:f>
              <c:strCache>
                <c:ptCount val="1"/>
                <c:pt idx="0">
                  <c:v>列8（日中平均）</c:v>
                </c:pt>
              </c:strCache>
            </c:strRef>
          </c:tx>
          <c:spPr>
            <a:ln>
              <a:noFill/>
            </a:ln>
          </c:spPr>
          <c:marker>
            <c:symbol val="circle"/>
            <c:size val="4"/>
            <c:spPr>
              <a:solidFill>
                <a:srgbClr val="9FE3DB"/>
              </a:solidFill>
              <a:ln w="9525" cap="rnd">
                <a:solidFill>
                  <a:srgbClr val="9FE3DB"/>
                </a:solidFill>
                <a:round/>
              </a:ln>
            </c:spPr>
          </c:marker>
          <c:cat>
            <c:strRef>
              <c:f>'図14_分析7_推移'!$B$2:$B$48</c:f>
              <c:strCache>
                <c:ptCount val="47"/>
                <c:pt idx="0">
                  <c:v>07-30</c:v>
                </c:pt>
                <c:pt idx="7">
                  <c:v>08-06</c:v>
                </c:pt>
                <c:pt idx="14">
                  <c:v>08-13</c:v>
                </c:pt>
                <c:pt idx="21">
                  <c:v>08-20</c:v>
                </c:pt>
                <c:pt idx="28">
                  <c:v>08-27</c:v>
                </c:pt>
                <c:pt idx="35">
                  <c:v>09-03</c:v>
                </c:pt>
                <c:pt idx="42">
                  <c:v>09-10</c:v>
                </c:pt>
              </c:strCache>
            </c:strRef>
          </c:cat>
          <c:val>
            <c:numRef>
              <c:f>'図14_分析7_推移'!$C$2:$C$48</c:f>
              <c:numCache>
                <c:formatCode>General</c:formatCode>
                <c:ptCount val="47"/>
                <c:pt idx="0">
                  <c:v>0.44900000000000001</c:v>
                </c:pt>
                <c:pt idx="1">
                  <c:v>0.41099999999999998</c:v>
                </c:pt>
                <c:pt idx="4">
                  <c:v>0.121</c:v>
                </c:pt>
                <c:pt idx="5">
                  <c:v>9.2999999999999999E-2</c:v>
                </c:pt>
                <c:pt idx="6">
                  <c:v>3.5999999999999997E-2</c:v>
                </c:pt>
                <c:pt idx="7">
                  <c:v>-7.2999999999999995E-2</c:v>
                </c:pt>
                <c:pt idx="8">
                  <c:v>-0.249</c:v>
                </c:pt>
                <c:pt idx="11">
                  <c:v>0.379</c:v>
                </c:pt>
                <c:pt idx="13">
                  <c:v>-0.14599999999999999</c:v>
                </c:pt>
                <c:pt idx="14">
                  <c:v>-0.32900000000000001</c:v>
                </c:pt>
                <c:pt idx="15">
                  <c:v>-0.121</c:v>
                </c:pt>
                <c:pt idx="18">
                  <c:v>-0.125</c:v>
                </c:pt>
                <c:pt idx="19">
                  <c:v>0.26500000000000001</c:v>
                </c:pt>
                <c:pt idx="20">
                  <c:v>0.25700000000000001</c:v>
                </c:pt>
                <c:pt idx="21">
                  <c:v>0.34</c:v>
                </c:pt>
                <c:pt idx="22">
                  <c:v>9.2999999999999999E-2</c:v>
                </c:pt>
                <c:pt idx="25">
                  <c:v>0.23699999999999999</c:v>
                </c:pt>
                <c:pt idx="26">
                  <c:v>0.311</c:v>
                </c:pt>
                <c:pt idx="27">
                  <c:v>0.47499999999999998</c:v>
                </c:pt>
                <c:pt idx="28">
                  <c:v>-0.28299999999999997</c:v>
                </c:pt>
                <c:pt idx="29">
                  <c:v>0.36599999999999999</c:v>
                </c:pt>
                <c:pt idx="32">
                  <c:v>-0.17899999999999999</c:v>
                </c:pt>
                <c:pt idx="33">
                  <c:v>-0.13300000000000001</c:v>
                </c:pt>
                <c:pt idx="34">
                  <c:v>-0.23899999999999999</c:v>
                </c:pt>
                <c:pt idx="35">
                  <c:v>-0.28799999999999998</c:v>
                </c:pt>
                <c:pt idx="36">
                  <c:v>-0.38800000000000001</c:v>
                </c:pt>
                <c:pt idx="39">
                  <c:v>-0.83499999999999996</c:v>
                </c:pt>
                <c:pt idx="40">
                  <c:v>-0.55300000000000005</c:v>
                </c:pt>
                <c:pt idx="41">
                  <c:v>-0.623</c:v>
                </c:pt>
                <c:pt idx="42">
                  <c:v>-0.749</c:v>
                </c:pt>
                <c:pt idx="43">
                  <c:v>-0.40100000000000002</c:v>
                </c:pt>
                <c:pt idx="46">
                  <c:v>-4.3999999999999997E-2</c:v>
                </c:pt>
              </c:numCache>
            </c:numRef>
          </c:val>
          <c:smooth val="0"/>
          <c:extLst>
            <c:ext xmlns:c16="http://schemas.microsoft.com/office/drawing/2014/chart" uri="{C3380CC4-5D6E-409C-BE32-E72D297353CC}">
              <c16:uniqueId val="{00000000-BF18-8E43-98DA-4FA109A78CDA}"/>
            </c:ext>
          </c:extLst>
        </c:ser>
        <c:ser>
          <c:idx val="1"/>
          <c:order val="1"/>
          <c:tx>
            <c:strRef>
              <c:f>'図14_分析7_推移'!$D$1</c:f>
              <c:strCache>
                <c:ptCount val="1"/>
                <c:pt idx="0">
                  <c:v>列8（7日間移動平均）</c:v>
                </c:pt>
              </c:strCache>
            </c:strRef>
          </c:tx>
          <c:spPr>
            <a:ln w="28575" cap="rnd">
              <a:solidFill>
                <a:srgbClr val="01B8AA"/>
              </a:solidFill>
              <a:round/>
            </a:ln>
          </c:spPr>
          <c:marker>
            <c:symbol val="none"/>
          </c:marker>
          <c:cat>
            <c:strRef>
              <c:f>'図14_分析7_推移'!$B$2:$B$48</c:f>
              <c:strCache>
                <c:ptCount val="47"/>
                <c:pt idx="0">
                  <c:v>07-30</c:v>
                </c:pt>
                <c:pt idx="7">
                  <c:v>08-06</c:v>
                </c:pt>
                <c:pt idx="14">
                  <c:v>08-13</c:v>
                </c:pt>
                <c:pt idx="21">
                  <c:v>08-20</c:v>
                </c:pt>
                <c:pt idx="28">
                  <c:v>08-27</c:v>
                </c:pt>
                <c:pt idx="35">
                  <c:v>09-03</c:v>
                </c:pt>
                <c:pt idx="42">
                  <c:v>09-10</c:v>
                </c:pt>
              </c:strCache>
            </c:strRef>
          </c:cat>
          <c:val>
            <c:numRef>
              <c:f>'図14_分析7_推移'!$D$2:$D$48</c:f>
              <c:numCache>
                <c:formatCode>General</c:formatCode>
                <c:ptCount val="47"/>
                <c:pt idx="1">
                  <c:v>0.32700000000000001</c:v>
                </c:pt>
                <c:pt idx="2">
                  <c:v>0.26800000000000002</c:v>
                </c:pt>
                <c:pt idx="3">
                  <c:v>0.222</c:v>
                </c:pt>
                <c:pt idx="4">
                  <c:v>0.11799999999999999</c:v>
                </c:pt>
                <c:pt idx="5">
                  <c:v>-1.4999999999999999E-2</c:v>
                </c:pt>
                <c:pt idx="6">
                  <c:v>-1.4999999999999999E-2</c:v>
                </c:pt>
                <c:pt idx="7">
                  <c:v>-1.4999999999999999E-2</c:v>
                </c:pt>
                <c:pt idx="8">
                  <c:v>3.6999999999999998E-2</c:v>
                </c:pt>
                <c:pt idx="9">
                  <c:v>2.3E-2</c:v>
                </c:pt>
                <c:pt idx="10">
                  <c:v>-2.1999999999999999E-2</c:v>
                </c:pt>
                <c:pt idx="11">
                  <c:v>-8.5999999999999993E-2</c:v>
                </c:pt>
                <c:pt idx="12">
                  <c:v>-5.3999999999999999E-2</c:v>
                </c:pt>
                <c:pt idx="13">
                  <c:v>-5.3999999999999999E-2</c:v>
                </c:pt>
                <c:pt idx="14">
                  <c:v>-5.3999999999999999E-2</c:v>
                </c:pt>
                <c:pt idx="15">
                  <c:v>-0.18</c:v>
                </c:pt>
                <c:pt idx="16">
                  <c:v>-9.0999999999999998E-2</c:v>
                </c:pt>
                <c:pt idx="17">
                  <c:v>-1.0999999999999999E-2</c:v>
                </c:pt>
                <c:pt idx="18">
                  <c:v>0.123</c:v>
                </c:pt>
                <c:pt idx="19">
                  <c:v>0.16600000000000001</c:v>
                </c:pt>
                <c:pt idx="20">
                  <c:v>0.16600000000000001</c:v>
                </c:pt>
                <c:pt idx="21">
                  <c:v>0.16600000000000001</c:v>
                </c:pt>
                <c:pt idx="22">
                  <c:v>0.23799999999999999</c:v>
                </c:pt>
                <c:pt idx="23">
                  <c:v>0.247</c:v>
                </c:pt>
                <c:pt idx="24">
                  <c:v>0.29099999999999998</c:v>
                </c:pt>
                <c:pt idx="25">
                  <c:v>0.16700000000000001</c:v>
                </c:pt>
                <c:pt idx="26">
                  <c:v>0.221</c:v>
                </c:pt>
                <c:pt idx="27">
                  <c:v>0.221</c:v>
                </c:pt>
                <c:pt idx="28">
                  <c:v>0.221</c:v>
                </c:pt>
                <c:pt idx="29">
                  <c:v>0.13800000000000001</c:v>
                </c:pt>
                <c:pt idx="30">
                  <c:v>4.9000000000000002E-2</c:v>
                </c:pt>
                <c:pt idx="31">
                  <c:v>-9.2999999999999999E-2</c:v>
                </c:pt>
                <c:pt idx="32">
                  <c:v>-9.4E-2</c:v>
                </c:pt>
                <c:pt idx="33">
                  <c:v>-0.245</c:v>
                </c:pt>
                <c:pt idx="34">
                  <c:v>-0.245</c:v>
                </c:pt>
                <c:pt idx="35">
                  <c:v>-0.245</c:v>
                </c:pt>
                <c:pt idx="36">
                  <c:v>-0.376</c:v>
                </c:pt>
                <c:pt idx="37">
                  <c:v>-0.46</c:v>
                </c:pt>
                <c:pt idx="38">
                  <c:v>-0.53700000000000003</c:v>
                </c:pt>
                <c:pt idx="39">
                  <c:v>-0.63</c:v>
                </c:pt>
                <c:pt idx="40">
                  <c:v>-0.63200000000000001</c:v>
                </c:pt>
                <c:pt idx="41">
                  <c:v>-0.63200000000000001</c:v>
                </c:pt>
                <c:pt idx="42">
                  <c:v>-0.63200000000000001</c:v>
                </c:pt>
                <c:pt idx="43">
                  <c:v>-0.47399999999999998</c:v>
                </c:pt>
                <c:pt idx="44">
                  <c:v>-0.45400000000000001</c:v>
                </c:pt>
                <c:pt idx="45">
                  <c:v>-0.39800000000000002</c:v>
                </c:pt>
              </c:numCache>
            </c:numRef>
          </c:val>
          <c:smooth val="0"/>
          <c:extLst>
            <c:ext xmlns:c16="http://schemas.microsoft.com/office/drawing/2014/chart" uri="{C3380CC4-5D6E-409C-BE32-E72D297353CC}">
              <c16:uniqueId val="{00000001-BF18-8E43-98DA-4FA109A78CDA}"/>
            </c:ext>
          </c:extLst>
        </c:ser>
        <c:ser>
          <c:idx val="2"/>
          <c:order val="2"/>
          <c:tx>
            <c:strRef>
              <c:f>'図14_分析7_推移'!$E$1</c:f>
              <c:strCache>
                <c:ptCount val="1"/>
                <c:pt idx="0">
                  <c:v>列11（日中平均）</c:v>
                </c:pt>
              </c:strCache>
            </c:strRef>
          </c:tx>
          <c:spPr>
            <a:ln>
              <a:noFill/>
            </a:ln>
          </c:spPr>
          <c:marker>
            <c:symbol val="circle"/>
            <c:size val="4"/>
            <c:spPr>
              <a:solidFill>
                <a:srgbClr val="A8D3FF"/>
              </a:solidFill>
              <a:ln w="9525" cap="rnd">
                <a:solidFill>
                  <a:srgbClr val="A8D3FF"/>
                </a:solidFill>
                <a:round/>
              </a:ln>
            </c:spPr>
          </c:marker>
          <c:cat>
            <c:strRef>
              <c:f>'図14_分析7_推移'!$B$2:$B$48</c:f>
              <c:strCache>
                <c:ptCount val="47"/>
                <c:pt idx="0">
                  <c:v>07-30</c:v>
                </c:pt>
                <c:pt idx="7">
                  <c:v>08-06</c:v>
                </c:pt>
                <c:pt idx="14">
                  <c:v>08-13</c:v>
                </c:pt>
                <c:pt idx="21">
                  <c:v>08-20</c:v>
                </c:pt>
                <c:pt idx="28">
                  <c:v>08-27</c:v>
                </c:pt>
                <c:pt idx="35">
                  <c:v>09-03</c:v>
                </c:pt>
                <c:pt idx="42">
                  <c:v>09-10</c:v>
                </c:pt>
              </c:strCache>
            </c:strRef>
          </c:cat>
          <c:val>
            <c:numRef>
              <c:f>'図14_分析7_推移'!$E$2:$E$48</c:f>
              <c:numCache>
                <c:formatCode>General</c:formatCode>
                <c:ptCount val="47"/>
                <c:pt idx="0">
                  <c:v>7.0000000000000007E-2</c:v>
                </c:pt>
                <c:pt idx="1">
                  <c:v>5.0000000000000001E-3</c:v>
                </c:pt>
                <c:pt idx="4">
                  <c:v>-5.0999999999999997E-2</c:v>
                </c:pt>
                <c:pt idx="5">
                  <c:v>-0.122</c:v>
                </c:pt>
                <c:pt idx="6">
                  <c:v>-0.11700000000000001</c:v>
                </c:pt>
                <c:pt idx="7">
                  <c:v>-0.24</c:v>
                </c:pt>
                <c:pt idx="8">
                  <c:v>-0.69199999999999995</c:v>
                </c:pt>
                <c:pt idx="11">
                  <c:v>-7.2999999999999995E-2</c:v>
                </c:pt>
                <c:pt idx="13">
                  <c:v>-0.40799999999999997</c:v>
                </c:pt>
                <c:pt idx="14">
                  <c:v>-0.64500000000000002</c:v>
                </c:pt>
                <c:pt idx="15">
                  <c:v>-0.23899999999999999</c:v>
                </c:pt>
                <c:pt idx="18">
                  <c:v>-0.28599999999999998</c:v>
                </c:pt>
                <c:pt idx="19">
                  <c:v>-7.2999999999999995E-2</c:v>
                </c:pt>
                <c:pt idx="20">
                  <c:v>-5.1999999999999998E-2</c:v>
                </c:pt>
                <c:pt idx="21">
                  <c:v>-0.10299999999999999</c:v>
                </c:pt>
                <c:pt idx="22">
                  <c:v>-0.33600000000000002</c:v>
                </c:pt>
                <c:pt idx="25">
                  <c:v>-0.218</c:v>
                </c:pt>
                <c:pt idx="26">
                  <c:v>-0.14599999999999999</c:v>
                </c:pt>
                <c:pt idx="27">
                  <c:v>0.111</c:v>
                </c:pt>
                <c:pt idx="28">
                  <c:v>-0.192</c:v>
                </c:pt>
                <c:pt idx="29">
                  <c:v>6.0999999999999999E-2</c:v>
                </c:pt>
                <c:pt idx="32">
                  <c:v>-0.192</c:v>
                </c:pt>
                <c:pt idx="33">
                  <c:v>-0.122</c:v>
                </c:pt>
                <c:pt idx="34">
                  <c:v>-0.34699999999999998</c:v>
                </c:pt>
                <c:pt idx="35">
                  <c:v>-0.376</c:v>
                </c:pt>
                <c:pt idx="36">
                  <c:v>-0.22500000000000001</c:v>
                </c:pt>
                <c:pt idx="39">
                  <c:v>-0.92700000000000005</c:v>
                </c:pt>
                <c:pt idx="40">
                  <c:v>-0.39200000000000002</c:v>
                </c:pt>
                <c:pt idx="41">
                  <c:v>-0.61799999999999999</c:v>
                </c:pt>
                <c:pt idx="42">
                  <c:v>-0.68600000000000005</c:v>
                </c:pt>
                <c:pt idx="43">
                  <c:v>-0.436</c:v>
                </c:pt>
                <c:pt idx="46">
                  <c:v>-0.39800000000000002</c:v>
                </c:pt>
              </c:numCache>
            </c:numRef>
          </c:val>
          <c:smooth val="0"/>
          <c:extLst>
            <c:ext xmlns:c16="http://schemas.microsoft.com/office/drawing/2014/chart" uri="{C3380CC4-5D6E-409C-BE32-E72D297353CC}">
              <c16:uniqueId val="{00000002-BF18-8E43-98DA-4FA109A78CDA}"/>
            </c:ext>
          </c:extLst>
        </c:ser>
        <c:ser>
          <c:idx val="3"/>
          <c:order val="3"/>
          <c:tx>
            <c:strRef>
              <c:f>'図14_分析7_推移'!$F$1</c:f>
              <c:strCache>
                <c:ptCount val="1"/>
                <c:pt idx="0">
                  <c:v>列11（7日間移動平均）</c:v>
                </c:pt>
              </c:strCache>
            </c:strRef>
          </c:tx>
          <c:spPr>
            <a:ln w="28575" cap="rnd">
              <a:solidFill>
                <a:srgbClr val="118DFF"/>
              </a:solidFill>
              <a:round/>
            </a:ln>
          </c:spPr>
          <c:marker>
            <c:symbol val="none"/>
          </c:marker>
          <c:cat>
            <c:strRef>
              <c:f>'図14_分析7_推移'!$B$2:$B$48</c:f>
              <c:strCache>
                <c:ptCount val="47"/>
                <c:pt idx="0">
                  <c:v>07-30</c:v>
                </c:pt>
                <c:pt idx="7">
                  <c:v>08-06</c:v>
                </c:pt>
                <c:pt idx="14">
                  <c:v>08-13</c:v>
                </c:pt>
                <c:pt idx="21">
                  <c:v>08-20</c:v>
                </c:pt>
                <c:pt idx="28">
                  <c:v>08-27</c:v>
                </c:pt>
                <c:pt idx="35">
                  <c:v>09-03</c:v>
                </c:pt>
                <c:pt idx="42">
                  <c:v>09-10</c:v>
                </c:pt>
              </c:strCache>
            </c:strRef>
          </c:cat>
          <c:val>
            <c:numRef>
              <c:f>'図14_分析7_推移'!$F$2:$F$48</c:f>
              <c:numCache>
                <c:formatCode>General</c:formatCode>
                <c:ptCount val="47"/>
                <c:pt idx="1">
                  <c:v>8.0000000000000002E-3</c:v>
                </c:pt>
                <c:pt idx="2">
                  <c:v>-2.4E-2</c:v>
                </c:pt>
                <c:pt idx="3">
                  <c:v>-4.2999999999999997E-2</c:v>
                </c:pt>
                <c:pt idx="4">
                  <c:v>-0.105</c:v>
                </c:pt>
                <c:pt idx="5">
                  <c:v>-0.24399999999999999</c:v>
                </c:pt>
                <c:pt idx="6">
                  <c:v>-0.24399999999999999</c:v>
                </c:pt>
                <c:pt idx="7">
                  <c:v>-0.24399999999999999</c:v>
                </c:pt>
                <c:pt idx="8">
                  <c:v>-0.249</c:v>
                </c:pt>
                <c:pt idx="9">
                  <c:v>-0.28100000000000003</c:v>
                </c:pt>
                <c:pt idx="10">
                  <c:v>-0.35299999999999998</c:v>
                </c:pt>
                <c:pt idx="11">
                  <c:v>-0.45400000000000001</c:v>
                </c:pt>
                <c:pt idx="12">
                  <c:v>-0.34100000000000003</c:v>
                </c:pt>
                <c:pt idx="13">
                  <c:v>-0.34100000000000003</c:v>
                </c:pt>
                <c:pt idx="14">
                  <c:v>-0.34100000000000003</c:v>
                </c:pt>
                <c:pt idx="15">
                  <c:v>-0.39400000000000002</c:v>
                </c:pt>
                <c:pt idx="16">
                  <c:v>-0.33</c:v>
                </c:pt>
                <c:pt idx="17">
                  <c:v>-0.25900000000000001</c:v>
                </c:pt>
                <c:pt idx="18">
                  <c:v>-0.15</c:v>
                </c:pt>
                <c:pt idx="19">
                  <c:v>-0.17</c:v>
                </c:pt>
                <c:pt idx="20">
                  <c:v>-0.17</c:v>
                </c:pt>
                <c:pt idx="21">
                  <c:v>-0.17</c:v>
                </c:pt>
                <c:pt idx="22">
                  <c:v>-0.156</c:v>
                </c:pt>
                <c:pt idx="23">
                  <c:v>-0.17100000000000001</c:v>
                </c:pt>
                <c:pt idx="24">
                  <c:v>-0.13900000000000001</c:v>
                </c:pt>
                <c:pt idx="25">
                  <c:v>-0.156</c:v>
                </c:pt>
                <c:pt idx="26">
                  <c:v>-7.6999999999999999E-2</c:v>
                </c:pt>
                <c:pt idx="27">
                  <c:v>-7.6999999999999999E-2</c:v>
                </c:pt>
                <c:pt idx="28">
                  <c:v>-7.6999999999999999E-2</c:v>
                </c:pt>
                <c:pt idx="29">
                  <c:v>-7.1999999999999995E-2</c:v>
                </c:pt>
                <c:pt idx="30">
                  <c:v>-6.7000000000000004E-2</c:v>
                </c:pt>
                <c:pt idx="31">
                  <c:v>-0.158</c:v>
                </c:pt>
                <c:pt idx="32">
                  <c:v>-0.19500000000000001</c:v>
                </c:pt>
                <c:pt idx="33">
                  <c:v>-0.252</c:v>
                </c:pt>
                <c:pt idx="34">
                  <c:v>-0.252</c:v>
                </c:pt>
                <c:pt idx="35">
                  <c:v>-0.252</c:v>
                </c:pt>
                <c:pt idx="36">
                  <c:v>-0.39900000000000002</c:v>
                </c:pt>
                <c:pt idx="37">
                  <c:v>-0.45300000000000001</c:v>
                </c:pt>
                <c:pt idx="38">
                  <c:v>-0.50800000000000001</c:v>
                </c:pt>
                <c:pt idx="39">
                  <c:v>-0.56999999999999995</c:v>
                </c:pt>
                <c:pt idx="40">
                  <c:v>-0.61199999999999999</c:v>
                </c:pt>
                <c:pt idx="41">
                  <c:v>-0.61199999999999999</c:v>
                </c:pt>
                <c:pt idx="42">
                  <c:v>-0.61199999999999999</c:v>
                </c:pt>
                <c:pt idx="43">
                  <c:v>-0.50600000000000001</c:v>
                </c:pt>
                <c:pt idx="44">
                  <c:v>-0.53500000000000003</c:v>
                </c:pt>
                <c:pt idx="45">
                  <c:v>-0.50700000000000001</c:v>
                </c:pt>
              </c:numCache>
            </c:numRef>
          </c:val>
          <c:smooth val="0"/>
          <c:extLst>
            <c:ext xmlns:c16="http://schemas.microsoft.com/office/drawing/2014/chart" uri="{C3380CC4-5D6E-409C-BE32-E72D297353CC}">
              <c16:uniqueId val="{00000003-BF18-8E43-98DA-4FA109A78CDA}"/>
            </c:ext>
          </c:extLst>
        </c:ser>
        <c:dLbls>
          <c:showLegendKey val="0"/>
          <c:showVal val="0"/>
          <c:showCatName val="0"/>
          <c:showSerName val="0"/>
          <c:showPercent val="0"/>
          <c:showBubbleSize val="0"/>
        </c:dLbls>
        <c:marker val="1"/>
        <c:smooth val="0"/>
        <c:axId val="10"/>
        <c:axId val="20"/>
      </c:lineChart>
      <c:catAx>
        <c:axId val="10"/>
        <c:scaling>
          <c:orientation val="minMax"/>
        </c:scaling>
        <c:delete val="0"/>
        <c:axPos val="b"/>
        <c:numFmt formatCode="General" sourceLinked="1"/>
        <c:majorTickMark val="out"/>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0.6"/>
          <c:min val="-1"/>
        </c:scaling>
        <c:delete val="0"/>
        <c:axPos val="l"/>
        <c:majorGridlines>
          <c:spPr>
            <a:ln w="9525" cap="rnd">
              <a:solidFill>
                <a:srgbClr val="E3E7EC"/>
              </a:solidFill>
              <a:round/>
            </a:ln>
          </c:spPr>
        </c:majorGridlines>
        <c:title>
          <c:tx>
            <c:rich>
              <a:bodyPr rot="-5400000" vert="horz"/>
              <a:lstStyle/>
              <a:p>
                <a:pPr>
                  <a:defRPr sz="900" b="0"/>
                </a:pPr>
                <a:r>
                  <a:rPr lang="ja-JP" sz="900" b="0"/>
                  <a:t>日中平均の吸気温度差［℃］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2"/>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scatterChart>
        <c:scatterStyle val="lineMarker"/>
        <c:varyColors val="0"/>
        <c:ser>
          <c:idx val="0"/>
          <c:order val="0"/>
          <c:tx>
            <c:strRef>
              <c:f>'付録_日射遮蔽'!$C$1</c:f>
              <c:strCache>
                <c:ptCount val="1"/>
                <c:pt idx="0">
                  <c:v>期間外の勤務日</c:v>
                </c:pt>
              </c:strCache>
            </c:strRef>
          </c:tx>
          <c:spPr>
            <a:ln>
              <a:noFill/>
            </a:ln>
          </c:spPr>
          <c:marker>
            <c:symbol val="circle"/>
            <c:size val="5"/>
            <c:spPr>
              <a:solidFill>
                <a:srgbClr val="8A949E"/>
              </a:solidFill>
              <a:ln w="9525" cap="rnd">
                <a:solidFill>
                  <a:srgbClr val="8A949E"/>
                </a:solidFill>
                <a:round/>
              </a:ln>
            </c:spPr>
          </c:marker>
          <c:trendline>
            <c:spPr>
              <a:ln w="15875" cap="rnd">
                <a:solidFill>
                  <a:srgbClr val="22354F"/>
                </a:solidFill>
                <a:prstDash val="dash"/>
                <a:round/>
              </a:ln>
            </c:spPr>
            <c:trendlineType val="linear"/>
            <c:dispRSqr val="0"/>
            <c:dispEq val="0"/>
          </c:trendline>
          <c:xVal>
            <c:numRef>
              <c:f>'付録_日射遮蔽'!$B$2:$B$32</c:f>
              <c:numCache>
                <c:formatCode>General</c:formatCode>
                <c:ptCount val="31"/>
                <c:pt idx="0">
                  <c:v>35.5</c:v>
                </c:pt>
                <c:pt idx="1">
                  <c:v>34.130000000000003</c:v>
                </c:pt>
                <c:pt idx="2">
                  <c:v>25.88</c:v>
                </c:pt>
                <c:pt idx="3">
                  <c:v>28.27</c:v>
                </c:pt>
                <c:pt idx="4">
                  <c:v>29.98</c:v>
                </c:pt>
                <c:pt idx="5">
                  <c:v>30.3</c:v>
                </c:pt>
                <c:pt idx="6">
                  <c:v>32.24</c:v>
                </c:pt>
                <c:pt idx="7">
                  <c:v>30.3</c:v>
                </c:pt>
                <c:pt idx="8">
                  <c:v>27.84</c:v>
                </c:pt>
                <c:pt idx="9">
                  <c:v>25.92</c:v>
                </c:pt>
                <c:pt idx="10">
                  <c:v>29.14</c:v>
                </c:pt>
                <c:pt idx="11">
                  <c:v>29.8</c:v>
                </c:pt>
                <c:pt idx="12">
                  <c:v>31.22</c:v>
                </c:pt>
                <c:pt idx="13">
                  <c:v>31.61</c:v>
                </c:pt>
                <c:pt idx="14">
                  <c:v>32.159999999999997</c:v>
                </c:pt>
                <c:pt idx="15">
                  <c:v>31.05</c:v>
                </c:pt>
                <c:pt idx="16">
                  <c:v>32.64</c:v>
                </c:pt>
                <c:pt idx="17">
                  <c:v>33.85</c:v>
                </c:pt>
                <c:pt idx="18">
                  <c:v>33.96</c:v>
                </c:pt>
                <c:pt idx="19">
                  <c:v>28.15</c:v>
                </c:pt>
                <c:pt idx="20">
                  <c:v>32.869999999999997</c:v>
                </c:pt>
                <c:pt idx="21">
                  <c:v>26.93</c:v>
                </c:pt>
                <c:pt idx="22">
                  <c:v>28</c:v>
                </c:pt>
                <c:pt idx="23">
                  <c:v>30.64</c:v>
                </c:pt>
                <c:pt idx="24">
                  <c:v>29.93</c:v>
                </c:pt>
                <c:pt idx="25">
                  <c:v>25.48</c:v>
                </c:pt>
                <c:pt idx="26">
                  <c:v>23.96</c:v>
                </c:pt>
                <c:pt idx="27">
                  <c:v>28.1</c:v>
                </c:pt>
                <c:pt idx="28">
                  <c:v>28.8</c:v>
                </c:pt>
                <c:pt idx="29">
                  <c:v>21</c:v>
                </c:pt>
                <c:pt idx="30">
                  <c:v>20.149999999999999</c:v>
                </c:pt>
              </c:numCache>
            </c:numRef>
          </c:xVal>
          <c:yVal>
            <c:numRef>
              <c:f>'付録_日射遮蔽'!$C$2:$C$32</c:f>
              <c:numCache>
                <c:formatCode>General</c:formatCode>
                <c:ptCount val="31"/>
                <c:pt idx="0">
                  <c:v>0.44900000000000001</c:v>
                </c:pt>
                <c:pt idx="1">
                  <c:v>0.41099999999999998</c:v>
                </c:pt>
                <c:pt idx="2">
                  <c:v>0.121</c:v>
                </c:pt>
                <c:pt idx="3">
                  <c:v>9.2999999999999999E-2</c:v>
                </c:pt>
                <c:pt idx="4">
                  <c:v>3.5999999999999997E-2</c:v>
                </c:pt>
                <c:pt idx="5">
                  <c:v>-7.2999999999999995E-2</c:v>
                </c:pt>
                <c:pt idx="6">
                  <c:v>-0.249</c:v>
                </c:pt>
                <c:pt idx="7">
                  <c:v>0.379</c:v>
                </c:pt>
                <c:pt idx="8">
                  <c:v>-0.14599999999999999</c:v>
                </c:pt>
                <c:pt idx="9">
                  <c:v>-0.32900000000000001</c:v>
                </c:pt>
                <c:pt idx="10">
                  <c:v>-0.121</c:v>
                </c:pt>
                <c:pt idx="20">
                  <c:v>0.36599999999999999</c:v>
                </c:pt>
                <c:pt idx="21">
                  <c:v>-0.17899999999999999</c:v>
                </c:pt>
                <c:pt idx="22">
                  <c:v>-0.13300000000000001</c:v>
                </c:pt>
                <c:pt idx="23">
                  <c:v>-0.23899999999999999</c:v>
                </c:pt>
                <c:pt idx="24">
                  <c:v>-0.28799999999999998</c:v>
                </c:pt>
                <c:pt idx="25">
                  <c:v>-0.38800000000000001</c:v>
                </c:pt>
                <c:pt idx="26">
                  <c:v>-0.83499999999999996</c:v>
                </c:pt>
                <c:pt idx="27">
                  <c:v>-0.55300000000000005</c:v>
                </c:pt>
                <c:pt idx="28">
                  <c:v>-0.623</c:v>
                </c:pt>
                <c:pt idx="29">
                  <c:v>-0.749</c:v>
                </c:pt>
                <c:pt idx="30">
                  <c:v>-0.40100000000000002</c:v>
                </c:pt>
              </c:numCache>
            </c:numRef>
          </c:yVal>
          <c:smooth val="0"/>
          <c:extLst>
            <c:ext xmlns:c16="http://schemas.microsoft.com/office/drawing/2014/chart" uri="{C3380CC4-5D6E-409C-BE32-E72D297353CC}">
              <c16:uniqueId val="{00000001-5B5D-F243-A5E4-506C3924017B}"/>
            </c:ext>
          </c:extLst>
        </c:ser>
        <c:ser>
          <c:idx val="1"/>
          <c:order val="1"/>
          <c:tx>
            <c:strRef>
              <c:f>'付録_日射遮蔽'!$D$1</c:f>
              <c:strCache>
                <c:ptCount val="1"/>
                <c:pt idx="0">
                  <c:v>8/16〜8/27の勤務日</c:v>
                </c:pt>
              </c:strCache>
            </c:strRef>
          </c:tx>
          <c:spPr>
            <a:ln>
              <a:noFill/>
            </a:ln>
          </c:spPr>
          <c:marker>
            <c:symbol val="circle"/>
            <c:size val="5"/>
            <c:spPr>
              <a:solidFill>
                <a:srgbClr val="E66C64"/>
              </a:solidFill>
              <a:ln w="9525" cap="rnd">
                <a:solidFill>
                  <a:srgbClr val="E66C64"/>
                </a:solidFill>
                <a:round/>
              </a:ln>
            </c:spPr>
          </c:marker>
          <c:xVal>
            <c:numRef>
              <c:f>'付録_日射遮蔽'!$B$2:$B$32</c:f>
              <c:numCache>
                <c:formatCode>General</c:formatCode>
                <c:ptCount val="31"/>
                <c:pt idx="0">
                  <c:v>35.5</c:v>
                </c:pt>
                <c:pt idx="1">
                  <c:v>34.130000000000003</c:v>
                </c:pt>
                <c:pt idx="2">
                  <c:v>25.88</c:v>
                </c:pt>
                <c:pt idx="3">
                  <c:v>28.27</c:v>
                </c:pt>
                <c:pt idx="4">
                  <c:v>29.98</c:v>
                </c:pt>
                <c:pt idx="5">
                  <c:v>30.3</c:v>
                </c:pt>
                <c:pt idx="6">
                  <c:v>32.24</c:v>
                </c:pt>
                <c:pt idx="7">
                  <c:v>30.3</c:v>
                </c:pt>
                <c:pt idx="8">
                  <c:v>27.84</c:v>
                </c:pt>
                <c:pt idx="9">
                  <c:v>25.92</c:v>
                </c:pt>
                <c:pt idx="10">
                  <c:v>29.14</c:v>
                </c:pt>
                <c:pt idx="11">
                  <c:v>29.8</c:v>
                </c:pt>
                <c:pt idx="12">
                  <c:v>31.22</c:v>
                </c:pt>
                <c:pt idx="13">
                  <c:v>31.61</c:v>
                </c:pt>
                <c:pt idx="14">
                  <c:v>32.159999999999997</c:v>
                </c:pt>
                <c:pt idx="15">
                  <c:v>31.05</c:v>
                </c:pt>
                <c:pt idx="16">
                  <c:v>32.64</c:v>
                </c:pt>
                <c:pt idx="17">
                  <c:v>33.85</c:v>
                </c:pt>
                <c:pt idx="18">
                  <c:v>33.96</c:v>
                </c:pt>
                <c:pt idx="19">
                  <c:v>28.15</c:v>
                </c:pt>
                <c:pt idx="20">
                  <c:v>32.869999999999997</c:v>
                </c:pt>
                <c:pt idx="21">
                  <c:v>26.93</c:v>
                </c:pt>
                <c:pt idx="22">
                  <c:v>28</c:v>
                </c:pt>
                <c:pt idx="23">
                  <c:v>30.64</c:v>
                </c:pt>
                <c:pt idx="24">
                  <c:v>29.93</c:v>
                </c:pt>
                <c:pt idx="25">
                  <c:v>25.48</c:v>
                </c:pt>
                <c:pt idx="26">
                  <c:v>23.96</c:v>
                </c:pt>
                <c:pt idx="27">
                  <c:v>28.1</c:v>
                </c:pt>
                <c:pt idx="28">
                  <c:v>28.8</c:v>
                </c:pt>
                <c:pt idx="29">
                  <c:v>21</c:v>
                </c:pt>
                <c:pt idx="30">
                  <c:v>20.149999999999999</c:v>
                </c:pt>
              </c:numCache>
            </c:numRef>
          </c:xVal>
          <c:yVal>
            <c:numRef>
              <c:f>'付録_日射遮蔽'!$D$2:$D$32</c:f>
              <c:numCache>
                <c:formatCode>General</c:formatCode>
                <c:ptCount val="31"/>
                <c:pt idx="11">
                  <c:v>-0.125</c:v>
                </c:pt>
                <c:pt idx="12">
                  <c:v>0.26500000000000001</c:v>
                </c:pt>
                <c:pt idx="13">
                  <c:v>0.25700000000000001</c:v>
                </c:pt>
                <c:pt idx="14">
                  <c:v>0.34</c:v>
                </c:pt>
                <c:pt idx="15">
                  <c:v>9.2999999999999999E-2</c:v>
                </c:pt>
                <c:pt idx="16">
                  <c:v>0.23699999999999999</c:v>
                </c:pt>
                <c:pt idx="17">
                  <c:v>0.311</c:v>
                </c:pt>
                <c:pt idx="18">
                  <c:v>0.47499999999999998</c:v>
                </c:pt>
                <c:pt idx="19">
                  <c:v>-0.28299999999999997</c:v>
                </c:pt>
              </c:numCache>
            </c:numRef>
          </c:yVal>
          <c:smooth val="0"/>
          <c:extLst>
            <c:ext xmlns:c16="http://schemas.microsoft.com/office/drawing/2014/chart" uri="{C3380CC4-5D6E-409C-BE32-E72D297353CC}">
              <c16:uniqueId val="{00000001-F0A0-9A4A-87DE-C4BD32A3E2BF}"/>
            </c:ext>
          </c:extLst>
        </c:ser>
        <c:dLbls>
          <c:showLegendKey val="0"/>
          <c:showVal val="0"/>
          <c:showCatName val="0"/>
          <c:showSerName val="0"/>
          <c:showPercent val="0"/>
          <c:showBubbleSize val="0"/>
        </c:dLbls>
        <c:axId val="10"/>
        <c:axId val="20"/>
      </c:scatterChart>
      <c:valAx>
        <c:axId val="10"/>
        <c:scaling>
          <c:orientation val="minMax"/>
          <c:max val="36"/>
          <c:min val="18"/>
        </c:scaling>
        <c:delete val="0"/>
        <c:axPos val="b"/>
        <c:title>
          <c:tx>
            <c:rich>
              <a:bodyPr/>
              <a:lstStyle/>
              <a:p>
                <a:pPr>
                  <a:defRPr sz="900" b="0"/>
                </a:pPr>
                <a:r>
                  <a:rPr lang="ja-JP" sz="900" b="0"/>
                  <a:t>日中平均気温［℃］</a:t>
                </a:r>
              </a:p>
            </c:rich>
          </c:tx>
          <c:overlay val="0"/>
        </c:title>
        <c:numFmt formatCode="0" sourceLinked="0"/>
        <c:majorTickMark val="out"/>
        <c:minorTickMark val="none"/>
        <c:tickLblPos val="low"/>
        <c:spPr>
          <a:ln w="15875" cap="rnd">
            <a:solidFill>
              <a:srgbClr val="5E6B7A"/>
            </a:solidFill>
            <a:round/>
          </a:ln>
        </c:spPr>
        <c:crossAx val="20"/>
        <c:crosses val="autoZero"/>
        <c:crossBetween val="midCat"/>
        <c:majorUnit val="3"/>
      </c:valAx>
      <c:valAx>
        <c:axId val="20"/>
        <c:scaling>
          <c:orientation val="minMax"/>
          <c:max val="0.8"/>
          <c:min val="-1.2"/>
        </c:scaling>
        <c:delete val="0"/>
        <c:axPos val="l"/>
        <c:majorGridlines>
          <c:spPr>
            <a:ln w="9525" cap="rnd">
              <a:solidFill>
                <a:srgbClr val="E3E7EC"/>
              </a:solidFill>
              <a:round/>
            </a:ln>
          </c:spPr>
        </c:majorGridlines>
        <c:title>
          <c:tx>
            <c:rich>
              <a:bodyPr rot="-5400000" vert="horz"/>
              <a:lstStyle/>
              <a:p>
                <a:pPr>
                  <a:defRPr sz="900" b="0"/>
                </a:pPr>
                <a:r>
                  <a:rPr lang="ja-JP" sz="900" b="0"/>
                  <a:t>列8の吸気温度差［℃］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4"/>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
          <c:y val="0.25"/>
          <c:w val="0.76"/>
          <c:h val="0.55000000000000004"/>
        </c:manualLayout>
      </c:layout>
      <c:lineChart>
        <c:grouping val="standard"/>
        <c:varyColors val="0"/>
        <c:ser>
          <c:idx val="0"/>
          <c:order val="0"/>
          <c:tx>
            <c:strRef>
              <c:f>'図15_分析8_晴れと曇り'!$C$1</c:f>
              <c:strCache>
                <c:ptCount val="1"/>
                <c:pt idx="0">
                  <c:v>屋上の気温</c:v>
                </c:pt>
              </c:strCache>
            </c:strRef>
          </c:tx>
          <c:spPr>
            <a:ln w="15875" cap="rnd">
              <a:solidFill>
                <a:srgbClr val="ED7D31"/>
              </a:solidFill>
              <a:round/>
            </a:ln>
          </c:spPr>
          <c:marker>
            <c:symbol val="none"/>
          </c:marker>
          <c:cat>
            <c:strRef>
              <c:f>'図15_分析8_晴れと曇り'!$B$2:$B$145</c:f>
              <c:strCache>
                <c:ptCount val="144"/>
                <c:pt idx="0">
                  <c:v>0:00</c:v>
                </c:pt>
                <c:pt idx="18">
                  <c:v>3:00</c:v>
                </c:pt>
                <c:pt idx="36">
                  <c:v>6:00</c:v>
                </c:pt>
                <c:pt idx="54">
                  <c:v>9:00</c:v>
                </c:pt>
                <c:pt idx="72">
                  <c:v>12:00</c:v>
                </c:pt>
                <c:pt idx="90">
                  <c:v>15:00</c:v>
                </c:pt>
                <c:pt idx="108">
                  <c:v>18:00</c:v>
                </c:pt>
                <c:pt idx="126">
                  <c:v>21:00</c:v>
                </c:pt>
              </c:strCache>
            </c:strRef>
          </c:cat>
          <c:val>
            <c:numRef>
              <c:f>'図15_分析8_晴れと曇り'!$C$2:$C$145</c:f>
              <c:numCache>
                <c:formatCode>General</c:formatCode>
                <c:ptCount val="144"/>
                <c:pt idx="0">
                  <c:v>26.5</c:v>
                </c:pt>
                <c:pt idx="1">
                  <c:v>26.5</c:v>
                </c:pt>
                <c:pt idx="2">
                  <c:v>26.42</c:v>
                </c:pt>
                <c:pt idx="3">
                  <c:v>26.4</c:v>
                </c:pt>
                <c:pt idx="4">
                  <c:v>26.4</c:v>
                </c:pt>
                <c:pt idx="5">
                  <c:v>26.43</c:v>
                </c:pt>
                <c:pt idx="6">
                  <c:v>26.43</c:v>
                </c:pt>
                <c:pt idx="7">
                  <c:v>26.41</c:v>
                </c:pt>
                <c:pt idx="8">
                  <c:v>26.32</c:v>
                </c:pt>
                <c:pt idx="9">
                  <c:v>26.33</c:v>
                </c:pt>
                <c:pt idx="10">
                  <c:v>26.39</c:v>
                </c:pt>
                <c:pt idx="11">
                  <c:v>26.3</c:v>
                </c:pt>
                <c:pt idx="12">
                  <c:v>26.3</c:v>
                </c:pt>
                <c:pt idx="13">
                  <c:v>26.3</c:v>
                </c:pt>
                <c:pt idx="14">
                  <c:v>26.26</c:v>
                </c:pt>
                <c:pt idx="15">
                  <c:v>26.2</c:v>
                </c:pt>
                <c:pt idx="16">
                  <c:v>26.1</c:v>
                </c:pt>
                <c:pt idx="17">
                  <c:v>25.93</c:v>
                </c:pt>
                <c:pt idx="18">
                  <c:v>25.9</c:v>
                </c:pt>
                <c:pt idx="19">
                  <c:v>25.88</c:v>
                </c:pt>
                <c:pt idx="20">
                  <c:v>25.9</c:v>
                </c:pt>
                <c:pt idx="21">
                  <c:v>25.9</c:v>
                </c:pt>
                <c:pt idx="22">
                  <c:v>25.9</c:v>
                </c:pt>
                <c:pt idx="23">
                  <c:v>25.9</c:v>
                </c:pt>
                <c:pt idx="24">
                  <c:v>25.9</c:v>
                </c:pt>
                <c:pt idx="25">
                  <c:v>25.81</c:v>
                </c:pt>
                <c:pt idx="26">
                  <c:v>25.81</c:v>
                </c:pt>
                <c:pt idx="27">
                  <c:v>25.83</c:v>
                </c:pt>
                <c:pt idx="28">
                  <c:v>25.81</c:v>
                </c:pt>
                <c:pt idx="29">
                  <c:v>25.8</c:v>
                </c:pt>
                <c:pt idx="30">
                  <c:v>25.72</c:v>
                </c:pt>
                <c:pt idx="31">
                  <c:v>25.7</c:v>
                </c:pt>
                <c:pt idx="32">
                  <c:v>25.74</c:v>
                </c:pt>
                <c:pt idx="33">
                  <c:v>25.85</c:v>
                </c:pt>
                <c:pt idx="34">
                  <c:v>26.05</c:v>
                </c:pt>
                <c:pt idx="35">
                  <c:v>26.1</c:v>
                </c:pt>
                <c:pt idx="36">
                  <c:v>26.01</c:v>
                </c:pt>
                <c:pt idx="37">
                  <c:v>26.2</c:v>
                </c:pt>
                <c:pt idx="38">
                  <c:v>26.36</c:v>
                </c:pt>
                <c:pt idx="39">
                  <c:v>26.44</c:v>
                </c:pt>
                <c:pt idx="40">
                  <c:v>26.63</c:v>
                </c:pt>
                <c:pt idx="41">
                  <c:v>26.93</c:v>
                </c:pt>
                <c:pt idx="42">
                  <c:v>27.25</c:v>
                </c:pt>
                <c:pt idx="43">
                  <c:v>27.52</c:v>
                </c:pt>
                <c:pt idx="44">
                  <c:v>27.59</c:v>
                </c:pt>
                <c:pt idx="45">
                  <c:v>27.61</c:v>
                </c:pt>
                <c:pt idx="46">
                  <c:v>27.81</c:v>
                </c:pt>
                <c:pt idx="47">
                  <c:v>28.17</c:v>
                </c:pt>
                <c:pt idx="48">
                  <c:v>28.2</c:v>
                </c:pt>
                <c:pt idx="49">
                  <c:v>28.53</c:v>
                </c:pt>
                <c:pt idx="50">
                  <c:v>28.82</c:v>
                </c:pt>
                <c:pt idx="51">
                  <c:v>29.36</c:v>
                </c:pt>
                <c:pt idx="52">
                  <c:v>28.87</c:v>
                </c:pt>
                <c:pt idx="53">
                  <c:v>29.05</c:v>
                </c:pt>
                <c:pt idx="54">
                  <c:v>29.06</c:v>
                </c:pt>
                <c:pt idx="55">
                  <c:v>29.13</c:v>
                </c:pt>
                <c:pt idx="56">
                  <c:v>29.01</c:v>
                </c:pt>
                <c:pt idx="57">
                  <c:v>28.88</c:v>
                </c:pt>
                <c:pt idx="58">
                  <c:v>28.98</c:v>
                </c:pt>
                <c:pt idx="59">
                  <c:v>29.11</c:v>
                </c:pt>
                <c:pt idx="60">
                  <c:v>29.4</c:v>
                </c:pt>
                <c:pt idx="61">
                  <c:v>29.39</c:v>
                </c:pt>
                <c:pt idx="62">
                  <c:v>30.26</c:v>
                </c:pt>
                <c:pt idx="63">
                  <c:v>30.75</c:v>
                </c:pt>
                <c:pt idx="64">
                  <c:v>31.85</c:v>
                </c:pt>
                <c:pt idx="65">
                  <c:v>31.92</c:v>
                </c:pt>
                <c:pt idx="66">
                  <c:v>31.95</c:v>
                </c:pt>
                <c:pt idx="67">
                  <c:v>31.97</c:v>
                </c:pt>
                <c:pt idx="68">
                  <c:v>32.36</c:v>
                </c:pt>
                <c:pt idx="69">
                  <c:v>32.11</c:v>
                </c:pt>
                <c:pt idx="70">
                  <c:v>32.64</c:v>
                </c:pt>
                <c:pt idx="71">
                  <c:v>32.49</c:v>
                </c:pt>
                <c:pt idx="72">
                  <c:v>32.6</c:v>
                </c:pt>
                <c:pt idx="73">
                  <c:v>32.840000000000003</c:v>
                </c:pt>
                <c:pt idx="74">
                  <c:v>33.119999999999997</c:v>
                </c:pt>
                <c:pt idx="75">
                  <c:v>32.49</c:v>
                </c:pt>
                <c:pt idx="76">
                  <c:v>32.93</c:v>
                </c:pt>
                <c:pt idx="77">
                  <c:v>33.090000000000003</c:v>
                </c:pt>
                <c:pt idx="78">
                  <c:v>33.369999999999997</c:v>
                </c:pt>
                <c:pt idx="79">
                  <c:v>33.1</c:v>
                </c:pt>
                <c:pt idx="80">
                  <c:v>33.33</c:v>
                </c:pt>
                <c:pt idx="81">
                  <c:v>33.590000000000003</c:v>
                </c:pt>
                <c:pt idx="82">
                  <c:v>33.75</c:v>
                </c:pt>
                <c:pt idx="83">
                  <c:v>33.78</c:v>
                </c:pt>
                <c:pt idx="84">
                  <c:v>33.380000000000003</c:v>
                </c:pt>
                <c:pt idx="85">
                  <c:v>33.56</c:v>
                </c:pt>
                <c:pt idx="86">
                  <c:v>33.57</c:v>
                </c:pt>
                <c:pt idx="87">
                  <c:v>32.659999999999997</c:v>
                </c:pt>
                <c:pt idx="88">
                  <c:v>32.729999999999997</c:v>
                </c:pt>
                <c:pt idx="89">
                  <c:v>32.6</c:v>
                </c:pt>
                <c:pt idx="90">
                  <c:v>32.409999999999997</c:v>
                </c:pt>
                <c:pt idx="91">
                  <c:v>32.11</c:v>
                </c:pt>
                <c:pt idx="92">
                  <c:v>32.33</c:v>
                </c:pt>
                <c:pt idx="93">
                  <c:v>32.24</c:v>
                </c:pt>
                <c:pt idx="94">
                  <c:v>32.33</c:v>
                </c:pt>
                <c:pt idx="95">
                  <c:v>32.200000000000003</c:v>
                </c:pt>
                <c:pt idx="96">
                  <c:v>31.85</c:v>
                </c:pt>
                <c:pt idx="97">
                  <c:v>31.59</c:v>
                </c:pt>
                <c:pt idx="98">
                  <c:v>31.25</c:v>
                </c:pt>
                <c:pt idx="99">
                  <c:v>31.28</c:v>
                </c:pt>
                <c:pt idx="100">
                  <c:v>30.89</c:v>
                </c:pt>
                <c:pt idx="101">
                  <c:v>30.3</c:v>
                </c:pt>
                <c:pt idx="102">
                  <c:v>30.02</c:v>
                </c:pt>
                <c:pt idx="103">
                  <c:v>29.63</c:v>
                </c:pt>
                <c:pt idx="104">
                  <c:v>29.85</c:v>
                </c:pt>
                <c:pt idx="105">
                  <c:v>29.93</c:v>
                </c:pt>
                <c:pt idx="106">
                  <c:v>29.65</c:v>
                </c:pt>
                <c:pt idx="107">
                  <c:v>29.48</c:v>
                </c:pt>
                <c:pt idx="108">
                  <c:v>29.42</c:v>
                </c:pt>
                <c:pt idx="109">
                  <c:v>29.28</c:v>
                </c:pt>
                <c:pt idx="110">
                  <c:v>29.3</c:v>
                </c:pt>
                <c:pt idx="111">
                  <c:v>29.34</c:v>
                </c:pt>
                <c:pt idx="112">
                  <c:v>29.17</c:v>
                </c:pt>
                <c:pt idx="113">
                  <c:v>29.13</c:v>
                </c:pt>
                <c:pt idx="114">
                  <c:v>29.02</c:v>
                </c:pt>
                <c:pt idx="115">
                  <c:v>29.1</c:v>
                </c:pt>
                <c:pt idx="116">
                  <c:v>29.03</c:v>
                </c:pt>
                <c:pt idx="117">
                  <c:v>28.7</c:v>
                </c:pt>
                <c:pt idx="118">
                  <c:v>28.73</c:v>
                </c:pt>
                <c:pt idx="119">
                  <c:v>28.78</c:v>
                </c:pt>
                <c:pt idx="120">
                  <c:v>28.51</c:v>
                </c:pt>
                <c:pt idx="121">
                  <c:v>28.3</c:v>
                </c:pt>
                <c:pt idx="122">
                  <c:v>28.21</c:v>
                </c:pt>
                <c:pt idx="123">
                  <c:v>28.17</c:v>
                </c:pt>
                <c:pt idx="124">
                  <c:v>28.07</c:v>
                </c:pt>
                <c:pt idx="125">
                  <c:v>28.08</c:v>
                </c:pt>
                <c:pt idx="126">
                  <c:v>27.98</c:v>
                </c:pt>
                <c:pt idx="127">
                  <c:v>27.82</c:v>
                </c:pt>
                <c:pt idx="128">
                  <c:v>27.73</c:v>
                </c:pt>
                <c:pt idx="129">
                  <c:v>27.53</c:v>
                </c:pt>
                <c:pt idx="130">
                  <c:v>27.55</c:v>
                </c:pt>
                <c:pt idx="131">
                  <c:v>27.66</c:v>
                </c:pt>
                <c:pt idx="132">
                  <c:v>27.54</c:v>
                </c:pt>
                <c:pt idx="133">
                  <c:v>27.28</c:v>
                </c:pt>
                <c:pt idx="134">
                  <c:v>27.23</c:v>
                </c:pt>
                <c:pt idx="135">
                  <c:v>27.08</c:v>
                </c:pt>
                <c:pt idx="136">
                  <c:v>27.12</c:v>
                </c:pt>
                <c:pt idx="137">
                  <c:v>27.16</c:v>
                </c:pt>
                <c:pt idx="138">
                  <c:v>27.09</c:v>
                </c:pt>
                <c:pt idx="139">
                  <c:v>27.06</c:v>
                </c:pt>
                <c:pt idx="140">
                  <c:v>27</c:v>
                </c:pt>
                <c:pt idx="141">
                  <c:v>27.03</c:v>
                </c:pt>
                <c:pt idx="142">
                  <c:v>27.01</c:v>
                </c:pt>
                <c:pt idx="143">
                  <c:v>27</c:v>
                </c:pt>
              </c:numCache>
            </c:numRef>
          </c:val>
          <c:smooth val="0"/>
          <c:extLst>
            <c:ext xmlns:c16="http://schemas.microsoft.com/office/drawing/2014/chart" uri="{C3380CC4-5D6E-409C-BE32-E72D297353CC}">
              <c16:uniqueId val="{00000000-44CC-0944-84D0-B0A8F879BCDB}"/>
            </c:ext>
          </c:extLst>
        </c:ser>
        <c:ser>
          <c:idx val="1"/>
          <c:order val="1"/>
          <c:tx>
            <c:strRef>
              <c:f>'図15_分析8_晴れと曇り'!$D$1</c:f>
              <c:strCache>
                <c:ptCount val="1"/>
                <c:pt idx="0">
                  <c:v>列3</c:v>
                </c:pt>
              </c:strCache>
            </c:strRef>
          </c:tx>
          <c:spPr>
            <a:ln w="11430" cap="rnd">
              <a:solidFill>
                <a:srgbClr val="5E6B7A"/>
              </a:solidFill>
              <a:round/>
            </a:ln>
          </c:spPr>
          <c:marker>
            <c:symbol val="none"/>
          </c:marker>
          <c:cat>
            <c:strRef>
              <c:f>'図15_分析8_晴れと曇り'!$B$2:$B$145</c:f>
              <c:strCache>
                <c:ptCount val="144"/>
                <c:pt idx="0">
                  <c:v>0:00</c:v>
                </c:pt>
                <c:pt idx="18">
                  <c:v>3:00</c:v>
                </c:pt>
                <c:pt idx="36">
                  <c:v>6:00</c:v>
                </c:pt>
                <c:pt idx="54">
                  <c:v>9:00</c:v>
                </c:pt>
                <c:pt idx="72">
                  <c:v>12:00</c:v>
                </c:pt>
                <c:pt idx="90">
                  <c:v>15:00</c:v>
                </c:pt>
                <c:pt idx="108">
                  <c:v>18:00</c:v>
                </c:pt>
                <c:pt idx="126">
                  <c:v>21:00</c:v>
                </c:pt>
              </c:strCache>
            </c:strRef>
          </c:cat>
          <c:val>
            <c:numRef>
              <c:f>'図15_分析8_晴れと曇り'!$D$2:$D$145</c:f>
              <c:numCache>
                <c:formatCode>General</c:formatCode>
                <c:ptCount val="144"/>
                <c:pt idx="0">
                  <c:v>26.384</c:v>
                </c:pt>
                <c:pt idx="1">
                  <c:v>26.350999999999999</c:v>
                </c:pt>
                <c:pt idx="2">
                  <c:v>26.263999999999999</c:v>
                </c:pt>
                <c:pt idx="3">
                  <c:v>26.253</c:v>
                </c:pt>
                <c:pt idx="4">
                  <c:v>26.245999999999999</c:v>
                </c:pt>
                <c:pt idx="5">
                  <c:v>26.289000000000001</c:v>
                </c:pt>
                <c:pt idx="6">
                  <c:v>26.228000000000002</c:v>
                </c:pt>
                <c:pt idx="7">
                  <c:v>26.196999999999999</c:v>
                </c:pt>
                <c:pt idx="8">
                  <c:v>26.141999999999999</c:v>
                </c:pt>
                <c:pt idx="9">
                  <c:v>26.111000000000001</c:v>
                </c:pt>
                <c:pt idx="10">
                  <c:v>26.12</c:v>
                </c:pt>
                <c:pt idx="11">
                  <c:v>26.067</c:v>
                </c:pt>
                <c:pt idx="12">
                  <c:v>26.015999999999998</c:v>
                </c:pt>
                <c:pt idx="13">
                  <c:v>26.001000000000001</c:v>
                </c:pt>
                <c:pt idx="14">
                  <c:v>25.95</c:v>
                </c:pt>
                <c:pt idx="15">
                  <c:v>25.911999999999999</c:v>
                </c:pt>
                <c:pt idx="16">
                  <c:v>25.791</c:v>
                </c:pt>
                <c:pt idx="17">
                  <c:v>25.686</c:v>
                </c:pt>
                <c:pt idx="18">
                  <c:v>25.641999999999999</c:v>
                </c:pt>
                <c:pt idx="19">
                  <c:v>25.576000000000001</c:v>
                </c:pt>
                <c:pt idx="20">
                  <c:v>25.58</c:v>
                </c:pt>
                <c:pt idx="21">
                  <c:v>25.542000000000002</c:v>
                </c:pt>
                <c:pt idx="22">
                  <c:v>25.538</c:v>
                </c:pt>
                <c:pt idx="23">
                  <c:v>25.536999999999999</c:v>
                </c:pt>
                <c:pt idx="24">
                  <c:v>25.507999999999999</c:v>
                </c:pt>
                <c:pt idx="25">
                  <c:v>25.48</c:v>
                </c:pt>
                <c:pt idx="26">
                  <c:v>25.495999999999999</c:v>
                </c:pt>
                <c:pt idx="27">
                  <c:v>25.428999999999998</c:v>
                </c:pt>
                <c:pt idx="28">
                  <c:v>25.452999999999999</c:v>
                </c:pt>
                <c:pt idx="29">
                  <c:v>25.449000000000002</c:v>
                </c:pt>
                <c:pt idx="30">
                  <c:v>25.436</c:v>
                </c:pt>
                <c:pt idx="31">
                  <c:v>25.419</c:v>
                </c:pt>
                <c:pt idx="32">
                  <c:v>25.492999999999999</c:v>
                </c:pt>
                <c:pt idx="33">
                  <c:v>25.658000000000001</c:v>
                </c:pt>
                <c:pt idx="34">
                  <c:v>25.812000000000001</c:v>
                </c:pt>
                <c:pt idx="35">
                  <c:v>25.866</c:v>
                </c:pt>
                <c:pt idx="36">
                  <c:v>26.006</c:v>
                </c:pt>
                <c:pt idx="37">
                  <c:v>26.251000000000001</c:v>
                </c:pt>
                <c:pt idx="38">
                  <c:v>26.373999999999999</c:v>
                </c:pt>
                <c:pt idx="39">
                  <c:v>26.613</c:v>
                </c:pt>
                <c:pt idx="40">
                  <c:v>26.939</c:v>
                </c:pt>
                <c:pt idx="41">
                  <c:v>27.099</c:v>
                </c:pt>
                <c:pt idx="42">
                  <c:v>27.379000000000001</c:v>
                </c:pt>
                <c:pt idx="43">
                  <c:v>27.771000000000001</c:v>
                </c:pt>
                <c:pt idx="44">
                  <c:v>28.013000000000002</c:v>
                </c:pt>
                <c:pt idx="45">
                  <c:v>28.236999999999998</c:v>
                </c:pt>
                <c:pt idx="46">
                  <c:v>28.344000000000001</c:v>
                </c:pt>
                <c:pt idx="47">
                  <c:v>28.867999999999999</c:v>
                </c:pt>
                <c:pt idx="48">
                  <c:v>28.783999999999999</c:v>
                </c:pt>
                <c:pt idx="49">
                  <c:v>28.788</c:v>
                </c:pt>
                <c:pt idx="50">
                  <c:v>29.082999999999998</c:v>
                </c:pt>
                <c:pt idx="51">
                  <c:v>30.109000000000002</c:v>
                </c:pt>
                <c:pt idx="52">
                  <c:v>29.238</c:v>
                </c:pt>
                <c:pt idx="53">
                  <c:v>29.495999999999999</c:v>
                </c:pt>
                <c:pt idx="54">
                  <c:v>29.256</c:v>
                </c:pt>
                <c:pt idx="55">
                  <c:v>29.300999999999998</c:v>
                </c:pt>
                <c:pt idx="56">
                  <c:v>28.773</c:v>
                </c:pt>
                <c:pt idx="57">
                  <c:v>29.341999999999999</c:v>
                </c:pt>
                <c:pt idx="58">
                  <c:v>28.814</c:v>
                </c:pt>
                <c:pt idx="59">
                  <c:v>29.238</c:v>
                </c:pt>
                <c:pt idx="60">
                  <c:v>29.550999999999998</c:v>
                </c:pt>
                <c:pt idx="61">
                  <c:v>29.879000000000001</c:v>
                </c:pt>
                <c:pt idx="62">
                  <c:v>30.562000000000001</c:v>
                </c:pt>
                <c:pt idx="63">
                  <c:v>30.329000000000001</c:v>
                </c:pt>
                <c:pt idx="64">
                  <c:v>31.501999999999999</c:v>
                </c:pt>
                <c:pt idx="65">
                  <c:v>31.337</c:v>
                </c:pt>
                <c:pt idx="66">
                  <c:v>30.850999999999999</c:v>
                </c:pt>
                <c:pt idx="67">
                  <c:v>31.422999999999998</c:v>
                </c:pt>
                <c:pt idx="68">
                  <c:v>31.199000000000002</c:v>
                </c:pt>
                <c:pt idx="69">
                  <c:v>31.161000000000001</c:v>
                </c:pt>
                <c:pt idx="70">
                  <c:v>31.137</c:v>
                </c:pt>
                <c:pt idx="71">
                  <c:v>31.128</c:v>
                </c:pt>
                <c:pt idx="72">
                  <c:v>30.943999999999999</c:v>
                </c:pt>
                <c:pt idx="73">
                  <c:v>31.823</c:v>
                </c:pt>
                <c:pt idx="74">
                  <c:v>31.373000000000001</c:v>
                </c:pt>
                <c:pt idx="75">
                  <c:v>31.335999999999999</c:v>
                </c:pt>
                <c:pt idx="76">
                  <c:v>31.506</c:v>
                </c:pt>
                <c:pt idx="77">
                  <c:v>33.040999999999997</c:v>
                </c:pt>
                <c:pt idx="78">
                  <c:v>32.299999999999997</c:v>
                </c:pt>
                <c:pt idx="79">
                  <c:v>32.341000000000001</c:v>
                </c:pt>
                <c:pt idx="80">
                  <c:v>33.017000000000003</c:v>
                </c:pt>
                <c:pt idx="81">
                  <c:v>32.923000000000002</c:v>
                </c:pt>
                <c:pt idx="82">
                  <c:v>32.948</c:v>
                </c:pt>
                <c:pt idx="83">
                  <c:v>33.087000000000003</c:v>
                </c:pt>
                <c:pt idx="84">
                  <c:v>33.167000000000002</c:v>
                </c:pt>
                <c:pt idx="85">
                  <c:v>33.106000000000002</c:v>
                </c:pt>
                <c:pt idx="86">
                  <c:v>33.472000000000001</c:v>
                </c:pt>
                <c:pt idx="87">
                  <c:v>32.683999999999997</c:v>
                </c:pt>
                <c:pt idx="88">
                  <c:v>32.726999999999997</c:v>
                </c:pt>
                <c:pt idx="89">
                  <c:v>33.084000000000003</c:v>
                </c:pt>
                <c:pt idx="90">
                  <c:v>32.259</c:v>
                </c:pt>
                <c:pt idx="91">
                  <c:v>32.204000000000001</c:v>
                </c:pt>
                <c:pt idx="92">
                  <c:v>32.280999999999999</c:v>
                </c:pt>
                <c:pt idx="93">
                  <c:v>32.261000000000003</c:v>
                </c:pt>
                <c:pt idx="94">
                  <c:v>32.380000000000003</c:v>
                </c:pt>
                <c:pt idx="95">
                  <c:v>32.423000000000002</c:v>
                </c:pt>
                <c:pt idx="96">
                  <c:v>32.018000000000001</c:v>
                </c:pt>
                <c:pt idx="97">
                  <c:v>31.853999999999999</c:v>
                </c:pt>
                <c:pt idx="98">
                  <c:v>31.94</c:v>
                </c:pt>
                <c:pt idx="99">
                  <c:v>31.716999999999999</c:v>
                </c:pt>
                <c:pt idx="100">
                  <c:v>31.173999999999999</c:v>
                </c:pt>
                <c:pt idx="101">
                  <c:v>30.841999999999999</c:v>
                </c:pt>
                <c:pt idx="102">
                  <c:v>30.391999999999999</c:v>
                </c:pt>
                <c:pt idx="103">
                  <c:v>30.494</c:v>
                </c:pt>
                <c:pt idx="104">
                  <c:v>30.417999999999999</c:v>
                </c:pt>
                <c:pt idx="105">
                  <c:v>30.108000000000001</c:v>
                </c:pt>
                <c:pt idx="106">
                  <c:v>30.149000000000001</c:v>
                </c:pt>
                <c:pt idx="107">
                  <c:v>29.864000000000001</c:v>
                </c:pt>
                <c:pt idx="108">
                  <c:v>29.751000000000001</c:v>
                </c:pt>
                <c:pt idx="109">
                  <c:v>29.811</c:v>
                </c:pt>
                <c:pt idx="110">
                  <c:v>29.795999999999999</c:v>
                </c:pt>
                <c:pt idx="111">
                  <c:v>29.594000000000001</c:v>
                </c:pt>
                <c:pt idx="112">
                  <c:v>29.558</c:v>
                </c:pt>
                <c:pt idx="113">
                  <c:v>29.498999999999999</c:v>
                </c:pt>
                <c:pt idx="114">
                  <c:v>29.378</c:v>
                </c:pt>
                <c:pt idx="115">
                  <c:v>29.384</c:v>
                </c:pt>
                <c:pt idx="116">
                  <c:v>29.222999999999999</c:v>
                </c:pt>
                <c:pt idx="117">
                  <c:v>28.974</c:v>
                </c:pt>
                <c:pt idx="118">
                  <c:v>28.93</c:v>
                </c:pt>
                <c:pt idx="119">
                  <c:v>28.94</c:v>
                </c:pt>
                <c:pt idx="120">
                  <c:v>28.463999999999999</c:v>
                </c:pt>
                <c:pt idx="121">
                  <c:v>28.343</c:v>
                </c:pt>
                <c:pt idx="122">
                  <c:v>28.286999999999999</c:v>
                </c:pt>
                <c:pt idx="123">
                  <c:v>28.224</c:v>
                </c:pt>
                <c:pt idx="124">
                  <c:v>28.437000000000001</c:v>
                </c:pt>
                <c:pt idx="125">
                  <c:v>28.358000000000001</c:v>
                </c:pt>
                <c:pt idx="126">
                  <c:v>28.175999999999998</c:v>
                </c:pt>
                <c:pt idx="127">
                  <c:v>27.891999999999999</c:v>
                </c:pt>
                <c:pt idx="128">
                  <c:v>27.789000000000001</c:v>
                </c:pt>
                <c:pt idx="129">
                  <c:v>27.719000000000001</c:v>
                </c:pt>
                <c:pt idx="130">
                  <c:v>27.678999999999998</c:v>
                </c:pt>
                <c:pt idx="131">
                  <c:v>27.588999999999999</c:v>
                </c:pt>
                <c:pt idx="132">
                  <c:v>27.602</c:v>
                </c:pt>
                <c:pt idx="133">
                  <c:v>28.036999999999999</c:v>
                </c:pt>
                <c:pt idx="134">
                  <c:v>27.576000000000001</c:v>
                </c:pt>
                <c:pt idx="135">
                  <c:v>27.241</c:v>
                </c:pt>
                <c:pt idx="136">
                  <c:v>27.181000000000001</c:v>
                </c:pt>
                <c:pt idx="137">
                  <c:v>27.106000000000002</c:v>
                </c:pt>
                <c:pt idx="138">
                  <c:v>27.082999999999998</c:v>
                </c:pt>
                <c:pt idx="139">
                  <c:v>27.013000000000002</c:v>
                </c:pt>
                <c:pt idx="140">
                  <c:v>26.937999999999999</c:v>
                </c:pt>
                <c:pt idx="141">
                  <c:v>26.911999999999999</c:v>
                </c:pt>
                <c:pt idx="142">
                  <c:v>26.866</c:v>
                </c:pt>
                <c:pt idx="143">
                  <c:v>26.888999999999999</c:v>
                </c:pt>
              </c:numCache>
            </c:numRef>
          </c:val>
          <c:smooth val="0"/>
          <c:extLst>
            <c:ext xmlns:c16="http://schemas.microsoft.com/office/drawing/2014/chart" uri="{C3380CC4-5D6E-409C-BE32-E72D297353CC}">
              <c16:uniqueId val="{00000001-44CC-0944-84D0-B0A8F879BCDB}"/>
            </c:ext>
          </c:extLst>
        </c:ser>
        <c:ser>
          <c:idx val="2"/>
          <c:order val="2"/>
          <c:tx>
            <c:strRef>
              <c:f>'図15_分析8_晴れと曇り'!$E$1</c:f>
              <c:strCache>
                <c:ptCount val="1"/>
                <c:pt idx="0">
                  <c:v>列8</c:v>
                </c:pt>
              </c:strCache>
            </c:strRef>
          </c:tx>
          <c:spPr>
            <a:ln w="11430" cap="rnd">
              <a:solidFill>
                <a:srgbClr val="01B8AA"/>
              </a:solidFill>
              <a:round/>
            </a:ln>
          </c:spPr>
          <c:marker>
            <c:symbol val="none"/>
          </c:marker>
          <c:cat>
            <c:strRef>
              <c:f>'図15_分析8_晴れと曇り'!$B$2:$B$145</c:f>
              <c:strCache>
                <c:ptCount val="144"/>
                <c:pt idx="0">
                  <c:v>0:00</c:v>
                </c:pt>
                <c:pt idx="18">
                  <c:v>3:00</c:v>
                </c:pt>
                <c:pt idx="36">
                  <c:v>6:00</c:v>
                </c:pt>
                <c:pt idx="54">
                  <c:v>9:00</c:v>
                </c:pt>
                <c:pt idx="72">
                  <c:v>12:00</c:v>
                </c:pt>
                <c:pt idx="90">
                  <c:v>15:00</c:v>
                </c:pt>
                <c:pt idx="108">
                  <c:v>18:00</c:v>
                </c:pt>
                <c:pt idx="126">
                  <c:v>21:00</c:v>
                </c:pt>
              </c:strCache>
            </c:strRef>
          </c:cat>
          <c:val>
            <c:numRef>
              <c:f>'図15_分析8_晴れと曇り'!$E$2:$E$145</c:f>
              <c:numCache>
                <c:formatCode>General</c:formatCode>
                <c:ptCount val="144"/>
                <c:pt idx="0">
                  <c:v>26.478999999999999</c:v>
                </c:pt>
                <c:pt idx="1">
                  <c:v>26.384</c:v>
                </c:pt>
                <c:pt idx="2">
                  <c:v>26.34</c:v>
                </c:pt>
                <c:pt idx="3">
                  <c:v>26.306000000000001</c:v>
                </c:pt>
                <c:pt idx="4">
                  <c:v>26.274000000000001</c:v>
                </c:pt>
                <c:pt idx="5">
                  <c:v>26.248999999999999</c:v>
                </c:pt>
                <c:pt idx="6">
                  <c:v>26.276</c:v>
                </c:pt>
                <c:pt idx="7">
                  <c:v>26.244</c:v>
                </c:pt>
                <c:pt idx="8">
                  <c:v>26.204000000000001</c:v>
                </c:pt>
                <c:pt idx="9">
                  <c:v>26.199000000000002</c:v>
                </c:pt>
                <c:pt idx="10">
                  <c:v>26.238</c:v>
                </c:pt>
                <c:pt idx="11">
                  <c:v>26.222000000000001</c:v>
                </c:pt>
                <c:pt idx="12">
                  <c:v>26.129000000000001</c:v>
                </c:pt>
                <c:pt idx="13">
                  <c:v>26.06</c:v>
                </c:pt>
                <c:pt idx="14">
                  <c:v>26.015999999999998</c:v>
                </c:pt>
                <c:pt idx="15">
                  <c:v>25.975999999999999</c:v>
                </c:pt>
                <c:pt idx="16">
                  <c:v>25.876000000000001</c:v>
                </c:pt>
                <c:pt idx="17">
                  <c:v>25.768000000000001</c:v>
                </c:pt>
                <c:pt idx="18">
                  <c:v>25.72</c:v>
                </c:pt>
                <c:pt idx="19">
                  <c:v>25.670999999999999</c:v>
                </c:pt>
                <c:pt idx="20">
                  <c:v>25.689</c:v>
                </c:pt>
                <c:pt idx="21">
                  <c:v>25.632999999999999</c:v>
                </c:pt>
                <c:pt idx="22">
                  <c:v>25.568999999999999</c:v>
                </c:pt>
                <c:pt idx="23">
                  <c:v>25.568000000000001</c:v>
                </c:pt>
                <c:pt idx="24">
                  <c:v>25.55</c:v>
                </c:pt>
                <c:pt idx="25">
                  <c:v>25.548999999999999</c:v>
                </c:pt>
                <c:pt idx="26">
                  <c:v>25.513000000000002</c:v>
                </c:pt>
                <c:pt idx="27">
                  <c:v>25.532</c:v>
                </c:pt>
                <c:pt idx="28">
                  <c:v>25.524000000000001</c:v>
                </c:pt>
                <c:pt idx="29">
                  <c:v>25.512</c:v>
                </c:pt>
                <c:pt idx="30">
                  <c:v>25.573</c:v>
                </c:pt>
                <c:pt idx="31">
                  <c:v>25.556000000000001</c:v>
                </c:pt>
                <c:pt idx="32">
                  <c:v>25.553000000000001</c:v>
                </c:pt>
                <c:pt idx="33">
                  <c:v>25.727</c:v>
                </c:pt>
                <c:pt idx="34">
                  <c:v>25.872</c:v>
                </c:pt>
                <c:pt idx="35">
                  <c:v>25.841000000000001</c:v>
                </c:pt>
                <c:pt idx="36">
                  <c:v>25.922000000000001</c:v>
                </c:pt>
                <c:pt idx="37">
                  <c:v>26.106999999999999</c:v>
                </c:pt>
                <c:pt idx="38">
                  <c:v>26.36</c:v>
                </c:pt>
                <c:pt idx="39">
                  <c:v>26.49</c:v>
                </c:pt>
                <c:pt idx="40">
                  <c:v>26.847000000000001</c:v>
                </c:pt>
                <c:pt idx="41">
                  <c:v>27.163</c:v>
                </c:pt>
                <c:pt idx="42">
                  <c:v>27.626000000000001</c:v>
                </c:pt>
                <c:pt idx="43">
                  <c:v>28.189</c:v>
                </c:pt>
                <c:pt idx="44">
                  <c:v>28.087</c:v>
                </c:pt>
                <c:pt idx="45">
                  <c:v>28.49</c:v>
                </c:pt>
                <c:pt idx="46">
                  <c:v>28.463000000000001</c:v>
                </c:pt>
                <c:pt idx="47">
                  <c:v>29.056999999999999</c:v>
                </c:pt>
                <c:pt idx="48">
                  <c:v>29.425000000000001</c:v>
                </c:pt>
                <c:pt idx="49">
                  <c:v>28.716999999999999</c:v>
                </c:pt>
                <c:pt idx="50">
                  <c:v>28.763999999999999</c:v>
                </c:pt>
                <c:pt idx="51">
                  <c:v>29.477</c:v>
                </c:pt>
                <c:pt idx="52">
                  <c:v>29.14</c:v>
                </c:pt>
                <c:pt idx="53">
                  <c:v>29.260999999999999</c:v>
                </c:pt>
                <c:pt idx="54">
                  <c:v>29.134</c:v>
                </c:pt>
                <c:pt idx="55">
                  <c:v>28.94</c:v>
                </c:pt>
                <c:pt idx="56">
                  <c:v>28.713999999999999</c:v>
                </c:pt>
                <c:pt idx="57">
                  <c:v>28.675999999999998</c:v>
                </c:pt>
                <c:pt idx="58">
                  <c:v>28.866</c:v>
                </c:pt>
                <c:pt idx="59">
                  <c:v>29.388000000000002</c:v>
                </c:pt>
                <c:pt idx="60">
                  <c:v>29.268999999999998</c:v>
                </c:pt>
                <c:pt idx="61">
                  <c:v>29.510999999999999</c:v>
                </c:pt>
                <c:pt idx="62">
                  <c:v>30.45</c:v>
                </c:pt>
                <c:pt idx="63">
                  <c:v>30.631</c:v>
                </c:pt>
                <c:pt idx="64">
                  <c:v>31.393000000000001</c:v>
                </c:pt>
                <c:pt idx="65">
                  <c:v>31.263999999999999</c:v>
                </c:pt>
                <c:pt idx="66">
                  <c:v>30.919</c:v>
                </c:pt>
                <c:pt idx="67">
                  <c:v>31.506</c:v>
                </c:pt>
                <c:pt idx="68">
                  <c:v>31.701000000000001</c:v>
                </c:pt>
                <c:pt idx="69">
                  <c:v>32.097000000000001</c:v>
                </c:pt>
                <c:pt idx="70">
                  <c:v>32.226999999999997</c:v>
                </c:pt>
                <c:pt idx="71">
                  <c:v>32.673000000000002</c:v>
                </c:pt>
                <c:pt idx="72">
                  <c:v>32.679000000000002</c:v>
                </c:pt>
                <c:pt idx="73">
                  <c:v>32.69</c:v>
                </c:pt>
                <c:pt idx="74">
                  <c:v>32.244</c:v>
                </c:pt>
                <c:pt idx="75">
                  <c:v>32.706000000000003</c:v>
                </c:pt>
                <c:pt idx="76">
                  <c:v>32.436</c:v>
                </c:pt>
                <c:pt idx="77">
                  <c:v>32.781999999999996</c:v>
                </c:pt>
                <c:pt idx="78">
                  <c:v>32.606999999999999</c:v>
                </c:pt>
                <c:pt idx="79">
                  <c:v>32.256</c:v>
                </c:pt>
                <c:pt idx="80">
                  <c:v>32.991</c:v>
                </c:pt>
                <c:pt idx="81">
                  <c:v>32.975999999999999</c:v>
                </c:pt>
                <c:pt idx="82">
                  <c:v>33.383000000000003</c:v>
                </c:pt>
                <c:pt idx="83">
                  <c:v>33.374000000000002</c:v>
                </c:pt>
                <c:pt idx="84">
                  <c:v>32.92</c:v>
                </c:pt>
                <c:pt idx="85">
                  <c:v>33.953000000000003</c:v>
                </c:pt>
                <c:pt idx="86">
                  <c:v>33.451000000000001</c:v>
                </c:pt>
                <c:pt idx="87">
                  <c:v>32.872999999999998</c:v>
                </c:pt>
                <c:pt idx="88">
                  <c:v>33.167000000000002</c:v>
                </c:pt>
                <c:pt idx="89">
                  <c:v>33.338999999999999</c:v>
                </c:pt>
                <c:pt idx="90">
                  <c:v>32.886000000000003</c:v>
                </c:pt>
                <c:pt idx="91">
                  <c:v>32.905999999999999</c:v>
                </c:pt>
                <c:pt idx="92">
                  <c:v>32.869</c:v>
                </c:pt>
                <c:pt idx="93">
                  <c:v>32.909999999999997</c:v>
                </c:pt>
                <c:pt idx="94">
                  <c:v>32.75</c:v>
                </c:pt>
                <c:pt idx="95">
                  <c:v>32.112000000000002</c:v>
                </c:pt>
                <c:pt idx="96">
                  <c:v>32.220999999999997</c:v>
                </c:pt>
                <c:pt idx="97">
                  <c:v>32.124000000000002</c:v>
                </c:pt>
                <c:pt idx="98">
                  <c:v>32.146000000000001</c:v>
                </c:pt>
                <c:pt idx="99">
                  <c:v>32.003999999999998</c:v>
                </c:pt>
                <c:pt idx="100">
                  <c:v>31.251000000000001</c:v>
                </c:pt>
                <c:pt idx="101">
                  <c:v>30.712</c:v>
                </c:pt>
                <c:pt idx="102">
                  <c:v>30.196999999999999</c:v>
                </c:pt>
                <c:pt idx="103">
                  <c:v>30.170999999999999</c:v>
                </c:pt>
                <c:pt idx="104">
                  <c:v>30.39</c:v>
                </c:pt>
                <c:pt idx="105">
                  <c:v>30.209</c:v>
                </c:pt>
                <c:pt idx="106">
                  <c:v>30.25</c:v>
                </c:pt>
                <c:pt idx="107">
                  <c:v>30.026</c:v>
                </c:pt>
                <c:pt idx="108">
                  <c:v>29.462</c:v>
                </c:pt>
                <c:pt idx="109">
                  <c:v>29.359000000000002</c:v>
                </c:pt>
                <c:pt idx="110">
                  <c:v>29.239000000000001</c:v>
                </c:pt>
                <c:pt idx="111">
                  <c:v>29.166</c:v>
                </c:pt>
                <c:pt idx="112">
                  <c:v>29.068999999999999</c:v>
                </c:pt>
                <c:pt idx="113">
                  <c:v>28.948</c:v>
                </c:pt>
                <c:pt idx="114">
                  <c:v>28.946000000000002</c:v>
                </c:pt>
                <c:pt idx="115">
                  <c:v>28.916</c:v>
                </c:pt>
                <c:pt idx="116">
                  <c:v>28.733000000000001</c:v>
                </c:pt>
                <c:pt idx="117">
                  <c:v>28.521000000000001</c:v>
                </c:pt>
                <c:pt idx="118">
                  <c:v>28.423999999999999</c:v>
                </c:pt>
                <c:pt idx="119">
                  <c:v>28.393999999999998</c:v>
                </c:pt>
                <c:pt idx="120">
                  <c:v>28.16</c:v>
                </c:pt>
                <c:pt idx="121">
                  <c:v>28.007999999999999</c:v>
                </c:pt>
                <c:pt idx="122">
                  <c:v>27.925999999999998</c:v>
                </c:pt>
                <c:pt idx="123">
                  <c:v>27.93</c:v>
                </c:pt>
                <c:pt idx="124">
                  <c:v>28.096</c:v>
                </c:pt>
                <c:pt idx="125">
                  <c:v>28.138999999999999</c:v>
                </c:pt>
                <c:pt idx="126">
                  <c:v>28.018000000000001</c:v>
                </c:pt>
                <c:pt idx="127">
                  <c:v>27.82</c:v>
                </c:pt>
                <c:pt idx="128">
                  <c:v>27.763000000000002</c:v>
                </c:pt>
                <c:pt idx="129">
                  <c:v>27.593</c:v>
                </c:pt>
                <c:pt idx="130">
                  <c:v>27.536999999999999</c:v>
                </c:pt>
                <c:pt idx="131">
                  <c:v>27.61</c:v>
                </c:pt>
                <c:pt idx="132">
                  <c:v>27.526</c:v>
                </c:pt>
                <c:pt idx="133">
                  <c:v>27.350999999999999</c:v>
                </c:pt>
                <c:pt idx="134">
                  <c:v>27.212</c:v>
                </c:pt>
                <c:pt idx="135">
                  <c:v>27.117999999999999</c:v>
                </c:pt>
                <c:pt idx="136">
                  <c:v>27.129000000000001</c:v>
                </c:pt>
                <c:pt idx="137">
                  <c:v>27.059000000000001</c:v>
                </c:pt>
                <c:pt idx="138">
                  <c:v>27</c:v>
                </c:pt>
                <c:pt idx="139">
                  <c:v>26.959</c:v>
                </c:pt>
                <c:pt idx="140">
                  <c:v>26.925999999999998</c:v>
                </c:pt>
                <c:pt idx="141">
                  <c:v>26.837</c:v>
                </c:pt>
                <c:pt idx="142">
                  <c:v>26.802</c:v>
                </c:pt>
                <c:pt idx="143">
                  <c:v>26.742000000000001</c:v>
                </c:pt>
              </c:numCache>
            </c:numRef>
          </c:val>
          <c:smooth val="0"/>
          <c:extLst>
            <c:ext xmlns:c16="http://schemas.microsoft.com/office/drawing/2014/chart" uri="{C3380CC4-5D6E-409C-BE32-E72D297353CC}">
              <c16:uniqueId val="{00000002-44CC-0944-84D0-B0A8F879BCDB}"/>
            </c:ext>
          </c:extLst>
        </c:ser>
        <c:ser>
          <c:idx val="3"/>
          <c:order val="3"/>
          <c:tx>
            <c:strRef>
              <c:f>'図15_分析8_晴れと曇り'!$F$1</c:f>
              <c:strCache>
                <c:ptCount val="1"/>
                <c:pt idx="0">
                  <c:v>列11</c:v>
                </c:pt>
              </c:strCache>
            </c:strRef>
          </c:tx>
          <c:spPr>
            <a:ln w="11430" cap="rnd">
              <a:solidFill>
                <a:srgbClr val="118DFF"/>
              </a:solidFill>
              <a:round/>
            </a:ln>
          </c:spPr>
          <c:marker>
            <c:symbol val="none"/>
          </c:marker>
          <c:cat>
            <c:strRef>
              <c:f>'図15_分析8_晴れと曇り'!$B$2:$B$145</c:f>
              <c:strCache>
                <c:ptCount val="144"/>
                <c:pt idx="0">
                  <c:v>0:00</c:v>
                </c:pt>
                <c:pt idx="18">
                  <c:v>3:00</c:v>
                </c:pt>
                <c:pt idx="36">
                  <c:v>6:00</c:v>
                </c:pt>
                <c:pt idx="54">
                  <c:v>9:00</c:v>
                </c:pt>
                <c:pt idx="72">
                  <c:v>12:00</c:v>
                </c:pt>
                <c:pt idx="90">
                  <c:v>15:00</c:v>
                </c:pt>
                <c:pt idx="108">
                  <c:v>18:00</c:v>
                </c:pt>
                <c:pt idx="126">
                  <c:v>21:00</c:v>
                </c:pt>
              </c:strCache>
            </c:strRef>
          </c:cat>
          <c:val>
            <c:numRef>
              <c:f>'図15_分析8_晴れと曇り'!$F$2:$F$145</c:f>
              <c:numCache>
                <c:formatCode>General</c:formatCode>
                <c:ptCount val="144"/>
                <c:pt idx="0">
                  <c:v>26.414000000000001</c:v>
                </c:pt>
                <c:pt idx="1">
                  <c:v>26.327000000000002</c:v>
                </c:pt>
                <c:pt idx="2">
                  <c:v>26.262</c:v>
                </c:pt>
                <c:pt idx="3">
                  <c:v>26.231000000000002</c:v>
                </c:pt>
                <c:pt idx="4">
                  <c:v>26.210999999999999</c:v>
                </c:pt>
                <c:pt idx="5">
                  <c:v>26.244</c:v>
                </c:pt>
                <c:pt idx="6">
                  <c:v>26.224</c:v>
                </c:pt>
                <c:pt idx="7">
                  <c:v>26.218</c:v>
                </c:pt>
                <c:pt idx="8">
                  <c:v>26.15</c:v>
                </c:pt>
                <c:pt idx="9">
                  <c:v>26.134</c:v>
                </c:pt>
                <c:pt idx="10">
                  <c:v>26.154</c:v>
                </c:pt>
                <c:pt idx="11">
                  <c:v>26.143999999999998</c:v>
                </c:pt>
                <c:pt idx="12">
                  <c:v>26.074999999999999</c:v>
                </c:pt>
                <c:pt idx="13">
                  <c:v>26.032</c:v>
                </c:pt>
                <c:pt idx="14">
                  <c:v>25.995000000000001</c:v>
                </c:pt>
                <c:pt idx="15">
                  <c:v>25.96</c:v>
                </c:pt>
                <c:pt idx="16">
                  <c:v>25.885999999999999</c:v>
                </c:pt>
                <c:pt idx="17">
                  <c:v>25.754000000000001</c:v>
                </c:pt>
                <c:pt idx="18">
                  <c:v>25.721</c:v>
                </c:pt>
                <c:pt idx="19">
                  <c:v>25.675999999999998</c:v>
                </c:pt>
                <c:pt idx="20">
                  <c:v>25.667999999999999</c:v>
                </c:pt>
                <c:pt idx="21">
                  <c:v>25.64</c:v>
                </c:pt>
                <c:pt idx="22">
                  <c:v>25.6</c:v>
                </c:pt>
                <c:pt idx="23">
                  <c:v>25.6</c:v>
                </c:pt>
                <c:pt idx="24">
                  <c:v>25.588999999999999</c:v>
                </c:pt>
                <c:pt idx="25">
                  <c:v>25.57</c:v>
                </c:pt>
                <c:pt idx="26">
                  <c:v>25.533999999999999</c:v>
                </c:pt>
                <c:pt idx="27">
                  <c:v>25.541</c:v>
                </c:pt>
                <c:pt idx="28">
                  <c:v>25.529</c:v>
                </c:pt>
                <c:pt idx="29">
                  <c:v>25.5</c:v>
                </c:pt>
                <c:pt idx="30">
                  <c:v>25.509</c:v>
                </c:pt>
                <c:pt idx="31">
                  <c:v>25.5</c:v>
                </c:pt>
                <c:pt idx="32">
                  <c:v>25.513999999999999</c:v>
                </c:pt>
                <c:pt idx="33">
                  <c:v>25.690999999999999</c:v>
                </c:pt>
                <c:pt idx="34">
                  <c:v>25.888000000000002</c:v>
                </c:pt>
                <c:pt idx="35">
                  <c:v>25.803999999999998</c:v>
                </c:pt>
                <c:pt idx="36">
                  <c:v>25.86</c:v>
                </c:pt>
                <c:pt idx="37">
                  <c:v>26.056999999999999</c:v>
                </c:pt>
                <c:pt idx="38">
                  <c:v>26.262</c:v>
                </c:pt>
                <c:pt idx="39">
                  <c:v>26.504000000000001</c:v>
                </c:pt>
                <c:pt idx="40">
                  <c:v>26.812000000000001</c:v>
                </c:pt>
                <c:pt idx="41">
                  <c:v>27.135999999999999</c:v>
                </c:pt>
                <c:pt idx="42">
                  <c:v>27.567</c:v>
                </c:pt>
                <c:pt idx="43">
                  <c:v>28.029</c:v>
                </c:pt>
                <c:pt idx="44">
                  <c:v>28.103999999999999</c:v>
                </c:pt>
                <c:pt idx="45">
                  <c:v>28.106999999999999</c:v>
                </c:pt>
                <c:pt idx="46">
                  <c:v>28.283999999999999</c:v>
                </c:pt>
                <c:pt idx="47">
                  <c:v>28.574000000000002</c:v>
                </c:pt>
                <c:pt idx="48">
                  <c:v>28.594999999999999</c:v>
                </c:pt>
                <c:pt idx="49">
                  <c:v>28.815000000000001</c:v>
                </c:pt>
                <c:pt idx="50">
                  <c:v>28.811</c:v>
                </c:pt>
                <c:pt idx="51">
                  <c:v>29.260999999999999</c:v>
                </c:pt>
                <c:pt idx="52">
                  <c:v>28.425999999999998</c:v>
                </c:pt>
                <c:pt idx="53">
                  <c:v>28.716000000000001</c:v>
                </c:pt>
                <c:pt idx="54">
                  <c:v>28.731999999999999</c:v>
                </c:pt>
                <c:pt idx="55">
                  <c:v>28.456</c:v>
                </c:pt>
                <c:pt idx="56">
                  <c:v>28.491</c:v>
                </c:pt>
                <c:pt idx="57">
                  <c:v>28.548999999999999</c:v>
                </c:pt>
                <c:pt idx="58">
                  <c:v>28.718</c:v>
                </c:pt>
                <c:pt idx="59">
                  <c:v>29.390999999999998</c:v>
                </c:pt>
                <c:pt idx="60">
                  <c:v>29.524999999999999</c:v>
                </c:pt>
                <c:pt idx="61">
                  <c:v>29.280999999999999</c:v>
                </c:pt>
                <c:pt idx="62">
                  <c:v>29.774000000000001</c:v>
                </c:pt>
                <c:pt idx="63">
                  <c:v>30.36</c:v>
                </c:pt>
                <c:pt idx="64">
                  <c:v>30.952000000000002</c:v>
                </c:pt>
                <c:pt idx="65">
                  <c:v>30.728999999999999</c:v>
                </c:pt>
                <c:pt idx="66">
                  <c:v>30.643000000000001</c:v>
                </c:pt>
                <c:pt idx="67">
                  <c:v>31.32</c:v>
                </c:pt>
                <c:pt idx="68">
                  <c:v>31.408000000000001</c:v>
                </c:pt>
                <c:pt idx="69">
                  <c:v>31.369</c:v>
                </c:pt>
                <c:pt idx="70">
                  <c:v>31.518999999999998</c:v>
                </c:pt>
                <c:pt idx="71">
                  <c:v>31.957999999999998</c:v>
                </c:pt>
                <c:pt idx="72">
                  <c:v>31.84</c:v>
                </c:pt>
                <c:pt idx="73">
                  <c:v>31.928999999999998</c:v>
                </c:pt>
                <c:pt idx="74">
                  <c:v>31.491</c:v>
                </c:pt>
                <c:pt idx="75">
                  <c:v>31.876000000000001</c:v>
                </c:pt>
                <c:pt idx="76">
                  <c:v>32.125999999999998</c:v>
                </c:pt>
                <c:pt idx="77">
                  <c:v>32.073999999999998</c:v>
                </c:pt>
                <c:pt idx="78">
                  <c:v>32.43</c:v>
                </c:pt>
                <c:pt idx="79">
                  <c:v>31.937999999999999</c:v>
                </c:pt>
                <c:pt idx="80">
                  <c:v>32.670999999999999</c:v>
                </c:pt>
                <c:pt idx="81">
                  <c:v>32.585999999999999</c:v>
                </c:pt>
                <c:pt idx="82">
                  <c:v>32.561999999999998</c:v>
                </c:pt>
                <c:pt idx="83">
                  <c:v>32.956000000000003</c:v>
                </c:pt>
                <c:pt idx="84">
                  <c:v>32.786000000000001</c:v>
                </c:pt>
                <c:pt idx="85">
                  <c:v>33.505000000000003</c:v>
                </c:pt>
                <c:pt idx="86">
                  <c:v>33.100999999999999</c:v>
                </c:pt>
                <c:pt idx="87">
                  <c:v>32.804000000000002</c:v>
                </c:pt>
                <c:pt idx="88">
                  <c:v>32.728000000000002</c:v>
                </c:pt>
                <c:pt idx="89">
                  <c:v>32.869</c:v>
                </c:pt>
                <c:pt idx="90">
                  <c:v>32.841000000000001</c:v>
                </c:pt>
                <c:pt idx="91">
                  <c:v>32.607999999999997</c:v>
                </c:pt>
                <c:pt idx="92">
                  <c:v>32.695</c:v>
                </c:pt>
                <c:pt idx="93">
                  <c:v>32.612000000000002</c:v>
                </c:pt>
                <c:pt idx="94">
                  <c:v>32.558999999999997</c:v>
                </c:pt>
                <c:pt idx="95">
                  <c:v>31.928999999999998</c:v>
                </c:pt>
                <c:pt idx="96">
                  <c:v>32.095999999999997</c:v>
                </c:pt>
                <c:pt idx="97">
                  <c:v>31.818999999999999</c:v>
                </c:pt>
                <c:pt idx="98">
                  <c:v>31.669</c:v>
                </c:pt>
                <c:pt idx="99">
                  <c:v>31.56</c:v>
                </c:pt>
                <c:pt idx="100">
                  <c:v>30.962</c:v>
                </c:pt>
                <c:pt idx="101">
                  <c:v>30.347999999999999</c:v>
                </c:pt>
                <c:pt idx="102">
                  <c:v>30.015000000000001</c:v>
                </c:pt>
                <c:pt idx="103">
                  <c:v>29.946000000000002</c:v>
                </c:pt>
                <c:pt idx="104">
                  <c:v>30.209</c:v>
                </c:pt>
                <c:pt idx="105">
                  <c:v>30.138999999999999</c:v>
                </c:pt>
                <c:pt idx="106">
                  <c:v>30.053999999999998</c:v>
                </c:pt>
                <c:pt idx="107">
                  <c:v>29.846</c:v>
                </c:pt>
                <c:pt idx="108">
                  <c:v>29.494</c:v>
                </c:pt>
                <c:pt idx="109">
                  <c:v>29.276</c:v>
                </c:pt>
                <c:pt idx="110">
                  <c:v>29.346</c:v>
                </c:pt>
                <c:pt idx="111">
                  <c:v>29.186</c:v>
                </c:pt>
                <c:pt idx="112">
                  <c:v>29.248000000000001</c:v>
                </c:pt>
                <c:pt idx="113">
                  <c:v>29.151</c:v>
                </c:pt>
                <c:pt idx="114">
                  <c:v>29.29</c:v>
                </c:pt>
                <c:pt idx="115">
                  <c:v>29.274999999999999</c:v>
                </c:pt>
                <c:pt idx="116">
                  <c:v>29.050999999999998</c:v>
                </c:pt>
                <c:pt idx="117">
                  <c:v>28.687999999999999</c:v>
                </c:pt>
                <c:pt idx="118">
                  <c:v>28.463999999999999</c:v>
                </c:pt>
                <c:pt idx="119">
                  <c:v>28.422999999999998</c:v>
                </c:pt>
                <c:pt idx="120">
                  <c:v>28.228999999999999</c:v>
                </c:pt>
                <c:pt idx="121">
                  <c:v>28.076000000000001</c:v>
                </c:pt>
                <c:pt idx="122">
                  <c:v>27.954000000000001</c:v>
                </c:pt>
                <c:pt idx="123">
                  <c:v>27.904</c:v>
                </c:pt>
                <c:pt idx="124">
                  <c:v>27.952000000000002</c:v>
                </c:pt>
                <c:pt idx="125">
                  <c:v>28.004000000000001</c:v>
                </c:pt>
                <c:pt idx="126">
                  <c:v>27.919</c:v>
                </c:pt>
                <c:pt idx="127">
                  <c:v>27.731000000000002</c:v>
                </c:pt>
                <c:pt idx="128">
                  <c:v>27.678000000000001</c:v>
                </c:pt>
                <c:pt idx="129">
                  <c:v>27.494</c:v>
                </c:pt>
                <c:pt idx="130">
                  <c:v>27.445</c:v>
                </c:pt>
                <c:pt idx="131">
                  <c:v>27.384</c:v>
                </c:pt>
                <c:pt idx="132">
                  <c:v>27.268000000000001</c:v>
                </c:pt>
                <c:pt idx="133">
                  <c:v>27.135999999999999</c:v>
                </c:pt>
                <c:pt idx="134">
                  <c:v>27.062000000000001</c:v>
                </c:pt>
                <c:pt idx="135">
                  <c:v>26.963999999999999</c:v>
                </c:pt>
                <c:pt idx="136">
                  <c:v>27.01</c:v>
                </c:pt>
                <c:pt idx="137">
                  <c:v>26.959</c:v>
                </c:pt>
                <c:pt idx="138">
                  <c:v>26.939</c:v>
                </c:pt>
                <c:pt idx="139">
                  <c:v>26.890999999999998</c:v>
                </c:pt>
                <c:pt idx="140">
                  <c:v>26.856000000000002</c:v>
                </c:pt>
                <c:pt idx="141">
                  <c:v>26.800999999999998</c:v>
                </c:pt>
                <c:pt idx="142">
                  <c:v>26.786000000000001</c:v>
                </c:pt>
                <c:pt idx="143">
                  <c:v>26.751999999999999</c:v>
                </c:pt>
              </c:numCache>
            </c:numRef>
          </c:val>
          <c:smooth val="0"/>
          <c:extLst>
            <c:ext xmlns:c16="http://schemas.microsoft.com/office/drawing/2014/chart" uri="{C3380CC4-5D6E-409C-BE32-E72D297353CC}">
              <c16:uniqueId val="{00000003-44CC-0944-84D0-B0A8F879BCDB}"/>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none"/>
        <c:minorTickMark val="none"/>
        <c:tickLblPos val="low"/>
        <c:spPr>
          <a:ln w="9525" cap="rnd">
            <a:solidFill>
              <a:srgbClr val="5E6B7A"/>
            </a:solidFill>
            <a:round/>
          </a:ln>
        </c:spPr>
        <c:crossAx val="20"/>
        <c:crosses val="autoZero"/>
        <c:auto val="1"/>
        <c:lblAlgn val="ctr"/>
        <c:lblOffset val="100"/>
        <c:noMultiLvlLbl val="0"/>
      </c:catAx>
      <c:valAx>
        <c:axId val="20"/>
        <c:scaling>
          <c:orientation val="minMax"/>
          <c:max val="36"/>
          <c:min val="24"/>
        </c:scaling>
        <c:delete val="0"/>
        <c:axPos val="l"/>
        <c:majorGridlines>
          <c:spPr>
            <a:ln w="9525" cap="rnd">
              <a:solidFill>
                <a:srgbClr val="E3E7EC"/>
              </a:solidFill>
              <a:round/>
            </a:ln>
          </c:spPr>
        </c:majorGridlines>
        <c:title>
          <c:tx>
            <c:rich>
              <a:bodyPr rot="-5400000" vert="horz"/>
              <a:lstStyle/>
              <a:p>
                <a:pPr>
                  <a:defRPr sz="900" b="0"/>
                </a:pPr>
                <a:r>
                  <a:rPr lang="ja-JP" sz="900" b="0"/>
                  <a:t>吸気温度［℃］</a:t>
                </a:r>
              </a:p>
            </c:rich>
          </c:tx>
          <c:overlay val="0"/>
        </c:title>
        <c:numFmt formatCode="0" sourceLinked="0"/>
        <c:majorTickMark val="out"/>
        <c:minorTickMark val="none"/>
        <c:tickLblPos val="nextTo"/>
        <c:spPr>
          <a:ln w="9525" cap="rnd">
            <a:solidFill>
              <a:srgbClr val="5E6B7A"/>
            </a:solidFill>
            <a:round/>
          </a:ln>
        </c:spPr>
        <c:crossAx val="10"/>
        <c:crosses val="autoZero"/>
        <c:crossBetween val="between"/>
        <c:majorUnit val="2"/>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
          <c:y val="0.25"/>
          <c:w val="0.76"/>
          <c:h val="0.55000000000000004"/>
        </c:manualLayout>
      </c:layout>
      <c:lineChart>
        <c:grouping val="standard"/>
        <c:varyColors val="0"/>
        <c:ser>
          <c:idx val="0"/>
          <c:order val="0"/>
          <c:tx>
            <c:strRef>
              <c:f>'図15_分析8_晴れと曇り'!$I$1</c:f>
              <c:strCache>
                <c:ptCount val="1"/>
                <c:pt idx="0">
                  <c:v>屋上の気温</c:v>
                </c:pt>
              </c:strCache>
            </c:strRef>
          </c:tx>
          <c:spPr>
            <a:ln w="15875" cap="rnd">
              <a:solidFill>
                <a:srgbClr val="ED7D31"/>
              </a:solidFill>
              <a:round/>
            </a:ln>
          </c:spPr>
          <c:marker>
            <c:symbol val="none"/>
          </c:marker>
          <c:cat>
            <c:strRef>
              <c:f>'図15_分析8_晴れと曇り'!$B$2:$B$145</c:f>
              <c:strCache>
                <c:ptCount val="144"/>
                <c:pt idx="0">
                  <c:v>0:00</c:v>
                </c:pt>
                <c:pt idx="18">
                  <c:v>3:00</c:v>
                </c:pt>
                <c:pt idx="36">
                  <c:v>6:00</c:v>
                </c:pt>
                <c:pt idx="54">
                  <c:v>9:00</c:v>
                </c:pt>
                <c:pt idx="72">
                  <c:v>12:00</c:v>
                </c:pt>
                <c:pt idx="90">
                  <c:v>15:00</c:v>
                </c:pt>
                <c:pt idx="108">
                  <c:v>18:00</c:v>
                </c:pt>
                <c:pt idx="126">
                  <c:v>21:00</c:v>
                </c:pt>
              </c:strCache>
            </c:strRef>
          </c:cat>
          <c:val>
            <c:numRef>
              <c:f>'図15_分析8_晴れと曇り'!$I$2:$I$145</c:f>
              <c:numCache>
                <c:formatCode>General</c:formatCode>
                <c:ptCount val="144"/>
                <c:pt idx="0">
                  <c:v>24.8</c:v>
                </c:pt>
                <c:pt idx="1">
                  <c:v>24.8</c:v>
                </c:pt>
                <c:pt idx="2">
                  <c:v>24.79</c:v>
                </c:pt>
                <c:pt idx="3">
                  <c:v>24.77</c:v>
                </c:pt>
                <c:pt idx="4">
                  <c:v>24.73</c:v>
                </c:pt>
                <c:pt idx="5">
                  <c:v>24.8</c:v>
                </c:pt>
                <c:pt idx="6">
                  <c:v>24.83</c:v>
                </c:pt>
                <c:pt idx="7">
                  <c:v>24.99</c:v>
                </c:pt>
                <c:pt idx="8">
                  <c:v>25.05</c:v>
                </c:pt>
                <c:pt idx="9">
                  <c:v>24.95</c:v>
                </c:pt>
                <c:pt idx="10">
                  <c:v>24.9</c:v>
                </c:pt>
                <c:pt idx="11">
                  <c:v>24.99</c:v>
                </c:pt>
                <c:pt idx="12">
                  <c:v>24.92</c:v>
                </c:pt>
                <c:pt idx="13">
                  <c:v>24.97</c:v>
                </c:pt>
                <c:pt idx="14">
                  <c:v>25</c:v>
                </c:pt>
                <c:pt idx="15">
                  <c:v>24.98</c:v>
                </c:pt>
                <c:pt idx="16">
                  <c:v>24.9</c:v>
                </c:pt>
                <c:pt idx="17">
                  <c:v>24.82</c:v>
                </c:pt>
                <c:pt idx="18">
                  <c:v>24.76</c:v>
                </c:pt>
                <c:pt idx="19">
                  <c:v>24.8</c:v>
                </c:pt>
                <c:pt idx="20">
                  <c:v>24.79</c:v>
                </c:pt>
                <c:pt idx="21">
                  <c:v>24.7</c:v>
                </c:pt>
                <c:pt idx="22">
                  <c:v>24.67</c:v>
                </c:pt>
                <c:pt idx="23">
                  <c:v>24.6</c:v>
                </c:pt>
                <c:pt idx="24">
                  <c:v>24.56</c:v>
                </c:pt>
                <c:pt idx="25">
                  <c:v>24.54</c:v>
                </c:pt>
                <c:pt idx="26">
                  <c:v>24.5</c:v>
                </c:pt>
                <c:pt idx="27">
                  <c:v>24.55</c:v>
                </c:pt>
                <c:pt idx="28">
                  <c:v>24.7</c:v>
                </c:pt>
                <c:pt idx="29">
                  <c:v>24.8</c:v>
                </c:pt>
                <c:pt idx="30">
                  <c:v>24.88</c:v>
                </c:pt>
                <c:pt idx="31">
                  <c:v>24.9</c:v>
                </c:pt>
                <c:pt idx="32">
                  <c:v>24.91</c:v>
                </c:pt>
                <c:pt idx="33">
                  <c:v>25</c:v>
                </c:pt>
                <c:pt idx="34">
                  <c:v>25.08</c:v>
                </c:pt>
                <c:pt idx="35">
                  <c:v>25.16</c:v>
                </c:pt>
                <c:pt idx="36">
                  <c:v>25.37</c:v>
                </c:pt>
                <c:pt idx="37">
                  <c:v>25.5</c:v>
                </c:pt>
                <c:pt idx="38">
                  <c:v>25.59</c:v>
                </c:pt>
                <c:pt idx="39">
                  <c:v>25.73</c:v>
                </c:pt>
                <c:pt idx="40">
                  <c:v>25.75</c:v>
                </c:pt>
                <c:pt idx="41">
                  <c:v>25.88</c:v>
                </c:pt>
                <c:pt idx="42">
                  <c:v>26.07</c:v>
                </c:pt>
                <c:pt idx="43">
                  <c:v>26.25</c:v>
                </c:pt>
                <c:pt idx="44">
                  <c:v>26.34</c:v>
                </c:pt>
                <c:pt idx="45">
                  <c:v>26.29</c:v>
                </c:pt>
                <c:pt idx="46">
                  <c:v>26.22</c:v>
                </c:pt>
                <c:pt idx="47">
                  <c:v>26.57</c:v>
                </c:pt>
                <c:pt idx="48">
                  <c:v>26.98</c:v>
                </c:pt>
                <c:pt idx="49">
                  <c:v>27.84</c:v>
                </c:pt>
                <c:pt idx="50">
                  <c:v>27.7</c:v>
                </c:pt>
                <c:pt idx="51">
                  <c:v>27.59</c:v>
                </c:pt>
                <c:pt idx="52">
                  <c:v>27.27</c:v>
                </c:pt>
                <c:pt idx="53">
                  <c:v>27.62</c:v>
                </c:pt>
                <c:pt idx="54">
                  <c:v>28.04</c:v>
                </c:pt>
                <c:pt idx="55">
                  <c:v>28.03</c:v>
                </c:pt>
                <c:pt idx="56">
                  <c:v>28.28</c:v>
                </c:pt>
                <c:pt idx="57">
                  <c:v>27.96</c:v>
                </c:pt>
                <c:pt idx="58">
                  <c:v>27.29</c:v>
                </c:pt>
                <c:pt idx="59">
                  <c:v>27.4</c:v>
                </c:pt>
                <c:pt idx="60">
                  <c:v>27.53</c:v>
                </c:pt>
                <c:pt idx="61">
                  <c:v>28.04</c:v>
                </c:pt>
                <c:pt idx="62">
                  <c:v>28.46</c:v>
                </c:pt>
                <c:pt idx="63">
                  <c:v>28.89</c:v>
                </c:pt>
                <c:pt idx="64">
                  <c:v>28.85</c:v>
                </c:pt>
                <c:pt idx="65">
                  <c:v>29.37</c:v>
                </c:pt>
                <c:pt idx="66">
                  <c:v>29.76</c:v>
                </c:pt>
                <c:pt idx="67">
                  <c:v>30.81</c:v>
                </c:pt>
                <c:pt idx="68">
                  <c:v>31.39</c:v>
                </c:pt>
                <c:pt idx="69">
                  <c:v>31.59</c:v>
                </c:pt>
                <c:pt idx="70">
                  <c:v>32.28</c:v>
                </c:pt>
                <c:pt idx="71">
                  <c:v>32.229999999999997</c:v>
                </c:pt>
                <c:pt idx="72">
                  <c:v>32.119999999999997</c:v>
                </c:pt>
                <c:pt idx="73">
                  <c:v>32.35</c:v>
                </c:pt>
                <c:pt idx="74">
                  <c:v>32.53</c:v>
                </c:pt>
                <c:pt idx="75">
                  <c:v>32.43</c:v>
                </c:pt>
                <c:pt idx="76">
                  <c:v>32.270000000000003</c:v>
                </c:pt>
                <c:pt idx="77">
                  <c:v>32.78</c:v>
                </c:pt>
                <c:pt idx="78">
                  <c:v>32.61</c:v>
                </c:pt>
                <c:pt idx="79">
                  <c:v>32.56</c:v>
                </c:pt>
                <c:pt idx="80">
                  <c:v>32.33</c:v>
                </c:pt>
                <c:pt idx="81">
                  <c:v>31.74</c:v>
                </c:pt>
                <c:pt idx="82">
                  <c:v>31.53</c:v>
                </c:pt>
                <c:pt idx="83">
                  <c:v>31.35</c:v>
                </c:pt>
                <c:pt idx="84">
                  <c:v>31.19</c:v>
                </c:pt>
                <c:pt idx="85">
                  <c:v>31.49</c:v>
                </c:pt>
                <c:pt idx="86">
                  <c:v>31.58</c:v>
                </c:pt>
                <c:pt idx="87">
                  <c:v>31.47</c:v>
                </c:pt>
                <c:pt idx="88">
                  <c:v>31.37</c:v>
                </c:pt>
                <c:pt idx="89">
                  <c:v>31.22</c:v>
                </c:pt>
                <c:pt idx="90">
                  <c:v>31.23</c:v>
                </c:pt>
                <c:pt idx="91">
                  <c:v>31.07</c:v>
                </c:pt>
                <c:pt idx="92">
                  <c:v>30.87</c:v>
                </c:pt>
                <c:pt idx="93">
                  <c:v>31.24</c:v>
                </c:pt>
                <c:pt idx="94">
                  <c:v>31.53</c:v>
                </c:pt>
                <c:pt idx="95">
                  <c:v>31.27</c:v>
                </c:pt>
                <c:pt idx="96">
                  <c:v>30.98</c:v>
                </c:pt>
                <c:pt idx="97">
                  <c:v>30.77</c:v>
                </c:pt>
                <c:pt idx="98">
                  <c:v>30.45</c:v>
                </c:pt>
                <c:pt idx="99">
                  <c:v>30.47</c:v>
                </c:pt>
                <c:pt idx="100">
                  <c:v>31</c:v>
                </c:pt>
                <c:pt idx="101">
                  <c:v>30.88</c:v>
                </c:pt>
                <c:pt idx="102">
                  <c:v>30.67</c:v>
                </c:pt>
                <c:pt idx="103">
                  <c:v>30.62</c:v>
                </c:pt>
                <c:pt idx="104">
                  <c:v>30.32</c:v>
                </c:pt>
                <c:pt idx="105">
                  <c:v>30.24</c:v>
                </c:pt>
                <c:pt idx="106">
                  <c:v>30.15</c:v>
                </c:pt>
                <c:pt idx="107">
                  <c:v>29.86</c:v>
                </c:pt>
                <c:pt idx="108">
                  <c:v>29.63</c:v>
                </c:pt>
                <c:pt idx="109">
                  <c:v>29.35</c:v>
                </c:pt>
                <c:pt idx="110">
                  <c:v>29.16</c:v>
                </c:pt>
                <c:pt idx="111">
                  <c:v>28.94</c:v>
                </c:pt>
                <c:pt idx="112">
                  <c:v>28.88</c:v>
                </c:pt>
                <c:pt idx="113">
                  <c:v>28.74</c:v>
                </c:pt>
                <c:pt idx="114">
                  <c:v>28.56</c:v>
                </c:pt>
                <c:pt idx="115">
                  <c:v>28.67</c:v>
                </c:pt>
                <c:pt idx="116">
                  <c:v>28.67</c:v>
                </c:pt>
                <c:pt idx="117">
                  <c:v>28.52</c:v>
                </c:pt>
                <c:pt idx="118">
                  <c:v>28.37</c:v>
                </c:pt>
                <c:pt idx="119">
                  <c:v>28.29</c:v>
                </c:pt>
                <c:pt idx="120">
                  <c:v>28.22</c:v>
                </c:pt>
                <c:pt idx="121">
                  <c:v>28.13</c:v>
                </c:pt>
                <c:pt idx="122">
                  <c:v>27.84</c:v>
                </c:pt>
                <c:pt idx="123">
                  <c:v>27.75</c:v>
                </c:pt>
                <c:pt idx="124">
                  <c:v>27.7</c:v>
                </c:pt>
                <c:pt idx="125">
                  <c:v>27.57</c:v>
                </c:pt>
                <c:pt idx="126">
                  <c:v>27.51</c:v>
                </c:pt>
                <c:pt idx="127">
                  <c:v>27.43</c:v>
                </c:pt>
                <c:pt idx="128">
                  <c:v>27.43</c:v>
                </c:pt>
                <c:pt idx="129">
                  <c:v>27.62</c:v>
                </c:pt>
                <c:pt idx="130">
                  <c:v>27.62</c:v>
                </c:pt>
                <c:pt idx="131">
                  <c:v>27.57</c:v>
                </c:pt>
                <c:pt idx="132">
                  <c:v>27.65</c:v>
                </c:pt>
                <c:pt idx="133">
                  <c:v>27.57</c:v>
                </c:pt>
                <c:pt idx="134">
                  <c:v>27.46</c:v>
                </c:pt>
                <c:pt idx="135">
                  <c:v>27.42</c:v>
                </c:pt>
                <c:pt idx="136">
                  <c:v>27.4</c:v>
                </c:pt>
                <c:pt idx="137">
                  <c:v>27.4</c:v>
                </c:pt>
                <c:pt idx="138">
                  <c:v>27.4</c:v>
                </c:pt>
                <c:pt idx="139">
                  <c:v>27.4</c:v>
                </c:pt>
                <c:pt idx="140">
                  <c:v>27.33</c:v>
                </c:pt>
                <c:pt idx="141">
                  <c:v>27.3</c:v>
                </c:pt>
                <c:pt idx="142">
                  <c:v>27.3</c:v>
                </c:pt>
                <c:pt idx="143">
                  <c:v>27.3</c:v>
                </c:pt>
              </c:numCache>
            </c:numRef>
          </c:val>
          <c:smooth val="0"/>
          <c:extLst>
            <c:ext xmlns:c16="http://schemas.microsoft.com/office/drawing/2014/chart" uri="{C3380CC4-5D6E-409C-BE32-E72D297353CC}">
              <c16:uniqueId val="{00000000-6A9C-D541-9B7E-170771824AC7}"/>
            </c:ext>
          </c:extLst>
        </c:ser>
        <c:ser>
          <c:idx val="1"/>
          <c:order val="1"/>
          <c:tx>
            <c:strRef>
              <c:f>'図15_分析8_晴れと曇り'!$J$1</c:f>
              <c:strCache>
                <c:ptCount val="1"/>
                <c:pt idx="0">
                  <c:v>列3</c:v>
                </c:pt>
              </c:strCache>
            </c:strRef>
          </c:tx>
          <c:spPr>
            <a:ln w="11430" cap="rnd">
              <a:solidFill>
                <a:srgbClr val="5E6B7A"/>
              </a:solidFill>
              <a:round/>
            </a:ln>
          </c:spPr>
          <c:marker>
            <c:symbol val="none"/>
          </c:marker>
          <c:cat>
            <c:strRef>
              <c:f>'図15_分析8_晴れと曇り'!$B$2:$B$145</c:f>
              <c:strCache>
                <c:ptCount val="144"/>
                <c:pt idx="0">
                  <c:v>0:00</c:v>
                </c:pt>
                <c:pt idx="18">
                  <c:v>3:00</c:v>
                </c:pt>
                <c:pt idx="36">
                  <c:v>6:00</c:v>
                </c:pt>
                <c:pt idx="54">
                  <c:v>9:00</c:v>
                </c:pt>
                <c:pt idx="72">
                  <c:v>12:00</c:v>
                </c:pt>
                <c:pt idx="90">
                  <c:v>15:00</c:v>
                </c:pt>
                <c:pt idx="108">
                  <c:v>18:00</c:v>
                </c:pt>
                <c:pt idx="126">
                  <c:v>21:00</c:v>
                </c:pt>
              </c:strCache>
            </c:strRef>
          </c:cat>
          <c:val>
            <c:numRef>
              <c:f>'図15_分析8_晴れと曇り'!$J$2:$J$145</c:f>
              <c:numCache>
                <c:formatCode>General</c:formatCode>
                <c:ptCount val="144"/>
                <c:pt idx="0">
                  <c:v>24.738</c:v>
                </c:pt>
                <c:pt idx="1">
                  <c:v>24.727</c:v>
                </c:pt>
                <c:pt idx="2">
                  <c:v>24.742999999999999</c:v>
                </c:pt>
                <c:pt idx="3">
                  <c:v>24.629000000000001</c:v>
                </c:pt>
                <c:pt idx="4">
                  <c:v>24.654</c:v>
                </c:pt>
                <c:pt idx="5">
                  <c:v>24.698</c:v>
                </c:pt>
                <c:pt idx="6">
                  <c:v>24.803999999999998</c:v>
                </c:pt>
                <c:pt idx="7">
                  <c:v>24.824000000000002</c:v>
                </c:pt>
                <c:pt idx="8">
                  <c:v>24.859000000000002</c:v>
                </c:pt>
                <c:pt idx="9">
                  <c:v>24.774000000000001</c:v>
                </c:pt>
                <c:pt idx="10">
                  <c:v>24.812999999999999</c:v>
                </c:pt>
                <c:pt idx="11">
                  <c:v>24.841999999999999</c:v>
                </c:pt>
                <c:pt idx="12">
                  <c:v>24.881</c:v>
                </c:pt>
                <c:pt idx="13">
                  <c:v>24.920999999999999</c:v>
                </c:pt>
                <c:pt idx="14">
                  <c:v>24.849</c:v>
                </c:pt>
                <c:pt idx="15">
                  <c:v>24.876000000000001</c:v>
                </c:pt>
                <c:pt idx="16">
                  <c:v>24.823</c:v>
                </c:pt>
                <c:pt idx="17">
                  <c:v>24.748999999999999</c:v>
                </c:pt>
                <c:pt idx="18">
                  <c:v>24.734000000000002</c:v>
                </c:pt>
                <c:pt idx="19">
                  <c:v>24.768000000000001</c:v>
                </c:pt>
                <c:pt idx="20">
                  <c:v>24.763000000000002</c:v>
                </c:pt>
                <c:pt idx="21">
                  <c:v>24.692</c:v>
                </c:pt>
                <c:pt idx="22">
                  <c:v>24.599</c:v>
                </c:pt>
                <c:pt idx="23">
                  <c:v>24.542000000000002</c:v>
                </c:pt>
                <c:pt idx="24">
                  <c:v>24.466000000000001</c:v>
                </c:pt>
                <c:pt idx="25">
                  <c:v>24.407</c:v>
                </c:pt>
                <c:pt idx="26">
                  <c:v>24.382999999999999</c:v>
                </c:pt>
                <c:pt idx="27">
                  <c:v>24.468</c:v>
                </c:pt>
                <c:pt idx="28">
                  <c:v>24.571000000000002</c:v>
                </c:pt>
                <c:pt idx="29">
                  <c:v>24.661999999999999</c:v>
                </c:pt>
                <c:pt idx="30">
                  <c:v>24.710999999999999</c:v>
                </c:pt>
                <c:pt idx="31">
                  <c:v>24.75</c:v>
                </c:pt>
                <c:pt idx="32">
                  <c:v>24.827000000000002</c:v>
                </c:pt>
                <c:pt idx="33">
                  <c:v>24.933</c:v>
                </c:pt>
                <c:pt idx="34">
                  <c:v>24.984000000000002</c:v>
                </c:pt>
                <c:pt idx="35">
                  <c:v>25.082999999999998</c:v>
                </c:pt>
                <c:pt idx="36">
                  <c:v>25.308</c:v>
                </c:pt>
                <c:pt idx="37">
                  <c:v>25.428000000000001</c:v>
                </c:pt>
                <c:pt idx="38">
                  <c:v>25.556999999999999</c:v>
                </c:pt>
                <c:pt idx="39">
                  <c:v>25.655999999999999</c:v>
                </c:pt>
                <c:pt idx="40">
                  <c:v>25.757000000000001</c:v>
                </c:pt>
                <c:pt idx="41">
                  <c:v>26.036000000000001</c:v>
                </c:pt>
                <c:pt idx="42">
                  <c:v>26.132999999999999</c:v>
                </c:pt>
                <c:pt idx="43">
                  <c:v>26.488</c:v>
                </c:pt>
                <c:pt idx="44">
                  <c:v>26.439</c:v>
                </c:pt>
                <c:pt idx="45">
                  <c:v>26.363</c:v>
                </c:pt>
                <c:pt idx="46">
                  <c:v>26.536999999999999</c:v>
                </c:pt>
                <c:pt idx="47">
                  <c:v>26.989000000000001</c:v>
                </c:pt>
                <c:pt idx="48">
                  <c:v>28.05</c:v>
                </c:pt>
                <c:pt idx="49">
                  <c:v>28.245999999999999</c:v>
                </c:pt>
                <c:pt idx="50">
                  <c:v>28.279</c:v>
                </c:pt>
                <c:pt idx="51">
                  <c:v>27.527999999999999</c:v>
                </c:pt>
                <c:pt idx="52">
                  <c:v>27.844000000000001</c:v>
                </c:pt>
                <c:pt idx="53">
                  <c:v>28.126000000000001</c:v>
                </c:pt>
                <c:pt idx="54">
                  <c:v>28.774000000000001</c:v>
                </c:pt>
                <c:pt idx="55">
                  <c:v>28.369</c:v>
                </c:pt>
                <c:pt idx="56">
                  <c:v>28.212</c:v>
                </c:pt>
                <c:pt idx="57">
                  <c:v>28.832999999999998</c:v>
                </c:pt>
                <c:pt idx="58">
                  <c:v>28.391999999999999</c:v>
                </c:pt>
                <c:pt idx="59">
                  <c:v>28.503</c:v>
                </c:pt>
                <c:pt idx="60">
                  <c:v>28.506</c:v>
                </c:pt>
                <c:pt idx="61">
                  <c:v>29.021999999999998</c:v>
                </c:pt>
                <c:pt idx="62">
                  <c:v>28.672999999999998</c:v>
                </c:pt>
                <c:pt idx="63">
                  <c:v>29.027999999999999</c:v>
                </c:pt>
                <c:pt idx="64">
                  <c:v>29.13</c:v>
                </c:pt>
                <c:pt idx="65">
                  <c:v>29.463000000000001</c:v>
                </c:pt>
                <c:pt idx="66">
                  <c:v>29.797000000000001</c:v>
                </c:pt>
                <c:pt idx="67">
                  <c:v>30.248999999999999</c:v>
                </c:pt>
                <c:pt idx="68">
                  <c:v>30.664000000000001</c:v>
                </c:pt>
                <c:pt idx="69">
                  <c:v>30.774000000000001</c:v>
                </c:pt>
                <c:pt idx="70">
                  <c:v>30.442</c:v>
                </c:pt>
                <c:pt idx="71">
                  <c:v>31.056999999999999</c:v>
                </c:pt>
                <c:pt idx="72">
                  <c:v>31.177</c:v>
                </c:pt>
                <c:pt idx="73">
                  <c:v>30.919</c:v>
                </c:pt>
                <c:pt idx="74">
                  <c:v>31.219000000000001</c:v>
                </c:pt>
                <c:pt idx="75">
                  <c:v>31.559000000000001</c:v>
                </c:pt>
                <c:pt idx="76">
                  <c:v>31.638999999999999</c:v>
                </c:pt>
                <c:pt idx="77">
                  <c:v>32.058999999999997</c:v>
                </c:pt>
                <c:pt idx="78">
                  <c:v>31.873000000000001</c:v>
                </c:pt>
                <c:pt idx="79">
                  <c:v>31.984000000000002</c:v>
                </c:pt>
                <c:pt idx="80">
                  <c:v>31.539000000000001</c:v>
                </c:pt>
                <c:pt idx="81">
                  <c:v>31.689</c:v>
                </c:pt>
                <c:pt idx="82">
                  <c:v>31.390999999999998</c:v>
                </c:pt>
                <c:pt idx="83">
                  <c:v>31.116</c:v>
                </c:pt>
                <c:pt idx="84">
                  <c:v>31.071999999999999</c:v>
                </c:pt>
                <c:pt idx="85">
                  <c:v>31.181000000000001</c:v>
                </c:pt>
                <c:pt idx="86">
                  <c:v>31.231999999999999</c:v>
                </c:pt>
                <c:pt idx="87">
                  <c:v>31.236000000000001</c:v>
                </c:pt>
                <c:pt idx="88">
                  <c:v>31.193999999999999</c:v>
                </c:pt>
                <c:pt idx="89">
                  <c:v>30.963999999999999</c:v>
                </c:pt>
                <c:pt idx="90">
                  <c:v>31.167000000000002</c:v>
                </c:pt>
                <c:pt idx="91">
                  <c:v>31.169</c:v>
                </c:pt>
                <c:pt idx="92">
                  <c:v>31.300999999999998</c:v>
                </c:pt>
                <c:pt idx="93">
                  <c:v>31.146000000000001</c:v>
                </c:pt>
                <c:pt idx="94">
                  <c:v>31.385999999999999</c:v>
                </c:pt>
                <c:pt idx="95">
                  <c:v>31.437000000000001</c:v>
                </c:pt>
                <c:pt idx="96">
                  <c:v>31.266999999999999</c:v>
                </c:pt>
                <c:pt idx="97">
                  <c:v>31.154</c:v>
                </c:pt>
                <c:pt idx="98">
                  <c:v>31.11</c:v>
                </c:pt>
                <c:pt idx="99">
                  <c:v>31.204000000000001</c:v>
                </c:pt>
                <c:pt idx="100">
                  <c:v>31.157</c:v>
                </c:pt>
                <c:pt idx="101">
                  <c:v>31.234000000000002</c:v>
                </c:pt>
                <c:pt idx="102">
                  <c:v>31.047000000000001</c:v>
                </c:pt>
                <c:pt idx="103">
                  <c:v>30.798999999999999</c:v>
                </c:pt>
                <c:pt idx="104">
                  <c:v>30.741</c:v>
                </c:pt>
                <c:pt idx="105">
                  <c:v>30.777999999999999</c:v>
                </c:pt>
                <c:pt idx="106">
                  <c:v>30.658000000000001</c:v>
                </c:pt>
                <c:pt idx="107">
                  <c:v>30.190999999999999</c:v>
                </c:pt>
                <c:pt idx="108">
                  <c:v>29.88</c:v>
                </c:pt>
                <c:pt idx="109">
                  <c:v>29.893999999999998</c:v>
                </c:pt>
                <c:pt idx="110">
                  <c:v>29.6</c:v>
                </c:pt>
                <c:pt idx="111">
                  <c:v>29.486000000000001</c:v>
                </c:pt>
                <c:pt idx="112">
                  <c:v>29.343</c:v>
                </c:pt>
                <c:pt idx="113">
                  <c:v>28.997</c:v>
                </c:pt>
                <c:pt idx="114">
                  <c:v>29.03</c:v>
                </c:pt>
                <c:pt idx="115">
                  <c:v>28.92</c:v>
                </c:pt>
                <c:pt idx="116">
                  <c:v>28.98</c:v>
                </c:pt>
                <c:pt idx="117">
                  <c:v>28.850999999999999</c:v>
                </c:pt>
                <c:pt idx="118">
                  <c:v>28.661000000000001</c:v>
                </c:pt>
                <c:pt idx="119">
                  <c:v>28.649000000000001</c:v>
                </c:pt>
                <c:pt idx="120">
                  <c:v>28.4</c:v>
                </c:pt>
                <c:pt idx="121">
                  <c:v>28.256</c:v>
                </c:pt>
                <c:pt idx="122">
                  <c:v>28.087</c:v>
                </c:pt>
                <c:pt idx="123">
                  <c:v>27.872</c:v>
                </c:pt>
                <c:pt idx="124">
                  <c:v>27.699000000000002</c:v>
                </c:pt>
                <c:pt idx="125">
                  <c:v>27.49</c:v>
                </c:pt>
                <c:pt idx="126">
                  <c:v>27.504000000000001</c:v>
                </c:pt>
                <c:pt idx="127">
                  <c:v>27.448</c:v>
                </c:pt>
                <c:pt idx="128">
                  <c:v>27.998999999999999</c:v>
                </c:pt>
                <c:pt idx="129">
                  <c:v>28.027999999999999</c:v>
                </c:pt>
                <c:pt idx="130">
                  <c:v>28.114000000000001</c:v>
                </c:pt>
                <c:pt idx="131">
                  <c:v>27.917000000000002</c:v>
                </c:pt>
                <c:pt idx="132">
                  <c:v>27.986000000000001</c:v>
                </c:pt>
                <c:pt idx="133">
                  <c:v>28.623000000000001</c:v>
                </c:pt>
                <c:pt idx="134">
                  <c:v>28.303000000000001</c:v>
                </c:pt>
                <c:pt idx="135">
                  <c:v>27.81</c:v>
                </c:pt>
                <c:pt idx="136">
                  <c:v>27.613</c:v>
                </c:pt>
                <c:pt idx="137">
                  <c:v>27.492000000000001</c:v>
                </c:pt>
                <c:pt idx="138">
                  <c:v>27.417999999999999</c:v>
                </c:pt>
                <c:pt idx="139">
                  <c:v>27.388999999999999</c:v>
                </c:pt>
                <c:pt idx="140">
                  <c:v>27.295999999999999</c:v>
                </c:pt>
                <c:pt idx="141">
                  <c:v>27.283999999999999</c:v>
                </c:pt>
                <c:pt idx="142">
                  <c:v>27.254000000000001</c:v>
                </c:pt>
                <c:pt idx="143">
                  <c:v>27.206</c:v>
                </c:pt>
              </c:numCache>
            </c:numRef>
          </c:val>
          <c:smooth val="0"/>
          <c:extLst>
            <c:ext xmlns:c16="http://schemas.microsoft.com/office/drawing/2014/chart" uri="{C3380CC4-5D6E-409C-BE32-E72D297353CC}">
              <c16:uniqueId val="{00000001-6A9C-D541-9B7E-170771824AC7}"/>
            </c:ext>
          </c:extLst>
        </c:ser>
        <c:ser>
          <c:idx val="2"/>
          <c:order val="2"/>
          <c:tx>
            <c:strRef>
              <c:f>'図15_分析8_晴れと曇り'!$K$1</c:f>
              <c:strCache>
                <c:ptCount val="1"/>
                <c:pt idx="0">
                  <c:v>列8</c:v>
                </c:pt>
              </c:strCache>
            </c:strRef>
          </c:tx>
          <c:spPr>
            <a:ln w="11430" cap="rnd">
              <a:solidFill>
                <a:srgbClr val="01B8AA"/>
              </a:solidFill>
              <a:round/>
            </a:ln>
          </c:spPr>
          <c:marker>
            <c:symbol val="none"/>
          </c:marker>
          <c:cat>
            <c:strRef>
              <c:f>'図15_分析8_晴れと曇り'!$B$2:$B$145</c:f>
              <c:strCache>
                <c:ptCount val="144"/>
                <c:pt idx="0">
                  <c:v>0:00</c:v>
                </c:pt>
                <c:pt idx="18">
                  <c:v>3:00</c:v>
                </c:pt>
                <c:pt idx="36">
                  <c:v>6:00</c:v>
                </c:pt>
                <c:pt idx="54">
                  <c:v>9:00</c:v>
                </c:pt>
                <c:pt idx="72">
                  <c:v>12:00</c:v>
                </c:pt>
                <c:pt idx="90">
                  <c:v>15:00</c:v>
                </c:pt>
                <c:pt idx="108">
                  <c:v>18:00</c:v>
                </c:pt>
                <c:pt idx="126">
                  <c:v>21:00</c:v>
                </c:pt>
              </c:strCache>
            </c:strRef>
          </c:cat>
          <c:val>
            <c:numRef>
              <c:f>'図15_分析8_晴れと曇り'!$K$2:$K$145</c:f>
              <c:numCache>
                <c:formatCode>General</c:formatCode>
                <c:ptCount val="144"/>
                <c:pt idx="0">
                  <c:v>24.72</c:v>
                </c:pt>
                <c:pt idx="1">
                  <c:v>24.713000000000001</c:v>
                </c:pt>
                <c:pt idx="2">
                  <c:v>24.677</c:v>
                </c:pt>
                <c:pt idx="3">
                  <c:v>24.628</c:v>
                </c:pt>
                <c:pt idx="4">
                  <c:v>24.658000000000001</c:v>
                </c:pt>
                <c:pt idx="5">
                  <c:v>24.655999999999999</c:v>
                </c:pt>
                <c:pt idx="6">
                  <c:v>24.713000000000001</c:v>
                </c:pt>
                <c:pt idx="7">
                  <c:v>24.73</c:v>
                </c:pt>
                <c:pt idx="8">
                  <c:v>24.768000000000001</c:v>
                </c:pt>
                <c:pt idx="9">
                  <c:v>24.79</c:v>
                </c:pt>
                <c:pt idx="10">
                  <c:v>24.808</c:v>
                </c:pt>
                <c:pt idx="11">
                  <c:v>24.818000000000001</c:v>
                </c:pt>
                <c:pt idx="12">
                  <c:v>24.800999999999998</c:v>
                </c:pt>
                <c:pt idx="13">
                  <c:v>24.826000000000001</c:v>
                </c:pt>
                <c:pt idx="14">
                  <c:v>24.780999999999999</c:v>
                </c:pt>
                <c:pt idx="15">
                  <c:v>24.797000000000001</c:v>
                </c:pt>
                <c:pt idx="16">
                  <c:v>24.797999999999998</c:v>
                </c:pt>
                <c:pt idx="17">
                  <c:v>24.777999999999999</c:v>
                </c:pt>
                <c:pt idx="18">
                  <c:v>24.794</c:v>
                </c:pt>
                <c:pt idx="19">
                  <c:v>24.824000000000002</c:v>
                </c:pt>
                <c:pt idx="20">
                  <c:v>24.777000000000001</c:v>
                </c:pt>
                <c:pt idx="21">
                  <c:v>24.741</c:v>
                </c:pt>
                <c:pt idx="22">
                  <c:v>24.661999999999999</c:v>
                </c:pt>
                <c:pt idx="23">
                  <c:v>24.629000000000001</c:v>
                </c:pt>
                <c:pt idx="24">
                  <c:v>24.532</c:v>
                </c:pt>
                <c:pt idx="25">
                  <c:v>24.478000000000002</c:v>
                </c:pt>
                <c:pt idx="26">
                  <c:v>24.44</c:v>
                </c:pt>
                <c:pt idx="27">
                  <c:v>24.523</c:v>
                </c:pt>
                <c:pt idx="28">
                  <c:v>24.591999999999999</c:v>
                </c:pt>
                <c:pt idx="29">
                  <c:v>24.669</c:v>
                </c:pt>
                <c:pt idx="30">
                  <c:v>24.73</c:v>
                </c:pt>
                <c:pt idx="31">
                  <c:v>24.751000000000001</c:v>
                </c:pt>
                <c:pt idx="32">
                  <c:v>24.794</c:v>
                </c:pt>
                <c:pt idx="33">
                  <c:v>24.873999999999999</c:v>
                </c:pt>
                <c:pt idx="34">
                  <c:v>24.919</c:v>
                </c:pt>
                <c:pt idx="35">
                  <c:v>25.026</c:v>
                </c:pt>
                <c:pt idx="36">
                  <c:v>25.164000000000001</c:v>
                </c:pt>
                <c:pt idx="37">
                  <c:v>25.238</c:v>
                </c:pt>
                <c:pt idx="38">
                  <c:v>25.334</c:v>
                </c:pt>
                <c:pt idx="39">
                  <c:v>25.471</c:v>
                </c:pt>
                <c:pt idx="40">
                  <c:v>25.506</c:v>
                </c:pt>
                <c:pt idx="41">
                  <c:v>25.757999999999999</c:v>
                </c:pt>
                <c:pt idx="42">
                  <c:v>26.198</c:v>
                </c:pt>
                <c:pt idx="43">
                  <c:v>26.637</c:v>
                </c:pt>
                <c:pt idx="44">
                  <c:v>26.829000000000001</c:v>
                </c:pt>
                <c:pt idx="45">
                  <c:v>26.381</c:v>
                </c:pt>
                <c:pt idx="46">
                  <c:v>26.632999999999999</c:v>
                </c:pt>
                <c:pt idx="47">
                  <c:v>26.771999999999998</c:v>
                </c:pt>
                <c:pt idx="48">
                  <c:v>27.491</c:v>
                </c:pt>
                <c:pt idx="49">
                  <c:v>27.593</c:v>
                </c:pt>
                <c:pt idx="50">
                  <c:v>27.603000000000002</c:v>
                </c:pt>
                <c:pt idx="51">
                  <c:v>27.117999999999999</c:v>
                </c:pt>
                <c:pt idx="52">
                  <c:v>27.484000000000002</c:v>
                </c:pt>
                <c:pt idx="53">
                  <c:v>27.651</c:v>
                </c:pt>
                <c:pt idx="54">
                  <c:v>27.916</c:v>
                </c:pt>
                <c:pt idx="55">
                  <c:v>27.725999999999999</c:v>
                </c:pt>
                <c:pt idx="56">
                  <c:v>27.986999999999998</c:v>
                </c:pt>
                <c:pt idx="57">
                  <c:v>28.347000000000001</c:v>
                </c:pt>
                <c:pt idx="58">
                  <c:v>27.942</c:v>
                </c:pt>
                <c:pt idx="59">
                  <c:v>28.594000000000001</c:v>
                </c:pt>
                <c:pt idx="60">
                  <c:v>28.356999999999999</c:v>
                </c:pt>
                <c:pt idx="61">
                  <c:v>28.524000000000001</c:v>
                </c:pt>
                <c:pt idx="62">
                  <c:v>28.878</c:v>
                </c:pt>
                <c:pt idx="63">
                  <c:v>28.95</c:v>
                </c:pt>
                <c:pt idx="64">
                  <c:v>28.795999999999999</c:v>
                </c:pt>
                <c:pt idx="65">
                  <c:v>28.631</c:v>
                </c:pt>
                <c:pt idx="66">
                  <c:v>29.207000000000001</c:v>
                </c:pt>
                <c:pt idx="67">
                  <c:v>29.818000000000001</c:v>
                </c:pt>
                <c:pt idx="68">
                  <c:v>30.141999999999999</c:v>
                </c:pt>
                <c:pt idx="69">
                  <c:v>30.481999999999999</c:v>
                </c:pt>
                <c:pt idx="70">
                  <c:v>30.143999999999998</c:v>
                </c:pt>
                <c:pt idx="71">
                  <c:v>30.763999999999999</c:v>
                </c:pt>
                <c:pt idx="72">
                  <c:v>31.638999999999999</c:v>
                </c:pt>
                <c:pt idx="73">
                  <c:v>31.641999999999999</c:v>
                </c:pt>
                <c:pt idx="74">
                  <c:v>31.571999999999999</c:v>
                </c:pt>
                <c:pt idx="75">
                  <c:v>31.626999999999999</c:v>
                </c:pt>
                <c:pt idx="76">
                  <c:v>31.673999999999999</c:v>
                </c:pt>
                <c:pt idx="77">
                  <c:v>31.734000000000002</c:v>
                </c:pt>
                <c:pt idx="78">
                  <c:v>31.748000000000001</c:v>
                </c:pt>
                <c:pt idx="79">
                  <c:v>31.859000000000002</c:v>
                </c:pt>
                <c:pt idx="80">
                  <c:v>31.998999999999999</c:v>
                </c:pt>
                <c:pt idx="81">
                  <c:v>31.582000000000001</c:v>
                </c:pt>
                <c:pt idx="82">
                  <c:v>31.077999999999999</c:v>
                </c:pt>
                <c:pt idx="83">
                  <c:v>30.826000000000001</c:v>
                </c:pt>
                <c:pt idx="84">
                  <c:v>30.911000000000001</c:v>
                </c:pt>
                <c:pt idx="85">
                  <c:v>30.806000000000001</c:v>
                </c:pt>
                <c:pt idx="86">
                  <c:v>30.798999999999999</c:v>
                </c:pt>
                <c:pt idx="87">
                  <c:v>31.132999999999999</c:v>
                </c:pt>
                <c:pt idx="88">
                  <c:v>31.053000000000001</c:v>
                </c:pt>
                <c:pt idx="89">
                  <c:v>30.846</c:v>
                </c:pt>
                <c:pt idx="90">
                  <c:v>30.92</c:v>
                </c:pt>
                <c:pt idx="91">
                  <c:v>31.097000000000001</c:v>
                </c:pt>
                <c:pt idx="92">
                  <c:v>30.971</c:v>
                </c:pt>
                <c:pt idx="93">
                  <c:v>31.074000000000002</c:v>
                </c:pt>
                <c:pt idx="94">
                  <c:v>31.088000000000001</c:v>
                </c:pt>
                <c:pt idx="95">
                  <c:v>30.864000000000001</c:v>
                </c:pt>
                <c:pt idx="96">
                  <c:v>30.859000000000002</c:v>
                </c:pt>
                <c:pt idx="97">
                  <c:v>30.888999999999999</c:v>
                </c:pt>
                <c:pt idx="98">
                  <c:v>30.783000000000001</c:v>
                </c:pt>
                <c:pt idx="99">
                  <c:v>31.218</c:v>
                </c:pt>
                <c:pt idx="100">
                  <c:v>31.05</c:v>
                </c:pt>
                <c:pt idx="101">
                  <c:v>31.001999999999999</c:v>
                </c:pt>
                <c:pt idx="102">
                  <c:v>30.693999999999999</c:v>
                </c:pt>
                <c:pt idx="103">
                  <c:v>30.239000000000001</c:v>
                </c:pt>
                <c:pt idx="104">
                  <c:v>30.384</c:v>
                </c:pt>
                <c:pt idx="105">
                  <c:v>30.218</c:v>
                </c:pt>
                <c:pt idx="106">
                  <c:v>30.082000000000001</c:v>
                </c:pt>
                <c:pt idx="107">
                  <c:v>29.83</c:v>
                </c:pt>
                <c:pt idx="108">
                  <c:v>29.419</c:v>
                </c:pt>
                <c:pt idx="109">
                  <c:v>29.456</c:v>
                </c:pt>
                <c:pt idx="110">
                  <c:v>29.129000000000001</c:v>
                </c:pt>
                <c:pt idx="111">
                  <c:v>28.852</c:v>
                </c:pt>
                <c:pt idx="112">
                  <c:v>28.616</c:v>
                </c:pt>
                <c:pt idx="113">
                  <c:v>28.381</c:v>
                </c:pt>
                <c:pt idx="114">
                  <c:v>28.369</c:v>
                </c:pt>
                <c:pt idx="115">
                  <c:v>28.29</c:v>
                </c:pt>
                <c:pt idx="116">
                  <c:v>28.4</c:v>
                </c:pt>
                <c:pt idx="117">
                  <c:v>28.382999999999999</c:v>
                </c:pt>
                <c:pt idx="118">
                  <c:v>28.111999999999998</c:v>
                </c:pt>
                <c:pt idx="119">
                  <c:v>28.04</c:v>
                </c:pt>
                <c:pt idx="120">
                  <c:v>27.814</c:v>
                </c:pt>
                <c:pt idx="121">
                  <c:v>28.367999999999999</c:v>
                </c:pt>
                <c:pt idx="122">
                  <c:v>27.948</c:v>
                </c:pt>
                <c:pt idx="123">
                  <c:v>27.527999999999999</c:v>
                </c:pt>
                <c:pt idx="124">
                  <c:v>27.427</c:v>
                </c:pt>
                <c:pt idx="125">
                  <c:v>27.280999999999999</c:v>
                </c:pt>
                <c:pt idx="126">
                  <c:v>27.24</c:v>
                </c:pt>
                <c:pt idx="127">
                  <c:v>27.239000000000001</c:v>
                </c:pt>
                <c:pt idx="128">
                  <c:v>27.228000000000002</c:v>
                </c:pt>
                <c:pt idx="129">
                  <c:v>27.259</c:v>
                </c:pt>
                <c:pt idx="130">
                  <c:v>27.266999999999999</c:v>
                </c:pt>
                <c:pt idx="131">
                  <c:v>27.260999999999999</c:v>
                </c:pt>
                <c:pt idx="132">
                  <c:v>27.288</c:v>
                </c:pt>
                <c:pt idx="133">
                  <c:v>27.277000000000001</c:v>
                </c:pt>
                <c:pt idx="134">
                  <c:v>27.25</c:v>
                </c:pt>
                <c:pt idx="135">
                  <c:v>27.26</c:v>
                </c:pt>
                <c:pt idx="136">
                  <c:v>27.196000000000002</c:v>
                </c:pt>
                <c:pt idx="137">
                  <c:v>27.196999999999999</c:v>
                </c:pt>
                <c:pt idx="138">
                  <c:v>27.187999999999999</c:v>
                </c:pt>
                <c:pt idx="139">
                  <c:v>27.161000000000001</c:v>
                </c:pt>
                <c:pt idx="140">
                  <c:v>27.114000000000001</c:v>
                </c:pt>
                <c:pt idx="141">
                  <c:v>27.116</c:v>
                </c:pt>
                <c:pt idx="142">
                  <c:v>27.106000000000002</c:v>
                </c:pt>
                <c:pt idx="143">
                  <c:v>27.077000000000002</c:v>
                </c:pt>
              </c:numCache>
            </c:numRef>
          </c:val>
          <c:smooth val="0"/>
          <c:extLst>
            <c:ext xmlns:c16="http://schemas.microsoft.com/office/drawing/2014/chart" uri="{C3380CC4-5D6E-409C-BE32-E72D297353CC}">
              <c16:uniqueId val="{00000002-6A9C-D541-9B7E-170771824AC7}"/>
            </c:ext>
          </c:extLst>
        </c:ser>
        <c:ser>
          <c:idx val="3"/>
          <c:order val="3"/>
          <c:tx>
            <c:strRef>
              <c:f>'図15_分析8_晴れと曇り'!$L$1</c:f>
              <c:strCache>
                <c:ptCount val="1"/>
                <c:pt idx="0">
                  <c:v>列11</c:v>
                </c:pt>
              </c:strCache>
            </c:strRef>
          </c:tx>
          <c:spPr>
            <a:ln w="11430" cap="rnd">
              <a:solidFill>
                <a:srgbClr val="118DFF"/>
              </a:solidFill>
              <a:round/>
            </a:ln>
          </c:spPr>
          <c:marker>
            <c:symbol val="none"/>
          </c:marker>
          <c:cat>
            <c:strRef>
              <c:f>'図15_分析8_晴れと曇り'!$B$2:$B$145</c:f>
              <c:strCache>
                <c:ptCount val="144"/>
                <c:pt idx="0">
                  <c:v>0:00</c:v>
                </c:pt>
                <c:pt idx="18">
                  <c:v>3:00</c:v>
                </c:pt>
                <c:pt idx="36">
                  <c:v>6:00</c:v>
                </c:pt>
                <c:pt idx="54">
                  <c:v>9:00</c:v>
                </c:pt>
                <c:pt idx="72">
                  <c:v>12:00</c:v>
                </c:pt>
                <c:pt idx="90">
                  <c:v>15:00</c:v>
                </c:pt>
                <c:pt idx="108">
                  <c:v>18:00</c:v>
                </c:pt>
                <c:pt idx="126">
                  <c:v>21:00</c:v>
                </c:pt>
              </c:strCache>
            </c:strRef>
          </c:cat>
          <c:val>
            <c:numRef>
              <c:f>'図15_分析8_晴れと曇り'!$L$2:$L$145</c:f>
              <c:numCache>
                <c:formatCode>General</c:formatCode>
                <c:ptCount val="144"/>
                <c:pt idx="0">
                  <c:v>24.693999999999999</c:v>
                </c:pt>
                <c:pt idx="1">
                  <c:v>24.699000000000002</c:v>
                </c:pt>
                <c:pt idx="2">
                  <c:v>24.734000000000002</c:v>
                </c:pt>
                <c:pt idx="3">
                  <c:v>24.638000000000002</c:v>
                </c:pt>
                <c:pt idx="4">
                  <c:v>24.648</c:v>
                </c:pt>
                <c:pt idx="5">
                  <c:v>24.646000000000001</c:v>
                </c:pt>
                <c:pt idx="6">
                  <c:v>24.731000000000002</c:v>
                </c:pt>
                <c:pt idx="7">
                  <c:v>24.748000000000001</c:v>
                </c:pt>
                <c:pt idx="8">
                  <c:v>24.75</c:v>
                </c:pt>
                <c:pt idx="9">
                  <c:v>24.771000000000001</c:v>
                </c:pt>
                <c:pt idx="10">
                  <c:v>24.771999999999998</c:v>
                </c:pt>
                <c:pt idx="11">
                  <c:v>24.844000000000001</c:v>
                </c:pt>
                <c:pt idx="12">
                  <c:v>24.800999999999998</c:v>
                </c:pt>
                <c:pt idx="13">
                  <c:v>24.78</c:v>
                </c:pt>
                <c:pt idx="14">
                  <c:v>24.74</c:v>
                </c:pt>
                <c:pt idx="15">
                  <c:v>24.745000000000001</c:v>
                </c:pt>
                <c:pt idx="16">
                  <c:v>24.734000000000002</c:v>
                </c:pt>
                <c:pt idx="17">
                  <c:v>24.693000000000001</c:v>
                </c:pt>
                <c:pt idx="18">
                  <c:v>24.695</c:v>
                </c:pt>
                <c:pt idx="19">
                  <c:v>24.704999999999998</c:v>
                </c:pt>
                <c:pt idx="20">
                  <c:v>24.654</c:v>
                </c:pt>
                <c:pt idx="21">
                  <c:v>24.616</c:v>
                </c:pt>
                <c:pt idx="22">
                  <c:v>24.532</c:v>
                </c:pt>
                <c:pt idx="23">
                  <c:v>24.481999999999999</c:v>
                </c:pt>
                <c:pt idx="24">
                  <c:v>24.443999999999999</c:v>
                </c:pt>
                <c:pt idx="25">
                  <c:v>24.417999999999999</c:v>
                </c:pt>
                <c:pt idx="26">
                  <c:v>24.379000000000001</c:v>
                </c:pt>
                <c:pt idx="27">
                  <c:v>24.471</c:v>
                </c:pt>
                <c:pt idx="28">
                  <c:v>24.544</c:v>
                </c:pt>
                <c:pt idx="29">
                  <c:v>24.631</c:v>
                </c:pt>
                <c:pt idx="30">
                  <c:v>24.66</c:v>
                </c:pt>
                <c:pt idx="31">
                  <c:v>24.666</c:v>
                </c:pt>
                <c:pt idx="32">
                  <c:v>24.835000000000001</c:v>
                </c:pt>
                <c:pt idx="33">
                  <c:v>25.021999999999998</c:v>
                </c:pt>
                <c:pt idx="34">
                  <c:v>25.082000000000001</c:v>
                </c:pt>
                <c:pt idx="35">
                  <c:v>25.218</c:v>
                </c:pt>
                <c:pt idx="36">
                  <c:v>25.437999999999999</c:v>
                </c:pt>
                <c:pt idx="37">
                  <c:v>25.472000000000001</c:v>
                </c:pt>
                <c:pt idx="38">
                  <c:v>25.553000000000001</c:v>
                </c:pt>
                <c:pt idx="39">
                  <c:v>25.844999999999999</c:v>
                </c:pt>
                <c:pt idx="40">
                  <c:v>25.951000000000001</c:v>
                </c:pt>
                <c:pt idx="41">
                  <c:v>26.352</c:v>
                </c:pt>
                <c:pt idx="42">
                  <c:v>26.355</c:v>
                </c:pt>
                <c:pt idx="43">
                  <c:v>26.672999999999998</c:v>
                </c:pt>
                <c:pt idx="44">
                  <c:v>26.779</c:v>
                </c:pt>
                <c:pt idx="45">
                  <c:v>26.684000000000001</c:v>
                </c:pt>
                <c:pt idx="46">
                  <c:v>26.765000000000001</c:v>
                </c:pt>
                <c:pt idx="47">
                  <c:v>26.695</c:v>
                </c:pt>
                <c:pt idx="48">
                  <c:v>27.326000000000001</c:v>
                </c:pt>
                <c:pt idx="49">
                  <c:v>27.529</c:v>
                </c:pt>
                <c:pt idx="50">
                  <c:v>27.584</c:v>
                </c:pt>
                <c:pt idx="51">
                  <c:v>27.353999999999999</c:v>
                </c:pt>
                <c:pt idx="52">
                  <c:v>27.513999999999999</c:v>
                </c:pt>
                <c:pt idx="53">
                  <c:v>27.459</c:v>
                </c:pt>
                <c:pt idx="54">
                  <c:v>27.827000000000002</c:v>
                </c:pt>
                <c:pt idx="55">
                  <c:v>28.082000000000001</c:v>
                </c:pt>
                <c:pt idx="56">
                  <c:v>28.155999999999999</c:v>
                </c:pt>
                <c:pt idx="57">
                  <c:v>27.919</c:v>
                </c:pt>
                <c:pt idx="58">
                  <c:v>28.155000000000001</c:v>
                </c:pt>
                <c:pt idx="59">
                  <c:v>28.204000000000001</c:v>
                </c:pt>
                <c:pt idx="60">
                  <c:v>28.367999999999999</c:v>
                </c:pt>
                <c:pt idx="61">
                  <c:v>28.509</c:v>
                </c:pt>
                <c:pt idx="62">
                  <c:v>29.01</c:v>
                </c:pt>
                <c:pt idx="63">
                  <c:v>28.962</c:v>
                </c:pt>
                <c:pt idx="64">
                  <c:v>28.898</c:v>
                </c:pt>
                <c:pt idx="65">
                  <c:v>28.917999999999999</c:v>
                </c:pt>
                <c:pt idx="66">
                  <c:v>29.547000000000001</c:v>
                </c:pt>
                <c:pt idx="67">
                  <c:v>29.731999999999999</c:v>
                </c:pt>
                <c:pt idx="68">
                  <c:v>29.782</c:v>
                </c:pt>
                <c:pt idx="69">
                  <c:v>30.225999999999999</c:v>
                </c:pt>
                <c:pt idx="70">
                  <c:v>30.181999999999999</c:v>
                </c:pt>
                <c:pt idx="71">
                  <c:v>30.439</c:v>
                </c:pt>
                <c:pt idx="72">
                  <c:v>31.074999999999999</c:v>
                </c:pt>
                <c:pt idx="73">
                  <c:v>30.943999999999999</c:v>
                </c:pt>
                <c:pt idx="74">
                  <c:v>31.276</c:v>
                </c:pt>
                <c:pt idx="75">
                  <c:v>31.158999999999999</c:v>
                </c:pt>
                <c:pt idx="76">
                  <c:v>31.302</c:v>
                </c:pt>
                <c:pt idx="77">
                  <c:v>31.398</c:v>
                </c:pt>
                <c:pt idx="78">
                  <c:v>31.521999999999998</c:v>
                </c:pt>
                <c:pt idx="79">
                  <c:v>31.291</c:v>
                </c:pt>
                <c:pt idx="80">
                  <c:v>31.074000000000002</c:v>
                </c:pt>
                <c:pt idx="81">
                  <c:v>30.74</c:v>
                </c:pt>
                <c:pt idx="82">
                  <c:v>30.914999999999999</c:v>
                </c:pt>
                <c:pt idx="83">
                  <c:v>30.678000000000001</c:v>
                </c:pt>
                <c:pt idx="84">
                  <c:v>30.524000000000001</c:v>
                </c:pt>
                <c:pt idx="85">
                  <c:v>30.834</c:v>
                </c:pt>
                <c:pt idx="86">
                  <c:v>30.797999999999998</c:v>
                </c:pt>
                <c:pt idx="87">
                  <c:v>30.818999999999999</c:v>
                </c:pt>
                <c:pt idx="88">
                  <c:v>30.802</c:v>
                </c:pt>
                <c:pt idx="89">
                  <c:v>30.762</c:v>
                </c:pt>
                <c:pt idx="90">
                  <c:v>30.768000000000001</c:v>
                </c:pt>
                <c:pt idx="91">
                  <c:v>30.731999999999999</c:v>
                </c:pt>
                <c:pt idx="92">
                  <c:v>30.594999999999999</c:v>
                </c:pt>
                <c:pt idx="93">
                  <c:v>30.95</c:v>
                </c:pt>
                <c:pt idx="94">
                  <c:v>30.707999999999998</c:v>
                </c:pt>
                <c:pt idx="95">
                  <c:v>30.684000000000001</c:v>
                </c:pt>
                <c:pt idx="96">
                  <c:v>30.739000000000001</c:v>
                </c:pt>
                <c:pt idx="97">
                  <c:v>30.693000000000001</c:v>
                </c:pt>
                <c:pt idx="98">
                  <c:v>30.619</c:v>
                </c:pt>
                <c:pt idx="99">
                  <c:v>30.716000000000001</c:v>
                </c:pt>
                <c:pt idx="100">
                  <c:v>30.824000000000002</c:v>
                </c:pt>
                <c:pt idx="101">
                  <c:v>30.824000000000002</c:v>
                </c:pt>
                <c:pt idx="102">
                  <c:v>30.553999999999998</c:v>
                </c:pt>
                <c:pt idx="103">
                  <c:v>30.303999999999998</c:v>
                </c:pt>
                <c:pt idx="104">
                  <c:v>30.126000000000001</c:v>
                </c:pt>
                <c:pt idx="105">
                  <c:v>30.050999999999998</c:v>
                </c:pt>
                <c:pt idx="106">
                  <c:v>29.914999999999999</c:v>
                </c:pt>
                <c:pt idx="107">
                  <c:v>29.535</c:v>
                </c:pt>
                <c:pt idx="108">
                  <c:v>29.375</c:v>
                </c:pt>
                <c:pt idx="109">
                  <c:v>29.286000000000001</c:v>
                </c:pt>
                <c:pt idx="110">
                  <c:v>28.998000000000001</c:v>
                </c:pt>
                <c:pt idx="111">
                  <c:v>29.064</c:v>
                </c:pt>
                <c:pt idx="112">
                  <c:v>28.934000000000001</c:v>
                </c:pt>
                <c:pt idx="113">
                  <c:v>28.72</c:v>
                </c:pt>
                <c:pt idx="114">
                  <c:v>28.87</c:v>
                </c:pt>
                <c:pt idx="115">
                  <c:v>28.696000000000002</c:v>
                </c:pt>
                <c:pt idx="116">
                  <c:v>28.521999999999998</c:v>
                </c:pt>
                <c:pt idx="117">
                  <c:v>28.347999999999999</c:v>
                </c:pt>
                <c:pt idx="118">
                  <c:v>28.18</c:v>
                </c:pt>
                <c:pt idx="119">
                  <c:v>28.088000000000001</c:v>
                </c:pt>
                <c:pt idx="120">
                  <c:v>27.923999999999999</c:v>
                </c:pt>
                <c:pt idx="121">
                  <c:v>27.698</c:v>
                </c:pt>
                <c:pt idx="122">
                  <c:v>27.507999999999999</c:v>
                </c:pt>
                <c:pt idx="123">
                  <c:v>27.420999999999999</c:v>
                </c:pt>
                <c:pt idx="124">
                  <c:v>27.43</c:v>
                </c:pt>
                <c:pt idx="125">
                  <c:v>27.369</c:v>
                </c:pt>
                <c:pt idx="126">
                  <c:v>27.32</c:v>
                </c:pt>
                <c:pt idx="127">
                  <c:v>27.285</c:v>
                </c:pt>
                <c:pt idx="128">
                  <c:v>27.302</c:v>
                </c:pt>
                <c:pt idx="129">
                  <c:v>27.315999999999999</c:v>
                </c:pt>
                <c:pt idx="130">
                  <c:v>27.344999999999999</c:v>
                </c:pt>
                <c:pt idx="131">
                  <c:v>27.327000000000002</c:v>
                </c:pt>
                <c:pt idx="132">
                  <c:v>27.373000000000001</c:v>
                </c:pt>
                <c:pt idx="133">
                  <c:v>27.353999999999999</c:v>
                </c:pt>
                <c:pt idx="134">
                  <c:v>27.289000000000001</c:v>
                </c:pt>
                <c:pt idx="135">
                  <c:v>27.274000000000001</c:v>
                </c:pt>
                <c:pt idx="136">
                  <c:v>27.221</c:v>
                </c:pt>
                <c:pt idx="137">
                  <c:v>27.228999999999999</c:v>
                </c:pt>
                <c:pt idx="138">
                  <c:v>27.242000000000001</c:v>
                </c:pt>
                <c:pt idx="139">
                  <c:v>27.207999999999998</c:v>
                </c:pt>
                <c:pt idx="140">
                  <c:v>27.181999999999999</c:v>
                </c:pt>
                <c:pt idx="141">
                  <c:v>27.161000000000001</c:v>
                </c:pt>
                <c:pt idx="142">
                  <c:v>27.145</c:v>
                </c:pt>
                <c:pt idx="143">
                  <c:v>27.11</c:v>
                </c:pt>
              </c:numCache>
            </c:numRef>
          </c:val>
          <c:smooth val="0"/>
          <c:extLst>
            <c:ext xmlns:c16="http://schemas.microsoft.com/office/drawing/2014/chart" uri="{C3380CC4-5D6E-409C-BE32-E72D297353CC}">
              <c16:uniqueId val="{00000003-6A9C-D541-9B7E-170771824AC7}"/>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none"/>
        <c:minorTickMark val="none"/>
        <c:tickLblPos val="low"/>
        <c:spPr>
          <a:ln w="9525" cap="rnd">
            <a:solidFill>
              <a:srgbClr val="5E6B7A"/>
            </a:solidFill>
            <a:round/>
          </a:ln>
        </c:spPr>
        <c:crossAx val="20"/>
        <c:crosses val="autoZero"/>
        <c:auto val="1"/>
        <c:lblAlgn val="ctr"/>
        <c:lblOffset val="100"/>
        <c:noMultiLvlLbl val="0"/>
      </c:catAx>
      <c:valAx>
        <c:axId val="20"/>
        <c:scaling>
          <c:orientation val="minMax"/>
          <c:max val="36"/>
          <c:min val="24"/>
        </c:scaling>
        <c:delete val="0"/>
        <c:axPos val="l"/>
        <c:majorGridlines>
          <c:spPr>
            <a:ln w="9525" cap="rnd">
              <a:solidFill>
                <a:srgbClr val="E3E7EC"/>
              </a:solidFill>
              <a:round/>
            </a:ln>
          </c:spPr>
        </c:majorGridlines>
        <c:title>
          <c:tx>
            <c:rich>
              <a:bodyPr rot="-5400000" vert="horz"/>
              <a:lstStyle/>
              <a:p>
                <a:pPr>
                  <a:defRPr sz="900" b="0"/>
                </a:pPr>
                <a:r>
                  <a:rPr lang="ja-JP" sz="900" b="0"/>
                  <a:t>吸気温度［℃］</a:t>
                </a:r>
              </a:p>
            </c:rich>
          </c:tx>
          <c:overlay val="0"/>
        </c:title>
        <c:numFmt formatCode="0" sourceLinked="0"/>
        <c:majorTickMark val="out"/>
        <c:minorTickMark val="none"/>
        <c:tickLblPos val="nextTo"/>
        <c:spPr>
          <a:ln w="9525" cap="rnd">
            <a:solidFill>
              <a:srgbClr val="5E6B7A"/>
            </a:solidFill>
            <a:round/>
          </a:ln>
        </c:spPr>
        <c:crossAx val="10"/>
        <c:crosses val="autoZero"/>
        <c:crossBetween val="between"/>
        <c:majorUnit val="2"/>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
          <c:y val="0.05"/>
          <c:w val="0.76"/>
          <c:h val="0.72"/>
        </c:manualLayout>
      </c:layout>
      <c:lineChart>
        <c:grouping val="standard"/>
        <c:varyColors val="0"/>
        <c:ser>
          <c:idx val="0"/>
          <c:order val="0"/>
          <c:tx>
            <c:strRef>
              <c:f>'図15_分析8_晴れと曇り'!$G$1</c:f>
              <c:strCache>
                <c:ptCount val="1"/>
                <c:pt idx="0">
                  <c:v>列8</c:v>
                </c:pt>
              </c:strCache>
            </c:strRef>
          </c:tx>
          <c:spPr>
            <a:ln w="11430" cap="rnd">
              <a:solidFill>
                <a:srgbClr val="01B8AA"/>
              </a:solidFill>
              <a:round/>
            </a:ln>
          </c:spPr>
          <c:marker>
            <c:symbol val="none"/>
          </c:marker>
          <c:cat>
            <c:strRef>
              <c:f>'図15_分析8_晴れと曇り'!$B$2:$B$145</c:f>
              <c:strCache>
                <c:ptCount val="144"/>
                <c:pt idx="0">
                  <c:v>0:00</c:v>
                </c:pt>
                <c:pt idx="18">
                  <c:v>3:00</c:v>
                </c:pt>
                <c:pt idx="36">
                  <c:v>6:00</c:v>
                </c:pt>
                <c:pt idx="54">
                  <c:v>9:00</c:v>
                </c:pt>
                <c:pt idx="72">
                  <c:v>12:00</c:v>
                </c:pt>
                <c:pt idx="90">
                  <c:v>15:00</c:v>
                </c:pt>
                <c:pt idx="108">
                  <c:v>18:00</c:v>
                </c:pt>
                <c:pt idx="126">
                  <c:v>21:00</c:v>
                </c:pt>
              </c:strCache>
            </c:strRef>
          </c:cat>
          <c:val>
            <c:numRef>
              <c:f>'図15_分析8_晴れと曇り'!$G$2:$G$145</c:f>
              <c:numCache>
                <c:formatCode>General</c:formatCode>
                <c:ptCount val="144"/>
                <c:pt idx="0">
                  <c:v>9.4E-2</c:v>
                </c:pt>
                <c:pt idx="1">
                  <c:v>3.3000000000000002E-2</c:v>
                </c:pt>
                <c:pt idx="2">
                  <c:v>7.5999999999999998E-2</c:v>
                </c:pt>
                <c:pt idx="3">
                  <c:v>5.1999999999999998E-2</c:v>
                </c:pt>
                <c:pt idx="4">
                  <c:v>2.9000000000000001E-2</c:v>
                </c:pt>
                <c:pt idx="5">
                  <c:v>-0.04</c:v>
                </c:pt>
                <c:pt idx="6">
                  <c:v>4.8000000000000001E-2</c:v>
                </c:pt>
                <c:pt idx="7">
                  <c:v>4.8000000000000001E-2</c:v>
                </c:pt>
                <c:pt idx="8">
                  <c:v>6.2E-2</c:v>
                </c:pt>
                <c:pt idx="9">
                  <c:v>8.7999999999999995E-2</c:v>
                </c:pt>
                <c:pt idx="10">
                  <c:v>0.11799999999999999</c:v>
                </c:pt>
                <c:pt idx="11">
                  <c:v>0.156</c:v>
                </c:pt>
                <c:pt idx="12">
                  <c:v>0.113</c:v>
                </c:pt>
                <c:pt idx="13">
                  <c:v>5.8999999999999997E-2</c:v>
                </c:pt>
                <c:pt idx="14">
                  <c:v>6.6000000000000003E-2</c:v>
                </c:pt>
                <c:pt idx="15">
                  <c:v>6.3E-2</c:v>
                </c:pt>
                <c:pt idx="16">
                  <c:v>8.4000000000000005E-2</c:v>
                </c:pt>
                <c:pt idx="17">
                  <c:v>8.2000000000000003E-2</c:v>
                </c:pt>
                <c:pt idx="18">
                  <c:v>7.8E-2</c:v>
                </c:pt>
                <c:pt idx="19">
                  <c:v>9.6000000000000002E-2</c:v>
                </c:pt>
                <c:pt idx="20">
                  <c:v>0.109</c:v>
                </c:pt>
                <c:pt idx="21">
                  <c:v>9.0999999999999998E-2</c:v>
                </c:pt>
                <c:pt idx="22">
                  <c:v>3.1E-2</c:v>
                </c:pt>
                <c:pt idx="23">
                  <c:v>3.1E-2</c:v>
                </c:pt>
                <c:pt idx="24">
                  <c:v>4.2000000000000003E-2</c:v>
                </c:pt>
                <c:pt idx="25">
                  <c:v>6.9000000000000006E-2</c:v>
                </c:pt>
                <c:pt idx="26">
                  <c:v>1.7999999999999999E-2</c:v>
                </c:pt>
                <c:pt idx="27">
                  <c:v>0.10299999999999999</c:v>
                </c:pt>
                <c:pt idx="28">
                  <c:v>7.0999999999999994E-2</c:v>
                </c:pt>
                <c:pt idx="29">
                  <c:v>6.3E-2</c:v>
                </c:pt>
                <c:pt idx="30">
                  <c:v>0.13800000000000001</c:v>
                </c:pt>
                <c:pt idx="31">
                  <c:v>0.13700000000000001</c:v>
                </c:pt>
                <c:pt idx="32">
                  <c:v>0.06</c:v>
                </c:pt>
                <c:pt idx="33">
                  <c:v>6.9000000000000006E-2</c:v>
                </c:pt>
                <c:pt idx="34">
                  <c:v>0.06</c:v>
                </c:pt>
                <c:pt idx="35">
                  <c:v>-2.4E-2</c:v>
                </c:pt>
                <c:pt idx="36">
                  <c:v>-8.3000000000000004E-2</c:v>
                </c:pt>
                <c:pt idx="37">
                  <c:v>-0.14399999999999999</c:v>
                </c:pt>
                <c:pt idx="38">
                  <c:v>-1.4E-2</c:v>
                </c:pt>
                <c:pt idx="39">
                  <c:v>-0.123</c:v>
                </c:pt>
                <c:pt idx="40">
                  <c:v>-9.1999999999999998E-2</c:v>
                </c:pt>
                <c:pt idx="41">
                  <c:v>6.4000000000000001E-2</c:v>
                </c:pt>
                <c:pt idx="42">
                  <c:v>0.247</c:v>
                </c:pt>
                <c:pt idx="43">
                  <c:v>0.41799999999999998</c:v>
                </c:pt>
                <c:pt idx="44">
                  <c:v>7.2999999999999995E-2</c:v>
                </c:pt>
                <c:pt idx="45">
                  <c:v>0.253</c:v>
                </c:pt>
                <c:pt idx="46">
                  <c:v>0.11899999999999999</c:v>
                </c:pt>
                <c:pt idx="47">
                  <c:v>0.189</c:v>
                </c:pt>
                <c:pt idx="48">
                  <c:v>0.64100000000000001</c:v>
                </c:pt>
                <c:pt idx="49">
                  <c:v>-7.0999999999999994E-2</c:v>
                </c:pt>
                <c:pt idx="50">
                  <c:v>-0.31900000000000001</c:v>
                </c:pt>
                <c:pt idx="51">
                  <c:v>-0.63200000000000001</c:v>
                </c:pt>
                <c:pt idx="52">
                  <c:v>-9.8000000000000004E-2</c:v>
                </c:pt>
                <c:pt idx="53">
                  <c:v>-0.23400000000000001</c:v>
                </c:pt>
                <c:pt idx="54">
                  <c:v>-0.121</c:v>
                </c:pt>
                <c:pt idx="55">
                  <c:v>-0.36099999999999999</c:v>
                </c:pt>
                <c:pt idx="56">
                  <c:v>-5.8999999999999997E-2</c:v>
                </c:pt>
                <c:pt idx="57">
                  <c:v>-0.66700000000000004</c:v>
                </c:pt>
                <c:pt idx="58">
                  <c:v>5.0999999999999997E-2</c:v>
                </c:pt>
                <c:pt idx="59">
                  <c:v>0.15</c:v>
                </c:pt>
                <c:pt idx="60">
                  <c:v>-0.28199999999999997</c:v>
                </c:pt>
                <c:pt idx="61">
                  <c:v>-0.36799999999999999</c:v>
                </c:pt>
                <c:pt idx="62">
                  <c:v>-0.112</c:v>
                </c:pt>
                <c:pt idx="63">
                  <c:v>0.30199999999999999</c:v>
                </c:pt>
                <c:pt idx="64">
                  <c:v>-0.109</c:v>
                </c:pt>
                <c:pt idx="65">
                  <c:v>-7.1999999999999995E-2</c:v>
                </c:pt>
                <c:pt idx="66">
                  <c:v>6.8000000000000005E-2</c:v>
                </c:pt>
                <c:pt idx="67">
                  <c:v>8.2000000000000003E-2</c:v>
                </c:pt>
                <c:pt idx="68">
                  <c:v>0.502</c:v>
                </c:pt>
                <c:pt idx="69">
                  <c:v>0.93600000000000005</c:v>
                </c:pt>
                <c:pt idx="70">
                  <c:v>1.0900000000000001</c:v>
                </c:pt>
                <c:pt idx="71">
                  <c:v>1.546</c:v>
                </c:pt>
                <c:pt idx="72">
                  <c:v>1.734</c:v>
                </c:pt>
                <c:pt idx="73">
                  <c:v>0.86699999999999999</c:v>
                </c:pt>
                <c:pt idx="74">
                  <c:v>0.871</c:v>
                </c:pt>
                <c:pt idx="75">
                  <c:v>1.37</c:v>
                </c:pt>
                <c:pt idx="76">
                  <c:v>0.93</c:v>
                </c:pt>
                <c:pt idx="77">
                  <c:v>-0.25900000000000001</c:v>
                </c:pt>
                <c:pt idx="78">
                  <c:v>0.307</c:v>
                </c:pt>
                <c:pt idx="79">
                  <c:v>-8.5999999999999993E-2</c:v>
                </c:pt>
                <c:pt idx="80">
                  <c:v>-2.5999999999999999E-2</c:v>
                </c:pt>
                <c:pt idx="81">
                  <c:v>5.1999999999999998E-2</c:v>
                </c:pt>
                <c:pt idx="82">
                  <c:v>0.436</c:v>
                </c:pt>
                <c:pt idx="83">
                  <c:v>0.28799999999999998</c:v>
                </c:pt>
                <c:pt idx="84">
                  <c:v>-0.247</c:v>
                </c:pt>
                <c:pt idx="85">
                  <c:v>0.84799999999999998</c:v>
                </c:pt>
                <c:pt idx="86">
                  <c:v>-2.1000000000000001E-2</c:v>
                </c:pt>
                <c:pt idx="87">
                  <c:v>0.189</c:v>
                </c:pt>
                <c:pt idx="88">
                  <c:v>0.44</c:v>
                </c:pt>
                <c:pt idx="89">
                  <c:v>0.254</c:v>
                </c:pt>
                <c:pt idx="90">
                  <c:v>0.627</c:v>
                </c:pt>
                <c:pt idx="91">
                  <c:v>0.70099999999999996</c:v>
                </c:pt>
                <c:pt idx="92">
                  <c:v>0.58799999999999997</c:v>
                </c:pt>
                <c:pt idx="93">
                  <c:v>0.64900000000000002</c:v>
                </c:pt>
                <c:pt idx="94">
                  <c:v>0.37</c:v>
                </c:pt>
                <c:pt idx="95">
                  <c:v>-0.311</c:v>
                </c:pt>
                <c:pt idx="96">
                  <c:v>0.20300000000000001</c:v>
                </c:pt>
                <c:pt idx="97">
                  <c:v>0.27</c:v>
                </c:pt>
                <c:pt idx="98">
                  <c:v>0.20599999999999999</c:v>
                </c:pt>
                <c:pt idx="99">
                  <c:v>0.28799999999999998</c:v>
                </c:pt>
                <c:pt idx="100">
                  <c:v>7.6999999999999999E-2</c:v>
                </c:pt>
                <c:pt idx="101">
                  <c:v>-0.13</c:v>
                </c:pt>
                <c:pt idx="102">
                  <c:v>-0.19600000000000001</c:v>
                </c:pt>
                <c:pt idx="103">
                  <c:v>-0.32300000000000001</c:v>
                </c:pt>
                <c:pt idx="104">
                  <c:v>-2.8000000000000001E-2</c:v>
                </c:pt>
                <c:pt idx="105">
                  <c:v>0.10100000000000001</c:v>
                </c:pt>
                <c:pt idx="106">
                  <c:v>0.10100000000000001</c:v>
                </c:pt>
                <c:pt idx="107">
                  <c:v>0.161</c:v>
                </c:pt>
                <c:pt idx="108">
                  <c:v>-0.28899999999999998</c:v>
                </c:pt>
                <c:pt idx="109">
                  <c:v>-0.45200000000000001</c:v>
                </c:pt>
                <c:pt idx="110">
                  <c:v>-0.55700000000000005</c:v>
                </c:pt>
                <c:pt idx="111">
                  <c:v>-0.42899999999999999</c:v>
                </c:pt>
                <c:pt idx="112">
                  <c:v>-0.48899999999999999</c:v>
                </c:pt>
                <c:pt idx="113">
                  <c:v>-0.55100000000000005</c:v>
                </c:pt>
                <c:pt idx="114">
                  <c:v>-0.432</c:v>
                </c:pt>
                <c:pt idx="115">
                  <c:v>-0.46899999999999997</c:v>
                </c:pt>
                <c:pt idx="116">
                  <c:v>-0.49</c:v>
                </c:pt>
                <c:pt idx="117">
                  <c:v>-0.45300000000000001</c:v>
                </c:pt>
                <c:pt idx="118">
                  <c:v>-0.50600000000000001</c:v>
                </c:pt>
                <c:pt idx="119">
                  <c:v>-0.54600000000000004</c:v>
                </c:pt>
                <c:pt idx="120">
                  <c:v>-0.30399999999999999</c:v>
                </c:pt>
                <c:pt idx="121">
                  <c:v>-0.33600000000000002</c:v>
                </c:pt>
                <c:pt idx="122">
                  <c:v>-0.36099999999999999</c:v>
                </c:pt>
                <c:pt idx="123">
                  <c:v>-0.29399999999999998</c:v>
                </c:pt>
                <c:pt idx="124">
                  <c:v>-0.34100000000000003</c:v>
                </c:pt>
                <c:pt idx="125">
                  <c:v>-0.219</c:v>
                </c:pt>
                <c:pt idx="126">
                  <c:v>-0.158</c:v>
                </c:pt>
                <c:pt idx="127">
                  <c:v>-7.1999999999999995E-2</c:v>
                </c:pt>
                <c:pt idx="128">
                  <c:v>-2.5999999999999999E-2</c:v>
                </c:pt>
                <c:pt idx="129">
                  <c:v>-0.126</c:v>
                </c:pt>
                <c:pt idx="130">
                  <c:v>-0.14199999999999999</c:v>
                </c:pt>
                <c:pt idx="131">
                  <c:v>2.1000000000000001E-2</c:v>
                </c:pt>
                <c:pt idx="132">
                  <c:v>-7.6999999999999999E-2</c:v>
                </c:pt>
                <c:pt idx="133">
                  <c:v>-0.68600000000000005</c:v>
                </c:pt>
                <c:pt idx="134">
                  <c:v>-0.36299999999999999</c:v>
                </c:pt>
                <c:pt idx="135">
                  <c:v>-0.123</c:v>
                </c:pt>
                <c:pt idx="136">
                  <c:v>-5.1999999999999998E-2</c:v>
                </c:pt>
                <c:pt idx="137">
                  <c:v>-4.7E-2</c:v>
                </c:pt>
                <c:pt idx="138">
                  <c:v>-8.3000000000000004E-2</c:v>
                </c:pt>
                <c:pt idx="139">
                  <c:v>-5.3999999999999999E-2</c:v>
                </c:pt>
                <c:pt idx="140">
                  <c:v>-1.2E-2</c:v>
                </c:pt>
                <c:pt idx="141">
                  <c:v>-7.5999999999999998E-2</c:v>
                </c:pt>
                <c:pt idx="142">
                  <c:v>-6.3E-2</c:v>
                </c:pt>
                <c:pt idx="143">
                  <c:v>-0.14699999999999999</c:v>
                </c:pt>
              </c:numCache>
            </c:numRef>
          </c:val>
          <c:smooth val="0"/>
          <c:extLst>
            <c:ext xmlns:c16="http://schemas.microsoft.com/office/drawing/2014/chart" uri="{C3380CC4-5D6E-409C-BE32-E72D297353CC}">
              <c16:uniqueId val="{00000000-19FF-A347-9294-C55937E0A65F}"/>
            </c:ext>
          </c:extLst>
        </c:ser>
        <c:ser>
          <c:idx val="1"/>
          <c:order val="1"/>
          <c:tx>
            <c:strRef>
              <c:f>'図15_分析8_晴れと曇り'!$H$1</c:f>
              <c:strCache>
                <c:ptCount val="1"/>
                <c:pt idx="0">
                  <c:v>列11</c:v>
                </c:pt>
              </c:strCache>
            </c:strRef>
          </c:tx>
          <c:spPr>
            <a:ln w="11430" cap="rnd">
              <a:solidFill>
                <a:srgbClr val="118DFF"/>
              </a:solidFill>
              <a:round/>
            </a:ln>
          </c:spPr>
          <c:marker>
            <c:symbol val="none"/>
          </c:marker>
          <c:cat>
            <c:strRef>
              <c:f>'図15_分析8_晴れと曇り'!$B$2:$B$145</c:f>
              <c:strCache>
                <c:ptCount val="144"/>
                <c:pt idx="0">
                  <c:v>0:00</c:v>
                </c:pt>
                <c:pt idx="18">
                  <c:v>3:00</c:v>
                </c:pt>
                <c:pt idx="36">
                  <c:v>6:00</c:v>
                </c:pt>
                <c:pt idx="54">
                  <c:v>9:00</c:v>
                </c:pt>
                <c:pt idx="72">
                  <c:v>12:00</c:v>
                </c:pt>
                <c:pt idx="90">
                  <c:v>15:00</c:v>
                </c:pt>
                <c:pt idx="108">
                  <c:v>18:00</c:v>
                </c:pt>
                <c:pt idx="126">
                  <c:v>21:00</c:v>
                </c:pt>
              </c:strCache>
            </c:strRef>
          </c:cat>
          <c:val>
            <c:numRef>
              <c:f>'図15_分析8_晴れと曇り'!$H$2:$H$145</c:f>
              <c:numCache>
                <c:formatCode>General</c:formatCode>
                <c:ptCount val="144"/>
                <c:pt idx="0">
                  <c:v>2.5999999999999999E-2</c:v>
                </c:pt>
                <c:pt idx="1">
                  <c:v>-2.5999999999999999E-2</c:v>
                </c:pt>
                <c:pt idx="2">
                  <c:v>-2E-3</c:v>
                </c:pt>
                <c:pt idx="3">
                  <c:v>-2.4E-2</c:v>
                </c:pt>
                <c:pt idx="4">
                  <c:v>-3.9E-2</c:v>
                </c:pt>
                <c:pt idx="5">
                  <c:v>-0.05</c:v>
                </c:pt>
                <c:pt idx="6">
                  <c:v>-4.0000000000000001E-3</c:v>
                </c:pt>
                <c:pt idx="7">
                  <c:v>2.1000000000000001E-2</c:v>
                </c:pt>
                <c:pt idx="8">
                  <c:v>5.0000000000000001E-3</c:v>
                </c:pt>
                <c:pt idx="9">
                  <c:v>2.1000000000000001E-2</c:v>
                </c:pt>
                <c:pt idx="10">
                  <c:v>3.9E-2</c:v>
                </c:pt>
                <c:pt idx="11">
                  <c:v>8.1000000000000003E-2</c:v>
                </c:pt>
                <c:pt idx="12">
                  <c:v>0.06</c:v>
                </c:pt>
                <c:pt idx="13">
                  <c:v>3.1E-2</c:v>
                </c:pt>
                <c:pt idx="14">
                  <c:v>4.1000000000000002E-2</c:v>
                </c:pt>
                <c:pt idx="15">
                  <c:v>4.8000000000000001E-2</c:v>
                </c:pt>
                <c:pt idx="16">
                  <c:v>0.10199999999999999</c:v>
                </c:pt>
                <c:pt idx="17">
                  <c:v>7.4999999999999997E-2</c:v>
                </c:pt>
                <c:pt idx="18">
                  <c:v>8.5999999999999993E-2</c:v>
                </c:pt>
                <c:pt idx="19">
                  <c:v>0.107</c:v>
                </c:pt>
                <c:pt idx="20">
                  <c:v>9.1999999999999998E-2</c:v>
                </c:pt>
                <c:pt idx="21">
                  <c:v>0.1</c:v>
                </c:pt>
                <c:pt idx="22">
                  <c:v>6.6000000000000003E-2</c:v>
                </c:pt>
                <c:pt idx="23">
                  <c:v>6.3E-2</c:v>
                </c:pt>
                <c:pt idx="24">
                  <c:v>8.5000000000000006E-2</c:v>
                </c:pt>
                <c:pt idx="25">
                  <c:v>9.1999999999999998E-2</c:v>
                </c:pt>
                <c:pt idx="26">
                  <c:v>3.7999999999999999E-2</c:v>
                </c:pt>
                <c:pt idx="27">
                  <c:v>0.11700000000000001</c:v>
                </c:pt>
                <c:pt idx="28">
                  <c:v>7.4999999999999997E-2</c:v>
                </c:pt>
                <c:pt idx="29">
                  <c:v>5.2999999999999999E-2</c:v>
                </c:pt>
                <c:pt idx="30">
                  <c:v>7.2999999999999995E-2</c:v>
                </c:pt>
                <c:pt idx="31">
                  <c:v>8.1000000000000003E-2</c:v>
                </c:pt>
                <c:pt idx="32">
                  <c:v>1.9E-2</c:v>
                </c:pt>
                <c:pt idx="33">
                  <c:v>2.8000000000000001E-2</c:v>
                </c:pt>
                <c:pt idx="34">
                  <c:v>7.4999999999999997E-2</c:v>
                </c:pt>
                <c:pt idx="35">
                  <c:v>-6.4000000000000001E-2</c:v>
                </c:pt>
                <c:pt idx="36">
                  <c:v>-0.14499999999999999</c:v>
                </c:pt>
                <c:pt idx="37">
                  <c:v>-0.19800000000000001</c:v>
                </c:pt>
                <c:pt idx="38">
                  <c:v>-0.122</c:v>
                </c:pt>
                <c:pt idx="39">
                  <c:v>-0.121</c:v>
                </c:pt>
                <c:pt idx="40">
                  <c:v>-0.13100000000000001</c:v>
                </c:pt>
                <c:pt idx="41">
                  <c:v>1.0999999999999999E-2</c:v>
                </c:pt>
                <c:pt idx="42">
                  <c:v>0.155</c:v>
                </c:pt>
                <c:pt idx="43">
                  <c:v>0.23799999999999999</c:v>
                </c:pt>
                <c:pt idx="44">
                  <c:v>8.5999999999999993E-2</c:v>
                </c:pt>
                <c:pt idx="45">
                  <c:v>-0.107</c:v>
                </c:pt>
                <c:pt idx="46">
                  <c:v>-4.5999999999999999E-2</c:v>
                </c:pt>
                <c:pt idx="47">
                  <c:v>-0.25</c:v>
                </c:pt>
                <c:pt idx="48">
                  <c:v>-0.16800000000000001</c:v>
                </c:pt>
                <c:pt idx="49">
                  <c:v>-2.4E-2</c:v>
                </c:pt>
                <c:pt idx="50">
                  <c:v>-0.25</c:v>
                </c:pt>
                <c:pt idx="51">
                  <c:v>-0.81899999999999995</c:v>
                </c:pt>
                <c:pt idx="52">
                  <c:v>-0.83099999999999996</c:v>
                </c:pt>
                <c:pt idx="53">
                  <c:v>-0.79700000000000004</c:v>
                </c:pt>
                <c:pt idx="54">
                  <c:v>-0.497</c:v>
                </c:pt>
                <c:pt idx="55">
                  <c:v>-0.80900000000000005</c:v>
                </c:pt>
                <c:pt idx="56">
                  <c:v>-0.26600000000000001</c:v>
                </c:pt>
                <c:pt idx="57">
                  <c:v>-0.69799999999999995</c:v>
                </c:pt>
                <c:pt idx="58">
                  <c:v>5.3999999999999999E-2</c:v>
                </c:pt>
                <c:pt idx="59">
                  <c:v>0.27300000000000002</c:v>
                </c:pt>
                <c:pt idx="60">
                  <c:v>1.4E-2</c:v>
                </c:pt>
                <c:pt idx="61">
                  <c:v>-0.49299999999999999</c:v>
                </c:pt>
                <c:pt idx="62">
                  <c:v>-0.77500000000000002</c:v>
                </c:pt>
                <c:pt idx="63">
                  <c:v>1.7000000000000001E-2</c:v>
                </c:pt>
                <c:pt idx="64">
                  <c:v>-0.58499999999999996</c:v>
                </c:pt>
                <c:pt idx="65">
                  <c:v>-0.58899999999999997</c:v>
                </c:pt>
                <c:pt idx="66">
                  <c:v>-0.115</c:v>
                </c:pt>
                <c:pt idx="67">
                  <c:v>-7.4999999999999997E-2</c:v>
                </c:pt>
                <c:pt idx="68">
                  <c:v>0.18</c:v>
                </c:pt>
                <c:pt idx="69">
                  <c:v>0.24099999999999999</c:v>
                </c:pt>
                <c:pt idx="70">
                  <c:v>0.38900000000000001</c:v>
                </c:pt>
                <c:pt idx="71">
                  <c:v>0.86299999999999999</c:v>
                </c:pt>
                <c:pt idx="72">
                  <c:v>0.97399999999999998</c:v>
                </c:pt>
                <c:pt idx="73">
                  <c:v>0.13700000000000001</c:v>
                </c:pt>
                <c:pt idx="74">
                  <c:v>0.154</c:v>
                </c:pt>
                <c:pt idx="75">
                  <c:v>0.57599999999999996</c:v>
                </c:pt>
                <c:pt idx="76">
                  <c:v>0.56999999999999995</c:v>
                </c:pt>
                <c:pt idx="77">
                  <c:v>-0.94099999999999995</c:v>
                </c:pt>
                <c:pt idx="78">
                  <c:v>0.14499999999999999</c:v>
                </c:pt>
                <c:pt idx="79">
                  <c:v>-0.40899999999999997</c:v>
                </c:pt>
                <c:pt idx="80">
                  <c:v>-0.27</c:v>
                </c:pt>
                <c:pt idx="81">
                  <c:v>-0.35</c:v>
                </c:pt>
                <c:pt idx="82">
                  <c:v>-0.44400000000000001</c:v>
                </c:pt>
                <c:pt idx="83">
                  <c:v>-0.17399999999999999</c:v>
                </c:pt>
                <c:pt idx="84">
                  <c:v>-0.435</c:v>
                </c:pt>
                <c:pt idx="85">
                  <c:v>0.42899999999999999</c:v>
                </c:pt>
                <c:pt idx="86">
                  <c:v>-0.29199999999999998</c:v>
                </c:pt>
                <c:pt idx="87">
                  <c:v>9.4E-2</c:v>
                </c:pt>
                <c:pt idx="88">
                  <c:v>1.0999999999999999E-2</c:v>
                </c:pt>
                <c:pt idx="89">
                  <c:v>-0.10100000000000001</c:v>
                </c:pt>
                <c:pt idx="90">
                  <c:v>0.54100000000000004</c:v>
                </c:pt>
                <c:pt idx="91">
                  <c:v>0.497</c:v>
                </c:pt>
                <c:pt idx="92">
                  <c:v>0.51900000000000002</c:v>
                </c:pt>
                <c:pt idx="93">
                  <c:v>0.45</c:v>
                </c:pt>
                <c:pt idx="94">
                  <c:v>0.22500000000000001</c:v>
                </c:pt>
                <c:pt idx="95">
                  <c:v>-0.41799999999999998</c:v>
                </c:pt>
                <c:pt idx="96">
                  <c:v>0.13900000000000001</c:v>
                </c:pt>
                <c:pt idx="97">
                  <c:v>0.05</c:v>
                </c:pt>
                <c:pt idx="98">
                  <c:v>-0.19</c:v>
                </c:pt>
                <c:pt idx="99">
                  <c:v>-7.1999999999999995E-2</c:v>
                </c:pt>
                <c:pt idx="100">
                  <c:v>-0.16</c:v>
                </c:pt>
                <c:pt idx="101">
                  <c:v>-0.42399999999999999</c:v>
                </c:pt>
                <c:pt idx="102">
                  <c:v>-0.32300000000000001</c:v>
                </c:pt>
                <c:pt idx="103">
                  <c:v>-0.45700000000000002</c:v>
                </c:pt>
                <c:pt idx="104">
                  <c:v>-0.129</c:v>
                </c:pt>
                <c:pt idx="105">
                  <c:v>9.7000000000000003E-2</c:v>
                </c:pt>
                <c:pt idx="106">
                  <c:v>-2.3E-2</c:v>
                </c:pt>
                <c:pt idx="107">
                  <c:v>7.9000000000000001E-2</c:v>
                </c:pt>
                <c:pt idx="108">
                  <c:v>-0.21099999999999999</c:v>
                </c:pt>
                <c:pt idx="109">
                  <c:v>-0.45800000000000002</c:v>
                </c:pt>
                <c:pt idx="110">
                  <c:v>-0.373</c:v>
                </c:pt>
                <c:pt idx="111">
                  <c:v>-0.32600000000000001</c:v>
                </c:pt>
                <c:pt idx="112">
                  <c:v>-0.28000000000000003</c:v>
                </c:pt>
                <c:pt idx="113">
                  <c:v>-0.29599999999999999</c:v>
                </c:pt>
                <c:pt idx="114">
                  <c:v>-8.9999999999999993E-3</c:v>
                </c:pt>
                <c:pt idx="115">
                  <c:v>-7.9000000000000001E-2</c:v>
                </c:pt>
                <c:pt idx="116">
                  <c:v>-0.17499999999999999</c:v>
                </c:pt>
                <c:pt idx="117">
                  <c:v>-0.27500000000000002</c:v>
                </c:pt>
                <c:pt idx="118">
                  <c:v>-0.39700000000000002</c:v>
                </c:pt>
                <c:pt idx="119">
                  <c:v>-0.48499999999999999</c:v>
                </c:pt>
                <c:pt idx="120">
                  <c:v>-0.23400000000000001</c:v>
                </c:pt>
                <c:pt idx="121">
                  <c:v>-0.28399999999999997</c:v>
                </c:pt>
                <c:pt idx="122">
                  <c:v>-0.34200000000000003</c:v>
                </c:pt>
                <c:pt idx="123">
                  <c:v>-0.34699999999999998</c:v>
                </c:pt>
                <c:pt idx="124">
                  <c:v>-0.52100000000000002</c:v>
                </c:pt>
                <c:pt idx="125">
                  <c:v>-0.36199999999999999</c:v>
                </c:pt>
                <c:pt idx="126">
                  <c:v>-0.25</c:v>
                </c:pt>
                <c:pt idx="127">
                  <c:v>-0.16</c:v>
                </c:pt>
                <c:pt idx="128">
                  <c:v>-0.107</c:v>
                </c:pt>
                <c:pt idx="129">
                  <c:v>-0.23400000000000001</c:v>
                </c:pt>
                <c:pt idx="130">
                  <c:v>-0.24199999999999999</c:v>
                </c:pt>
                <c:pt idx="131">
                  <c:v>-0.215</c:v>
                </c:pt>
                <c:pt idx="132">
                  <c:v>-0.36899999999999999</c:v>
                </c:pt>
                <c:pt idx="133">
                  <c:v>-0.999</c:v>
                </c:pt>
                <c:pt idx="134">
                  <c:v>-0.56999999999999995</c:v>
                </c:pt>
                <c:pt idx="135">
                  <c:v>-0.30099999999999999</c:v>
                </c:pt>
                <c:pt idx="136">
                  <c:v>-0.188</c:v>
                </c:pt>
                <c:pt idx="137">
                  <c:v>-0.156</c:v>
                </c:pt>
                <c:pt idx="138">
                  <c:v>-0.154</c:v>
                </c:pt>
                <c:pt idx="139">
                  <c:v>-0.13300000000000001</c:v>
                </c:pt>
                <c:pt idx="140">
                  <c:v>-8.8999999999999996E-2</c:v>
                </c:pt>
                <c:pt idx="141">
                  <c:v>-0.111</c:v>
                </c:pt>
                <c:pt idx="142">
                  <c:v>-8.1000000000000003E-2</c:v>
                </c:pt>
                <c:pt idx="143">
                  <c:v>-0.13600000000000001</c:v>
                </c:pt>
              </c:numCache>
            </c:numRef>
          </c:val>
          <c:smooth val="0"/>
          <c:extLst>
            <c:ext xmlns:c16="http://schemas.microsoft.com/office/drawing/2014/chart" uri="{C3380CC4-5D6E-409C-BE32-E72D297353CC}">
              <c16:uniqueId val="{00000001-19FF-A347-9294-C55937E0A65F}"/>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none"/>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2"/>
          <c:min val="-1.5"/>
        </c:scaling>
        <c:delete val="0"/>
        <c:axPos val="l"/>
        <c:majorGridlines>
          <c:spPr>
            <a:ln w="9525" cap="rnd">
              <a:solidFill>
                <a:srgbClr val="E3E7EC"/>
              </a:solidFill>
              <a:round/>
            </a:ln>
          </c:spPr>
        </c:majorGridlines>
        <c:title>
          <c:tx>
            <c:rich>
              <a:bodyPr rot="-5400000" vert="horz"/>
              <a:lstStyle/>
              <a:p>
                <a:pPr>
                  <a:defRPr sz="900" b="0"/>
                </a:pPr>
                <a:r>
                  <a:rPr lang="ja-JP" sz="900" b="0"/>
                  <a:t>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5"/>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
          <c:y val="0.05"/>
          <c:w val="0.76"/>
          <c:h val="0.72"/>
        </c:manualLayout>
      </c:layout>
      <c:lineChart>
        <c:grouping val="standard"/>
        <c:varyColors val="0"/>
        <c:ser>
          <c:idx val="0"/>
          <c:order val="0"/>
          <c:tx>
            <c:strRef>
              <c:f>'図15_分析8_晴れと曇り'!$M$1</c:f>
              <c:strCache>
                <c:ptCount val="1"/>
                <c:pt idx="0">
                  <c:v>列8</c:v>
                </c:pt>
              </c:strCache>
            </c:strRef>
          </c:tx>
          <c:spPr>
            <a:ln w="11430" cap="rnd">
              <a:solidFill>
                <a:srgbClr val="01B8AA"/>
              </a:solidFill>
              <a:round/>
            </a:ln>
          </c:spPr>
          <c:marker>
            <c:symbol val="none"/>
          </c:marker>
          <c:cat>
            <c:strRef>
              <c:f>'図15_分析8_晴れと曇り'!$B$2:$B$145</c:f>
              <c:strCache>
                <c:ptCount val="144"/>
                <c:pt idx="0">
                  <c:v>0:00</c:v>
                </c:pt>
                <c:pt idx="18">
                  <c:v>3:00</c:v>
                </c:pt>
                <c:pt idx="36">
                  <c:v>6:00</c:v>
                </c:pt>
                <c:pt idx="54">
                  <c:v>9:00</c:v>
                </c:pt>
                <c:pt idx="72">
                  <c:v>12:00</c:v>
                </c:pt>
                <c:pt idx="90">
                  <c:v>15:00</c:v>
                </c:pt>
                <c:pt idx="108">
                  <c:v>18:00</c:v>
                </c:pt>
                <c:pt idx="126">
                  <c:v>21:00</c:v>
                </c:pt>
              </c:strCache>
            </c:strRef>
          </c:cat>
          <c:val>
            <c:numRef>
              <c:f>'図15_分析8_晴れと曇り'!$M$2:$M$145</c:f>
              <c:numCache>
                <c:formatCode>General</c:formatCode>
                <c:ptCount val="144"/>
                <c:pt idx="0">
                  <c:v>-1.7999999999999999E-2</c:v>
                </c:pt>
                <c:pt idx="1">
                  <c:v>-1.2999999999999999E-2</c:v>
                </c:pt>
                <c:pt idx="2">
                  <c:v>-6.7000000000000004E-2</c:v>
                </c:pt>
                <c:pt idx="3">
                  <c:v>-1E-3</c:v>
                </c:pt>
                <c:pt idx="4">
                  <c:v>3.0000000000000001E-3</c:v>
                </c:pt>
                <c:pt idx="5">
                  <c:v>-4.2000000000000003E-2</c:v>
                </c:pt>
                <c:pt idx="6">
                  <c:v>-9.0999999999999998E-2</c:v>
                </c:pt>
                <c:pt idx="7">
                  <c:v>-9.4E-2</c:v>
                </c:pt>
                <c:pt idx="8">
                  <c:v>-9.0999999999999998E-2</c:v>
                </c:pt>
                <c:pt idx="9">
                  <c:v>1.6E-2</c:v>
                </c:pt>
                <c:pt idx="10">
                  <c:v>-6.0000000000000001E-3</c:v>
                </c:pt>
                <c:pt idx="11">
                  <c:v>-2.4E-2</c:v>
                </c:pt>
                <c:pt idx="12">
                  <c:v>-0.08</c:v>
                </c:pt>
                <c:pt idx="13">
                  <c:v>-9.6000000000000002E-2</c:v>
                </c:pt>
                <c:pt idx="14">
                  <c:v>-6.8000000000000005E-2</c:v>
                </c:pt>
                <c:pt idx="15">
                  <c:v>-7.9000000000000001E-2</c:v>
                </c:pt>
                <c:pt idx="16">
                  <c:v>-2.5999999999999999E-2</c:v>
                </c:pt>
                <c:pt idx="17">
                  <c:v>2.9000000000000001E-2</c:v>
                </c:pt>
                <c:pt idx="18">
                  <c:v>0.06</c:v>
                </c:pt>
                <c:pt idx="19">
                  <c:v>5.7000000000000002E-2</c:v>
                </c:pt>
                <c:pt idx="20">
                  <c:v>1.2999999999999999E-2</c:v>
                </c:pt>
                <c:pt idx="21">
                  <c:v>4.9000000000000002E-2</c:v>
                </c:pt>
                <c:pt idx="22">
                  <c:v>6.3E-2</c:v>
                </c:pt>
                <c:pt idx="23">
                  <c:v>8.6999999999999994E-2</c:v>
                </c:pt>
                <c:pt idx="24">
                  <c:v>6.7000000000000004E-2</c:v>
                </c:pt>
                <c:pt idx="25">
                  <c:v>7.0999999999999994E-2</c:v>
                </c:pt>
                <c:pt idx="26">
                  <c:v>5.7000000000000002E-2</c:v>
                </c:pt>
                <c:pt idx="27">
                  <c:v>5.6000000000000001E-2</c:v>
                </c:pt>
                <c:pt idx="28">
                  <c:v>2.1000000000000001E-2</c:v>
                </c:pt>
                <c:pt idx="29">
                  <c:v>7.0000000000000001E-3</c:v>
                </c:pt>
                <c:pt idx="30">
                  <c:v>1.9E-2</c:v>
                </c:pt>
                <c:pt idx="31">
                  <c:v>1E-3</c:v>
                </c:pt>
                <c:pt idx="32">
                  <c:v>-3.2000000000000001E-2</c:v>
                </c:pt>
                <c:pt idx="33">
                  <c:v>-5.8999999999999997E-2</c:v>
                </c:pt>
                <c:pt idx="34">
                  <c:v>-6.6000000000000003E-2</c:v>
                </c:pt>
                <c:pt idx="35">
                  <c:v>-5.8000000000000003E-2</c:v>
                </c:pt>
                <c:pt idx="36">
                  <c:v>-0.14299999999999999</c:v>
                </c:pt>
                <c:pt idx="37">
                  <c:v>-0.19</c:v>
                </c:pt>
                <c:pt idx="38">
                  <c:v>-0.222</c:v>
                </c:pt>
                <c:pt idx="39">
                  <c:v>-0.184</c:v>
                </c:pt>
                <c:pt idx="40">
                  <c:v>-0.251</c:v>
                </c:pt>
                <c:pt idx="41">
                  <c:v>-0.27800000000000002</c:v>
                </c:pt>
                <c:pt idx="42">
                  <c:v>6.4000000000000001E-2</c:v>
                </c:pt>
                <c:pt idx="43">
                  <c:v>0.14899999999999999</c:v>
                </c:pt>
                <c:pt idx="44">
                  <c:v>0.39</c:v>
                </c:pt>
                <c:pt idx="45">
                  <c:v>1.7999999999999999E-2</c:v>
                </c:pt>
                <c:pt idx="46">
                  <c:v>9.7000000000000003E-2</c:v>
                </c:pt>
                <c:pt idx="47">
                  <c:v>-0.217</c:v>
                </c:pt>
                <c:pt idx="48">
                  <c:v>-0.55900000000000005</c:v>
                </c:pt>
                <c:pt idx="49">
                  <c:v>-0.65200000000000002</c:v>
                </c:pt>
                <c:pt idx="50">
                  <c:v>-0.67600000000000005</c:v>
                </c:pt>
                <c:pt idx="51">
                  <c:v>-0.41</c:v>
                </c:pt>
                <c:pt idx="52">
                  <c:v>-0.36</c:v>
                </c:pt>
                <c:pt idx="53">
                  <c:v>-0.47399999999999998</c:v>
                </c:pt>
                <c:pt idx="54">
                  <c:v>-0.85899999999999999</c:v>
                </c:pt>
                <c:pt idx="55">
                  <c:v>-0.64300000000000002</c:v>
                </c:pt>
                <c:pt idx="56">
                  <c:v>-0.22600000000000001</c:v>
                </c:pt>
                <c:pt idx="57">
                  <c:v>-0.48699999999999999</c:v>
                </c:pt>
                <c:pt idx="58">
                  <c:v>-0.45</c:v>
                </c:pt>
                <c:pt idx="59">
                  <c:v>9.0999999999999998E-2</c:v>
                </c:pt>
                <c:pt idx="60">
                  <c:v>-0.14899999999999999</c:v>
                </c:pt>
                <c:pt idx="61">
                  <c:v>-0.498</c:v>
                </c:pt>
                <c:pt idx="62">
                  <c:v>0.20399999999999999</c:v>
                </c:pt>
                <c:pt idx="63">
                  <c:v>-7.8E-2</c:v>
                </c:pt>
                <c:pt idx="64">
                  <c:v>-0.33400000000000002</c:v>
                </c:pt>
                <c:pt idx="65">
                  <c:v>-0.83199999999999996</c:v>
                </c:pt>
                <c:pt idx="66">
                  <c:v>-0.59</c:v>
                </c:pt>
                <c:pt idx="67">
                  <c:v>-0.43099999999999999</c:v>
                </c:pt>
                <c:pt idx="68">
                  <c:v>-0.52200000000000002</c:v>
                </c:pt>
                <c:pt idx="69">
                  <c:v>-0.29199999999999998</c:v>
                </c:pt>
                <c:pt idx="70">
                  <c:v>-0.29799999999999999</c:v>
                </c:pt>
                <c:pt idx="71">
                  <c:v>-0.29199999999999998</c:v>
                </c:pt>
                <c:pt idx="72">
                  <c:v>0.46200000000000002</c:v>
                </c:pt>
                <c:pt idx="73">
                  <c:v>0.72299999999999998</c:v>
                </c:pt>
                <c:pt idx="74">
                  <c:v>0.35299999999999998</c:v>
                </c:pt>
                <c:pt idx="75">
                  <c:v>6.8000000000000005E-2</c:v>
                </c:pt>
                <c:pt idx="76">
                  <c:v>3.5999999999999997E-2</c:v>
                </c:pt>
                <c:pt idx="77">
                  <c:v>-0.32400000000000001</c:v>
                </c:pt>
                <c:pt idx="78">
                  <c:v>-0.126</c:v>
                </c:pt>
                <c:pt idx="79">
                  <c:v>-0.126</c:v>
                </c:pt>
                <c:pt idx="80">
                  <c:v>0.46</c:v>
                </c:pt>
                <c:pt idx="81">
                  <c:v>-0.107</c:v>
                </c:pt>
                <c:pt idx="82">
                  <c:v>-0.313</c:v>
                </c:pt>
                <c:pt idx="83">
                  <c:v>-0.28999999999999998</c:v>
                </c:pt>
                <c:pt idx="84">
                  <c:v>-0.161</c:v>
                </c:pt>
                <c:pt idx="85">
                  <c:v>-0.376</c:v>
                </c:pt>
                <c:pt idx="86">
                  <c:v>-0.433</c:v>
                </c:pt>
                <c:pt idx="87">
                  <c:v>-0.10199999999999999</c:v>
                </c:pt>
                <c:pt idx="88">
                  <c:v>-0.14099999999999999</c:v>
                </c:pt>
                <c:pt idx="89">
                  <c:v>-0.11899999999999999</c:v>
                </c:pt>
                <c:pt idx="90">
                  <c:v>-0.247</c:v>
                </c:pt>
                <c:pt idx="91">
                  <c:v>-7.1999999999999995E-2</c:v>
                </c:pt>
                <c:pt idx="92">
                  <c:v>-0.33</c:v>
                </c:pt>
                <c:pt idx="93">
                  <c:v>-7.0999999999999994E-2</c:v>
                </c:pt>
                <c:pt idx="94">
                  <c:v>-0.29799999999999999</c:v>
                </c:pt>
                <c:pt idx="95">
                  <c:v>-0.57199999999999995</c:v>
                </c:pt>
                <c:pt idx="96">
                  <c:v>-0.40799999999999997</c:v>
                </c:pt>
                <c:pt idx="97">
                  <c:v>-0.26600000000000001</c:v>
                </c:pt>
                <c:pt idx="98">
                  <c:v>-0.32700000000000001</c:v>
                </c:pt>
                <c:pt idx="99">
                  <c:v>1.2999999999999999E-2</c:v>
                </c:pt>
                <c:pt idx="100">
                  <c:v>-0.107</c:v>
                </c:pt>
                <c:pt idx="101">
                  <c:v>-0.23200000000000001</c:v>
                </c:pt>
                <c:pt idx="102">
                  <c:v>-0.35199999999999998</c:v>
                </c:pt>
                <c:pt idx="103">
                  <c:v>-0.56000000000000005</c:v>
                </c:pt>
                <c:pt idx="104">
                  <c:v>-0.35699999999999998</c:v>
                </c:pt>
                <c:pt idx="105">
                  <c:v>-0.56000000000000005</c:v>
                </c:pt>
                <c:pt idx="106">
                  <c:v>-0.57599999999999996</c:v>
                </c:pt>
                <c:pt idx="107">
                  <c:v>-0.36099999999999999</c:v>
                </c:pt>
                <c:pt idx="108">
                  <c:v>-0.46100000000000002</c:v>
                </c:pt>
                <c:pt idx="109">
                  <c:v>-0.439</c:v>
                </c:pt>
                <c:pt idx="110">
                  <c:v>-0.47099999999999997</c:v>
                </c:pt>
                <c:pt idx="111">
                  <c:v>-0.63300000000000001</c:v>
                </c:pt>
                <c:pt idx="112">
                  <c:v>-0.72799999999999998</c:v>
                </c:pt>
                <c:pt idx="113">
                  <c:v>-0.61599999999999999</c:v>
                </c:pt>
                <c:pt idx="114">
                  <c:v>-0.66100000000000003</c:v>
                </c:pt>
                <c:pt idx="115">
                  <c:v>-0.63</c:v>
                </c:pt>
                <c:pt idx="116">
                  <c:v>-0.57999999999999996</c:v>
                </c:pt>
                <c:pt idx="117">
                  <c:v>-0.46800000000000003</c:v>
                </c:pt>
                <c:pt idx="118">
                  <c:v>-0.54900000000000004</c:v>
                </c:pt>
                <c:pt idx="119">
                  <c:v>-0.60899999999999999</c:v>
                </c:pt>
                <c:pt idx="120">
                  <c:v>-0.58599999999999997</c:v>
                </c:pt>
                <c:pt idx="121">
                  <c:v>0.113</c:v>
                </c:pt>
                <c:pt idx="122">
                  <c:v>-0.13900000000000001</c:v>
                </c:pt>
                <c:pt idx="123">
                  <c:v>-0.34399999999999997</c:v>
                </c:pt>
                <c:pt idx="124">
                  <c:v>-0.27200000000000002</c:v>
                </c:pt>
                <c:pt idx="125">
                  <c:v>-0.20899999999999999</c:v>
                </c:pt>
                <c:pt idx="126">
                  <c:v>-0.26400000000000001</c:v>
                </c:pt>
                <c:pt idx="127">
                  <c:v>-0.20899999999999999</c:v>
                </c:pt>
                <c:pt idx="128">
                  <c:v>-0.77100000000000002</c:v>
                </c:pt>
                <c:pt idx="129">
                  <c:v>-0.76900000000000002</c:v>
                </c:pt>
                <c:pt idx="130">
                  <c:v>-0.84799999999999998</c:v>
                </c:pt>
                <c:pt idx="131">
                  <c:v>-0.65600000000000003</c:v>
                </c:pt>
                <c:pt idx="132">
                  <c:v>-0.69799999999999995</c:v>
                </c:pt>
                <c:pt idx="133">
                  <c:v>-1.347</c:v>
                </c:pt>
                <c:pt idx="134">
                  <c:v>-1.0529999999999999</c:v>
                </c:pt>
                <c:pt idx="135">
                  <c:v>-0.55000000000000004</c:v>
                </c:pt>
                <c:pt idx="136">
                  <c:v>-0.41799999999999998</c:v>
                </c:pt>
                <c:pt idx="137">
                  <c:v>-0.29599999999999999</c:v>
                </c:pt>
                <c:pt idx="138">
                  <c:v>-0.23</c:v>
                </c:pt>
                <c:pt idx="139">
                  <c:v>-0.22800000000000001</c:v>
                </c:pt>
                <c:pt idx="140">
                  <c:v>-0.18099999999999999</c:v>
                </c:pt>
                <c:pt idx="141">
                  <c:v>-0.16900000000000001</c:v>
                </c:pt>
                <c:pt idx="142">
                  <c:v>-0.14899999999999999</c:v>
                </c:pt>
                <c:pt idx="143">
                  <c:v>-0.129</c:v>
                </c:pt>
              </c:numCache>
            </c:numRef>
          </c:val>
          <c:smooth val="0"/>
          <c:extLst>
            <c:ext xmlns:c16="http://schemas.microsoft.com/office/drawing/2014/chart" uri="{C3380CC4-5D6E-409C-BE32-E72D297353CC}">
              <c16:uniqueId val="{00000000-0F53-B445-8080-7AFCD8AC6BA8}"/>
            </c:ext>
          </c:extLst>
        </c:ser>
        <c:ser>
          <c:idx val="1"/>
          <c:order val="1"/>
          <c:tx>
            <c:strRef>
              <c:f>'図15_分析8_晴れと曇り'!$N$1</c:f>
              <c:strCache>
                <c:ptCount val="1"/>
                <c:pt idx="0">
                  <c:v>列11</c:v>
                </c:pt>
              </c:strCache>
            </c:strRef>
          </c:tx>
          <c:spPr>
            <a:ln w="11430" cap="rnd">
              <a:solidFill>
                <a:srgbClr val="118DFF"/>
              </a:solidFill>
              <a:round/>
            </a:ln>
          </c:spPr>
          <c:marker>
            <c:symbol val="none"/>
          </c:marker>
          <c:cat>
            <c:strRef>
              <c:f>'図15_分析8_晴れと曇り'!$B$2:$B$145</c:f>
              <c:strCache>
                <c:ptCount val="144"/>
                <c:pt idx="0">
                  <c:v>0:00</c:v>
                </c:pt>
                <c:pt idx="18">
                  <c:v>3:00</c:v>
                </c:pt>
                <c:pt idx="36">
                  <c:v>6:00</c:v>
                </c:pt>
                <c:pt idx="54">
                  <c:v>9:00</c:v>
                </c:pt>
                <c:pt idx="72">
                  <c:v>12:00</c:v>
                </c:pt>
                <c:pt idx="90">
                  <c:v>15:00</c:v>
                </c:pt>
                <c:pt idx="108">
                  <c:v>18:00</c:v>
                </c:pt>
                <c:pt idx="126">
                  <c:v>21:00</c:v>
                </c:pt>
              </c:strCache>
            </c:strRef>
          </c:cat>
          <c:val>
            <c:numRef>
              <c:f>'図15_分析8_晴れと曇り'!$N$2:$N$145</c:f>
              <c:numCache>
                <c:formatCode>General</c:formatCode>
                <c:ptCount val="144"/>
                <c:pt idx="0">
                  <c:v>-4.3999999999999997E-2</c:v>
                </c:pt>
                <c:pt idx="1">
                  <c:v>-7.0000000000000001E-3</c:v>
                </c:pt>
                <c:pt idx="2">
                  <c:v>1.9E-2</c:v>
                </c:pt>
                <c:pt idx="3">
                  <c:v>1.2E-2</c:v>
                </c:pt>
                <c:pt idx="4">
                  <c:v>-5.0000000000000001E-3</c:v>
                </c:pt>
                <c:pt idx="5">
                  <c:v>-5.2999999999999999E-2</c:v>
                </c:pt>
                <c:pt idx="6">
                  <c:v>-6.4000000000000001E-2</c:v>
                </c:pt>
                <c:pt idx="7">
                  <c:v>-6.8000000000000005E-2</c:v>
                </c:pt>
                <c:pt idx="8">
                  <c:v>-0.108</c:v>
                </c:pt>
                <c:pt idx="9">
                  <c:v>-4.0000000000000001E-3</c:v>
                </c:pt>
                <c:pt idx="10">
                  <c:v>-3.5000000000000003E-2</c:v>
                </c:pt>
                <c:pt idx="11">
                  <c:v>-5.0000000000000001E-3</c:v>
                </c:pt>
                <c:pt idx="12">
                  <c:v>-7.3999999999999996E-2</c:v>
                </c:pt>
                <c:pt idx="13">
                  <c:v>-0.13700000000000001</c:v>
                </c:pt>
                <c:pt idx="14">
                  <c:v>-9.5000000000000001E-2</c:v>
                </c:pt>
                <c:pt idx="15">
                  <c:v>-0.125</c:v>
                </c:pt>
                <c:pt idx="16">
                  <c:v>-9.2999999999999999E-2</c:v>
                </c:pt>
                <c:pt idx="17">
                  <c:v>-5.0999999999999997E-2</c:v>
                </c:pt>
                <c:pt idx="18">
                  <c:v>-4.1000000000000002E-2</c:v>
                </c:pt>
                <c:pt idx="19">
                  <c:v>-5.7000000000000002E-2</c:v>
                </c:pt>
                <c:pt idx="20">
                  <c:v>-0.1</c:v>
                </c:pt>
                <c:pt idx="21">
                  <c:v>-7.6999999999999999E-2</c:v>
                </c:pt>
                <c:pt idx="22">
                  <c:v>-7.0000000000000007E-2</c:v>
                </c:pt>
                <c:pt idx="23">
                  <c:v>-4.9000000000000002E-2</c:v>
                </c:pt>
                <c:pt idx="24">
                  <c:v>-1.4E-2</c:v>
                </c:pt>
                <c:pt idx="25">
                  <c:v>1.9E-2</c:v>
                </c:pt>
                <c:pt idx="26">
                  <c:v>-3.0000000000000001E-3</c:v>
                </c:pt>
                <c:pt idx="27">
                  <c:v>4.0000000000000001E-3</c:v>
                </c:pt>
                <c:pt idx="28">
                  <c:v>-2.5999999999999999E-2</c:v>
                </c:pt>
                <c:pt idx="29">
                  <c:v>-3.2000000000000001E-2</c:v>
                </c:pt>
                <c:pt idx="30">
                  <c:v>-6.6000000000000003E-2</c:v>
                </c:pt>
                <c:pt idx="31">
                  <c:v>-8.7999999999999995E-2</c:v>
                </c:pt>
                <c:pt idx="32">
                  <c:v>8.9999999999999993E-3</c:v>
                </c:pt>
                <c:pt idx="33">
                  <c:v>7.6999999999999999E-2</c:v>
                </c:pt>
                <c:pt idx="34">
                  <c:v>9.4E-2</c:v>
                </c:pt>
                <c:pt idx="35">
                  <c:v>0.13400000000000001</c:v>
                </c:pt>
                <c:pt idx="36">
                  <c:v>0.13400000000000001</c:v>
                </c:pt>
                <c:pt idx="37">
                  <c:v>4.5999999999999999E-2</c:v>
                </c:pt>
                <c:pt idx="38">
                  <c:v>-2.4E-2</c:v>
                </c:pt>
                <c:pt idx="39">
                  <c:v>0.20799999999999999</c:v>
                </c:pt>
                <c:pt idx="40">
                  <c:v>0.21299999999999999</c:v>
                </c:pt>
                <c:pt idx="41">
                  <c:v>0.35399999999999998</c:v>
                </c:pt>
                <c:pt idx="42">
                  <c:v>0.22600000000000001</c:v>
                </c:pt>
                <c:pt idx="43">
                  <c:v>0.20499999999999999</c:v>
                </c:pt>
                <c:pt idx="44">
                  <c:v>0.35699999999999998</c:v>
                </c:pt>
                <c:pt idx="45">
                  <c:v>0.31900000000000001</c:v>
                </c:pt>
                <c:pt idx="46">
                  <c:v>0.25</c:v>
                </c:pt>
                <c:pt idx="47">
                  <c:v>-0.27600000000000002</c:v>
                </c:pt>
                <c:pt idx="48">
                  <c:v>-0.65400000000000003</c:v>
                </c:pt>
                <c:pt idx="49">
                  <c:v>-0.63400000000000001</c:v>
                </c:pt>
                <c:pt idx="50">
                  <c:v>-0.60799999999999998</c:v>
                </c:pt>
                <c:pt idx="51">
                  <c:v>-0.14399999999999999</c:v>
                </c:pt>
                <c:pt idx="52">
                  <c:v>-0.309</c:v>
                </c:pt>
                <c:pt idx="53">
                  <c:v>-0.63400000000000001</c:v>
                </c:pt>
                <c:pt idx="54">
                  <c:v>-0.79</c:v>
                </c:pt>
                <c:pt idx="55">
                  <c:v>-0.17799999999999999</c:v>
                </c:pt>
                <c:pt idx="56">
                  <c:v>-4.0000000000000001E-3</c:v>
                </c:pt>
                <c:pt idx="57">
                  <c:v>-0.95399999999999996</c:v>
                </c:pt>
                <c:pt idx="58">
                  <c:v>-0.246</c:v>
                </c:pt>
                <c:pt idx="59">
                  <c:v>-0.32</c:v>
                </c:pt>
                <c:pt idx="60">
                  <c:v>-0.159</c:v>
                </c:pt>
                <c:pt idx="61">
                  <c:v>-0.56599999999999995</c:v>
                </c:pt>
                <c:pt idx="62">
                  <c:v>0.37</c:v>
                </c:pt>
                <c:pt idx="63">
                  <c:v>-5.6000000000000001E-2</c:v>
                </c:pt>
                <c:pt idx="64">
                  <c:v>-8.3000000000000004E-2</c:v>
                </c:pt>
                <c:pt idx="65">
                  <c:v>-0.40899999999999997</c:v>
                </c:pt>
                <c:pt idx="66">
                  <c:v>-0.191</c:v>
                </c:pt>
                <c:pt idx="67">
                  <c:v>-0.41399999999999998</c:v>
                </c:pt>
                <c:pt idx="68">
                  <c:v>-0.78500000000000003</c:v>
                </c:pt>
                <c:pt idx="69">
                  <c:v>-0.48299999999999998</c:v>
                </c:pt>
                <c:pt idx="70">
                  <c:v>-0.129</c:v>
                </c:pt>
                <c:pt idx="71">
                  <c:v>-0.54100000000000004</c:v>
                </c:pt>
                <c:pt idx="72">
                  <c:v>-1.2E-2</c:v>
                </c:pt>
                <c:pt idx="73">
                  <c:v>1.4E-2</c:v>
                </c:pt>
                <c:pt idx="74">
                  <c:v>0.109</c:v>
                </c:pt>
                <c:pt idx="75">
                  <c:v>-0.38100000000000001</c:v>
                </c:pt>
                <c:pt idx="76">
                  <c:v>-0.29099999999999998</c:v>
                </c:pt>
                <c:pt idx="77">
                  <c:v>-0.59899999999999998</c:v>
                </c:pt>
                <c:pt idx="78">
                  <c:v>-0.34300000000000003</c:v>
                </c:pt>
                <c:pt idx="79">
                  <c:v>-0.78500000000000003</c:v>
                </c:pt>
                <c:pt idx="80">
                  <c:v>-0.47099999999999997</c:v>
                </c:pt>
                <c:pt idx="81">
                  <c:v>-0.86</c:v>
                </c:pt>
                <c:pt idx="82">
                  <c:v>-0.36099999999999999</c:v>
                </c:pt>
                <c:pt idx="83">
                  <c:v>-0.33600000000000002</c:v>
                </c:pt>
                <c:pt idx="84">
                  <c:v>-0.46</c:v>
                </c:pt>
                <c:pt idx="85">
                  <c:v>-0.21199999999999999</c:v>
                </c:pt>
                <c:pt idx="86">
                  <c:v>-0.32700000000000001</c:v>
                </c:pt>
                <c:pt idx="87">
                  <c:v>-0.376</c:v>
                </c:pt>
                <c:pt idx="88">
                  <c:v>-0.23100000000000001</c:v>
                </c:pt>
                <c:pt idx="89">
                  <c:v>-0.107</c:v>
                </c:pt>
                <c:pt idx="90">
                  <c:v>-0.27700000000000002</c:v>
                </c:pt>
                <c:pt idx="91">
                  <c:v>-0.33600000000000002</c:v>
                </c:pt>
                <c:pt idx="92">
                  <c:v>-0.54600000000000004</c:v>
                </c:pt>
                <c:pt idx="93">
                  <c:v>-5.3999999999999999E-2</c:v>
                </c:pt>
                <c:pt idx="94">
                  <c:v>-0.48899999999999999</c:v>
                </c:pt>
                <c:pt idx="95">
                  <c:v>-0.57999999999999996</c:v>
                </c:pt>
                <c:pt idx="96">
                  <c:v>-0.34499999999999997</c:v>
                </c:pt>
                <c:pt idx="97">
                  <c:v>-0.27</c:v>
                </c:pt>
                <c:pt idx="98">
                  <c:v>-0.29099999999999998</c:v>
                </c:pt>
                <c:pt idx="99">
                  <c:v>-0.26900000000000002</c:v>
                </c:pt>
                <c:pt idx="100">
                  <c:v>-0.215</c:v>
                </c:pt>
                <c:pt idx="101">
                  <c:v>-0.26300000000000001</c:v>
                </c:pt>
                <c:pt idx="102">
                  <c:v>-0.29799999999999999</c:v>
                </c:pt>
                <c:pt idx="103">
                  <c:v>-0.32300000000000001</c:v>
                </c:pt>
                <c:pt idx="104">
                  <c:v>-0.45700000000000002</c:v>
                </c:pt>
                <c:pt idx="105">
                  <c:v>-0.61</c:v>
                </c:pt>
                <c:pt idx="106">
                  <c:v>-0.628</c:v>
                </c:pt>
                <c:pt idx="107">
                  <c:v>-0.52900000000000003</c:v>
                </c:pt>
                <c:pt idx="108">
                  <c:v>-0.39500000000000002</c:v>
                </c:pt>
                <c:pt idx="109">
                  <c:v>-0.42599999999999999</c:v>
                </c:pt>
                <c:pt idx="110">
                  <c:v>-0.48299999999999998</c:v>
                </c:pt>
                <c:pt idx="111">
                  <c:v>-0.28699999999999998</c:v>
                </c:pt>
                <c:pt idx="112">
                  <c:v>-0.249</c:v>
                </c:pt>
                <c:pt idx="113">
                  <c:v>-0.19900000000000001</c:v>
                </c:pt>
                <c:pt idx="114">
                  <c:v>-5.0999999999999997E-2</c:v>
                </c:pt>
                <c:pt idx="115">
                  <c:v>-0.126</c:v>
                </c:pt>
                <c:pt idx="116">
                  <c:v>-0.32200000000000001</c:v>
                </c:pt>
                <c:pt idx="117">
                  <c:v>-0.35799999999999998</c:v>
                </c:pt>
                <c:pt idx="118">
                  <c:v>-0.39100000000000001</c:v>
                </c:pt>
                <c:pt idx="119">
                  <c:v>-0.443</c:v>
                </c:pt>
                <c:pt idx="120">
                  <c:v>-0.41199999999999998</c:v>
                </c:pt>
                <c:pt idx="121">
                  <c:v>-0.48599999999999999</c:v>
                </c:pt>
                <c:pt idx="122">
                  <c:v>-0.53200000000000003</c:v>
                </c:pt>
                <c:pt idx="123">
                  <c:v>-0.45200000000000001</c:v>
                </c:pt>
                <c:pt idx="124">
                  <c:v>-0.246</c:v>
                </c:pt>
                <c:pt idx="125">
                  <c:v>-8.1000000000000003E-2</c:v>
                </c:pt>
                <c:pt idx="126">
                  <c:v>-0.16</c:v>
                </c:pt>
                <c:pt idx="127">
                  <c:v>-0.14899999999999999</c:v>
                </c:pt>
                <c:pt idx="128">
                  <c:v>-0.61199999999999999</c:v>
                </c:pt>
                <c:pt idx="129">
                  <c:v>-0.64</c:v>
                </c:pt>
                <c:pt idx="130">
                  <c:v>-0.71499999999999997</c:v>
                </c:pt>
                <c:pt idx="131">
                  <c:v>-0.54200000000000004</c:v>
                </c:pt>
                <c:pt idx="132">
                  <c:v>-0.59</c:v>
                </c:pt>
                <c:pt idx="133">
                  <c:v>-1.1399999999999999</c:v>
                </c:pt>
                <c:pt idx="134">
                  <c:v>-0.94199999999999995</c:v>
                </c:pt>
                <c:pt idx="135">
                  <c:v>-0.49199999999999999</c:v>
                </c:pt>
                <c:pt idx="136">
                  <c:v>-0.34200000000000003</c:v>
                </c:pt>
                <c:pt idx="137">
                  <c:v>-0.24</c:v>
                </c:pt>
                <c:pt idx="138">
                  <c:v>-0.15</c:v>
                </c:pt>
                <c:pt idx="139">
                  <c:v>-0.157</c:v>
                </c:pt>
                <c:pt idx="140">
                  <c:v>-9.4E-2</c:v>
                </c:pt>
                <c:pt idx="141">
                  <c:v>-0.108</c:v>
                </c:pt>
                <c:pt idx="142">
                  <c:v>-9.5000000000000001E-2</c:v>
                </c:pt>
                <c:pt idx="143">
                  <c:v>-8.5999999999999993E-2</c:v>
                </c:pt>
              </c:numCache>
            </c:numRef>
          </c:val>
          <c:smooth val="0"/>
          <c:extLst>
            <c:ext xmlns:c16="http://schemas.microsoft.com/office/drawing/2014/chart" uri="{C3380CC4-5D6E-409C-BE32-E72D297353CC}">
              <c16:uniqueId val="{00000001-0F53-B445-8080-7AFCD8AC6BA8}"/>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none"/>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2"/>
          <c:min val="-1.5"/>
        </c:scaling>
        <c:delete val="0"/>
        <c:axPos val="l"/>
        <c:majorGridlines>
          <c:spPr>
            <a:ln w="9525" cap="rnd">
              <a:solidFill>
                <a:srgbClr val="E3E7EC"/>
              </a:solidFill>
              <a:round/>
            </a:ln>
          </c:spPr>
        </c:majorGridlines>
        <c:title>
          <c:tx>
            <c:rich>
              <a:bodyPr rot="-5400000" vert="horz"/>
              <a:lstStyle/>
              <a:p>
                <a:pPr>
                  <a:defRPr sz="900" b="0"/>
                </a:pPr>
                <a:r>
                  <a:rPr lang="ja-JP" sz="900" b="0"/>
                  <a:t>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5"/>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
          <c:y val="0.25"/>
          <c:w val="0.76"/>
          <c:h val="0.55000000000000004"/>
        </c:manualLayout>
      </c:layout>
      <c:lineChart>
        <c:grouping val="standard"/>
        <c:varyColors val="0"/>
        <c:ser>
          <c:idx val="0"/>
          <c:order val="0"/>
          <c:tx>
            <c:strRef>
              <c:f>'図16_分析8_風'!$C$1</c:f>
              <c:strCache>
                <c:ptCount val="1"/>
                <c:pt idx="0">
                  <c:v>屋上の気温</c:v>
                </c:pt>
              </c:strCache>
            </c:strRef>
          </c:tx>
          <c:spPr>
            <a:ln w="15875" cap="rnd">
              <a:solidFill>
                <a:srgbClr val="ED7D31"/>
              </a:solidFill>
              <a:round/>
            </a:ln>
          </c:spPr>
          <c:marker>
            <c:symbol val="none"/>
          </c:marker>
          <c:cat>
            <c:strRef>
              <c:f>'図16_分析8_風'!$B$2:$B$145</c:f>
              <c:strCache>
                <c:ptCount val="144"/>
                <c:pt idx="0">
                  <c:v>0:00</c:v>
                </c:pt>
                <c:pt idx="36">
                  <c:v>6:00</c:v>
                </c:pt>
                <c:pt idx="72">
                  <c:v>12:00</c:v>
                </c:pt>
                <c:pt idx="108">
                  <c:v>18:00</c:v>
                </c:pt>
              </c:strCache>
            </c:strRef>
          </c:cat>
          <c:val>
            <c:numRef>
              <c:f>'図16_分析8_風'!$C$2:$C$145</c:f>
              <c:numCache>
                <c:formatCode>General</c:formatCode>
                <c:ptCount val="144"/>
                <c:pt idx="0">
                  <c:v>26.93</c:v>
                </c:pt>
                <c:pt idx="1">
                  <c:v>26.9</c:v>
                </c:pt>
                <c:pt idx="2">
                  <c:v>26.84</c:v>
                </c:pt>
                <c:pt idx="3">
                  <c:v>26.9</c:v>
                </c:pt>
                <c:pt idx="4">
                  <c:v>26.8</c:v>
                </c:pt>
                <c:pt idx="5">
                  <c:v>26.73</c:v>
                </c:pt>
                <c:pt idx="6">
                  <c:v>26.71</c:v>
                </c:pt>
                <c:pt idx="7">
                  <c:v>26.7</c:v>
                </c:pt>
                <c:pt idx="8">
                  <c:v>26.66</c:v>
                </c:pt>
                <c:pt idx="9">
                  <c:v>26.6</c:v>
                </c:pt>
                <c:pt idx="10">
                  <c:v>26.55</c:v>
                </c:pt>
                <c:pt idx="11">
                  <c:v>26.6</c:v>
                </c:pt>
                <c:pt idx="12">
                  <c:v>26.6</c:v>
                </c:pt>
                <c:pt idx="13">
                  <c:v>26.57</c:v>
                </c:pt>
                <c:pt idx="14">
                  <c:v>26.53</c:v>
                </c:pt>
                <c:pt idx="15">
                  <c:v>26.5</c:v>
                </c:pt>
                <c:pt idx="16">
                  <c:v>26.5</c:v>
                </c:pt>
                <c:pt idx="17">
                  <c:v>26.5</c:v>
                </c:pt>
                <c:pt idx="18">
                  <c:v>26.45</c:v>
                </c:pt>
                <c:pt idx="19">
                  <c:v>26.43</c:v>
                </c:pt>
                <c:pt idx="20">
                  <c:v>26.4</c:v>
                </c:pt>
                <c:pt idx="21">
                  <c:v>26.4</c:v>
                </c:pt>
                <c:pt idx="22">
                  <c:v>26.44</c:v>
                </c:pt>
                <c:pt idx="23">
                  <c:v>26.4</c:v>
                </c:pt>
                <c:pt idx="24">
                  <c:v>26.45</c:v>
                </c:pt>
                <c:pt idx="25">
                  <c:v>26.48</c:v>
                </c:pt>
                <c:pt idx="26">
                  <c:v>26.46</c:v>
                </c:pt>
                <c:pt idx="27">
                  <c:v>26.41</c:v>
                </c:pt>
                <c:pt idx="28">
                  <c:v>26.41</c:v>
                </c:pt>
                <c:pt idx="29">
                  <c:v>26.4</c:v>
                </c:pt>
                <c:pt idx="30">
                  <c:v>26.39</c:v>
                </c:pt>
                <c:pt idx="31">
                  <c:v>26.4</c:v>
                </c:pt>
                <c:pt idx="32">
                  <c:v>26.48</c:v>
                </c:pt>
                <c:pt idx="33">
                  <c:v>26.63</c:v>
                </c:pt>
                <c:pt idx="34">
                  <c:v>26.78</c:v>
                </c:pt>
                <c:pt idx="35">
                  <c:v>26.87</c:v>
                </c:pt>
                <c:pt idx="36">
                  <c:v>26.74</c:v>
                </c:pt>
                <c:pt idx="37">
                  <c:v>26.95</c:v>
                </c:pt>
                <c:pt idx="38">
                  <c:v>27.19</c:v>
                </c:pt>
                <c:pt idx="39">
                  <c:v>27.25</c:v>
                </c:pt>
                <c:pt idx="40">
                  <c:v>27.26</c:v>
                </c:pt>
                <c:pt idx="41">
                  <c:v>27.39</c:v>
                </c:pt>
                <c:pt idx="42">
                  <c:v>27.54</c:v>
                </c:pt>
                <c:pt idx="43">
                  <c:v>27.9</c:v>
                </c:pt>
                <c:pt idx="44">
                  <c:v>28.03</c:v>
                </c:pt>
                <c:pt idx="45">
                  <c:v>28.2</c:v>
                </c:pt>
                <c:pt idx="46">
                  <c:v>28.29</c:v>
                </c:pt>
                <c:pt idx="47">
                  <c:v>28.33</c:v>
                </c:pt>
                <c:pt idx="48">
                  <c:v>28.61</c:v>
                </c:pt>
                <c:pt idx="49">
                  <c:v>28.84</c:v>
                </c:pt>
                <c:pt idx="50">
                  <c:v>29.94</c:v>
                </c:pt>
                <c:pt idx="51">
                  <c:v>30.75</c:v>
                </c:pt>
                <c:pt idx="52">
                  <c:v>31</c:v>
                </c:pt>
                <c:pt idx="53">
                  <c:v>30.9</c:v>
                </c:pt>
                <c:pt idx="54">
                  <c:v>30.21</c:v>
                </c:pt>
                <c:pt idx="55">
                  <c:v>30.29</c:v>
                </c:pt>
                <c:pt idx="56">
                  <c:v>30.57</c:v>
                </c:pt>
                <c:pt idx="57">
                  <c:v>31.09</c:v>
                </c:pt>
                <c:pt idx="58">
                  <c:v>30.7</c:v>
                </c:pt>
                <c:pt idx="59">
                  <c:v>31.52</c:v>
                </c:pt>
                <c:pt idx="60">
                  <c:v>31.75</c:v>
                </c:pt>
                <c:pt idx="61">
                  <c:v>31.92</c:v>
                </c:pt>
                <c:pt idx="62">
                  <c:v>32.18</c:v>
                </c:pt>
                <c:pt idx="63">
                  <c:v>32.47</c:v>
                </c:pt>
                <c:pt idx="64">
                  <c:v>32.24</c:v>
                </c:pt>
                <c:pt idx="65">
                  <c:v>32.24</c:v>
                </c:pt>
                <c:pt idx="66">
                  <c:v>32.07</c:v>
                </c:pt>
                <c:pt idx="67">
                  <c:v>31.92</c:v>
                </c:pt>
                <c:pt idx="68">
                  <c:v>31.88</c:v>
                </c:pt>
                <c:pt idx="69">
                  <c:v>31.97</c:v>
                </c:pt>
                <c:pt idx="70">
                  <c:v>32.58</c:v>
                </c:pt>
                <c:pt idx="71">
                  <c:v>33.020000000000003</c:v>
                </c:pt>
                <c:pt idx="72">
                  <c:v>32.93</c:v>
                </c:pt>
                <c:pt idx="73">
                  <c:v>33.1</c:v>
                </c:pt>
                <c:pt idx="74">
                  <c:v>32.93</c:v>
                </c:pt>
                <c:pt idx="75">
                  <c:v>33.25</c:v>
                </c:pt>
                <c:pt idx="76">
                  <c:v>33.4</c:v>
                </c:pt>
                <c:pt idx="77">
                  <c:v>33.409999999999997</c:v>
                </c:pt>
                <c:pt idx="78">
                  <c:v>33.130000000000003</c:v>
                </c:pt>
                <c:pt idx="79">
                  <c:v>33.35</c:v>
                </c:pt>
                <c:pt idx="80">
                  <c:v>33.31</c:v>
                </c:pt>
                <c:pt idx="81">
                  <c:v>33.909999999999997</c:v>
                </c:pt>
                <c:pt idx="82">
                  <c:v>34.22</c:v>
                </c:pt>
                <c:pt idx="83">
                  <c:v>33.83</c:v>
                </c:pt>
                <c:pt idx="84">
                  <c:v>33.590000000000003</c:v>
                </c:pt>
                <c:pt idx="85">
                  <c:v>33.43</c:v>
                </c:pt>
                <c:pt idx="86">
                  <c:v>33.44</c:v>
                </c:pt>
                <c:pt idx="87">
                  <c:v>33.14</c:v>
                </c:pt>
                <c:pt idx="88">
                  <c:v>32.81</c:v>
                </c:pt>
                <c:pt idx="89">
                  <c:v>32.65</c:v>
                </c:pt>
                <c:pt idx="90">
                  <c:v>32.57</c:v>
                </c:pt>
                <c:pt idx="91">
                  <c:v>32.57</c:v>
                </c:pt>
                <c:pt idx="92">
                  <c:v>32.68</c:v>
                </c:pt>
                <c:pt idx="93">
                  <c:v>32</c:v>
                </c:pt>
                <c:pt idx="94">
                  <c:v>32.4</c:v>
                </c:pt>
                <c:pt idx="95">
                  <c:v>31.8</c:v>
                </c:pt>
                <c:pt idx="96">
                  <c:v>31.66</c:v>
                </c:pt>
                <c:pt idx="97">
                  <c:v>31.79</c:v>
                </c:pt>
                <c:pt idx="98">
                  <c:v>31.7</c:v>
                </c:pt>
                <c:pt idx="99">
                  <c:v>31.33</c:v>
                </c:pt>
                <c:pt idx="100">
                  <c:v>31.32</c:v>
                </c:pt>
                <c:pt idx="101">
                  <c:v>31.15</c:v>
                </c:pt>
                <c:pt idx="102">
                  <c:v>30.79</c:v>
                </c:pt>
                <c:pt idx="103">
                  <c:v>30.7</c:v>
                </c:pt>
                <c:pt idx="104">
                  <c:v>30.62</c:v>
                </c:pt>
                <c:pt idx="105">
                  <c:v>30.43</c:v>
                </c:pt>
                <c:pt idx="106">
                  <c:v>30.31</c:v>
                </c:pt>
                <c:pt idx="107">
                  <c:v>30.48</c:v>
                </c:pt>
                <c:pt idx="108">
                  <c:v>30.24</c:v>
                </c:pt>
                <c:pt idx="109">
                  <c:v>29.98</c:v>
                </c:pt>
                <c:pt idx="110">
                  <c:v>29.81</c:v>
                </c:pt>
                <c:pt idx="111">
                  <c:v>29.7</c:v>
                </c:pt>
                <c:pt idx="112">
                  <c:v>29.72</c:v>
                </c:pt>
                <c:pt idx="113">
                  <c:v>29.7</c:v>
                </c:pt>
                <c:pt idx="114">
                  <c:v>29.61</c:v>
                </c:pt>
                <c:pt idx="115">
                  <c:v>29.45</c:v>
                </c:pt>
                <c:pt idx="116">
                  <c:v>29.31</c:v>
                </c:pt>
                <c:pt idx="117">
                  <c:v>29.36</c:v>
                </c:pt>
                <c:pt idx="118">
                  <c:v>29.41</c:v>
                </c:pt>
                <c:pt idx="119">
                  <c:v>29.42</c:v>
                </c:pt>
                <c:pt idx="120">
                  <c:v>29.42</c:v>
                </c:pt>
                <c:pt idx="121">
                  <c:v>29.04</c:v>
                </c:pt>
                <c:pt idx="122">
                  <c:v>28.89</c:v>
                </c:pt>
                <c:pt idx="123">
                  <c:v>28.86</c:v>
                </c:pt>
                <c:pt idx="124">
                  <c:v>28.79</c:v>
                </c:pt>
                <c:pt idx="125">
                  <c:v>28.59</c:v>
                </c:pt>
                <c:pt idx="126">
                  <c:v>28.53</c:v>
                </c:pt>
                <c:pt idx="127">
                  <c:v>28.71</c:v>
                </c:pt>
                <c:pt idx="128">
                  <c:v>28.65</c:v>
                </c:pt>
                <c:pt idx="129">
                  <c:v>28.64</c:v>
                </c:pt>
                <c:pt idx="130">
                  <c:v>28.46</c:v>
                </c:pt>
                <c:pt idx="131">
                  <c:v>28.35</c:v>
                </c:pt>
                <c:pt idx="132">
                  <c:v>28.26</c:v>
                </c:pt>
                <c:pt idx="133">
                  <c:v>28.14</c:v>
                </c:pt>
                <c:pt idx="134">
                  <c:v>27.93</c:v>
                </c:pt>
                <c:pt idx="135">
                  <c:v>27.81</c:v>
                </c:pt>
                <c:pt idx="136">
                  <c:v>27.81</c:v>
                </c:pt>
                <c:pt idx="137">
                  <c:v>27.81</c:v>
                </c:pt>
                <c:pt idx="138">
                  <c:v>27.79</c:v>
                </c:pt>
                <c:pt idx="139">
                  <c:v>27.8</c:v>
                </c:pt>
                <c:pt idx="140">
                  <c:v>27.74</c:v>
                </c:pt>
                <c:pt idx="141">
                  <c:v>27.73</c:v>
                </c:pt>
                <c:pt idx="142">
                  <c:v>27.79</c:v>
                </c:pt>
                <c:pt idx="143">
                  <c:v>27.74</c:v>
                </c:pt>
              </c:numCache>
            </c:numRef>
          </c:val>
          <c:smooth val="0"/>
          <c:extLst>
            <c:ext xmlns:c16="http://schemas.microsoft.com/office/drawing/2014/chart" uri="{C3380CC4-5D6E-409C-BE32-E72D297353CC}">
              <c16:uniqueId val="{00000000-03A0-BA4B-AE34-EDA8F1182740}"/>
            </c:ext>
          </c:extLst>
        </c:ser>
        <c:ser>
          <c:idx val="1"/>
          <c:order val="1"/>
          <c:tx>
            <c:strRef>
              <c:f>'図16_分析8_風'!$D$1</c:f>
              <c:strCache>
                <c:ptCount val="1"/>
                <c:pt idx="0">
                  <c:v>列3</c:v>
                </c:pt>
              </c:strCache>
            </c:strRef>
          </c:tx>
          <c:spPr>
            <a:ln w="11430" cap="rnd">
              <a:solidFill>
                <a:srgbClr val="5E6B7A"/>
              </a:solidFill>
              <a:round/>
            </a:ln>
          </c:spPr>
          <c:marker>
            <c:symbol val="none"/>
          </c:marker>
          <c:cat>
            <c:strRef>
              <c:f>'図16_分析8_風'!$B$2:$B$145</c:f>
              <c:strCache>
                <c:ptCount val="144"/>
                <c:pt idx="0">
                  <c:v>0:00</c:v>
                </c:pt>
                <c:pt idx="36">
                  <c:v>6:00</c:v>
                </c:pt>
                <c:pt idx="72">
                  <c:v>12:00</c:v>
                </c:pt>
                <c:pt idx="108">
                  <c:v>18:00</c:v>
                </c:pt>
              </c:strCache>
            </c:strRef>
          </c:cat>
          <c:val>
            <c:numRef>
              <c:f>'図16_分析8_風'!$D$2:$D$145</c:f>
              <c:numCache>
                <c:formatCode>General</c:formatCode>
                <c:ptCount val="144"/>
                <c:pt idx="0">
                  <c:v>26.756</c:v>
                </c:pt>
                <c:pt idx="1">
                  <c:v>26.896000000000001</c:v>
                </c:pt>
                <c:pt idx="2">
                  <c:v>26.806000000000001</c:v>
                </c:pt>
                <c:pt idx="3">
                  <c:v>26.759</c:v>
                </c:pt>
                <c:pt idx="4">
                  <c:v>26.759</c:v>
                </c:pt>
                <c:pt idx="5">
                  <c:v>26.600999999999999</c:v>
                </c:pt>
                <c:pt idx="6">
                  <c:v>26.556000000000001</c:v>
                </c:pt>
                <c:pt idx="7">
                  <c:v>26.494</c:v>
                </c:pt>
                <c:pt idx="8">
                  <c:v>26.45</c:v>
                </c:pt>
                <c:pt idx="9">
                  <c:v>26.393999999999998</c:v>
                </c:pt>
                <c:pt idx="10">
                  <c:v>26.338000000000001</c:v>
                </c:pt>
                <c:pt idx="11">
                  <c:v>26.309000000000001</c:v>
                </c:pt>
                <c:pt idx="12">
                  <c:v>26.309000000000001</c:v>
                </c:pt>
                <c:pt idx="13">
                  <c:v>26.317</c:v>
                </c:pt>
                <c:pt idx="14">
                  <c:v>26.302</c:v>
                </c:pt>
                <c:pt idx="15">
                  <c:v>26.233000000000001</c:v>
                </c:pt>
                <c:pt idx="16">
                  <c:v>26.228000000000002</c:v>
                </c:pt>
                <c:pt idx="17">
                  <c:v>26.224</c:v>
                </c:pt>
                <c:pt idx="18">
                  <c:v>26.158999999999999</c:v>
                </c:pt>
                <c:pt idx="19">
                  <c:v>26.14</c:v>
                </c:pt>
                <c:pt idx="20">
                  <c:v>26.074000000000002</c:v>
                </c:pt>
                <c:pt idx="21">
                  <c:v>26.106999999999999</c:v>
                </c:pt>
                <c:pt idx="22">
                  <c:v>26.109000000000002</c:v>
                </c:pt>
                <c:pt idx="23">
                  <c:v>26.143000000000001</c:v>
                </c:pt>
                <c:pt idx="24">
                  <c:v>26.234000000000002</c:v>
                </c:pt>
                <c:pt idx="25">
                  <c:v>26.173999999999999</c:v>
                </c:pt>
                <c:pt idx="26">
                  <c:v>26.163</c:v>
                </c:pt>
                <c:pt idx="27">
                  <c:v>26.12</c:v>
                </c:pt>
                <c:pt idx="28">
                  <c:v>26.071999999999999</c:v>
                </c:pt>
                <c:pt idx="29">
                  <c:v>26.07</c:v>
                </c:pt>
                <c:pt idx="30">
                  <c:v>26.094000000000001</c:v>
                </c:pt>
                <c:pt idx="31">
                  <c:v>26.14</c:v>
                </c:pt>
                <c:pt idx="32">
                  <c:v>26.312999999999999</c:v>
                </c:pt>
                <c:pt idx="33">
                  <c:v>26.530999999999999</c:v>
                </c:pt>
                <c:pt idx="34">
                  <c:v>26.677</c:v>
                </c:pt>
                <c:pt idx="35">
                  <c:v>26.629000000000001</c:v>
                </c:pt>
                <c:pt idx="36">
                  <c:v>26.722000000000001</c:v>
                </c:pt>
                <c:pt idx="37">
                  <c:v>26.67</c:v>
                </c:pt>
                <c:pt idx="38">
                  <c:v>27.015999999999998</c:v>
                </c:pt>
                <c:pt idx="39">
                  <c:v>27.263000000000002</c:v>
                </c:pt>
                <c:pt idx="40">
                  <c:v>27.425999999999998</c:v>
                </c:pt>
                <c:pt idx="41">
                  <c:v>27.562000000000001</c:v>
                </c:pt>
                <c:pt idx="42">
                  <c:v>27.885999999999999</c:v>
                </c:pt>
                <c:pt idx="43">
                  <c:v>28.161000000000001</c:v>
                </c:pt>
                <c:pt idx="44">
                  <c:v>28.475999999999999</c:v>
                </c:pt>
                <c:pt idx="45">
                  <c:v>28.463999999999999</c:v>
                </c:pt>
                <c:pt idx="46">
                  <c:v>28.616</c:v>
                </c:pt>
                <c:pt idx="47">
                  <c:v>29.047999999999998</c:v>
                </c:pt>
                <c:pt idx="48">
                  <c:v>28.92</c:v>
                </c:pt>
                <c:pt idx="49">
                  <c:v>29.835999999999999</c:v>
                </c:pt>
                <c:pt idx="50">
                  <c:v>30.449000000000002</c:v>
                </c:pt>
                <c:pt idx="51">
                  <c:v>30.291</c:v>
                </c:pt>
                <c:pt idx="52">
                  <c:v>30.616</c:v>
                </c:pt>
                <c:pt idx="53">
                  <c:v>30.582000000000001</c:v>
                </c:pt>
                <c:pt idx="54">
                  <c:v>30.244</c:v>
                </c:pt>
                <c:pt idx="55">
                  <c:v>30.831</c:v>
                </c:pt>
                <c:pt idx="56">
                  <c:v>30.628</c:v>
                </c:pt>
                <c:pt idx="57">
                  <c:v>30.847999999999999</c:v>
                </c:pt>
                <c:pt idx="58">
                  <c:v>31.51</c:v>
                </c:pt>
                <c:pt idx="59">
                  <c:v>31.474</c:v>
                </c:pt>
                <c:pt idx="60">
                  <c:v>31.184000000000001</c:v>
                </c:pt>
                <c:pt idx="61">
                  <c:v>31.41</c:v>
                </c:pt>
                <c:pt idx="62">
                  <c:v>31.532</c:v>
                </c:pt>
                <c:pt idx="63">
                  <c:v>30.872</c:v>
                </c:pt>
                <c:pt idx="64">
                  <c:v>30.427</c:v>
                </c:pt>
                <c:pt idx="65">
                  <c:v>31.471</c:v>
                </c:pt>
                <c:pt idx="66">
                  <c:v>30.922999999999998</c:v>
                </c:pt>
                <c:pt idx="67">
                  <c:v>31.170999999999999</c:v>
                </c:pt>
                <c:pt idx="68">
                  <c:v>31.302</c:v>
                </c:pt>
                <c:pt idx="69">
                  <c:v>31.638999999999999</c:v>
                </c:pt>
                <c:pt idx="70">
                  <c:v>31.699000000000002</c:v>
                </c:pt>
                <c:pt idx="71">
                  <c:v>31.449000000000002</c:v>
                </c:pt>
                <c:pt idx="72">
                  <c:v>31.449000000000002</c:v>
                </c:pt>
                <c:pt idx="73">
                  <c:v>31.678999999999998</c:v>
                </c:pt>
                <c:pt idx="74">
                  <c:v>31.937999999999999</c:v>
                </c:pt>
                <c:pt idx="75">
                  <c:v>31.821000000000002</c:v>
                </c:pt>
                <c:pt idx="76">
                  <c:v>32.299999999999997</c:v>
                </c:pt>
                <c:pt idx="77">
                  <c:v>32.698999999999998</c:v>
                </c:pt>
                <c:pt idx="78">
                  <c:v>32.76</c:v>
                </c:pt>
                <c:pt idx="79">
                  <c:v>33.152999999999999</c:v>
                </c:pt>
                <c:pt idx="80">
                  <c:v>32.593000000000004</c:v>
                </c:pt>
                <c:pt idx="81">
                  <c:v>33.201999999999998</c:v>
                </c:pt>
                <c:pt idx="82">
                  <c:v>33.148000000000003</c:v>
                </c:pt>
                <c:pt idx="83">
                  <c:v>33.186</c:v>
                </c:pt>
                <c:pt idx="84">
                  <c:v>33.472999999999999</c:v>
                </c:pt>
                <c:pt idx="85">
                  <c:v>32.915999999999997</c:v>
                </c:pt>
                <c:pt idx="86">
                  <c:v>33.258000000000003</c:v>
                </c:pt>
                <c:pt idx="87">
                  <c:v>33.198999999999998</c:v>
                </c:pt>
                <c:pt idx="88">
                  <c:v>33.112000000000002</c:v>
                </c:pt>
                <c:pt idx="89">
                  <c:v>32.898000000000003</c:v>
                </c:pt>
                <c:pt idx="90">
                  <c:v>32.814</c:v>
                </c:pt>
                <c:pt idx="91">
                  <c:v>33.048999999999999</c:v>
                </c:pt>
                <c:pt idx="92">
                  <c:v>32.887999999999998</c:v>
                </c:pt>
                <c:pt idx="93">
                  <c:v>32.786999999999999</c:v>
                </c:pt>
                <c:pt idx="94">
                  <c:v>32.581000000000003</c:v>
                </c:pt>
                <c:pt idx="95">
                  <c:v>32.179000000000002</c:v>
                </c:pt>
                <c:pt idx="96">
                  <c:v>32.302999999999997</c:v>
                </c:pt>
                <c:pt idx="97">
                  <c:v>31.966999999999999</c:v>
                </c:pt>
                <c:pt idx="98">
                  <c:v>31.681999999999999</c:v>
                </c:pt>
                <c:pt idx="99">
                  <c:v>31.683</c:v>
                </c:pt>
                <c:pt idx="100">
                  <c:v>31.637</c:v>
                </c:pt>
                <c:pt idx="101">
                  <c:v>31.632000000000001</c:v>
                </c:pt>
                <c:pt idx="102">
                  <c:v>31.207000000000001</c:v>
                </c:pt>
                <c:pt idx="103">
                  <c:v>31.323</c:v>
                </c:pt>
                <c:pt idx="104">
                  <c:v>31.21</c:v>
                </c:pt>
                <c:pt idx="105">
                  <c:v>30.882999999999999</c:v>
                </c:pt>
                <c:pt idx="106">
                  <c:v>31.161000000000001</c:v>
                </c:pt>
                <c:pt idx="107">
                  <c:v>31.061</c:v>
                </c:pt>
                <c:pt idx="108">
                  <c:v>30.780999999999999</c:v>
                </c:pt>
                <c:pt idx="109">
                  <c:v>30.457999999999998</c:v>
                </c:pt>
                <c:pt idx="110">
                  <c:v>30.141999999999999</c:v>
                </c:pt>
                <c:pt idx="111">
                  <c:v>30.04</c:v>
                </c:pt>
                <c:pt idx="112">
                  <c:v>30.199000000000002</c:v>
                </c:pt>
                <c:pt idx="113">
                  <c:v>30.266999999999999</c:v>
                </c:pt>
                <c:pt idx="114">
                  <c:v>29.925999999999998</c:v>
                </c:pt>
                <c:pt idx="115">
                  <c:v>29.77</c:v>
                </c:pt>
                <c:pt idx="116">
                  <c:v>29.616</c:v>
                </c:pt>
                <c:pt idx="117">
                  <c:v>29.823</c:v>
                </c:pt>
                <c:pt idx="118">
                  <c:v>29.882999999999999</c:v>
                </c:pt>
                <c:pt idx="119">
                  <c:v>29.771999999999998</c:v>
                </c:pt>
                <c:pt idx="120">
                  <c:v>29.478999999999999</c:v>
                </c:pt>
                <c:pt idx="121">
                  <c:v>29.12</c:v>
                </c:pt>
                <c:pt idx="122">
                  <c:v>29.143000000000001</c:v>
                </c:pt>
                <c:pt idx="123">
                  <c:v>29.039000000000001</c:v>
                </c:pt>
                <c:pt idx="124">
                  <c:v>29.536000000000001</c:v>
                </c:pt>
                <c:pt idx="125">
                  <c:v>29.547999999999998</c:v>
                </c:pt>
                <c:pt idx="126">
                  <c:v>28.817</c:v>
                </c:pt>
                <c:pt idx="127">
                  <c:v>28.856000000000002</c:v>
                </c:pt>
                <c:pt idx="128">
                  <c:v>28.709</c:v>
                </c:pt>
                <c:pt idx="129">
                  <c:v>28.603000000000002</c:v>
                </c:pt>
                <c:pt idx="130">
                  <c:v>28.411000000000001</c:v>
                </c:pt>
                <c:pt idx="131">
                  <c:v>28.312000000000001</c:v>
                </c:pt>
                <c:pt idx="132">
                  <c:v>28.186</c:v>
                </c:pt>
                <c:pt idx="133">
                  <c:v>28.061</c:v>
                </c:pt>
                <c:pt idx="134">
                  <c:v>27.834</c:v>
                </c:pt>
                <c:pt idx="135">
                  <c:v>27.748000000000001</c:v>
                </c:pt>
                <c:pt idx="136">
                  <c:v>27.716999999999999</c:v>
                </c:pt>
                <c:pt idx="137">
                  <c:v>27.771000000000001</c:v>
                </c:pt>
                <c:pt idx="138">
                  <c:v>27.716000000000001</c:v>
                </c:pt>
                <c:pt idx="139">
                  <c:v>27.646999999999998</c:v>
                </c:pt>
                <c:pt idx="140">
                  <c:v>27.609000000000002</c:v>
                </c:pt>
                <c:pt idx="141">
                  <c:v>27.602</c:v>
                </c:pt>
                <c:pt idx="142">
                  <c:v>27.611999999999998</c:v>
                </c:pt>
                <c:pt idx="143">
                  <c:v>27.591000000000001</c:v>
                </c:pt>
              </c:numCache>
            </c:numRef>
          </c:val>
          <c:smooth val="0"/>
          <c:extLst>
            <c:ext xmlns:c16="http://schemas.microsoft.com/office/drawing/2014/chart" uri="{C3380CC4-5D6E-409C-BE32-E72D297353CC}">
              <c16:uniqueId val="{00000001-03A0-BA4B-AE34-EDA8F1182740}"/>
            </c:ext>
          </c:extLst>
        </c:ser>
        <c:ser>
          <c:idx val="2"/>
          <c:order val="2"/>
          <c:tx>
            <c:strRef>
              <c:f>'図16_分析8_風'!$E$1</c:f>
              <c:strCache>
                <c:ptCount val="1"/>
                <c:pt idx="0">
                  <c:v>列8</c:v>
                </c:pt>
              </c:strCache>
            </c:strRef>
          </c:tx>
          <c:spPr>
            <a:ln w="11430" cap="rnd">
              <a:solidFill>
                <a:srgbClr val="01B8AA"/>
              </a:solidFill>
              <a:round/>
            </a:ln>
          </c:spPr>
          <c:marker>
            <c:symbol val="none"/>
          </c:marker>
          <c:cat>
            <c:strRef>
              <c:f>'図16_分析8_風'!$B$2:$B$145</c:f>
              <c:strCache>
                <c:ptCount val="144"/>
                <c:pt idx="0">
                  <c:v>0:00</c:v>
                </c:pt>
                <c:pt idx="36">
                  <c:v>6:00</c:v>
                </c:pt>
                <c:pt idx="72">
                  <c:v>12:00</c:v>
                </c:pt>
                <c:pt idx="108">
                  <c:v>18:00</c:v>
                </c:pt>
              </c:strCache>
            </c:strRef>
          </c:cat>
          <c:val>
            <c:numRef>
              <c:f>'図16_分析8_風'!$E$2:$E$145</c:f>
              <c:numCache>
                <c:formatCode>General</c:formatCode>
                <c:ptCount val="144"/>
                <c:pt idx="0">
                  <c:v>26.687999999999999</c:v>
                </c:pt>
                <c:pt idx="1">
                  <c:v>26.681000000000001</c:v>
                </c:pt>
                <c:pt idx="2">
                  <c:v>26.641999999999999</c:v>
                </c:pt>
                <c:pt idx="3">
                  <c:v>26.619</c:v>
                </c:pt>
                <c:pt idx="4">
                  <c:v>26.603999999999999</c:v>
                </c:pt>
                <c:pt idx="5">
                  <c:v>26.529</c:v>
                </c:pt>
                <c:pt idx="6">
                  <c:v>26.513999999999999</c:v>
                </c:pt>
                <c:pt idx="7">
                  <c:v>26.483000000000001</c:v>
                </c:pt>
                <c:pt idx="8">
                  <c:v>26.448</c:v>
                </c:pt>
                <c:pt idx="9">
                  <c:v>26.411000000000001</c:v>
                </c:pt>
                <c:pt idx="10">
                  <c:v>26.318999999999999</c:v>
                </c:pt>
                <c:pt idx="11">
                  <c:v>26.257999999999999</c:v>
                </c:pt>
                <c:pt idx="12">
                  <c:v>26.289000000000001</c:v>
                </c:pt>
                <c:pt idx="13">
                  <c:v>26.283000000000001</c:v>
                </c:pt>
                <c:pt idx="14">
                  <c:v>26.248000000000001</c:v>
                </c:pt>
                <c:pt idx="15">
                  <c:v>26.172999999999998</c:v>
                </c:pt>
                <c:pt idx="16">
                  <c:v>26.193000000000001</c:v>
                </c:pt>
                <c:pt idx="17">
                  <c:v>26.164000000000001</c:v>
                </c:pt>
                <c:pt idx="18">
                  <c:v>26.161000000000001</c:v>
                </c:pt>
                <c:pt idx="19">
                  <c:v>26.117999999999999</c:v>
                </c:pt>
                <c:pt idx="20">
                  <c:v>26.093</c:v>
                </c:pt>
                <c:pt idx="21">
                  <c:v>26.103999999999999</c:v>
                </c:pt>
                <c:pt idx="22">
                  <c:v>26.126999999999999</c:v>
                </c:pt>
                <c:pt idx="23">
                  <c:v>26.183</c:v>
                </c:pt>
                <c:pt idx="24">
                  <c:v>26.22</c:v>
                </c:pt>
                <c:pt idx="25">
                  <c:v>26.228999999999999</c:v>
                </c:pt>
                <c:pt idx="26">
                  <c:v>26.213000000000001</c:v>
                </c:pt>
                <c:pt idx="27">
                  <c:v>26.178000000000001</c:v>
                </c:pt>
                <c:pt idx="28">
                  <c:v>26.166</c:v>
                </c:pt>
                <c:pt idx="29">
                  <c:v>26.108000000000001</c:v>
                </c:pt>
                <c:pt idx="30">
                  <c:v>26.16</c:v>
                </c:pt>
                <c:pt idx="31">
                  <c:v>26.207000000000001</c:v>
                </c:pt>
                <c:pt idx="32">
                  <c:v>26.288</c:v>
                </c:pt>
                <c:pt idx="33">
                  <c:v>26.48</c:v>
                </c:pt>
                <c:pt idx="34">
                  <c:v>26.632000000000001</c:v>
                </c:pt>
                <c:pt idx="35">
                  <c:v>26.620999999999999</c:v>
                </c:pt>
                <c:pt idx="36">
                  <c:v>26.728000000000002</c:v>
                </c:pt>
                <c:pt idx="37">
                  <c:v>26.641999999999999</c:v>
                </c:pt>
                <c:pt idx="38">
                  <c:v>26.866</c:v>
                </c:pt>
                <c:pt idx="39">
                  <c:v>27.087</c:v>
                </c:pt>
                <c:pt idx="40">
                  <c:v>27.26</c:v>
                </c:pt>
                <c:pt idx="41">
                  <c:v>27.559000000000001</c:v>
                </c:pt>
                <c:pt idx="42">
                  <c:v>27.974</c:v>
                </c:pt>
                <c:pt idx="43">
                  <c:v>28.190999999999999</c:v>
                </c:pt>
                <c:pt idx="44">
                  <c:v>28.513000000000002</c:v>
                </c:pt>
                <c:pt idx="45">
                  <c:v>28.712</c:v>
                </c:pt>
                <c:pt idx="46">
                  <c:v>29.242999999999999</c:v>
                </c:pt>
                <c:pt idx="47">
                  <c:v>29.643999999999998</c:v>
                </c:pt>
                <c:pt idx="48">
                  <c:v>29.379000000000001</c:v>
                </c:pt>
                <c:pt idx="49">
                  <c:v>29.768999999999998</c:v>
                </c:pt>
                <c:pt idx="50">
                  <c:v>29.898</c:v>
                </c:pt>
                <c:pt idx="51">
                  <c:v>30.574000000000002</c:v>
                </c:pt>
                <c:pt idx="52">
                  <c:v>30.863</c:v>
                </c:pt>
                <c:pt idx="53">
                  <c:v>30.57</c:v>
                </c:pt>
                <c:pt idx="54">
                  <c:v>30.324000000000002</c:v>
                </c:pt>
                <c:pt idx="55">
                  <c:v>30.341999999999999</c:v>
                </c:pt>
                <c:pt idx="56">
                  <c:v>30.309000000000001</c:v>
                </c:pt>
                <c:pt idx="57">
                  <c:v>31.08</c:v>
                </c:pt>
                <c:pt idx="58">
                  <c:v>31.289000000000001</c:v>
                </c:pt>
                <c:pt idx="59">
                  <c:v>31.228000000000002</c:v>
                </c:pt>
                <c:pt idx="60">
                  <c:v>31.587</c:v>
                </c:pt>
                <c:pt idx="61">
                  <c:v>32.085999999999999</c:v>
                </c:pt>
                <c:pt idx="62">
                  <c:v>32.234000000000002</c:v>
                </c:pt>
                <c:pt idx="63">
                  <c:v>32.195999999999998</c:v>
                </c:pt>
                <c:pt idx="64">
                  <c:v>31.867999999999999</c:v>
                </c:pt>
                <c:pt idx="65">
                  <c:v>32.127000000000002</c:v>
                </c:pt>
                <c:pt idx="66">
                  <c:v>31.411000000000001</c:v>
                </c:pt>
                <c:pt idx="67">
                  <c:v>31.693999999999999</c:v>
                </c:pt>
                <c:pt idx="68">
                  <c:v>32.146999999999998</c:v>
                </c:pt>
                <c:pt idx="69">
                  <c:v>32.406999999999996</c:v>
                </c:pt>
                <c:pt idx="70">
                  <c:v>32.247999999999998</c:v>
                </c:pt>
                <c:pt idx="71">
                  <c:v>32.622999999999998</c:v>
                </c:pt>
                <c:pt idx="72">
                  <c:v>32.792999999999999</c:v>
                </c:pt>
                <c:pt idx="73">
                  <c:v>32.456000000000003</c:v>
                </c:pt>
                <c:pt idx="74">
                  <c:v>32.798000000000002</c:v>
                </c:pt>
                <c:pt idx="75">
                  <c:v>33.539000000000001</c:v>
                </c:pt>
                <c:pt idx="76">
                  <c:v>33.737000000000002</c:v>
                </c:pt>
                <c:pt idx="77">
                  <c:v>32.682000000000002</c:v>
                </c:pt>
                <c:pt idx="78">
                  <c:v>33.058</c:v>
                </c:pt>
                <c:pt idx="79">
                  <c:v>33.231999999999999</c:v>
                </c:pt>
                <c:pt idx="80">
                  <c:v>33.079000000000001</c:v>
                </c:pt>
                <c:pt idx="81">
                  <c:v>33.786999999999999</c:v>
                </c:pt>
                <c:pt idx="82">
                  <c:v>33.564</c:v>
                </c:pt>
                <c:pt idx="83">
                  <c:v>33.887</c:v>
                </c:pt>
                <c:pt idx="84">
                  <c:v>33.231999999999999</c:v>
                </c:pt>
                <c:pt idx="85">
                  <c:v>33.222000000000001</c:v>
                </c:pt>
                <c:pt idx="86">
                  <c:v>33.433999999999997</c:v>
                </c:pt>
                <c:pt idx="87">
                  <c:v>33.607999999999997</c:v>
                </c:pt>
                <c:pt idx="88">
                  <c:v>33.381</c:v>
                </c:pt>
                <c:pt idx="89">
                  <c:v>33.253999999999998</c:v>
                </c:pt>
                <c:pt idx="90">
                  <c:v>33.079000000000001</c:v>
                </c:pt>
                <c:pt idx="91">
                  <c:v>33.087000000000003</c:v>
                </c:pt>
                <c:pt idx="92">
                  <c:v>33.537999999999997</c:v>
                </c:pt>
                <c:pt idx="93">
                  <c:v>32.805999999999997</c:v>
                </c:pt>
                <c:pt idx="94">
                  <c:v>33.040999999999997</c:v>
                </c:pt>
                <c:pt idx="95">
                  <c:v>32.183</c:v>
                </c:pt>
                <c:pt idx="96">
                  <c:v>32.061999999999998</c:v>
                </c:pt>
                <c:pt idx="97">
                  <c:v>32.159999999999997</c:v>
                </c:pt>
                <c:pt idx="98">
                  <c:v>31.44</c:v>
                </c:pt>
                <c:pt idx="99">
                  <c:v>31.893999999999998</c:v>
                </c:pt>
                <c:pt idx="100">
                  <c:v>31.792000000000002</c:v>
                </c:pt>
                <c:pt idx="101">
                  <c:v>31.452999999999999</c:v>
                </c:pt>
                <c:pt idx="102">
                  <c:v>31.151</c:v>
                </c:pt>
                <c:pt idx="103">
                  <c:v>31.277999999999999</c:v>
                </c:pt>
                <c:pt idx="104">
                  <c:v>31.241</c:v>
                </c:pt>
                <c:pt idx="105">
                  <c:v>30.611000000000001</c:v>
                </c:pt>
                <c:pt idx="106">
                  <c:v>30.689</c:v>
                </c:pt>
                <c:pt idx="107">
                  <c:v>30.346</c:v>
                </c:pt>
                <c:pt idx="108">
                  <c:v>30.189</c:v>
                </c:pt>
                <c:pt idx="109">
                  <c:v>29.812000000000001</c:v>
                </c:pt>
                <c:pt idx="110">
                  <c:v>29.637</c:v>
                </c:pt>
                <c:pt idx="111">
                  <c:v>29.474</c:v>
                </c:pt>
                <c:pt idx="112">
                  <c:v>29.366</c:v>
                </c:pt>
                <c:pt idx="113">
                  <c:v>29.533999999999999</c:v>
                </c:pt>
                <c:pt idx="114">
                  <c:v>29.366</c:v>
                </c:pt>
                <c:pt idx="115">
                  <c:v>29.140999999999998</c:v>
                </c:pt>
                <c:pt idx="116">
                  <c:v>29.082000000000001</c:v>
                </c:pt>
                <c:pt idx="117">
                  <c:v>29.206</c:v>
                </c:pt>
                <c:pt idx="118">
                  <c:v>29.146000000000001</c:v>
                </c:pt>
                <c:pt idx="119">
                  <c:v>29.084</c:v>
                </c:pt>
                <c:pt idx="120">
                  <c:v>29.282</c:v>
                </c:pt>
                <c:pt idx="121">
                  <c:v>28.948</c:v>
                </c:pt>
                <c:pt idx="122">
                  <c:v>28.693999999999999</c:v>
                </c:pt>
                <c:pt idx="123">
                  <c:v>28.760999999999999</c:v>
                </c:pt>
                <c:pt idx="124">
                  <c:v>28.736000000000001</c:v>
                </c:pt>
                <c:pt idx="125">
                  <c:v>28.582999999999998</c:v>
                </c:pt>
                <c:pt idx="126">
                  <c:v>28.539000000000001</c:v>
                </c:pt>
                <c:pt idx="127">
                  <c:v>28.568000000000001</c:v>
                </c:pt>
                <c:pt idx="128">
                  <c:v>28.53</c:v>
                </c:pt>
                <c:pt idx="129">
                  <c:v>28.687999999999999</c:v>
                </c:pt>
                <c:pt idx="130">
                  <c:v>28.4</c:v>
                </c:pt>
                <c:pt idx="131">
                  <c:v>28.334</c:v>
                </c:pt>
                <c:pt idx="132">
                  <c:v>28.416</c:v>
                </c:pt>
                <c:pt idx="133">
                  <c:v>28.318999999999999</c:v>
                </c:pt>
                <c:pt idx="134">
                  <c:v>28.02</c:v>
                </c:pt>
                <c:pt idx="135">
                  <c:v>27.869</c:v>
                </c:pt>
                <c:pt idx="136">
                  <c:v>27.739000000000001</c:v>
                </c:pt>
                <c:pt idx="137">
                  <c:v>27.693999999999999</c:v>
                </c:pt>
                <c:pt idx="138">
                  <c:v>27.641999999999999</c:v>
                </c:pt>
                <c:pt idx="139">
                  <c:v>27.597999999999999</c:v>
                </c:pt>
                <c:pt idx="140">
                  <c:v>27.593</c:v>
                </c:pt>
                <c:pt idx="141">
                  <c:v>27.571000000000002</c:v>
                </c:pt>
                <c:pt idx="142">
                  <c:v>27.559000000000001</c:v>
                </c:pt>
                <c:pt idx="143">
                  <c:v>27.51</c:v>
                </c:pt>
              </c:numCache>
            </c:numRef>
          </c:val>
          <c:smooth val="0"/>
          <c:extLst>
            <c:ext xmlns:c16="http://schemas.microsoft.com/office/drawing/2014/chart" uri="{C3380CC4-5D6E-409C-BE32-E72D297353CC}">
              <c16:uniqueId val="{00000002-03A0-BA4B-AE34-EDA8F1182740}"/>
            </c:ext>
          </c:extLst>
        </c:ser>
        <c:ser>
          <c:idx val="3"/>
          <c:order val="3"/>
          <c:tx>
            <c:strRef>
              <c:f>'図16_分析8_風'!$F$1</c:f>
              <c:strCache>
                <c:ptCount val="1"/>
                <c:pt idx="0">
                  <c:v>列11</c:v>
                </c:pt>
              </c:strCache>
            </c:strRef>
          </c:tx>
          <c:spPr>
            <a:ln w="11430" cap="rnd">
              <a:solidFill>
                <a:srgbClr val="118DFF"/>
              </a:solidFill>
              <a:round/>
            </a:ln>
          </c:spPr>
          <c:marker>
            <c:symbol val="none"/>
          </c:marker>
          <c:cat>
            <c:strRef>
              <c:f>'図16_分析8_風'!$B$2:$B$145</c:f>
              <c:strCache>
                <c:ptCount val="144"/>
                <c:pt idx="0">
                  <c:v>0:00</c:v>
                </c:pt>
                <c:pt idx="36">
                  <c:v>6:00</c:v>
                </c:pt>
                <c:pt idx="72">
                  <c:v>12:00</c:v>
                </c:pt>
                <c:pt idx="108">
                  <c:v>18:00</c:v>
                </c:pt>
              </c:strCache>
            </c:strRef>
          </c:cat>
          <c:val>
            <c:numRef>
              <c:f>'図16_分析8_風'!$F$2:$F$145</c:f>
              <c:numCache>
                <c:formatCode>General</c:formatCode>
                <c:ptCount val="144"/>
                <c:pt idx="0">
                  <c:v>26.664999999999999</c:v>
                </c:pt>
                <c:pt idx="1">
                  <c:v>26.654</c:v>
                </c:pt>
                <c:pt idx="2">
                  <c:v>26.634</c:v>
                </c:pt>
                <c:pt idx="3">
                  <c:v>26.616</c:v>
                </c:pt>
                <c:pt idx="4">
                  <c:v>26.571000000000002</c:v>
                </c:pt>
                <c:pt idx="5">
                  <c:v>26.521000000000001</c:v>
                </c:pt>
                <c:pt idx="6">
                  <c:v>26.510999999999999</c:v>
                </c:pt>
                <c:pt idx="7">
                  <c:v>26.466000000000001</c:v>
                </c:pt>
                <c:pt idx="8">
                  <c:v>26.436</c:v>
                </c:pt>
                <c:pt idx="9">
                  <c:v>26.39</c:v>
                </c:pt>
                <c:pt idx="10">
                  <c:v>26.349</c:v>
                </c:pt>
                <c:pt idx="11">
                  <c:v>26.343</c:v>
                </c:pt>
                <c:pt idx="12">
                  <c:v>26.318999999999999</c:v>
                </c:pt>
                <c:pt idx="13">
                  <c:v>26.344999999999999</c:v>
                </c:pt>
                <c:pt idx="14">
                  <c:v>26.303999999999998</c:v>
                </c:pt>
                <c:pt idx="15">
                  <c:v>26.231999999999999</c:v>
                </c:pt>
                <c:pt idx="16">
                  <c:v>26.219000000000001</c:v>
                </c:pt>
                <c:pt idx="17">
                  <c:v>26.221</c:v>
                </c:pt>
                <c:pt idx="18">
                  <c:v>26.181000000000001</c:v>
                </c:pt>
                <c:pt idx="19">
                  <c:v>26.16</c:v>
                </c:pt>
                <c:pt idx="20">
                  <c:v>26.148</c:v>
                </c:pt>
                <c:pt idx="21">
                  <c:v>26.14</c:v>
                </c:pt>
                <c:pt idx="22">
                  <c:v>26.178999999999998</c:v>
                </c:pt>
                <c:pt idx="23">
                  <c:v>26.210999999999999</c:v>
                </c:pt>
                <c:pt idx="24">
                  <c:v>26.263999999999999</c:v>
                </c:pt>
                <c:pt idx="25">
                  <c:v>26.238</c:v>
                </c:pt>
                <c:pt idx="26">
                  <c:v>26.210999999999999</c:v>
                </c:pt>
                <c:pt idx="27">
                  <c:v>26.19</c:v>
                </c:pt>
                <c:pt idx="28">
                  <c:v>26.177</c:v>
                </c:pt>
                <c:pt idx="29">
                  <c:v>26.129000000000001</c:v>
                </c:pt>
                <c:pt idx="30">
                  <c:v>26.143999999999998</c:v>
                </c:pt>
                <c:pt idx="31">
                  <c:v>26.18</c:v>
                </c:pt>
                <c:pt idx="32">
                  <c:v>26.364000000000001</c:v>
                </c:pt>
                <c:pt idx="33">
                  <c:v>26.709</c:v>
                </c:pt>
                <c:pt idx="34">
                  <c:v>26.838999999999999</c:v>
                </c:pt>
                <c:pt idx="35">
                  <c:v>26.811</c:v>
                </c:pt>
                <c:pt idx="36">
                  <c:v>26.777000000000001</c:v>
                </c:pt>
                <c:pt idx="37">
                  <c:v>26.76</c:v>
                </c:pt>
                <c:pt idx="38">
                  <c:v>26.951000000000001</c:v>
                </c:pt>
                <c:pt idx="39">
                  <c:v>27.082000000000001</c:v>
                </c:pt>
                <c:pt idx="40">
                  <c:v>27.12</c:v>
                </c:pt>
                <c:pt idx="41">
                  <c:v>27.495000000000001</c:v>
                </c:pt>
                <c:pt idx="42">
                  <c:v>27.776</c:v>
                </c:pt>
                <c:pt idx="43">
                  <c:v>28.103999999999999</c:v>
                </c:pt>
                <c:pt idx="44">
                  <c:v>28.254000000000001</c:v>
                </c:pt>
                <c:pt idx="45">
                  <c:v>28.504999999999999</c:v>
                </c:pt>
                <c:pt idx="46">
                  <c:v>28.850999999999999</c:v>
                </c:pt>
                <c:pt idx="47">
                  <c:v>29.542999999999999</c:v>
                </c:pt>
                <c:pt idx="48">
                  <c:v>29.372</c:v>
                </c:pt>
                <c:pt idx="49">
                  <c:v>28.984000000000002</c:v>
                </c:pt>
                <c:pt idx="50">
                  <c:v>29.494</c:v>
                </c:pt>
                <c:pt idx="51">
                  <c:v>30.263999999999999</c:v>
                </c:pt>
                <c:pt idx="52">
                  <c:v>29.963999999999999</c:v>
                </c:pt>
                <c:pt idx="53">
                  <c:v>30.212</c:v>
                </c:pt>
                <c:pt idx="54">
                  <c:v>29.613</c:v>
                </c:pt>
                <c:pt idx="55">
                  <c:v>30.076000000000001</c:v>
                </c:pt>
                <c:pt idx="56">
                  <c:v>29.814</c:v>
                </c:pt>
                <c:pt idx="57">
                  <c:v>30.555</c:v>
                </c:pt>
                <c:pt idx="58">
                  <c:v>30.471</c:v>
                </c:pt>
                <c:pt idx="59">
                  <c:v>31.13</c:v>
                </c:pt>
                <c:pt idx="60">
                  <c:v>31.241</c:v>
                </c:pt>
                <c:pt idx="61">
                  <c:v>31.084</c:v>
                </c:pt>
                <c:pt idx="62">
                  <c:v>31.021000000000001</c:v>
                </c:pt>
                <c:pt idx="63">
                  <c:v>31.861000000000001</c:v>
                </c:pt>
                <c:pt idx="64">
                  <c:v>31.47</c:v>
                </c:pt>
                <c:pt idx="65">
                  <c:v>31.568000000000001</c:v>
                </c:pt>
                <c:pt idx="66">
                  <c:v>31.375</c:v>
                </c:pt>
                <c:pt idx="67">
                  <c:v>31.276</c:v>
                </c:pt>
                <c:pt idx="68">
                  <c:v>31.212</c:v>
                </c:pt>
                <c:pt idx="69">
                  <c:v>31.792999999999999</c:v>
                </c:pt>
                <c:pt idx="70">
                  <c:v>31.702000000000002</c:v>
                </c:pt>
                <c:pt idx="71">
                  <c:v>32.048999999999999</c:v>
                </c:pt>
                <c:pt idx="72">
                  <c:v>32.134999999999998</c:v>
                </c:pt>
                <c:pt idx="73">
                  <c:v>32.171999999999997</c:v>
                </c:pt>
                <c:pt idx="74">
                  <c:v>32.174999999999997</c:v>
                </c:pt>
                <c:pt idx="75">
                  <c:v>31.971</c:v>
                </c:pt>
                <c:pt idx="76">
                  <c:v>32.494</c:v>
                </c:pt>
                <c:pt idx="77">
                  <c:v>32.295999999999999</c:v>
                </c:pt>
                <c:pt idx="78">
                  <c:v>32.402000000000001</c:v>
                </c:pt>
                <c:pt idx="79">
                  <c:v>32.844999999999999</c:v>
                </c:pt>
                <c:pt idx="80">
                  <c:v>32.645000000000003</c:v>
                </c:pt>
                <c:pt idx="81">
                  <c:v>33.345999999999997</c:v>
                </c:pt>
                <c:pt idx="82">
                  <c:v>33.194000000000003</c:v>
                </c:pt>
                <c:pt idx="83">
                  <c:v>33.034999999999997</c:v>
                </c:pt>
                <c:pt idx="84">
                  <c:v>32.668999999999997</c:v>
                </c:pt>
                <c:pt idx="85">
                  <c:v>32.719000000000001</c:v>
                </c:pt>
                <c:pt idx="86">
                  <c:v>32.962000000000003</c:v>
                </c:pt>
                <c:pt idx="87">
                  <c:v>32.837000000000003</c:v>
                </c:pt>
                <c:pt idx="88">
                  <c:v>32.661000000000001</c:v>
                </c:pt>
                <c:pt idx="89">
                  <c:v>32.798999999999999</c:v>
                </c:pt>
                <c:pt idx="90">
                  <c:v>32.783999999999999</c:v>
                </c:pt>
                <c:pt idx="91">
                  <c:v>32.689</c:v>
                </c:pt>
                <c:pt idx="92">
                  <c:v>32.982999999999997</c:v>
                </c:pt>
                <c:pt idx="93">
                  <c:v>32.295999999999999</c:v>
                </c:pt>
                <c:pt idx="94">
                  <c:v>32.47</c:v>
                </c:pt>
                <c:pt idx="95">
                  <c:v>31.963999999999999</c:v>
                </c:pt>
                <c:pt idx="96">
                  <c:v>31.83</c:v>
                </c:pt>
                <c:pt idx="97">
                  <c:v>31.771000000000001</c:v>
                </c:pt>
                <c:pt idx="98">
                  <c:v>31.395</c:v>
                </c:pt>
                <c:pt idx="99">
                  <c:v>31.609000000000002</c:v>
                </c:pt>
                <c:pt idx="100">
                  <c:v>31.623999999999999</c:v>
                </c:pt>
                <c:pt idx="101">
                  <c:v>31.245000000000001</c:v>
                </c:pt>
                <c:pt idx="102">
                  <c:v>31.036000000000001</c:v>
                </c:pt>
                <c:pt idx="103">
                  <c:v>30.847999999999999</c:v>
                </c:pt>
                <c:pt idx="104">
                  <c:v>30.788</c:v>
                </c:pt>
                <c:pt idx="105">
                  <c:v>30.577000000000002</c:v>
                </c:pt>
                <c:pt idx="106">
                  <c:v>30.57</c:v>
                </c:pt>
                <c:pt idx="107">
                  <c:v>30.303999999999998</c:v>
                </c:pt>
                <c:pt idx="108">
                  <c:v>30.193999999999999</c:v>
                </c:pt>
                <c:pt idx="109">
                  <c:v>30.163</c:v>
                </c:pt>
                <c:pt idx="110">
                  <c:v>30.420999999999999</c:v>
                </c:pt>
                <c:pt idx="111">
                  <c:v>30.035</c:v>
                </c:pt>
                <c:pt idx="112">
                  <c:v>29.704999999999998</c:v>
                </c:pt>
                <c:pt idx="113">
                  <c:v>29.693000000000001</c:v>
                </c:pt>
                <c:pt idx="114">
                  <c:v>29.798999999999999</c:v>
                </c:pt>
                <c:pt idx="115">
                  <c:v>29.379000000000001</c:v>
                </c:pt>
                <c:pt idx="116">
                  <c:v>29.123999999999999</c:v>
                </c:pt>
                <c:pt idx="117">
                  <c:v>29.4</c:v>
                </c:pt>
                <c:pt idx="118">
                  <c:v>29.684000000000001</c:v>
                </c:pt>
                <c:pt idx="119">
                  <c:v>29.21</c:v>
                </c:pt>
                <c:pt idx="120">
                  <c:v>29.234000000000002</c:v>
                </c:pt>
                <c:pt idx="121">
                  <c:v>29.032</c:v>
                </c:pt>
                <c:pt idx="122">
                  <c:v>28.780999999999999</c:v>
                </c:pt>
                <c:pt idx="123">
                  <c:v>29.010999999999999</c:v>
                </c:pt>
                <c:pt idx="124">
                  <c:v>28.908999999999999</c:v>
                </c:pt>
                <c:pt idx="125">
                  <c:v>28.599</c:v>
                </c:pt>
                <c:pt idx="126">
                  <c:v>28.7</c:v>
                </c:pt>
                <c:pt idx="127">
                  <c:v>28.794</c:v>
                </c:pt>
                <c:pt idx="128">
                  <c:v>28.9</c:v>
                </c:pt>
                <c:pt idx="129">
                  <c:v>28.867000000000001</c:v>
                </c:pt>
                <c:pt idx="130">
                  <c:v>28.664000000000001</c:v>
                </c:pt>
                <c:pt idx="131">
                  <c:v>28.702000000000002</c:v>
                </c:pt>
                <c:pt idx="132">
                  <c:v>28.437999999999999</c:v>
                </c:pt>
                <c:pt idx="133">
                  <c:v>28.140999999999998</c:v>
                </c:pt>
                <c:pt idx="134">
                  <c:v>28.015999999999998</c:v>
                </c:pt>
                <c:pt idx="135">
                  <c:v>27.931000000000001</c:v>
                </c:pt>
                <c:pt idx="136">
                  <c:v>27.835999999999999</c:v>
                </c:pt>
                <c:pt idx="137">
                  <c:v>27.736000000000001</c:v>
                </c:pt>
                <c:pt idx="138">
                  <c:v>27.675999999999998</c:v>
                </c:pt>
                <c:pt idx="139">
                  <c:v>27.635000000000002</c:v>
                </c:pt>
                <c:pt idx="140">
                  <c:v>27.6</c:v>
                </c:pt>
                <c:pt idx="141">
                  <c:v>27.635999999999999</c:v>
                </c:pt>
                <c:pt idx="142">
                  <c:v>27.657</c:v>
                </c:pt>
                <c:pt idx="143">
                  <c:v>27.6</c:v>
                </c:pt>
              </c:numCache>
            </c:numRef>
          </c:val>
          <c:smooth val="0"/>
          <c:extLst>
            <c:ext xmlns:c16="http://schemas.microsoft.com/office/drawing/2014/chart" uri="{C3380CC4-5D6E-409C-BE32-E72D297353CC}">
              <c16:uniqueId val="{00000003-03A0-BA4B-AE34-EDA8F1182740}"/>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none"/>
        <c:minorTickMark val="none"/>
        <c:tickLblPos val="low"/>
        <c:spPr>
          <a:ln w="9525" cap="rnd">
            <a:solidFill>
              <a:srgbClr val="5E6B7A"/>
            </a:solidFill>
            <a:round/>
          </a:ln>
        </c:spPr>
        <c:crossAx val="20"/>
        <c:crosses val="autoZero"/>
        <c:auto val="1"/>
        <c:lblAlgn val="ctr"/>
        <c:lblOffset val="100"/>
        <c:noMultiLvlLbl val="0"/>
      </c:catAx>
      <c:valAx>
        <c:axId val="20"/>
        <c:scaling>
          <c:orientation val="minMax"/>
          <c:max val="36"/>
          <c:min val="26"/>
        </c:scaling>
        <c:delete val="0"/>
        <c:axPos val="l"/>
        <c:majorGridlines>
          <c:spPr>
            <a:ln w="9525" cap="rnd">
              <a:solidFill>
                <a:srgbClr val="E3E7EC"/>
              </a:solidFill>
              <a:round/>
            </a:ln>
          </c:spPr>
        </c:majorGridlines>
        <c:title>
          <c:tx>
            <c:rich>
              <a:bodyPr rot="-5400000" vert="horz"/>
              <a:lstStyle/>
              <a:p>
                <a:pPr>
                  <a:defRPr sz="900" b="0"/>
                </a:pPr>
                <a:r>
                  <a:rPr lang="ja-JP" sz="900" b="0"/>
                  <a:t>吸気温度［℃］</a:t>
                </a:r>
              </a:p>
            </c:rich>
          </c:tx>
          <c:overlay val="0"/>
        </c:title>
        <c:numFmt formatCode="0" sourceLinked="0"/>
        <c:majorTickMark val="out"/>
        <c:minorTickMark val="none"/>
        <c:tickLblPos val="nextTo"/>
        <c:spPr>
          <a:ln w="9525" cap="rnd">
            <a:solidFill>
              <a:srgbClr val="5E6B7A"/>
            </a:solidFill>
            <a:round/>
          </a:ln>
        </c:spPr>
        <c:crossAx val="10"/>
        <c:crosses val="autoZero"/>
        <c:crossBetween val="between"/>
        <c:majorUnit val="2"/>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
          <c:y val="0.25"/>
          <c:w val="0.76"/>
          <c:h val="0.55000000000000004"/>
        </c:manualLayout>
      </c:layout>
      <c:lineChart>
        <c:grouping val="standard"/>
        <c:varyColors val="0"/>
        <c:ser>
          <c:idx val="0"/>
          <c:order val="0"/>
          <c:tx>
            <c:strRef>
              <c:f>'図16_分析8_風'!$I$1</c:f>
              <c:strCache>
                <c:ptCount val="1"/>
                <c:pt idx="0">
                  <c:v>屋上の気温</c:v>
                </c:pt>
              </c:strCache>
            </c:strRef>
          </c:tx>
          <c:spPr>
            <a:ln w="15875" cap="rnd">
              <a:solidFill>
                <a:srgbClr val="ED7D31"/>
              </a:solidFill>
              <a:round/>
            </a:ln>
          </c:spPr>
          <c:marker>
            <c:symbol val="none"/>
          </c:marker>
          <c:cat>
            <c:strRef>
              <c:f>'図16_分析8_風'!$B$2:$B$145</c:f>
              <c:strCache>
                <c:ptCount val="144"/>
                <c:pt idx="0">
                  <c:v>0:00</c:v>
                </c:pt>
                <c:pt idx="36">
                  <c:v>6:00</c:v>
                </c:pt>
                <c:pt idx="72">
                  <c:v>12:00</c:v>
                </c:pt>
                <c:pt idx="108">
                  <c:v>18:00</c:v>
                </c:pt>
              </c:strCache>
            </c:strRef>
          </c:cat>
          <c:val>
            <c:numRef>
              <c:f>'図16_分析8_風'!$I$2:$I$145</c:f>
              <c:numCache>
                <c:formatCode>General</c:formatCode>
                <c:ptCount val="144"/>
                <c:pt idx="0">
                  <c:v>27.53</c:v>
                </c:pt>
                <c:pt idx="1">
                  <c:v>27.5</c:v>
                </c:pt>
                <c:pt idx="2">
                  <c:v>27.57</c:v>
                </c:pt>
                <c:pt idx="3">
                  <c:v>27.58</c:v>
                </c:pt>
                <c:pt idx="4">
                  <c:v>27.54</c:v>
                </c:pt>
                <c:pt idx="5">
                  <c:v>27.57</c:v>
                </c:pt>
                <c:pt idx="6">
                  <c:v>27.55</c:v>
                </c:pt>
                <c:pt idx="7">
                  <c:v>27.5</c:v>
                </c:pt>
                <c:pt idx="8">
                  <c:v>27.39</c:v>
                </c:pt>
                <c:pt idx="9">
                  <c:v>27.27</c:v>
                </c:pt>
                <c:pt idx="10">
                  <c:v>27.25</c:v>
                </c:pt>
                <c:pt idx="11">
                  <c:v>27.3</c:v>
                </c:pt>
                <c:pt idx="12">
                  <c:v>27.27</c:v>
                </c:pt>
                <c:pt idx="13">
                  <c:v>27.27</c:v>
                </c:pt>
                <c:pt idx="14">
                  <c:v>27.27</c:v>
                </c:pt>
                <c:pt idx="15">
                  <c:v>27.29</c:v>
                </c:pt>
                <c:pt idx="16">
                  <c:v>27.3</c:v>
                </c:pt>
                <c:pt idx="17">
                  <c:v>27.22</c:v>
                </c:pt>
                <c:pt idx="18">
                  <c:v>27.25</c:v>
                </c:pt>
                <c:pt idx="19">
                  <c:v>27.3</c:v>
                </c:pt>
                <c:pt idx="20">
                  <c:v>27.29</c:v>
                </c:pt>
                <c:pt idx="21">
                  <c:v>27.2</c:v>
                </c:pt>
                <c:pt idx="22">
                  <c:v>27.2</c:v>
                </c:pt>
                <c:pt idx="23">
                  <c:v>27.2</c:v>
                </c:pt>
                <c:pt idx="24">
                  <c:v>27.2</c:v>
                </c:pt>
                <c:pt idx="25">
                  <c:v>27.13</c:v>
                </c:pt>
                <c:pt idx="26">
                  <c:v>27.1</c:v>
                </c:pt>
                <c:pt idx="27">
                  <c:v>27.1</c:v>
                </c:pt>
                <c:pt idx="28">
                  <c:v>27.1</c:v>
                </c:pt>
                <c:pt idx="29">
                  <c:v>27.1</c:v>
                </c:pt>
                <c:pt idx="30">
                  <c:v>27.1</c:v>
                </c:pt>
                <c:pt idx="31">
                  <c:v>27.1</c:v>
                </c:pt>
                <c:pt idx="32">
                  <c:v>27.18</c:v>
                </c:pt>
                <c:pt idx="33">
                  <c:v>27.19</c:v>
                </c:pt>
                <c:pt idx="34">
                  <c:v>27.2</c:v>
                </c:pt>
                <c:pt idx="35">
                  <c:v>27.26</c:v>
                </c:pt>
                <c:pt idx="36">
                  <c:v>27.49</c:v>
                </c:pt>
                <c:pt idx="37">
                  <c:v>27.6</c:v>
                </c:pt>
                <c:pt idx="38">
                  <c:v>27.7</c:v>
                </c:pt>
                <c:pt idx="39">
                  <c:v>27.83</c:v>
                </c:pt>
                <c:pt idx="40">
                  <c:v>27.94</c:v>
                </c:pt>
                <c:pt idx="41">
                  <c:v>28.21</c:v>
                </c:pt>
                <c:pt idx="42">
                  <c:v>28.35</c:v>
                </c:pt>
                <c:pt idx="43">
                  <c:v>28.48</c:v>
                </c:pt>
                <c:pt idx="44">
                  <c:v>28.78</c:v>
                </c:pt>
                <c:pt idx="45">
                  <c:v>29.23</c:v>
                </c:pt>
                <c:pt idx="46">
                  <c:v>29.67</c:v>
                </c:pt>
                <c:pt idx="47">
                  <c:v>29.43</c:v>
                </c:pt>
                <c:pt idx="48">
                  <c:v>30.1</c:v>
                </c:pt>
                <c:pt idx="49">
                  <c:v>30.11</c:v>
                </c:pt>
                <c:pt idx="50">
                  <c:v>30.44</c:v>
                </c:pt>
                <c:pt idx="51">
                  <c:v>31.03</c:v>
                </c:pt>
                <c:pt idx="52">
                  <c:v>29.91</c:v>
                </c:pt>
                <c:pt idx="53">
                  <c:v>30.42</c:v>
                </c:pt>
                <c:pt idx="54">
                  <c:v>30.55</c:v>
                </c:pt>
                <c:pt idx="55">
                  <c:v>31.99</c:v>
                </c:pt>
                <c:pt idx="56">
                  <c:v>31.99</c:v>
                </c:pt>
                <c:pt idx="57">
                  <c:v>32.229999999999997</c:v>
                </c:pt>
                <c:pt idx="58">
                  <c:v>32.590000000000003</c:v>
                </c:pt>
                <c:pt idx="59">
                  <c:v>32.21</c:v>
                </c:pt>
                <c:pt idx="60">
                  <c:v>32.43</c:v>
                </c:pt>
                <c:pt idx="61">
                  <c:v>32.729999999999997</c:v>
                </c:pt>
                <c:pt idx="62">
                  <c:v>33.04</c:v>
                </c:pt>
                <c:pt idx="63">
                  <c:v>33.229999999999997</c:v>
                </c:pt>
                <c:pt idx="64">
                  <c:v>32.840000000000003</c:v>
                </c:pt>
                <c:pt idx="65">
                  <c:v>33.31</c:v>
                </c:pt>
                <c:pt idx="66">
                  <c:v>32.82</c:v>
                </c:pt>
                <c:pt idx="67">
                  <c:v>32.61</c:v>
                </c:pt>
                <c:pt idx="68">
                  <c:v>33.020000000000003</c:v>
                </c:pt>
                <c:pt idx="69">
                  <c:v>32.99</c:v>
                </c:pt>
                <c:pt idx="70">
                  <c:v>32.799999999999997</c:v>
                </c:pt>
                <c:pt idx="71">
                  <c:v>33.19</c:v>
                </c:pt>
                <c:pt idx="72">
                  <c:v>33.4</c:v>
                </c:pt>
                <c:pt idx="73">
                  <c:v>34.29</c:v>
                </c:pt>
                <c:pt idx="74">
                  <c:v>33.72</c:v>
                </c:pt>
                <c:pt idx="75">
                  <c:v>33.26</c:v>
                </c:pt>
                <c:pt idx="76">
                  <c:v>33.68</c:v>
                </c:pt>
                <c:pt idx="77">
                  <c:v>32.880000000000003</c:v>
                </c:pt>
                <c:pt idx="78">
                  <c:v>33.49</c:v>
                </c:pt>
                <c:pt idx="79">
                  <c:v>33.17</c:v>
                </c:pt>
                <c:pt idx="80">
                  <c:v>33.64</c:v>
                </c:pt>
                <c:pt idx="81">
                  <c:v>33.130000000000003</c:v>
                </c:pt>
                <c:pt idx="82">
                  <c:v>32.96</c:v>
                </c:pt>
                <c:pt idx="83">
                  <c:v>32.18</c:v>
                </c:pt>
                <c:pt idx="84">
                  <c:v>32.119999999999997</c:v>
                </c:pt>
                <c:pt idx="85">
                  <c:v>32.26</c:v>
                </c:pt>
                <c:pt idx="86">
                  <c:v>31.73</c:v>
                </c:pt>
                <c:pt idx="87">
                  <c:v>31.12</c:v>
                </c:pt>
                <c:pt idx="88">
                  <c:v>31.35</c:v>
                </c:pt>
                <c:pt idx="89">
                  <c:v>31.01</c:v>
                </c:pt>
                <c:pt idx="90">
                  <c:v>31.42</c:v>
                </c:pt>
                <c:pt idx="91">
                  <c:v>31.5</c:v>
                </c:pt>
                <c:pt idx="92">
                  <c:v>31.78</c:v>
                </c:pt>
                <c:pt idx="93">
                  <c:v>31.83</c:v>
                </c:pt>
                <c:pt idx="94">
                  <c:v>31.68</c:v>
                </c:pt>
                <c:pt idx="95">
                  <c:v>31.63</c:v>
                </c:pt>
                <c:pt idx="96">
                  <c:v>31.59</c:v>
                </c:pt>
                <c:pt idx="97">
                  <c:v>31.57</c:v>
                </c:pt>
                <c:pt idx="98">
                  <c:v>31.72</c:v>
                </c:pt>
                <c:pt idx="99">
                  <c:v>31.63</c:v>
                </c:pt>
                <c:pt idx="100">
                  <c:v>31.45</c:v>
                </c:pt>
                <c:pt idx="101">
                  <c:v>31.36</c:v>
                </c:pt>
                <c:pt idx="102">
                  <c:v>31.04</c:v>
                </c:pt>
                <c:pt idx="103">
                  <c:v>31.1</c:v>
                </c:pt>
                <c:pt idx="104">
                  <c:v>31.09</c:v>
                </c:pt>
                <c:pt idx="105">
                  <c:v>31.04</c:v>
                </c:pt>
                <c:pt idx="106">
                  <c:v>30.85</c:v>
                </c:pt>
                <c:pt idx="107">
                  <c:v>30.77</c:v>
                </c:pt>
                <c:pt idx="108">
                  <c:v>30.38</c:v>
                </c:pt>
                <c:pt idx="109">
                  <c:v>30.18</c:v>
                </c:pt>
                <c:pt idx="110">
                  <c:v>30.16</c:v>
                </c:pt>
                <c:pt idx="111">
                  <c:v>30.14</c:v>
                </c:pt>
                <c:pt idx="112">
                  <c:v>30.04</c:v>
                </c:pt>
                <c:pt idx="113">
                  <c:v>29.77</c:v>
                </c:pt>
                <c:pt idx="114">
                  <c:v>29.52</c:v>
                </c:pt>
                <c:pt idx="115">
                  <c:v>29.52</c:v>
                </c:pt>
                <c:pt idx="116">
                  <c:v>29.44</c:v>
                </c:pt>
                <c:pt idx="117">
                  <c:v>29.43</c:v>
                </c:pt>
                <c:pt idx="118">
                  <c:v>29.29</c:v>
                </c:pt>
                <c:pt idx="119">
                  <c:v>29.18</c:v>
                </c:pt>
                <c:pt idx="120">
                  <c:v>29.32</c:v>
                </c:pt>
                <c:pt idx="121">
                  <c:v>29.08</c:v>
                </c:pt>
                <c:pt idx="122">
                  <c:v>28.92</c:v>
                </c:pt>
                <c:pt idx="123">
                  <c:v>28.77</c:v>
                </c:pt>
                <c:pt idx="124">
                  <c:v>28.65</c:v>
                </c:pt>
                <c:pt idx="125">
                  <c:v>28.5</c:v>
                </c:pt>
                <c:pt idx="126">
                  <c:v>28.52</c:v>
                </c:pt>
                <c:pt idx="127">
                  <c:v>28.45</c:v>
                </c:pt>
                <c:pt idx="128">
                  <c:v>28.33</c:v>
                </c:pt>
                <c:pt idx="129">
                  <c:v>28.3</c:v>
                </c:pt>
                <c:pt idx="130">
                  <c:v>28.29</c:v>
                </c:pt>
                <c:pt idx="131">
                  <c:v>28.15</c:v>
                </c:pt>
                <c:pt idx="132">
                  <c:v>28.1</c:v>
                </c:pt>
                <c:pt idx="133">
                  <c:v>27.99</c:v>
                </c:pt>
                <c:pt idx="134">
                  <c:v>27.9</c:v>
                </c:pt>
                <c:pt idx="135">
                  <c:v>27.88</c:v>
                </c:pt>
                <c:pt idx="136">
                  <c:v>27.86</c:v>
                </c:pt>
                <c:pt idx="137">
                  <c:v>27.8</c:v>
                </c:pt>
                <c:pt idx="138">
                  <c:v>27.8</c:v>
                </c:pt>
                <c:pt idx="139">
                  <c:v>27.75</c:v>
                </c:pt>
                <c:pt idx="140">
                  <c:v>27.65</c:v>
                </c:pt>
                <c:pt idx="141">
                  <c:v>27.7</c:v>
                </c:pt>
                <c:pt idx="142">
                  <c:v>27.67</c:v>
                </c:pt>
                <c:pt idx="143">
                  <c:v>27.61</c:v>
                </c:pt>
              </c:numCache>
            </c:numRef>
          </c:val>
          <c:smooth val="0"/>
          <c:extLst>
            <c:ext xmlns:c16="http://schemas.microsoft.com/office/drawing/2014/chart" uri="{C3380CC4-5D6E-409C-BE32-E72D297353CC}">
              <c16:uniqueId val="{00000000-D1B1-5340-A161-A319EFF6313B}"/>
            </c:ext>
          </c:extLst>
        </c:ser>
        <c:ser>
          <c:idx val="1"/>
          <c:order val="1"/>
          <c:tx>
            <c:strRef>
              <c:f>'図16_分析8_風'!$J$1</c:f>
              <c:strCache>
                <c:ptCount val="1"/>
                <c:pt idx="0">
                  <c:v>列3</c:v>
                </c:pt>
              </c:strCache>
            </c:strRef>
          </c:tx>
          <c:spPr>
            <a:ln w="11430" cap="rnd">
              <a:solidFill>
                <a:srgbClr val="5E6B7A"/>
              </a:solidFill>
              <a:round/>
            </a:ln>
          </c:spPr>
          <c:marker>
            <c:symbol val="none"/>
          </c:marker>
          <c:cat>
            <c:strRef>
              <c:f>'図16_分析8_風'!$B$2:$B$145</c:f>
              <c:strCache>
                <c:ptCount val="144"/>
                <c:pt idx="0">
                  <c:v>0:00</c:v>
                </c:pt>
                <c:pt idx="36">
                  <c:v>6:00</c:v>
                </c:pt>
                <c:pt idx="72">
                  <c:v>12:00</c:v>
                </c:pt>
                <c:pt idx="108">
                  <c:v>18:00</c:v>
                </c:pt>
              </c:strCache>
            </c:strRef>
          </c:cat>
          <c:val>
            <c:numRef>
              <c:f>'図16_分析8_風'!$J$2:$J$145</c:f>
              <c:numCache>
                <c:formatCode>General</c:formatCode>
                <c:ptCount val="144"/>
                <c:pt idx="0">
                  <c:v>27.501000000000001</c:v>
                </c:pt>
                <c:pt idx="1">
                  <c:v>27.712</c:v>
                </c:pt>
                <c:pt idx="2">
                  <c:v>27.599</c:v>
                </c:pt>
                <c:pt idx="3">
                  <c:v>27.42</c:v>
                </c:pt>
                <c:pt idx="4">
                  <c:v>27.367999999999999</c:v>
                </c:pt>
                <c:pt idx="5">
                  <c:v>27.311</c:v>
                </c:pt>
                <c:pt idx="6">
                  <c:v>27.257000000000001</c:v>
                </c:pt>
                <c:pt idx="7">
                  <c:v>27.199000000000002</c:v>
                </c:pt>
                <c:pt idx="8">
                  <c:v>27.091999999999999</c:v>
                </c:pt>
                <c:pt idx="9">
                  <c:v>27.02</c:v>
                </c:pt>
                <c:pt idx="10">
                  <c:v>26.986000000000001</c:v>
                </c:pt>
                <c:pt idx="11">
                  <c:v>26.971</c:v>
                </c:pt>
                <c:pt idx="12">
                  <c:v>26.882999999999999</c:v>
                </c:pt>
                <c:pt idx="13">
                  <c:v>26.884</c:v>
                </c:pt>
                <c:pt idx="14">
                  <c:v>26.905999999999999</c:v>
                </c:pt>
                <c:pt idx="15">
                  <c:v>26.908999999999999</c:v>
                </c:pt>
                <c:pt idx="16">
                  <c:v>26.9</c:v>
                </c:pt>
                <c:pt idx="17">
                  <c:v>26.821000000000002</c:v>
                </c:pt>
                <c:pt idx="18">
                  <c:v>26.891999999999999</c:v>
                </c:pt>
                <c:pt idx="19">
                  <c:v>26.901</c:v>
                </c:pt>
                <c:pt idx="20">
                  <c:v>26.846</c:v>
                </c:pt>
                <c:pt idx="21">
                  <c:v>26.83</c:v>
                </c:pt>
                <c:pt idx="22">
                  <c:v>26.835999999999999</c:v>
                </c:pt>
                <c:pt idx="23">
                  <c:v>26.798999999999999</c:v>
                </c:pt>
                <c:pt idx="24">
                  <c:v>26.808</c:v>
                </c:pt>
                <c:pt idx="25">
                  <c:v>26.745999999999999</c:v>
                </c:pt>
                <c:pt idx="26">
                  <c:v>26.742999999999999</c:v>
                </c:pt>
                <c:pt idx="27">
                  <c:v>26.702999999999999</c:v>
                </c:pt>
                <c:pt idx="28">
                  <c:v>26.690999999999999</c:v>
                </c:pt>
                <c:pt idx="29">
                  <c:v>26.7</c:v>
                </c:pt>
                <c:pt idx="30">
                  <c:v>26.742999999999999</c:v>
                </c:pt>
                <c:pt idx="31">
                  <c:v>26.818000000000001</c:v>
                </c:pt>
                <c:pt idx="32">
                  <c:v>26.905999999999999</c:v>
                </c:pt>
                <c:pt idx="33">
                  <c:v>26.914000000000001</c:v>
                </c:pt>
                <c:pt idx="34">
                  <c:v>26.942</c:v>
                </c:pt>
                <c:pt idx="35">
                  <c:v>27.12</c:v>
                </c:pt>
                <c:pt idx="36">
                  <c:v>27.34</c:v>
                </c:pt>
                <c:pt idx="37">
                  <c:v>27.513000000000002</c:v>
                </c:pt>
                <c:pt idx="38">
                  <c:v>27.648</c:v>
                </c:pt>
                <c:pt idx="39">
                  <c:v>27.683</c:v>
                </c:pt>
                <c:pt idx="40">
                  <c:v>27.994</c:v>
                </c:pt>
                <c:pt idx="41">
                  <c:v>28.332999999999998</c:v>
                </c:pt>
                <c:pt idx="42">
                  <c:v>28.620999999999999</c:v>
                </c:pt>
                <c:pt idx="43">
                  <c:v>28.847999999999999</c:v>
                </c:pt>
                <c:pt idx="44">
                  <c:v>29.4</c:v>
                </c:pt>
                <c:pt idx="45">
                  <c:v>29.827999999999999</c:v>
                </c:pt>
                <c:pt idx="46">
                  <c:v>30.172000000000001</c:v>
                </c:pt>
                <c:pt idx="47">
                  <c:v>30.56</c:v>
                </c:pt>
                <c:pt idx="48">
                  <c:v>30.702000000000002</c:v>
                </c:pt>
                <c:pt idx="49">
                  <c:v>30.8</c:v>
                </c:pt>
                <c:pt idx="50">
                  <c:v>30.97</c:v>
                </c:pt>
                <c:pt idx="51">
                  <c:v>31.268000000000001</c:v>
                </c:pt>
                <c:pt idx="52">
                  <c:v>30.806000000000001</c:v>
                </c:pt>
                <c:pt idx="53">
                  <c:v>30.838000000000001</c:v>
                </c:pt>
                <c:pt idx="54">
                  <c:v>31.363</c:v>
                </c:pt>
                <c:pt idx="55">
                  <c:v>31.94</c:v>
                </c:pt>
                <c:pt idx="56">
                  <c:v>32.109000000000002</c:v>
                </c:pt>
                <c:pt idx="57">
                  <c:v>32.441000000000003</c:v>
                </c:pt>
                <c:pt idx="58">
                  <c:v>32.840000000000003</c:v>
                </c:pt>
                <c:pt idx="59">
                  <c:v>32.94</c:v>
                </c:pt>
                <c:pt idx="60">
                  <c:v>32.902999999999999</c:v>
                </c:pt>
                <c:pt idx="61">
                  <c:v>33.396999999999998</c:v>
                </c:pt>
                <c:pt idx="62">
                  <c:v>33.840000000000003</c:v>
                </c:pt>
                <c:pt idx="63">
                  <c:v>33.524000000000001</c:v>
                </c:pt>
                <c:pt idx="64">
                  <c:v>33.186</c:v>
                </c:pt>
                <c:pt idx="65">
                  <c:v>33.932000000000002</c:v>
                </c:pt>
                <c:pt idx="66">
                  <c:v>33.57</c:v>
                </c:pt>
                <c:pt idx="67">
                  <c:v>34.200000000000003</c:v>
                </c:pt>
                <c:pt idx="68">
                  <c:v>34.200000000000003</c:v>
                </c:pt>
                <c:pt idx="69">
                  <c:v>33.581000000000003</c:v>
                </c:pt>
                <c:pt idx="70">
                  <c:v>33.616</c:v>
                </c:pt>
                <c:pt idx="71">
                  <c:v>34.548999999999999</c:v>
                </c:pt>
                <c:pt idx="72">
                  <c:v>34.280999999999999</c:v>
                </c:pt>
                <c:pt idx="73">
                  <c:v>34.722000000000001</c:v>
                </c:pt>
                <c:pt idx="74">
                  <c:v>34.113999999999997</c:v>
                </c:pt>
                <c:pt idx="75">
                  <c:v>34.213000000000001</c:v>
                </c:pt>
                <c:pt idx="76">
                  <c:v>34.420999999999999</c:v>
                </c:pt>
                <c:pt idx="77">
                  <c:v>34.030999999999999</c:v>
                </c:pt>
                <c:pt idx="78">
                  <c:v>34.122</c:v>
                </c:pt>
                <c:pt idx="79">
                  <c:v>34.453000000000003</c:v>
                </c:pt>
                <c:pt idx="80">
                  <c:v>34.901000000000003</c:v>
                </c:pt>
                <c:pt idx="81">
                  <c:v>34.938000000000002</c:v>
                </c:pt>
                <c:pt idx="82">
                  <c:v>34.450000000000003</c:v>
                </c:pt>
                <c:pt idx="83">
                  <c:v>33.978000000000002</c:v>
                </c:pt>
                <c:pt idx="84">
                  <c:v>33.856000000000002</c:v>
                </c:pt>
                <c:pt idx="85">
                  <c:v>33.533999999999999</c:v>
                </c:pt>
                <c:pt idx="86">
                  <c:v>33.771000000000001</c:v>
                </c:pt>
                <c:pt idx="87">
                  <c:v>32.634</c:v>
                </c:pt>
                <c:pt idx="88">
                  <c:v>32.417000000000002</c:v>
                </c:pt>
                <c:pt idx="89">
                  <c:v>32.131999999999998</c:v>
                </c:pt>
                <c:pt idx="90">
                  <c:v>32.479999999999997</c:v>
                </c:pt>
                <c:pt idx="91">
                  <c:v>32.572000000000003</c:v>
                </c:pt>
                <c:pt idx="92">
                  <c:v>32.881</c:v>
                </c:pt>
                <c:pt idx="93">
                  <c:v>32.768999999999998</c:v>
                </c:pt>
                <c:pt idx="94">
                  <c:v>32.670999999999999</c:v>
                </c:pt>
                <c:pt idx="95">
                  <c:v>32.686999999999998</c:v>
                </c:pt>
                <c:pt idx="96">
                  <c:v>32.677</c:v>
                </c:pt>
                <c:pt idx="97">
                  <c:v>32.42</c:v>
                </c:pt>
                <c:pt idx="98">
                  <c:v>32.692999999999998</c:v>
                </c:pt>
                <c:pt idx="99">
                  <c:v>32.270000000000003</c:v>
                </c:pt>
                <c:pt idx="100">
                  <c:v>32.226999999999997</c:v>
                </c:pt>
                <c:pt idx="101">
                  <c:v>32.158999999999999</c:v>
                </c:pt>
                <c:pt idx="102">
                  <c:v>31.719000000000001</c:v>
                </c:pt>
                <c:pt idx="103">
                  <c:v>31.765999999999998</c:v>
                </c:pt>
                <c:pt idx="104">
                  <c:v>31.67</c:v>
                </c:pt>
                <c:pt idx="105">
                  <c:v>31.58</c:v>
                </c:pt>
                <c:pt idx="106">
                  <c:v>31.318000000000001</c:v>
                </c:pt>
                <c:pt idx="107">
                  <c:v>31.166</c:v>
                </c:pt>
                <c:pt idx="108">
                  <c:v>30.739000000000001</c:v>
                </c:pt>
                <c:pt idx="109">
                  <c:v>30.757999999999999</c:v>
                </c:pt>
                <c:pt idx="110">
                  <c:v>30.815999999999999</c:v>
                </c:pt>
                <c:pt idx="111">
                  <c:v>30.597999999999999</c:v>
                </c:pt>
                <c:pt idx="112">
                  <c:v>30.359000000000002</c:v>
                </c:pt>
                <c:pt idx="113">
                  <c:v>30.018999999999998</c:v>
                </c:pt>
                <c:pt idx="114">
                  <c:v>29.731999999999999</c:v>
                </c:pt>
                <c:pt idx="115">
                  <c:v>29.888999999999999</c:v>
                </c:pt>
                <c:pt idx="116">
                  <c:v>29.757000000000001</c:v>
                </c:pt>
                <c:pt idx="117">
                  <c:v>29.693999999999999</c:v>
                </c:pt>
                <c:pt idx="118">
                  <c:v>29.265999999999998</c:v>
                </c:pt>
                <c:pt idx="119">
                  <c:v>29.558</c:v>
                </c:pt>
                <c:pt idx="120">
                  <c:v>29.51</c:v>
                </c:pt>
                <c:pt idx="121">
                  <c:v>29.273</c:v>
                </c:pt>
                <c:pt idx="122">
                  <c:v>29.2</c:v>
                </c:pt>
                <c:pt idx="123">
                  <c:v>28.786000000000001</c:v>
                </c:pt>
                <c:pt idx="124">
                  <c:v>28.8</c:v>
                </c:pt>
                <c:pt idx="125">
                  <c:v>28.600999999999999</c:v>
                </c:pt>
                <c:pt idx="126">
                  <c:v>28.658000000000001</c:v>
                </c:pt>
                <c:pt idx="127">
                  <c:v>28.456</c:v>
                </c:pt>
                <c:pt idx="128">
                  <c:v>28.314</c:v>
                </c:pt>
                <c:pt idx="129">
                  <c:v>28.189</c:v>
                </c:pt>
                <c:pt idx="130">
                  <c:v>28.202999999999999</c:v>
                </c:pt>
                <c:pt idx="131">
                  <c:v>28.050999999999998</c:v>
                </c:pt>
                <c:pt idx="132">
                  <c:v>28.027000000000001</c:v>
                </c:pt>
                <c:pt idx="133">
                  <c:v>27.881</c:v>
                </c:pt>
                <c:pt idx="134">
                  <c:v>27.8</c:v>
                </c:pt>
                <c:pt idx="135">
                  <c:v>27.783000000000001</c:v>
                </c:pt>
                <c:pt idx="136">
                  <c:v>27.744</c:v>
                </c:pt>
                <c:pt idx="137">
                  <c:v>27.678000000000001</c:v>
                </c:pt>
                <c:pt idx="138">
                  <c:v>27.634</c:v>
                </c:pt>
                <c:pt idx="139">
                  <c:v>27.568000000000001</c:v>
                </c:pt>
                <c:pt idx="140">
                  <c:v>27.521999999999998</c:v>
                </c:pt>
                <c:pt idx="141">
                  <c:v>27.509</c:v>
                </c:pt>
                <c:pt idx="142">
                  <c:v>27.513000000000002</c:v>
                </c:pt>
                <c:pt idx="143">
                  <c:v>27.63</c:v>
                </c:pt>
              </c:numCache>
            </c:numRef>
          </c:val>
          <c:smooth val="0"/>
          <c:extLst>
            <c:ext xmlns:c16="http://schemas.microsoft.com/office/drawing/2014/chart" uri="{C3380CC4-5D6E-409C-BE32-E72D297353CC}">
              <c16:uniqueId val="{00000001-D1B1-5340-A161-A319EFF6313B}"/>
            </c:ext>
          </c:extLst>
        </c:ser>
        <c:ser>
          <c:idx val="2"/>
          <c:order val="2"/>
          <c:tx>
            <c:strRef>
              <c:f>'図16_分析8_風'!$K$1</c:f>
              <c:strCache>
                <c:ptCount val="1"/>
                <c:pt idx="0">
                  <c:v>列8</c:v>
                </c:pt>
              </c:strCache>
            </c:strRef>
          </c:tx>
          <c:spPr>
            <a:ln w="11430" cap="rnd">
              <a:solidFill>
                <a:srgbClr val="01B8AA"/>
              </a:solidFill>
              <a:round/>
            </a:ln>
          </c:spPr>
          <c:marker>
            <c:symbol val="none"/>
          </c:marker>
          <c:cat>
            <c:strRef>
              <c:f>'図16_分析8_風'!$B$2:$B$145</c:f>
              <c:strCache>
                <c:ptCount val="144"/>
                <c:pt idx="0">
                  <c:v>0:00</c:v>
                </c:pt>
                <c:pt idx="36">
                  <c:v>6:00</c:v>
                </c:pt>
                <c:pt idx="72">
                  <c:v>12:00</c:v>
                </c:pt>
                <c:pt idx="108">
                  <c:v>18:00</c:v>
                </c:pt>
              </c:strCache>
            </c:strRef>
          </c:cat>
          <c:val>
            <c:numRef>
              <c:f>'図16_分析8_風'!$K$2:$K$145</c:f>
              <c:numCache>
                <c:formatCode>General</c:formatCode>
                <c:ptCount val="144"/>
                <c:pt idx="0">
                  <c:v>27.434000000000001</c:v>
                </c:pt>
                <c:pt idx="1">
                  <c:v>27.411000000000001</c:v>
                </c:pt>
                <c:pt idx="2">
                  <c:v>27.393999999999998</c:v>
                </c:pt>
                <c:pt idx="3">
                  <c:v>27.33</c:v>
                </c:pt>
                <c:pt idx="4">
                  <c:v>27.335999999999999</c:v>
                </c:pt>
                <c:pt idx="5">
                  <c:v>27.298999999999999</c:v>
                </c:pt>
                <c:pt idx="6">
                  <c:v>27.277999999999999</c:v>
                </c:pt>
                <c:pt idx="7">
                  <c:v>27.239000000000001</c:v>
                </c:pt>
                <c:pt idx="8">
                  <c:v>27.213999999999999</c:v>
                </c:pt>
                <c:pt idx="9">
                  <c:v>27.14</c:v>
                </c:pt>
                <c:pt idx="10">
                  <c:v>27.091000000000001</c:v>
                </c:pt>
                <c:pt idx="11">
                  <c:v>27.106999999999999</c:v>
                </c:pt>
                <c:pt idx="12">
                  <c:v>27.052</c:v>
                </c:pt>
                <c:pt idx="13">
                  <c:v>27.044</c:v>
                </c:pt>
                <c:pt idx="14">
                  <c:v>27.06</c:v>
                </c:pt>
                <c:pt idx="15">
                  <c:v>27.061</c:v>
                </c:pt>
                <c:pt idx="16">
                  <c:v>27.009</c:v>
                </c:pt>
                <c:pt idx="17">
                  <c:v>27.003</c:v>
                </c:pt>
                <c:pt idx="18">
                  <c:v>27.001999999999999</c:v>
                </c:pt>
                <c:pt idx="19">
                  <c:v>26.97</c:v>
                </c:pt>
                <c:pt idx="20">
                  <c:v>26.991</c:v>
                </c:pt>
                <c:pt idx="21">
                  <c:v>26.981999999999999</c:v>
                </c:pt>
                <c:pt idx="22">
                  <c:v>26.957999999999998</c:v>
                </c:pt>
                <c:pt idx="23">
                  <c:v>26.919</c:v>
                </c:pt>
                <c:pt idx="24">
                  <c:v>26.882999999999999</c:v>
                </c:pt>
                <c:pt idx="25">
                  <c:v>26.876000000000001</c:v>
                </c:pt>
                <c:pt idx="26">
                  <c:v>26.827999999999999</c:v>
                </c:pt>
                <c:pt idx="27">
                  <c:v>26.858000000000001</c:v>
                </c:pt>
                <c:pt idx="28">
                  <c:v>26.812000000000001</c:v>
                </c:pt>
                <c:pt idx="29">
                  <c:v>26.773</c:v>
                </c:pt>
                <c:pt idx="30">
                  <c:v>26.817</c:v>
                </c:pt>
                <c:pt idx="31">
                  <c:v>26.888999999999999</c:v>
                </c:pt>
                <c:pt idx="32">
                  <c:v>26.986000000000001</c:v>
                </c:pt>
                <c:pt idx="33">
                  <c:v>27.021000000000001</c:v>
                </c:pt>
                <c:pt idx="34">
                  <c:v>27.036999999999999</c:v>
                </c:pt>
                <c:pt idx="35">
                  <c:v>27.137</c:v>
                </c:pt>
                <c:pt idx="36">
                  <c:v>27.335999999999999</c:v>
                </c:pt>
                <c:pt idx="37">
                  <c:v>27.456</c:v>
                </c:pt>
                <c:pt idx="38">
                  <c:v>27.582000000000001</c:v>
                </c:pt>
                <c:pt idx="39">
                  <c:v>27.667000000000002</c:v>
                </c:pt>
                <c:pt idx="40">
                  <c:v>28.001000000000001</c:v>
                </c:pt>
                <c:pt idx="41">
                  <c:v>28.587</c:v>
                </c:pt>
                <c:pt idx="42">
                  <c:v>29.567</c:v>
                </c:pt>
                <c:pt idx="43">
                  <c:v>30.524000000000001</c:v>
                </c:pt>
                <c:pt idx="44">
                  <c:v>30.4</c:v>
                </c:pt>
                <c:pt idx="45">
                  <c:v>30.177</c:v>
                </c:pt>
                <c:pt idx="46">
                  <c:v>31.094000000000001</c:v>
                </c:pt>
                <c:pt idx="47">
                  <c:v>31.276</c:v>
                </c:pt>
                <c:pt idx="48">
                  <c:v>31.324000000000002</c:v>
                </c:pt>
                <c:pt idx="49">
                  <c:v>30.832999999999998</c:v>
                </c:pt>
                <c:pt idx="50">
                  <c:v>30.69</c:v>
                </c:pt>
                <c:pt idx="51">
                  <c:v>31.178999999999998</c:v>
                </c:pt>
                <c:pt idx="52">
                  <c:v>30.346</c:v>
                </c:pt>
                <c:pt idx="53">
                  <c:v>30.736999999999998</c:v>
                </c:pt>
                <c:pt idx="54">
                  <c:v>30.823</c:v>
                </c:pt>
                <c:pt idx="55">
                  <c:v>31.879000000000001</c:v>
                </c:pt>
                <c:pt idx="56">
                  <c:v>31.850999999999999</c:v>
                </c:pt>
                <c:pt idx="57">
                  <c:v>32.975999999999999</c:v>
                </c:pt>
                <c:pt idx="58">
                  <c:v>32.863999999999997</c:v>
                </c:pt>
                <c:pt idx="59">
                  <c:v>32.268999999999998</c:v>
                </c:pt>
                <c:pt idx="60">
                  <c:v>32.520000000000003</c:v>
                </c:pt>
                <c:pt idx="61">
                  <c:v>33.081000000000003</c:v>
                </c:pt>
                <c:pt idx="62">
                  <c:v>33.511000000000003</c:v>
                </c:pt>
                <c:pt idx="63">
                  <c:v>33.165999999999997</c:v>
                </c:pt>
                <c:pt idx="64">
                  <c:v>32.987000000000002</c:v>
                </c:pt>
                <c:pt idx="65">
                  <c:v>33.418999999999997</c:v>
                </c:pt>
                <c:pt idx="66">
                  <c:v>32.847999999999999</c:v>
                </c:pt>
                <c:pt idx="67">
                  <c:v>33.200000000000003</c:v>
                </c:pt>
                <c:pt idx="68">
                  <c:v>33.439</c:v>
                </c:pt>
                <c:pt idx="69">
                  <c:v>33.426000000000002</c:v>
                </c:pt>
                <c:pt idx="70">
                  <c:v>33.262999999999998</c:v>
                </c:pt>
                <c:pt idx="71">
                  <c:v>34.052999999999997</c:v>
                </c:pt>
                <c:pt idx="72">
                  <c:v>33.566000000000003</c:v>
                </c:pt>
                <c:pt idx="73">
                  <c:v>34.533999999999999</c:v>
                </c:pt>
                <c:pt idx="74">
                  <c:v>34.317999999999998</c:v>
                </c:pt>
                <c:pt idx="75">
                  <c:v>33.996000000000002</c:v>
                </c:pt>
                <c:pt idx="76">
                  <c:v>34.098999999999997</c:v>
                </c:pt>
                <c:pt idx="77">
                  <c:v>33.76</c:v>
                </c:pt>
                <c:pt idx="78">
                  <c:v>33.97</c:v>
                </c:pt>
                <c:pt idx="79">
                  <c:v>34.731000000000002</c:v>
                </c:pt>
                <c:pt idx="80">
                  <c:v>35.094000000000001</c:v>
                </c:pt>
                <c:pt idx="81">
                  <c:v>35.06</c:v>
                </c:pt>
                <c:pt idx="82">
                  <c:v>34.106999999999999</c:v>
                </c:pt>
                <c:pt idx="83">
                  <c:v>33.503999999999998</c:v>
                </c:pt>
                <c:pt idx="84">
                  <c:v>33.057000000000002</c:v>
                </c:pt>
                <c:pt idx="85">
                  <c:v>33.237000000000002</c:v>
                </c:pt>
                <c:pt idx="86">
                  <c:v>33.029000000000003</c:v>
                </c:pt>
                <c:pt idx="87">
                  <c:v>32.094000000000001</c:v>
                </c:pt>
                <c:pt idx="88">
                  <c:v>32.296999999999997</c:v>
                </c:pt>
                <c:pt idx="89">
                  <c:v>32.146999999999998</c:v>
                </c:pt>
                <c:pt idx="90">
                  <c:v>32.408000000000001</c:v>
                </c:pt>
                <c:pt idx="91">
                  <c:v>32.183</c:v>
                </c:pt>
                <c:pt idx="92">
                  <c:v>32.287999999999997</c:v>
                </c:pt>
                <c:pt idx="93">
                  <c:v>32.527999999999999</c:v>
                </c:pt>
                <c:pt idx="94">
                  <c:v>32.551000000000002</c:v>
                </c:pt>
                <c:pt idx="95">
                  <c:v>32.603000000000002</c:v>
                </c:pt>
                <c:pt idx="96">
                  <c:v>32.584000000000003</c:v>
                </c:pt>
                <c:pt idx="97">
                  <c:v>32.237000000000002</c:v>
                </c:pt>
                <c:pt idx="98">
                  <c:v>32.518999999999998</c:v>
                </c:pt>
                <c:pt idx="99">
                  <c:v>32.561999999999998</c:v>
                </c:pt>
                <c:pt idx="100">
                  <c:v>32.610999999999997</c:v>
                </c:pt>
                <c:pt idx="101">
                  <c:v>32.052</c:v>
                </c:pt>
                <c:pt idx="102">
                  <c:v>31.364000000000001</c:v>
                </c:pt>
                <c:pt idx="103">
                  <c:v>31.57</c:v>
                </c:pt>
                <c:pt idx="104">
                  <c:v>31.619</c:v>
                </c:pt>
                <c:pt idx="105">
                  <c:v>31.379000000000001</c:v>
                </c:pt>
                <c:pt idx="106">
                  <c:v>31.152999999999999</c:v>
                </c:pt>
                <c:pt idx="107">
                  <c:v>30.984000000000002</c:v>
                </c:pt>
                <c:pt idx="108">
                  <c:v>30.344000000000001</c:v>
                </c:pt>
                <c:pt idx="109">
                  <c:v>30.167999999999999</c:v>
                </c:pt>
                <c:pt idx="110">
                  <c:v>30.186</c:v>
                </c:pt>
                <c:pt idx="111">
                  <c:v>30.021999999999998</c:v>
                </c:pt>
                <c:pt idx="112">
                  <c:v>29.763000000000002</c:v>
                </c:pt>
                <c:pt idx="113">
                  <c:v>29.571000000000002</c:v>
                </c:pt>
                <c:pt idx="114">
                  <c:v>29.297000000000001</c:v>
                </c:pt>
                <c:pt idx="115">
                  <c:v>29.068000000000001</c:v>
                </c:pt>
                <c:pt idx="116">
                  <c:v>29.062000000000001</c:v>
                </c:pt>
                <c:pt idx="117">
                  <c:v>29.076000000000001</c:v>
                </c:pt>
                <c:pt idx="118">
                  <c:v>29.012</c:v>
                </c:pt>
                <c:pt idx="119">
                  <c:v>29.032</c:v>
                </c:pt>
                <c:pt idx="120">
                  <c:v>29.158999999999999</c:v>
                </c:pt>
                <c:pt idx="121">
                  <c:v>28.817</c:v>
                </c:pt>
                <c:pt idx="122">
                  <c:v>28.74</c:v>
                </c:pt>
                <c:pt idx="123">
                  <c:v>28.722000000000001</c:v>
                </c:pt>
                <c:pt idx="124">
                  <c:v>28.678000000000001</c:v>
                </c:pt>
                <c:pt idx="125">
                  <c:v>28.648</c:v>
                </c:pt>
                <c:pt idx="126">
                  <c:v>28.626999999999999</c:v>
                </c:pt>
                <c:pt idx="127">
                  <c:v>28.518999999999998</c:v>
                </c:pt>
                <c:pt idx="128">
                  <c:v>28.462</c:v>
                </c:pt>
                <c:pt idx="129">
                  <c:v>28.486000000000001</c:v>
                </c:pt>
                <c:pt idx="130">
                  <c:v>28.353999999999999</c:v>
                </c:pt>
                <c:pt idx="131">
                  <c:v>28.24</c:v>
                </c:pt>
                <c:pt idx="132">
                  <c:v>28.343</c:v>
                </c:pt>
                <c:pt idx="133">
                  <c:v>28.343</c:v>
                </c:pt>
                <c:pt idx="134">
                  <c:v>28.123000000000001</c:v>
                </c:pt>
                <c:pt idx="135">
                  <c:v>28.004000000000001</c:v>
                </c:pt>
                <c:pt idx="136">
                  <c:v>28.416</c:v>
                </c:pt>
                <c:pt idx="137">
                  <c:v>28.225999999999999</c:v>
                </c:pt>
                <c:pt idx="138">
                  <c:v>27.902999999999999</c:v>
                </c:pt>
                <c:pt idx="139">
                  <c:v>27.728000000000002</c:v>
                </c:pt>
                <c:pt idx="140">
                  <c:v>27.635999999999999</c:v>
                </c:pt>
                <c:pt idx="141">
                  <c:v>27.6</c:v>
                </c:pt>
                <c:pt idx="142">
                  <c:v>27.547999999999998</c:v>
                </c:pt>
                <c:pt idx="143">
                  <c:v>27.509</c:v>
                </c:pt>
              </c:numCache>
            </c:numRef>
          </c:val>
          <c:smooth val="0"/>
          <c:extLst>
            <c:ext xmlns:c16="http://schemas.microsoft.com/office/drawing/2014/chart" uri="{C3380CC4-5D6E-409C-BE32-E72D297353CC}">
              <c16:uniqueId val="{00000002-D1B1-5340-A161-A319EFF6313B}"/>
            </c:ext>
          </c:extLst>
        </c:ser>
        <c:ser>
          <c:idx val="3"/>
          <c:order val="3"/>
          <c:tx>
            <c:strRef>
              <c:f>'図16_分析8_風'!$L$1</c:f>
              <c:strCache>
                <c:ptCount val="1"/>
                <c:pt idx="0">
                  <c:v>列11</c:v>
                </c:pt>
              </c:strCache>
            </c:strRef>
          </c:tx>
          <c:spPr>
            <a:ln w="11430" cap="rnd">
              <a:solidFill>
                <a:srgbClr val="118DFF"/>
              </a:solidFill>
              <a:round/>
            </a:ln>
          </c:spPr>
          <c:marker>
            <c:symbol val="none"/>
          </c:marker>
          <c:cat>
            <c:strRef>
              <c:f>'図16_分析8_風'!$B$2:$B$145</c:f>
              <c:strCache>
                <c:ptCount val="144"/>
                <c:pt idx="0">
                  <c:v>0:00</c:v>
                </c:pt>
                <c:pt idx="36">
                  <c:v>6:00</c:v>
                </c:pt>
                <c:pt idx="72">
                  <c:v>12:00</c:v>
                </c:pt>
                <c:pt idx="108">
                  <c:v>18:00</c:v>
                </c:pt>
              </c:strCache>
            </c:strRef>
          </c:cat>
          <c:val>
            <c:numRef>
              <c:f>'図16_分析8_風'!$L$2:$L$145</c:f>
              <c:numCache>
                <c:formatCode>General</c:formatCode>
                <c:ptCount val="144"/>
                <c:pt idx="0">
                  <c:v>27.393000000000001</c:v>
                </c:pt>
                <c:pt idx="1">
                  <c:v>27.379000000000001</c:v>
                </c:pt>
                <c:pt idx="2">
                  <c:v>27.401</c:v>
                </c:pt>
                <c:pt idx="3">
                  <c:v>27.36</c:v>
                </c:pt>
                <c:pt idx="4">
                  <c:v>27.343</c:v>
                </c:pt>
                <c:pt idx="5">
                  <c:v>27.314</c:v>
                </c:pt>
                <c:pt idx="6">
                  <c:v>27.300999999999998</c:v>
                </c:pt>
                <c:pt idx="7">
                  <c:v>27.271000000000001</c:v>
                </c:pt>
                <c:pt idx="8">
                  <c:v>27.207000000000001</c:v>
                </c:pt>
                <c:pt idx="9">
                  <c:v>27.106000000000002</c:v>
                </c:pt>
                <c:pt idx="10">
                  <c:v>27.074000000000002</c:v>
                </c:pt>
                <c:pt idx="11">
                  <c:v>27.097000000000001</c:v>
                </c:pt>
                <c:pt idx="12">
                  <c:v>27.039000000000001</c:v>
                </c:pt>
                <c:pt idx="13">
                  <c:v>27.024000000000001</c:v>
                </c:pt>
                <c:pt idx="14">
                  <c:v>27.045000000000002</c:v>
                </c:pt>
                <c:pt idx="15">
                  <c:v>27.045000000000002</c:v>
                </c:pt>
                <c:pt idx="16">
                  <c:v>27.003</c:v>
                </c:pt>
                <c:pt idx="17">
                  <c:v>26.984999999999999</c:v>
                </c:pt>
                <c:pt idx="18">
                  <c:v>26.989000000000001</c:v>
                </c:pt>
                <c:pt idx="19">
                  <c:v>26.978999999999999</c:v>
                </c:pt>
                <c:pt idx="20">
                  <c:v>26.995000000000001</c:v>
                </c:pt>
                <c:pt idx="21">
                  <c:v>26.954000000000001</c:v>
                </c:pt>
                <c:pt idx="22">
                  <c:v>26.922999999999998</c:v>
                </c:pt>
                <c:pt idx="23">
                  <c:v>26.88</c:v>
                </c:pt>
                <c:pt idx="24">
                  <c:v>26.85</c:v>
                </c:pt>
                <c:pt idx="25">
                  <c:v>26.837</c:v>
                </c:pt>
                <c:pt idx="26">
                  <c:v>26.823</c:v>
                </c:pt>
                <c:pt idx="27">
                  <c:v>26.805</c:v>
                </c:pt>
                <c:pt idx="28">
                  <c:v>26.759</c:v>
                </c:pt>
                <c:pt idx="29">
                  <c:v>26.742000000000001</c:v>
                </c:pt>
                <c:pt idx="30">
                  <c:v>26.795999999999999</c:v>
                </c:pt>
                <c:pt idx="31">
                  <c:v>26.844999999999999</c:v>
                </c:pt>
                <c:pt idx="32">
                  <c:v>26.908999999999999</c:v>
                </c:pt>
                <c:pt idx="33">
                  <c:v>26.914999999999999</c:v>
                </c:pt>
                <c:pt idx="34">
                  <c:v>26.93</c:v>
                </c:pt>
                <c:pt idx="35">
                  <c:v>27.05</c:v>
                </c:pt>
                <c:pt idx="36">
                  <c:v>27.251999999999999</c:v>
                </c:pt>
                <c:pt idx="37">
                  <c:v>27.408999999999999</c:v>
                </c:pt>
                <c:pt idx="38">
                  <c:v>27.535</c:v>
                </c:pt>
                <c:pt idx="39">
                  <c:v>27.885999999999999</c:v>
                </c:pt>
                <c:pt idx="40">
                  <c:v>28.283999999999999</c:v>
                </c:pt>
                <c:pt idx="41">
                  <c:v>28.766999999999999</c:v>
                </c:pt>
                <c:pt idx="42">
                  <c:v>29.352</c:v>
                </c:pt>
                <c:pt idx="43">
                  <c:v>29.68</c:v>
                </c:pt>
                <c:pt idx="44">
                  <c:v>29.425000000000001</c:v>
                </c:pt>
                <c:pt idx="45">
                  <c:v>29.657</c:v>
                </c:pt>
                <c:pt idx="46">
                  <c:v>30.145</c:v>
                </c:pt>
                <c:pt idx="47">
                  <c:v>30.655999999999999</c:v>
                </c:pt>
                <c:pt idx="48">
                  <c:v>31.231000000000002</c:v>
                </c:pt>
                <c:pt idx="49">
                  <c:v>30.414000000000001</c:v>
                </c:pt>
                <c:pt idx="50">
                  <c:v>30.359000000000002</c:v>
                </c:pt>
                <c:pt idx="51">
                  <c:v>30.57</c:v>
                </c:pt>
                <c:pt idx="52">
                  <c:v>30.023</c:v>
                </c:pt>
                <c:pt idx="53">
                  <c:v>30.373000000000001</c:v>
                </c:pt>
                <c:pt idx="54">
                  <c:v>30.623999999999999</c:v>
                </c:pt>
                <c:pt idx="55">
                  <c:v>31.216000000000001</c:v>
                </c:pt>
                <c:pt idx="56">
                  <c:v>31.190999999999999</c:v>
                </c:pt>
                <c:pt idx="57">
                  <c:v>32.177</c:v>
                </c:pt>
                <c:pt idx="58">
                  <c:v>32.159999999999997</c:v>
                </c:pt>
                <c:pt idx="59">
                  <c:v>31.972999999999999</c:v>
                </c:pt>
                <c:pt idx="60">
                  <c:v>32.39</c:v>
                </c:pt>
                <c:pt idx="61">
                  <c:v>32.825000000000003</c:v>
                </c:pt>
                <c:pt idx="62">
                  <c:v>32.912999999999997</c:v>
                </c:pt>
                <c:pt idx="63">
                  <c:v>32.905000000000001</c:v>
                </c:pt>
                <c:pt idx="64">
                  <c:v>32.787999999999997</c:v>
                </c:pt>
                <c:pt idx="65">
                  <c:v>32.912999999999997</c:v>
                </c:pt>
                <c:pt idx="66">
                  <c:v>32.228999999999999</c:v>
                </c:pt>
                <c:pt idx="67">
                  <c:v>32.975000000000001</c:v>
                </c:pt>
                <c:pt idx="68">
                  <c:v>32.781999999999996</c:v>
                </c:pt>
                <c:pt idx="69">
                  <c:v>32.82</c:v>
                </c:pt>
                <c:pt idx="70">
                  <c:v>33.302</c:v>
                </c:pt>
                <c:pt idx="71">
                  <c:v>33.607999999999997</c:v>
                </c:pt>
                <c:pt idx="72">
                  <c:v>33.512999999999998</c:v>
                </c:pt>
                <c:pt idx="73">
                  <c:v>33.723999999999997</c:v>
                </c:pt>
                <c:pt idx="74">
                  <c:v>33.726999999999997</c:v>
                </c:pt>
                <c:pt idx="75">
                  <c:v>33.524999999999999</c:v>
                </c:pt>
                <c:pt idx="76">
                  <c:v>33.426000000000002</c:v>
                </c:pt>
                <c:pt idx="77">
                  <c:v>33.07</c:v>
                </c:pt>
                <c:pt idx="78">
                  <c:v>33.350999999999999</c:v>
                </c:pt>
                <c:pt idx="79">
                  <c:v>33.856000000000002</c:v>
                </c:pt>
                <c:pt idx="80">
                  <c:v>33.914000000000001</c:v>
                </c:pt>
                <c:pt idx="81">
                  <c:v>34.088999999999999</c:v>
                </c:pt>
                <c:pt idx="82">
                  <c:v>33.265000000000001</c:v>
                </c:pt>
                <c:pt idx="83">
                  <c:v>32.594999999999999</c:v>
                </c:pt>
                <c:pt idx="84">
                  <c:v>32.395000000000003</c:v>
                </c:pt>
                <c:pt idx="85">
                  <c:v>32.884999999999998</c:v>
                </c:pt>
                <c:pt idx="86">
                  <c:v>32.75</c:v>
                </c:pt>
                <c:pt idx="87">
                  <c:v>31.481999999999999</c:v>
                </c:pt>
                <c:pt idx="88">
                  <c:v>31.931000000000001</c:v>
                </c:pt>
                <c:pt idx="89">
                  <c:v>31.866</c:v>
                </c:pt>
                <c:pt idx="90">
                  <c:v>31.78</c:v>
                </c:pt>
                <c:pt idx="91">
                  <c:v>31.928999999999998</c:v>
                </c:pt>
                <c:pt idx="92">
                  <c:v>32.198</c:v>
                </c:pt>
                <c:pt idx="93">
                  <c:v>32.219000000000001</c:v>
                </c:pt>
                <c:pt idx="94">
                  <c:v>31.974</c:v>
                </c:pt>
                <c:pt idx="95">
                  <c:v>31.952000000000002</c:v>
                </c:pt>
                <c:pt idx="96">
                  <c:v>32.034999999999997</c:v>
                </c:pt>
                <c:pt idx="97">
                  <c:v>32.03</c:v>
                </c:pt>
                <c:pt idx="98">
                  <c:v>32.142000000000003</c:v>
                </c:pt>
                <c:pt idx="99">
                  <c:v>31.756</c:v>
                </c:pt>
                <c:pt idx="100">
                  <c:v>31.655000000000001</c:v>
                </c:pt>
                <c:pt idx="101">
                  <c:v>31.390999999999998</c:v>
                </c:pt>
                <c:pt idx="102">
                  <c:v>31.241</c:v>
                </c:pt>
                <c:pt idx="103">
                  <c:v>31.388999999999999</c:v>
                </c:pt>
                <c:pt idx="104">
                  <c:v>31.343</c:v>
                </c:pt>
                <c:pt idx="105">
                  <c:v>30.76</c:v>
                </c:pt>
                <c:pt idx="106">
                  <c:v>30.875</c:v>
                </c:pt>
                <c:pt idx="107">
                  <c:v>30.678999999999998</c:v>
                </c:pt>
                <c:pt idx="108">
                  <c:v>30.3</c:v>
                </c:pt>
                <c:pt idx="109">
                  <c:v>30.238</c:v>
                </c:pt>
                <c:pt idx="110">
                  <c:v>30.140999999999998</c:v>
                </c:pt>
                <c:pt idx="111">
                  <c:v>30.1</c:v>
                </c:pt>
                <c:pt idx="112">
                  <c:v>29.936</c:v>
                </c:pt>
                <c:pt idx="113">
                  <c:v>29.706</c:v>
                </c:pt>
                <c:pt idx="114">
                  <c:v>29.503</c:v>
                </c:pt>
                <c:pt idx="115">
                  <c:v>29.27</c:v>
                </c:pt>
                <c:pt idx="116">
                  <c:v>29.081</c:v>
                </c:pt>
                <c:pt idx="117">
                  <c:v>29.096</c:v>
                </c:pt>
                <c:pt idx="118">
                  <c:v>28.986000000000001</c:v>
                </c:pt>
                <c:pt idx="119">
                  <c:v>28.954999999999998</c:v>
                </c:pt>
                <c:pt idx="120">
                  <c:v>28.896000000000001</c:v>
                </c:pt>
                <c:pt idx="121">
                  <c:v>28.745999999999999</c:v>
                </c:pt>
                <c:pt idx="122">
                  <c:v>28.577000000000002</c:v>
                </c:pt>
                <c:pt idx="123">
                  <c:v>28.52</c:v>
                </c:pt>
                <c:pt idx="124">
                  <c:v>28.52</c:v>
                </c:pt>
                <c:pt idx="125">
                  <c:v>28.571000000000002</c:v>
                </c:pt>
                <c:pt idx="126">
                  <c:v>28.620999999999999</c:v>
                </c:pt>
                <c:pt idx="127">
                  <c:v>28.58</c:v>
                </c:pt>
                <c:pt idx="128">
                  <c:v>28.481000000000002</c:v>
                </c:pt>
                <c:pt idx="129">
                  <c:v>28.434000000000001</c:v>
                </c:pt>
                <c:pt idx="130">
                  <c:v>28.356999999999999</c:v>
                </c:pt>
                <c:pt idx="131">
                  <c:v>28.231999999999999</c:v>
                </c:pt>
                <c:pt idx="132">
                  <c:v>28.234999999999999</c:v>
                </c:pt>
                <c:pt idx="133">
                  <c:v>28.07</c:v>
                </c:pt>
                <c:pt idx="134">
                  <c:v>27.962</c:v>
                </c:pt>
                <c:pt idx="135">
                  <c:v>27.916</c:v>
                </c:pt>
                <c:pt idx="136">
                  <c:v>28.033999999999999</c:v>
                </c:pt>
                <c:pt idx="137">
                  <c:v>27.856999999999999</c:v>
                </c:pt>
                <c:pt idx="138">
                  <c:v>27.936</c:v>
                </c:pt>
                <c:pt idx="139">
                  <c:v>27.923999999999999</c:v>
                </c:pt>
                <c:pt idx="140">
                  <c:v>27.640999999999998</c:v>
                </c:pt>
                <c:pt idx="141">
                  <c:v>27.606999999999999</c:v>
                </c:pt>
                <c:pt idx="142">
                  <c:v>27.552</c:v>
                </c:pt>
                <c:pt idx="143">
                  <c:v>27.475999999999999</c:v>
                </c:pt>
              </c:numCache>
            </c:numRef>
          </c:val>
          <c:smooth val="0"/>
          <c:extLst>
            <c:ext xmlns:c16="http://schemas.microsoft.com/office/drawing/2014/chart" uri="{C3380CC4-5D6E-409C-BE32-E72D297353CC}">
              <c16:uniqueId val="{00000003-D1B1-5340-A161-A319EFF6313B}"/>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none"/>
        <c:minorTickMark val="none"/>
        <c:tickLblPos val="low"/>
        <c:spPr>
          <a:ln w="9525" cap="rnd">
            <a:solidFill>
              <a:srgbClr val="5E6B7A"/>
            </a:solidFill>
            <a:round/>
          </a:ln>
        </c:spPr>
        <c:crossAx val="20"/>
        <c:crosses val="autoZero"/>
        <c:auto val="1"/>
        <c:lblAlgn val="ctr"/>
        <c:lblOffset val="100"/>
        <c:noMultiLvlLbl val="0"/>
      </c:catAx>
      <c:valAx>
        <c:axId val="20"/>
        <c:scaling>
          <c:orientation val="minMax"/>
          <c:max val="36"/>
          <c:min val="26"/>
        </c:scaling>
        <c:delete val="0"/>
        <c:axPos val="l"/>
        <c:majorGridlines>
          <c:spPr>
            <a:ln w="9525" cap="rnd">
              <a:solidFill>
                <a:srgbClr val="E3E7EC"/>
              </a:solidFill>
              <a:round/>
            </a:ln>
          </c:spPr>
        </c:majorGridlines>
        <c:title>
          <c:tx>
            <c:rich>
              <a:bodyPr rot="-5400000" vert="horz"/>
              <a:lstStyle/>
              <a:p>
                <a:pPr>
                  <a:defRPr sz="900" b="0"/>
                </a:pPr>
                <a:r>
                  <a:rPr lang="ja-JP" sz="900" b="0"/>
                  <a:t>吸気温度［℃］</a:t>
                </a:r>
              </a:p>
            </c:rich>
          </c:tx>
          <c:overlay val="0"/>
        </c:title>
        <c:numFmt formatCode="0" sourceLinked="0"/>
        <c:majorTickMark val="out"/>
        <c:minorTickMark val="none"/>
        <c:tickLblPos val="nextTo"/>
        <c:spPr>
          <a:ln w="9525" cap="rnd">
            <a:solidFill>
              <a:srgbClr val="5E6B7A"/>
            </a:solidFill>
            <a:round/>
          </a:ln>
        </c:spPr>
        <c:crossAx val="10"/>
        <c:crosses val="autoZero"/>
        <c:crossBetween val="between"/>
        <c:majorUnit val="2"/>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
          <c:y val="0.05"/>
          <c:w val="0.76"/>
          <c:h val="0.72"/>
        </c:manualLayout>
      </c:layout>
      <c:lineChart>
        <c:grouping val="standard"/>
        <c:varyColors val="0"/>
        <c:ser>
          <c:idx val="0"/>
          <c:order val="0"/>
          <c:tx>
            <c:strRef>
              <c:f>'図16_分析8_風'!$G$1</c:f>
              <c:strCache>
                <c:ptCount val="1"/>
                <c:pt idx="0">
                  <c:v>列8</c:v>
                </c:pt>
              </c:strCache>
            </c:strRef>
          </c:tx>
          <c:spPr>
            <a:ln w="11430" cap="rnd">
              <a:solidFill>
                <a:srgbClr val="01B8AA"/>
              </a:solidFill>
              <a:round/>
            </a:ln>
          </c:spPr>
          <c:marker>
            <c:symbol val="none"/>
          </c:marker>
          <c:cat>
            <c:strRef>
              <c:f>'図16_分析8_風'!$B$2:$B$145</c:f>
              <c:strCache>
                <c:ptCount val="144"/>
                <c:pt idx="0">
                  <c:v>0:00</c:v>
                </c:pt>
                <c:pt idx="36">
                  <c:v>6:00</c:v>
                </c:pt>
                <c:pt idx="72">
                  <c:v>12:00</c:v>
                </c:pt>
                <c:pt idx="108">
                  <c:v>18:00</c:v>
                </c:pt>
              </c:strCache>
            </c:strRef>
          </c:cat>
          <c:val>
            <c:numRef>
              <c:f>'図16_分析8_風'!$G$2:$G$145</c:f>
              <c:numCache>
                <c:formatCode>General</c:formatCode>
                <c:ptCount val="144"/>
                <c:pt idx="0">
                  <c:v>-6.8000000000000005E-2</c:v>
                </c:pt>
                <c:pt idx="1">
                  <c:v>-0.214</c:v>
                </c:pt>
                <c:pt idx="2">
                  <c:v>-0.16300000000000001</c:v>
                </c:pt>
                <c:pt idx="3">
                  <c:v>-0.14000000000000001</c:v>
                </c:pt>
                <c:pt idx="4">
                  <c:v>-0.154</c:v>
                </c:pt>
                <c:pt idx="5">
                  <c:v>-7.1999999999999995E-2</c:v>
                </c:pt>
                <c:pt idx="6">
                  <c:v>-4.1000000000000002E-2</c:v>
                </c:pt>
                <c:pt idx="7">
                  <c:v>-1.0999999999999999E-2</c:v>
                </c:pt>
                <c:pt idx="8">
                  <c:v>-2E-3</c:v>
                </c:pt>
                <c:pt idx="9">
                  <c:v>1.7000000000000001E-2</c:v>
                </c:pt>
                <c:pt idx="10">
                  <c:v>-1.9E-2</c:v>
                </c:pt>
                <c:pt idx="11">
                  <c:v>-5.0999999999999997E-2</c:v>
                </c:pt>
                <c:pt idx="12">
                  <c:v>-0.02</c:v>
                </c:pt>
                <c:pt idx="13">
                  <c:v>-3.3000000000000002E-2</c:v>
                </c:pt>
                <c:pt idx="14">
                  <c:v>-5.3999999999999999E-2</c:v>
                </c:pt>
                <c:pt idx="15">
                  <c:v>-0.06</c:v>
                </c:pt>
                <c:pt idx="16">
                  <c:v>-3.4000000000000002E-2</c:v>
                </c:pt>
                <c:pt idx="17">
                  <c:v>-0.06</c:v>
                </c:pt>
                <c:pt idx="18">
                  <c:v>2E-3</c:v>
                </c:pt>
                <c:pt idx="19">
                  <c:v>-2.1999999999999999E-2</c:v>
                </c:pt>
                <c:pt idx="20">
                  <c:v>1.9E-2</c:v>
                </c:pt>
                <c:pt idx="21">
                  <c:v>-2E-3</c:v>
                </c:pt>
                <c:pt idx="22">
                  <c:v>1.7999999999999999E-2</c:v>
                </c:pt>
                <c:pt idx="23">
                  <c:v>0.04</c:v>
                </c:pt>
                <c:pt idx="24">
                  <c:v>-1.4E-2</c:v>
                </c:pt>
                <c:pt idx="25">
                  <c:v>5.3999999999999999E-2</c:v>
                </c:pt>
                <c:pt idx="26">
                  <c:v>0.05</c:v>
                </c:pt>
                <c:pt idx="27">
                  <c:v>5.8000000000000003E-2</c:v>
                </c:pt>
                <c:pt idx="28">
                  <c:v>9.2999999999999999E-2</c:v>
                </c:pt>
                <c:pt idx="29">
                  <c:v>3.7999999999999999E-2</c:v>
                </c:pt>
                <c:pt idx="30">
                  <c:v>6.6000000000000003E-2</c:v>
                </c:pt>
                <c:pt idx="31">
                  <c:v>6.7000000000000004E-2</c:v>
                </c:pt>
                <c:pt idx="32">
                  <c:v>-2.5999999999999999E-2</c:v>
                </c:pt>
                <c:pt idx="33">
                  <c:v>-5.0999999999999997E-2</c:v>
                </c:pt>
                <c:pt idx="34">
                  <c:v>-4.3999999999999997E-2</c:v>
                </c:pt>
                <c:pt idx="35">
                  <c:v>-8.0000000000000002E-3</c:v>
                </c:pt>
                <c:pt idx="36">
                  <c:v>6.0000000000000001E-3</c:v>
                </c:pt>
                <c:pt idx="37">
                  <c:v>-2.8000000000000001E-2</c:v>
                </c:pt>
                <c:pt idx="38">
                  <c:v>-0.15</c:v>
                </c:pt>
                <c:pt idx="39">
                  <c:v>-0.17699999999999999</c:v>
                </c:pt>
                <c:pt idx="40">
                  <c:v>-0.16600000000000001</c:v>
                </c:pt>
                <c:pt idx="41">
                  <c:v>-3.0000000000000001E-3</c:v>
                </c:pt>
                <c:pt idx="42">
                  <c:v>8.8999999999999996E-2</c:v>
                </c:pt>
                <c:pt idx="43">
                  <c:v>0.03</c:v>
                </c:pt>
                <c:pt idx="44">
                  <c:v>3.7999999999999999E-2</c:v>
                </c:pt>
                <c:pt idx="45">
                  <c:v>0.248</c:v>
                </c:pt>
                <c:pt idx="46">
                  <c:v>0.628</c:v>
                </c:pt>
                <c:pt idx="47">
                  <c:v>0.59699999999999998</c:v>
                </c:pt>
                <c:pt idx="48">
                  <c:v>0.45900000000000002</c:v>
                </c:pt>
                <c:pt idx="49">
                  <c:v>-6.7000000000000004E-2</c:v>
                </c:pt>
                <c:pt idx="50">
                  <c:v>-0.55100000000000005</c:v>
                </c:pt>
                <c:pt idx="51">
                  <c:v>0.28299999999999997</c:v>
                </c:pt>
                <c:pt idx="52">
                  <c:v>0.248</c:v>
                </c:pt>
                <c:pt idx="53">
                  <c:v>-1.2E-2</c:v>
                </c:pt>
                <c:pt idx="54">
                  <c:v>0.08</c:v>
                </c:pt>
                <c:pt idx="55">
                  <c:v>-0.48899999999999999</c:v>
                </c:pt>
                <c:pt idx="56">
                  <c:v>-0.31900000000000001</c:v>
                </c:pt>
                <c:pt idx="57">
                  <c:v>0.23200000000000001</c:v>
                </c:pt>
                <c:pt idx="58">
                  <c:v>-0.221</c:v>
                </c:pt>
                <c:pt idx="59">
                  <c:v>-0.247</c:v>
                </c:pt>
                <c:pt idx="60">
                  <c:v>0.40200000000000002</c:v>
                </c:pt>
                <c:pt idx="61">
                  <c:v>0.67600000000000005</c:v>
                </c:pt>
                <c:pt idx="62">
                  <c:v>0.70199999999999996</c:v>
                </c:pt>
                <c:pt idx="63">
                  <c:v>1.323</c:v>
                </c:pt>
                <c:pt idx="64">
                  <c:v>1.4410000000000001</c:v>
                </c:pt>
                <c:pt idx="65">
                  <c:v>0.65600000000000003</c:v>
                </c:pt>
                <c:pt idx="66">
                  <c:v>0.48799999999999999</c:v>
                </c:pt>
                <c:pt idx="67">
                  <c:v>0.52300000000000002</c:v>
                </c:pt>
                <c:pt idx="68">
                  <c:v>0.84399999999999997</c:v>
                </c:pt>
                <c:pt idx="69">
                  <c:v>0.76800000000000002</c:v>
                </c:pt>
                <c:pt idx="70">
                  <c:v>0.54900000000000004</c:v>
                </c:pt>
                <c:pt idx="71">
                  <c:v>1.1739999999999999</c:v>
                </c:pt>
                <c:pt idx="72">
                  <c:v>1.3440000000000001</c:v>
                </c:pt>
                <c:pt idx="73">
                  <c:v>0.77700000000000002</c:v>
                </c:pt>
                <c:pt idx="74">
                  <c:v>0.86</c:v>
                </c:pt>
                <c:pt idx="75">
                  <c:v>1.718</c:v>
                </c:pt>
                <c:pt idx="76">
                  <c:v>1.4370000000000001</c:v>
                </c:pt>
                <c:pt idx="77">
                  <c:v>-1.7000000000000001E-2</c:v>
                </c:pt>
                <c:pt idx="78">
                  <c:v>0.29799999999999999</c:v>
                </c:pt>
                <c:pt idx="79">
                  <c:v>7.9000000000000001E-2</c:v>
                </c:pt>
                <c:pt idx="80">
                  <c:v>0.48599999999999999</c:v>
                </c:pt>
                <c:pt idx="81">
                  <c:v>0.58399999999999996</c:v>
                </c:pt>
                <c:pt idx="82">
                  <c:v>0.41699999999999998</c:v>
                </c:pt>
                <c:pt idx="83">
                  <c:v>0.70099999999999996</c:v>
                </c:pt>
                <c:pt idx="84">
                  <c:v>-0.24099999999999999</c:v>
                </c:pt>
                <c:pt idx="85">
                  <c:v>0.307</c:v>
                </c:pt>
                <c:pt idx="86">
                  <c:v>0.17699999999999999</c:v>
                </c:pt>
                <c:pt idx="87">
                  <c:v>0.40899999999999997</c:v>
                </c:pt>
                <c:pt idx="88">
                  <c:v>0.26900000000000002</c:v>
                </c:pt>
                <c:pt idx="89">
                  <c:v>0.35699999999999998</c:v>
                </c:pt>
                <c:pt idx="90">
                  <c:v>0.26400000000000001</c:v>
                </c:pt>
                <c:pt idx="91">
                  <c:v>3.7999999999999999E-2</c:v>
                </c:pt>
                <c:pt idx="92">
                  <c:v>0.65</c:v>
                </c:pt>
                <c:pt idx="93">
                  <c:v>1.9E-2</c:v>
                </c:pt>
                <c:pt idx="94">
                  <c:v>0.46</c:v>
                </c:pt>
                <c:pt idx="95">
                  <c:v>4.0000000000000001E-3</c:v>
                </c:pt>
                <c:pt idx="96">
                  <c:v>-0.24099999999999999</c:v>
                </c:pt>
                <c:pt idx="97">
                  <c:v>0.193</c:v>
                </c:pt>
                <c:pt idx="98">
                  <c:v>-0.24199999999999999</c:v>
                </c:pt>
                <c:pt idx="99">
                  <c:v>0.21099999999999999</c:v>
                </c:pt>
                <c:pt idx="100">
                  <c:v>0.156</c:v>
                </c:pt>
                <c:pt idx="101">
                  <c:v>-0.17899999999999999</c:v>
                </c:pt>
                <c:pt idx="102">
                  <c:v>-5.6000000000000001E-2</c:v>
                </c:pt>
                <c:pt idx="103">
                  <c:v>-4.5999999999999999E-2</c:v>
                </c:pt>
                <c:pt idx="104">
                  <c:v>3.1E-2</c:v>
                </c:pt>
                <c:pt idx="105">
                  <c:v>-0.27200000000000002</c:v>
                </c:pt>
                <c:pt idx="106">
                  <c:v>-0.47199999999999998</c:v>
                </c:pt>
                <c:pt idx="107">
                  <c:v>-0.71599999999999997</c:v>
                </c:pt>
                <c:pt idx="108">
                  <c:v>-0.59199999999999997</c:v>
                </c:pt>
                <c:pt idx="109">
                  <c:v>-0.64600000000000002</c:v>
                </c:pt>
                <c:pt idx="110">
                  <c:v>-0.50600000000000001</c:v>
                </c:pt>
                <c:pt idx="111">
                  <c:v>-0.56599999999999995</c:v>
                </c:pt>
                <c:pt idx="112">
                  <c:v>-0.83299999999999996</c:v>
                </c:pt>
                <c:pt idx="113">
                  <c:v>-0.73199999999999998</c:v>
                </c:pt>
                <c:pt idx="114">
                  <c:v>-0.56000000000000005</c:v>
                </c:pt>
                <c:pt idx="115">
                  <c:v>-0.629</c:v>
                </c:pt>
                <c:pt idx="116">
                  <c:v>-0.53300000000000003</c:v>
                </c:pt>
                <c:pt idx="117">
                  <c:v>-0.61799999999999999</c:v>
                </c:pt>
                <c:pt idx="118">
                  <c:v>-0.73799999999999999</c:v>
                </c:pt>
                <c:pt idx="119">
                  <c:v>-0.68799999999999994</c:v>
                </c:pt>
                <c:pt idx="120">
                  <c:v>-0.19700000000000001</c:v>
                </c:pt>
                <c:pt idx="121">
                  <c:v>-0.17199999999999999</c:v>
                </c:pt>
                <c:pt idx="122">
                  <c:v>-0.44900000000000001</c:v>
                </c:pt>
                <c:pt idx="123">
                  <c:v>-0.27800000000000002</c:v>
                </c:pt>
                <c:pt idx="124">
                  <c:v>-0.8</c:v>
                </c:pt>
                <c:pt idx="125">
                  <c:v>-0.96399999999999997</c:v>
                </c:pt>
                <c:pt idx="126">
                  <c:v>-0.27800000000000002</c:v>
                </c:pt>
                <c:pt idx="127">
                  <c:v>-0.28799999999999998</c:v>
                </c:pt>
                <c:pt idx="128">
                  <c:v>-0.17899999999999999</c:v>
                </c:pt>
                <c:pt idx="129">
                  <c:v>8.4000000000000005E-2</c:v>
                </c:pt>
                <c:pt idx="130">
                  <c:v>-1.0999999999999999E-2</c:v>
                </c:pt>
                <c:pt idx="131">
                  <c:v>2.1999999999999999E-2</c:v>
                </c:pt>
                <c:pt idx="132">
                  <c:v>0.23</c:v>
                </c:pt>
                <c:pt idx="133">
                  <c:v>0.25800000000000001</c:v>
                </c:pt>
                <c:pt idx="134">
                  <c:v>0.186</c:v>
                </c:pt>
                <c:pt idx="135">
                  <c:v>0.121</c:v>
                </c:pt>
                <c:pt idx="136">
                  <c:v>2.1999999999999999E-2</c:v>
                </c:pt>
                <c:pt idx="137">
                  <c:v>-7.6999999999999999E-2</c:v>
                </c:pt>
                <c:pt idx="138">
                  <c:v>-7.2999999999999995E-2</c:v>
                </c:pt>
                <c:pt idx="139">
                  <c:v>-4.9000000000000002E-2</c:v>
                </c:pt>
                <c:pt idx="140">
                  <c:v>-1.6E-2</c:v>
                </c:pt>
                <c:pt idx="141">
                  <c:v>-3.1E-2</c:v>
                </c:pt>
                <c:pt idx="142">
                  <c:v>-5.2999999999999999E-2</c:v>
                </c:pt>
                <c:pt idx="143">
                  <c:v>-8.1000000000000003E-2</c:v>
                </c:pt>
              </c:numCache>
            </c:numRef>
          </c:val>
          <c:smooth val="0"/>
          <c:extLst>
            <c:ext xmlns:c16="http://schemas.microsoft.com/office/drawing/2014/chart" uri="{C3380CC4-5D6E-409C-BE32-E72D297353CC}">
              <c16:uniqueId val="{00000000-7A7D-BD49-B024-93249CD074FD}"/>
            </c:ext>
          </c:extLst>
        </c:ser>
        <c:ser>
          <c:idx val="1"/>
          <c:order val="1"/>
          <c:tx>
            <c:strRef>
              <c:f>'図16_分析8_風'!$H$1</c:f>
              <c:strCache>
                <c:ptCount val="1"/>
                <c:pt idx="0">
                  <c:v>列11</c:v>
                </c:pt>
              </c:strCache>
            </c:strRef>
          </c:tx>
          <c:spPr>
            <a:ln w="11430" cap="rnd">
              <a:solidFill>
                <a:srgbClr val="118DFF"/>
              </a:solidFill>
              <a:round/>
            </a:ln>
          </c:spPr>
          <c:marker>
            <c:symbol val="none"/>
          </c:marker>
          <c:cat>
            <c:strRef>
              <c:f>'図16_分析8_風'!$B$2:$B$145</c:f>
              <c:strCache>
                <c:ptCount val="144"/>
                <c:pt idx="0">
                  <c:v>0:00</c:v>
                </c:pt>
                <c:pt idx="36">
                  <c:v>6:00</c:v>
                </c:pt>
                <c:pt idx="72">
                  <c:v>12:00</c:v>
                </c:pt>
                <c:pt idx="108">
                  <c:v>18:00</c:v>
                </c:pt>
              </c:strCache>
            </c:strRef>
          </c:cat>
          <c:val>
            <c:numRef>
              <c:f>'図16_分析8_風'!$H$2:$H$145</c:f>
              <c:numCache>
                <c:formatCode>General</c:formatCode>
                <c:ptCount val="144"/>
                <c:pt idx="0">
                  <c:v>-9.1999999999999998E-2</c:v>
                </c:pt>
                <c:pt idx="1">
                  <c:v>-0.25</c:v>
                </c:pt>
                <c:pt idx="2">
                  <c:v>-0.17899999999999999</c:v>
                </c:pt>
                <c:pt idx="3">
                  <c:v>-0.154</c:v>
                </c:pt>
                <c:pt idx="4">
                  <c:v>-0.186</c:v>
                </c:pt>
                <c:pt idx="5">
                  <c:v>-7.6999999999999999E-2</c:v>
                </c:pt>
                <c:pt idx="6">
                  <c:v>-4.1000000000000002E-2</c:v>
                </c:pt>
                <c:pt idx="7">
                  <c:v>-2.4E-2</c:v>
                </c:pt>
                <c:pt idx="8">
                  <c:v>-1.2999999999999999E-2</c:v>
                </c:pt>
                <c:pt idx="9">
                  <c:v>0</c:v>
                </c:pt>
                <c:pt idx="10">
                  <c:v>1.4999999999999999E-2</c:v>
                </c:pt>
                <c:pt idx="11">
                  <c:v>0.04</c:v>
                </c:pt>
                <c:pt idx="12">
                  <c:v>1.4999999999999999E-2</c:v>
                </c:pt>
                <c:pt idx="13">
                  <c:v>0.03</c:v>
                </c:pt>
                <c:pt idx="14">
                  <c:v>5.0000000000000001E-3</c:v>
                </c:pt>
                <c:pt idx="15">
                  <c:v>5.0000000000000001E-3</c:v>
                </c:pt>
                <c:pt idx="16">
                  <c:v>-8.0000000000000002E-3</c:v>
                </c:pt>
                <c:pt idx="17">
                  <c:v>-1E-3</c:v>
                </c:pt>
                <c:pt idx="18">
                  <c:v>2.5000000000000001E-2</c:v>
                </c:pt>
                <c:pt idx="19">
                  <c:v>1.9E-2</c:v>
                </c:pt>
                <c:pt idx="20">
                  <c:v>7.3999999999999996E-2</c:v>
                </c:pt>
                <c:pt idx="21">
                  <c:v>3.1E-2</c:v>
                </c:pt>
                <c:pt idx="22">
                  <c:v>6.6000000000000003E-2</c:v>
                </c:pt>
                <c:pt idx="23">
                  <c:v>6.4000000000000001E-2</c:v>
                </c:pt>
                <c:pt idx="24">
                  <c:v>2.4E-2</c:v>
                </c:pt>
                <c:pt idx="25">
                  <c:v>6.2E-2</c:v>
                </c:pt>
                <c:pt idx="26">
                  <c:v>4.5999999999999999E-2</c:v>
                </c:pt>
                <c:pt idx="27">
                  <c:v>7.2999999999999995E-2</c:v>
                </c:pt>
                <c:pt idx="28">
                  <c:v>0.11</c:v>
                </c:pt>
                <c:pt idx="29">
                  <c:v>0.06</c:v>
                </c:pt>
                <c:pt idx="30">
                  <c:v>4.9000000000000002E-2</c:v>
                </c:pt>
                <c:pt idx="31">
                  <c:v>3.6999999999999998E-2</c:v>
                </c:pt>
                <c:pt idx="32">
                  <c:v>4.2999999999999997E-2</c:v>
                </c:pt>
                <c:pt idx="33">
                  <c:v>0.16600000000000001</c:v>
                </c:pt>
                <c:pt idx="34">
                  <c:v>0.155</c:v>
                </c:pt>
                <c:pt idx="35">
                  <c:v>0.182</c:v>
                </c:pt>
                <c:pt idx="36">
                  <c:v>6.0999999999999999E-2</c:v>
                </c:pt>
                <c:pt idx="37">
                  <c:v>0.09</c:v>
                </c:pt>
                <c:pt idx="38">
                  <c:v>-6.0999999999999999E-2</c:v>
                </c:pt>
                <c:pt idx="39">
                  <c:v>-0.17</c:v>
                </c:pt>
                <c:pt idx="40">
                  <c:v>-0.29699999999999999</c:v>
                </c:pt>
                <c:pt idx="41">
                  <c:v>-5.6000000000000001E-2</c:v>
                </c:pt>
                <c:pt idx="42">
                  <c:v>-8.8999999999999996E-2</c:v>
                </c:pt>
                <c:pt idx="43">
                  <c:v>-4.8000000000000001E-2</c:v>
                </c:pt>
                <c:pt idx="44">
                  <c:v>-0.189</c:v>
                </c:pt>
                <c:pt idx="45">
                  <c:v>6.9000000000000006E-2</c:v>
                </c:pt>
                <c:pt idx="46">
                  <c:v>0.25900000000000001</c:v>
                </c:pt>
                <c:pt idx="47">
                  <c:v>0.64600000000000002</c:v>
                </c:pt>
                <c:pt idx="48">
                  <c:v>0.5</c:v>
                </c:pt>
                <c:pt idx="49">
                  <c:v>-0.81799999999999995</c:v>
                </c:pt>
                <c:pt idx="50">
                  <c:v>-0.98799999999999999</c:v>
                </c:pt>
                <c:pt idx="51">
                  <c:v>2.1999999999999999E-2</c:v>
                </c:pt>
                <c:pt idx="52">
                  <c:v>-0.59399999999999997</c:v>
                </c:pt>
                <c:pt idx="53">
                  <c:v>-0.309</c:v>
                </c:pt>
                <c:pt idx="54">
                  <c:v>-0.6</c:v>
                </c:pt>
                <c:pt idx="55">
                  <c:v>-0.71199999999999997</c:v>
                </c:pt>
                <c:pt idx="56">
                  <c:v>-0.70899999999999996</c:v>
                </c:pt>
                <c:pt idx="57">
                  <c:v>-0.16800000000000001</c:v>
                </c:pt>
                <c:pt idx="58">
                  <c:v>-0.89800000000000002</c:v>
                </c:pt>
                <c:pt idx="59">
                  <c:v>-0.129</c:v>
                </c:pt>
                <c:pt idx="60">
                  <c:v>0.14000000000000001</c:v>
                </c:pt>
                <c:pt idx="61">
                  <c:v>-0.30399999999999999</c:v>
                </c:pt>
                <c:pt idx="62">
                  <c:v>-0.51300000000000001</c:v>
                </c:pt>
                <c:pt idx="63">
                  <c:v>0.98899999999999999</c:v>
                </c:pt>
                <c:pt idx="64">
                  <c:v>0.93899999999999995</c:v>
                </c:pt>
                <c:pt idx="65">
                  <c:v>0.125</c:v>
                </c:pt>
                <c:pt idx="66">
                  <c:v>0.39500000000000002</c:v>
                </c:pt>
                <c:pt idx="67">
                  <c:v>5.6000000000000001E-2</c:v>
                </c:pt>
                <c:pt idx="68">
                  <c:v>-0.158</c:v>
                </c:pt>
                <c:pt idx="69">
                  <c:v>3.4000000000000002E-2</c:v>
                </c:pt>
                <c:pt idx="70">
                  <c:v>-7.0999999999999994E-2</c:v>
                </c:pt>
                <c:pt idx="71">
                  <c:v>0.57499999999999996</c:v>
                </c:pt>
                <c:pt idx="72">
                  <c:v>0.68100000000000005</c:v>
                </c:pt>
                <c:pt idx="73">
                  <c:v>0.41599999999999998</c:v>
                </c:pt>
                <c:pt idx="74">
                  <c:v>0.17399999999999999</c:v>
                </c:pt>
                <c:pt idx="75">
                  <c:v>0.17899999999999999</c:v>
                </c:pt>
                <c:pt idx="76">
                  <c:v>0.23599999999999999</c:v>
                </c:pt>
                <c:pt idx="77">
                  <c:v>-0.39900000000000002</c:v>
                </c:pt>
                <c:pt idx="78">
                  <c:v>-0.33300000000000002</c:v>
                </c:pt>
                <c:pt idx="79">
                  <c:v>-0.30399999999999999</c:v>
                </c:pt>
                <c:pt idx="80">
                  <c:v>5.8999999999999997E-2</c:v>
                </c:pt>
                <c:pt idx="81">
                  <c:v>0.17799999999999999</c:v>
                </c:pt>
                <c:pt idx="82">
                  <c:v>0.10199999999999999</c:v>
                </c:pt>
                <c:pt idx="83">
                  <c:v>-9.4E-2</c:v>
                </c:pt>
                <c:pt idx="84">
                  <c:v>-0.69899999999999995</c:v>
                </c:pt>
                <c:pt idx="85">
                  <c:v>-0.1</c:v>
                </c:pt>
                <c:pt idx="86">
                  <c:v>-0.214</c:v>
                </c:pt>
                <c:pt idx="87">
                  <c:v>-0.34399999999999997</c:v>
                </c:pt>
                <c:pt idx="88">
                  <c:v>-0.379</c:v>
                </c:pt>
                <c:pt idx="89">
                  <c:v>-1.9E-2</c:v>
                </c:pt>
                <c:pt idx="90">
                  <c:v>0.06</c:v>
                </c:pt>
                <c:pt idx="91">
                  <c:v>-0.317</c:v>
                </c:pt>
                <c:pt idx="92">
                  <c:v>0.23100000000000001</c:v>
                </c:pt>
                <c:pt idx="93">
                  <c:v>-0.40699999999999997</c:v>
                </c:pt>
                <c:pt idx="94">
                  <c:v>-5.0999999999999997E-2</c:v>
                </c:pt>
                <c:pt idx="95">
                  <c:v>-0.16500000000000001</c:v>
                </c:pt>
                <c:pt idx="96">
                  <c:v>-0.371</c:v>
                </c:pt>
                <c:pt idx="97">
                  <c:v>-6.3E-2</c:v>
                </c:pt>
                <c:pt idx="98">
                  <c:v>-0.19500000000000001</c:v>
                </c:pt>
                <c:pt idx="99">
                  <c:v>3.5000000000000003E-2</c:v>
                </c:pt>
                <c:pt idx="100">
                  <c:v>6.4000000000000001E-2</c:v>
                </c:pt>
                <c:pt idx="101">
                  <c:v>-0.254</c:v>
                </c:pt>
                <c:pt idx="102">
                  <c:v>-0.115</c:v>
                </c:pt>
                <c:pt idx="103">
                  <c:v>-0.38900000000000001</c:v>
                </c:pt>
                <c:pt idx="104">
                  <c:v>-0.35099999999999998</c:v>
                </c:pt>
                <c:pt idx="105">
                  <c:v>-0.24399999999999999</c:v>
                </c:pt>
                <c:pt idx="106">
                  <c:v>-0.51800000000000002</c:v>
                </c:pt>
                <c:pt idx="107">
                  <c:v>-0.621</c:v>
                </c:pt>
                <c:pt idx="108">
                  <c:v>-0.42399999999999999</c:v>
                </c:pt>
                <c:pt idx="109">
                  <c:v>-0.2</c:v>
                </c:pt>
                <c:pt idx="110">
                  <c:v>0.436</c:v>
                </c:pt>
                <c:pt idx="111">
                  <c:v>0.113</c:v>
                </c:pt>
                <c:pt idx="112">
                  <c:v>-0.35399999999999998</c:v>
                </c:pt>
                <c:pt idx="113">
                  <c:v>-0.49</c:v>
                </c:pt>
                <c:pt idx="114">
                  <c:v>-1.0999999999999999E-2</c:v>
                </c:pt>
                <c:pt idx="115">
                  <c:v>-0.28999999999999998</c:v>
                </c:pt>
                <c:pt idx="116">
                  <c:v>-0.39400000000000002</c:v>
                </c:pt>
                <c:pt idx="117">
                  <c:v>-0.25900000000000001</c:v>
                </c:pt>
                <c:pt idx="118">
                  <c:v>-3.4000000000000002E-2</c:v>
                </c:pt>
                <c:pt idx="119">
                  <c:v>-0.43099999999999999</c:v>
                </c:pt>
                <c:pt idx="120">
                  <c:v>-9.9000000000000005E-2</c:v>
                </c:pt>
                <c:pt idx="121">
                  <c:v>-8.9999999999999993E-3</c:v>
                </c:pt>
                <c:pt idx="122">
                  <c:v>-0.26600000000000001</c:v>
                </c:pt>
                <c:pt idx="123">
                  <c:v>-8.0000000000000002E-3</c:v>
                </c:pt>
                <c:pt idx="124">
                  <c:v>-0.50900000000000001</c:v>
                </c:pt>
                <c:pt idx="125">
                  <c:v>-0.81100000000000005</c:v>
                </c:pt>
                <c:pt idx="126">
                  <c:v>-7.0999999999999994E-2</c:v>
                </c:pt>
                <c:pt idx="127">
                  <c:v>-0.05</c:v>
                </c:pt>
                <c:pt idx="128">
                  <c:v>0.20100000000000001</c:v>
                </c:pt>
                <c:pt idx="129">
                  <c:v>0.28399999999999997</c:v>
                </c:pt>
                <c:pt idx="130">
                  <c:v>0.26800000000000002</c:v>
                </c:pt>
                <c:pt idx="131">
                  <c:v>0.39300000000000002</c:v>
                </c:pt>
                <c:pt idx="132">
                  <c:v>0.25600000000000001</c:v>
                </c:pt>
                <c:pt idx="133">
                  <c:v>8.5999999999999993E-2</c:v>
                </c:pt>
                <c:pt idx="134">
                  <c:v>0.19</c:v>
                </c:pt>
                <c:pt idx="135">
                  <c:v>0.189</c:v>
                </c:pt>
                <c:pt idx="136">
                  <c:v>0.11700000000000001</c:v>
                </c:pt>
                <c:pt idx="137">
                  <c:v>-3.9E-2</c:v>
                </c:pt>
                <c:pt idx="138">
                  <c:v>-3.9E-2</c:v>
                </c:pt>
                <c:pt idx="139">
                  <c:v>-0.01</c:v>
                </c:pt>
                <c:pt idx="140">
                  <c:v>-0.01</c:v>
                </c:pt>
                <c:pt idx="141">
                  <c:v>3.5999999999999997E-2</c:v>
                </c:pt>
                <c:pt idx="142">
                  <c:v>4.2999999999999997E-2</c:v>
                </c:pt>
                <c:pt idx="143">
                  <c:v>4.0000000000000001E-3</c:v>
                </c:pt>
              </c:numCache>
            </c:numRef>
          </c:val>
          <c:smooth val="0"/>
          <c:extLst>
            <c:ext xmlns:c16="http://schemas.microsoft.com/office/drawing/2014/chart" uri="{C3380CC4-5D6E-409C-BE32-E72D297353CC}">
              <c16:uniqueId val="{00000001-7A7D-BD49-B024-93249CD074FD}"/>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none"/>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2"/>
          <c:min val="-2"/>
        </c:scaling>
        <c:delete val="0"/>
        <c:axPos val="l"/>
        <c:majorGridlines>
          <c:spPr>
            <a:ln w="9525" cap="rnd">
              <a:solidFill>
                <a:srgbClr val="E3E7EC"/>
              </a:solidFill>
              <a:round/>
            </a:ln>
          </c:spPr>
        </c:majorGridlines>
        <c:title>
          <c:tx>
            <c:rich>
              <a:bodyPr rot="-5400000" vert="horz"/>
              <a:lstStyle/>
              <a:p>
                <a:pPr>
                  <a:defRPr sz="900" b="0"/>
                </a:pPr>
                <a:r>
                  <a:rPr lang="ja-JP" sz="900" b="0"/>
                  <a:t>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1"/>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
          <c:y val="0.05"/>
          <c:w val="0.76"/>
          <c:h val="0.72"/>
        </c:manualLayout>
      </c:layout>
      <c:lineChart>
        <c:grouping val="standard"/>
        <c:varyColors val="0"/>
        <c:ser>
          <c:idx val="0"/>
          <c:order val="0"/>
          <c:tx>
            <c:strRef>
              <c:f>'図16_分析8_風'!$M$1</c:f>
              <c:strCache>
                <c:ptCount val="1"/>
                <c:pt idx="0">
                  <c:v>列8</c:v>
                </c:pt>
              </c:strCache>
            </c:strRef>
          </c:tx>
          <c:spPr>
            <a:ln w="11430" cap="rnd">
              <a:solidFill>
                <a:srgbClr val="01B8AA"/>
              </a:solidFill>
              <a:round/>
            </a:ln>
          </c:spPr>
          <c:marker>
            <c:symbol val="none"/>
          </c:marker>
          <c:cat>
            <c:strRef>
              <c:f>'図16_分析8_風'!$B$2:$B$145</c:f>
              <c:strCache>
                <c:ptCount val="144"/>
                <c:pt idx="0">
                  <c:v>0:00</c:v>
                </c:pt>
                <c:pt idx="36">
                  <c:v>6:00</c:v>
                </c:pt>
                <c:pt idx="72">
                  <c:v>12:00</c:v>
                </c:pt>
                <c:pt idx="108">
                  <c:v>18:00</c:v>
                </c:pt>
              </c:strCache>
            </c:strRef>
          </c:cat>
          <c:val>
            <c:numRef>
              <c:f>'図16_分析8_風'!$M$2:$M$145</c:f>
              <c:numCache>
                <c:formatCode>General</c:formatCode>
                <c:ptCount val="144"/>
                <c:pt idx="0">
                  <c:v>-6.7000000000000004E-2</c:v>
                </c:pt>
                <c:pt idx="1">
                  <c:v>-0.30099999999999999</c:v>
                </c:pt>
                <c:pt idx="2">
                  <c:v>-0.20399999999999999</c:v>
                </c:pt>
                <c:pt idx="3">
                  <c:v>-0.09</c:v>
                </c:pt>
                <c:pt idx="4">
                  <c:v>-3.2000000000000001E-2</c:v>
                </c:pt>
                <c:pt idx="5">
                  <c:v>-1.2E-2</c:v>
                </c:pt>
                <c:pt idx="6">
                  <c:v>2.1000000000000001E-2</c:v>
                </c:pt>
                <c:pt idx="7">
                  <c:v>0.04</c:v>
                </c:pt>
                <c:pt idx="8">
                  <c:v>0.122</c:v>
                </c:pt>
                <c:pt idx="9">
                  <c:v>0.12</c:v>
                </c:pt>
                <c:pt idx="10">
                  <c:v>0.106</c:v>
                </c:pt>
                <c:pt idx="11">
                  <c:v>0.13600000000000001</c:v>
                </c:pt>
                <c:pt idx="12">
                  <c:v>0.16900000000000001</c:v>
                </c:pt>
                <c:pt idx="13">
                  <c:v>0.16</c:v>
                </c:pt>
                <c:pt idx="14">
                  <c:v>0.154</c:v>
                </c:pt>
                <c:pt idx="15">
                  <c:v>0.152</c:v>
                </c:pt>
                <c:pt idx="16">
                  <c:v>0.109</c:v>
                </c:pt>
                <c:pt idx="17">
                  <c:v>0.182</c:v>
                </c:pt>
                <c:pt idx="18">
                  <c:v>0.11</c:v>
                </c:pt>
                <c:pt idx="19">
                  <c:v>6.9000000000000006E-2</c:v>
                </c:pt>
                <c:pt idx="20">
                  <c:v>0.14599999999999999</c:v>
                </c:pt>
                <c:pt idx="21">
                  <c:v>0.152</c:v>
                </c:pt>
                <c:pt idx="22">
                  <c:v>0.122</c:v>
                </c:pt>
                <c:pt idx="23">
                  <c:v>0.12</c:v>
                </c:pt>
                <c:pt idx="24">
                  <c:v>7.5999999999999998E-2</c:v>
                </c:pt>
                <c:pt idx="25">
                  <c:v>0.13</c:v>
                </c:pt>
                <c:pt idx="26">
                  <c:v>8.4000000000000005E-2</c:v>
                </c:pt>
                <c:pt idx="27">
                  <c:v>0.154</c:v>
                </c:pt>
                <c:pt idx="28">
                  <c:v>0.121</c:v>
                </c:pt>
                <c:pt idx="29">
                  <c:v>7.2999999999999995E-2</c:v>
                </c:pt>
                <c:pt idx="30">
                  <c:v>7.2999999999999995E-2</c:v>
                </c:pt>
                <c:pt idx="31">
                  <c:v>7.0999999999999994E-2</c:v>
                </c:pt>
                <c:pt idx="32">
                  <c:v>0.08</c:v>
                </c:pt>
                <c:pt idx="33">
                  <c:v>0.107</c:v>
                </c:pt>
                <c:pt idx="34">
                  <c:v>9.4E-2</c:v>
                </c:pt>
                <c:pt idx="35">
                  <c:v>1.7000000000000001E-2</c:v>
                </c:pt>
                <c:pt idx="36">
                  <c:v>-4.0000000000000001E-3</c:v>
                </c:pt>
                <c:pt idx="37">
                  <c:v>-5.8000000000000003E-2</c:v>
                </c:pt>
                <c:pt idx="38">
                  <c:v>-6.6000000000000003E-2</c:v>
                </c:pt>
                <c:pt idx="39">
                  <c:v>-1.7000000000000001E-2</c:v>
                </c:pt>
                <c:pt idx="40">
                  <c:v>7.0000000000000001E-3</c:v>
                </c:pt>
                <c:pt idx="41">
                  <c:v>0.253</c:v>
                </c:pt>
                <c:pt idx="42">
                  <c:v>0.94599999999999995</c:v>
                </c:pt>
                <c:pt idx="43">
                  <c:v>1.677</c:v>
                </c:pt>
                <c:pt idx="44">
                  <c:v>1</c:v>
                </c:pt>
                <c:pt idx="45">
                  <c:v>0.34899999999999998</c:v>
                </c:pt>
                <c:pt idx="46">
                  <c:v>0.92200000000000004</c:v>
                </c:pt>
                <c:pt idx="47">
                  <c:v>0.71599999999999997</c:v>
                </c:pt>
                <c:pt idx="48">
                  <c:v>0.622</c:v>
                </c:pt>
                <c:pt idx="49">
                  <c:v>3.3000000000000002E-2</c:v>
                </c:pt>
                <c:pt idx="50">
                  <c:v>-0.28000000000000003</c:v>
                </c:pt>
                <c:pt idx="51">
                  <c:v>-8.8999999999999996E-2</c:v>
                </c:pt>
                <c:pt idx="52">
                  <c:v>-0.46</c:v>
                </c:pt>
                <c:pt idx="53">
                  <c:v>-0.10100000000000001</c:v>
                </c:pt>
                <c:pt idx="54">
                  <c:v>-0.54</c:v>
                </c:pt>
                <c:pt idx="55">
                  <c:v>-6.0999999999999999E-2</c:v>
                </c:pt>
                <c:pt idx="56">
                  <c:v>-0.25800000000000001</c:v>
                </c:pt>
                <c:pt idx="57">
                  <c:v>0.53400000000000003</c:v>
                </c:pt>
                <c:pt idx="58">
                  <c:v>2.4E-2</c:v>
                </c:pt>
                <c:pt idx="59">
                  <c:v>-0.67100000000000004</c:v>
                </c:pt>
                <c:pt idx="60">
                  <c:v>-0.38300000000000001</c:v>
                </c:pt>
                <c:pt idx="61">
                  <c:v>-0.316</c:v>
                </c:pt>
                <c:pt idx="62">
                  <c:v>-0.32900000000000001</c:v>
                </c:pt>
                <c:pt idx="63">
                  <c:v>-0.35899999999999999</c:v>
                </c:pt>
                <c:pt idx="64">
                  <c:v>-0.19900000000000001</c:v>
                </c:pt>
                <c:pt idx="65">
                  <c:v>-0.51300000000000001</c:v>
                </c:pt>
                <c:pt idx="66">
                  <c:v>-0.72199999999999998</c:v>
                </c:pt>
                <c:pt idx="67">
                  <c:v>-1</c:v>
                </c:pt>
                <c:pt idx="68">
                  <c:v>-0.76100000000000001</c:v>
                </c:pt>
                <c:pt idx="69">
                  <c:v>-0.156</c:v>
                </c:pt>
                <c:pt idx="70">
                  <c:v>-0.35199999999999998</c:v>
                </c:pt>
                <c:pt idx="71">
                  <c:v>-0.496</c:v>
                </c:pt>
                <c:pt idx="72">
                  <c:v>-0.71599999999999997</c:v>
                </c:pt>
                <c:pt idx="73">
                  <c:v>-0.188</c:v>
                </c:pt>
                <c:pt idx="74">
                  <c:v>0.20300000000000001</c:v>
                </c:pt>
                <c:pt idx="75">
                  <c:v>-0.218</c:v>
                </c:pt>
                <c:pt idx="76">
                  <c:v>-0.32200000000000001</c:v>
                </c:pt>
                <c:pt idx="77">
                  <c:v>-0.27100000000000002</c:v>
                </c:pt>
                <c:pt idx="78">
                  <c:v>-0.152</c:v>
                </c:pt>
                <c:pt idx="79">
                  <c:v>0.27800000000000002</c:v>
                </c:pt>
                <c:pt idx="80">
                  <c:v>0.193</c:v>
                </c:pt>
                <c:pt idx="81">
                  <c:v>0.122</c:v>
                </c:pt>
                <c:pt idx="82">
                  <c:v>-0.34300000000000003</c:v>
                </c:pt>
                <c:pt idx="83">
                  <c:v>-0.47299999999999998</c:v>
                </c:pt>
                <c:pt idx="84">
                  <c:v>-0.79900000000000004</c:v>
                </c:pt>
                <c:pt idx="85">
                  <c:v>-0.29799999999999999</c:v>
                </c:pt>
                <c:pt idx="86">
                  <c:v>-0.74199999999999999</c:v>
                </c:pt>
                <c:pt idx="87">
                  <c:v>-0.54</c:v>
                </c:pt>
                <c:pt idx="88">
                  <c:v>-0.12</c:v>
                </c:pt>
                <c:pt idx="89">
                  <c:v>1.4E-2</c:v>
                </c:pt>
                <c:pt idx="90">
                  <c:v>-7.1999999999999995E-2</c:v>
                </c:pt>
                <c:pt idx="91">
                  <c:v>-0.38900000000000001</c:v>
                </c:pt>
                <c:pt idx="92">
                  <c:v>-0.59299999999999997</c:v>
                </c:pt>
                <c:pt idx="93">
                  <c:v>-0.24099999999999999</c:v>
                </c:pt>
                <c:pt idx="94">
                  <c:v>-0.12</c:v>
                </c:pt>
                <c:pt idx="95">
                  <c:v>-8.3000000000000004E-2</c:v>
                </c:pt>
                <c:pt idx="96">
                  <c:v>-9.1999999999999998E-2</c:v>
                </c:pt>
                <c:pt idx="97">
                  <c:v>-0.183</c:v>
                </c:pt>
                <c:pt idx="98">
                  <c:v>-0.17399999999999999</c:v>
                </c:pt>
                <c:pt idx="99">
                  <c:v>0.29199999999999998</c:v>
                </c:pt>
                <c:pt idx="100">
                  <c:v>0.38400000000000001</c:v>
                </c:pt>
                <c:pt idx="101">
                  <c:v>-0.107</c:v>
                </c:pt>
                <c:pt idx="102">
                  <c:v>-0.35399999999999998</c:v>
                </c:pt>
                <c:pt idx="103">
                  <c:v>-0.19600000000000001</c:v>
                </c:pt>
                <c:pt idx="104">
                  <c:v>-5.0999999999999997E-2</c:v>
                </c:pt>
                <c:pt idx="105">
                  <c:v>-0.20100000000000001</c:v>
                </c:pt>
                <c:pt idx="106">
                  <c:v>-0.16400000000000001</c:v>
                </c:pt>
                <c:pt idx="107">
                  <c:v>-0.18099999999999999</c:v>
                </c:pt>
                <c:pt idx="108">
                  <c:v>-0.39400000000000002</c:v>
                </c:pt>
                <c:pt idx="109">
                  <c:v>-0.59</c:v>
                </c:pt>
                <c:pt idx="110">
                  <c:v>-0.63</c:v>
                </c:pt>
                <c:pt idx="111">
                  <c:v>-0.57599999999999996</c:v>
                </c:pt>
                <c:pt idx="112">
                  <c:v>-0.59599999999999997</c:v>
                </c:pt>
                <c:pt idx="113">
                  <c:v>-0.44800000000000001</c:v>
                </c:pt>
                <c:pt idx="114">
                  <c:v>-0.436</c:v>
                </c:pt>
                <c:pt idx="115">
                  <c:v>-0.82099999999999995</c:v>
                </c:pt>
                <c:pt idx="116">
                  <c:v>-0.69399999999999995</c:v>
                </c:pt>
                <c:pt idx="117">
                  <c:v>-0.61899999999999999</c:v>
                </c:pt>
                <c:pt idx="118">
                  <c:v>-0.253</c:v>
                </c:pt>
                <c:pt idx="119">
                  <c:v>-0.52600000000000002</c:v>
                </c:pt>
                <c:pt idx="120">
                  <c:v>-0.35099999999999998</c:v>
                </c:pt>
                <c:pt idx="121">
                  <c:v>-0.45700000000000002</c:v>
                </c:pt>
                <c:pt idx="122">
                  <c:v>-0.46</c:v>
                </c:pt>
                <c:pt idx="123">
                  <c:v>-6.3E-2</c:v>
                </c:pt>
                <c:pt idx="124">
                  <c:v>-0.122</c:v>
                </c:pt>
                <c:pt idx="125">
                  <c:v>4.7E-2</c:v>
                </c:pt>
                <c:pt idx="126">
                  <c:v>-3.1E-2</c:v>
                </c:pt>
                <c:pt idx="127">
                  <c:v>6.3E-2</c:v>
                </c:pt>
                <c:pt idx="128">
                  <c:v>0.14799999999999999</c:v>
                </c:pt>
                <c:pt idx="129">
                  <c:v>0.29699999999999999</c:v>
                </c:pt>
                <c:pt idx="130">
                  <c:v>0.151</c:v>
                </c:pt>
                <c:pt idx="131">
                  <c:v>0.189</c:v>
                </c:pt>
                <c:pt idx="132">
                  <c:v>0.317</c:v>
                </c:pt>
                <c:pt idx="133">
                  <c:v>0.46200000000000002</c:v>
                </c:pt>
                <c:pt idx="134">
                  <c:v>0.32300000000000001</c:v>
                </c:pt>
                <c:pt idx="135">
                  <c:v>0.221</c:v>
                </c:pt>
                <c:pt idx="136">
                  <c:v>0.67100000000000004</c:v>
                </c:pt>
                <c:pt idx="137">
                  <c:v>0.54800000000000004</c:v>
                </c:pt>
                <c:pt idx="138">
                  <c:v>0.26900000000000002</c:v>
                </c:pt>
                <c:pt idx="139">
                  <c:v>0.16</c:v>
                </c:pt>
                <c:pt idx="140">
                  <c:v>0.113</c:v>
                </c:pt>
                <c:pt idx="141">
                  <c:v>9.0999999999999998E-2</c:v>
                </c:pt>
                <c:pt idx="142">
                  <c:v>3.4000000000000002E-2</c:v>
                </c:pt>
                <c:pt idx="143">
                  <c:v>-0.121</c:v>
                </c:pt>
              </c:numCache>
            </c:numRef>
          </c:val>
          <c:smooth val="0"/>
          <c:extLst>
            <c:ext xmlns:c16="http://schemas.microsoft.com/office/drawing/2014/chart" uri="{C3380CC4-5D6E-409C-BE32-E72D297353CC}">
              <c16:uniqueId val="{00000000-B5D3-2241-A61E-DCF10A2DF5D7}"/>
            </c:ext>
          </c:extLst>
        </c:ser>
        <c:ser>
          <c:idx val="1"/>
          <c:order val="1"/>
          <c:tx>
            <c:strRef>
              <c:f>'図16_分析8_風'!$N$1</c:f>
              <c:strCache>
                <c:ptCount val="1"/>
                <c:pt idx="0">
                  <c:v>列11</c:v>
                </c:pt>
              </c:strCache>
            </c:strRef>
          </c:tx>
          <c:spPr>
            <a:ln w="11430" cap="rnd">
              <a:solidFill>
                <a:srgbClr val="118DFF"/>
              </a:solidFill>
              <a:round/>
            </a:ln>
          </c:spPr>
          <c:marker>
            <c:symbol val="none"/>
          </c:marker>
          <c:cat>
            <c:strRef>
              <c:f>'図16_分析8_風'!$B$2:$B$145</c:f>
              <c:strCache>
                <c:ptCount val="144"/>
                <c:pt idx="0">
                  <c:v>0:00</c:v>
                </c:pt>
                <c:pt idx="36">
                  <c:v>6:00</c:v>
                </c:pt>
                <c:pt idx="72">
                  <c:v>12:00</c:v>
                </c:pt>
                <c:pt idx="108">
                  <c:v>18:00</c:v>
                </c:pt>
              </c:strCache>
            </c:strRef>
          </c:cat>
          <c:val>
            <c:numRef>
              <c:f>'図16_分析8_風'!$N$2:$N$145</c:f>
              <c:numCache>
                <c:formatCode>General</c:formatCode>
                <c:ptCount val="144"/>
                <c:pt idx="0">
                  <c:v>-0.113</c:v>
                </c:pt>
                <c:pt idx="1">
                  <c:v>-0.34100000000000003</c:v>
                </c:pt>
                <c:pt idx="2">
                  <c:v>-0.20799999999999999</c:v>
                </c:pt>
                <c:pt idx="3">
                  <c:v>-6.6000000000000003E-2</c:v>
                </c:pt>
                <c:pt idx="4">
                  <c:v>-2.5999999999999999E-2</c:v>
                </c:pt>
                <c:pt idx="5">
                  <c:v>8.0000000000000002E-3</c:v>
                </c:pt>
                <c:pt idx="6">
                  <c:v>4.8000000000000001E-2</c:v>
                </c:pt>
                <c:pt idx="7">
                  <c:v>7.9000000000000001E-2</c:v>
                </c:pt>
                <c:pt idx="8">
                  <c:v>0.11899999999999999</c:v>
                </c:pt>
                <c:pt idx="9">
                  <c:v>0.09</c:v>
                </c:pt>
                <c:pt idx="10">
                  <c:v>9.0999999999999998E-2</c:v>
                </c:pt>
                <c:pt idx="11">
                  <c:v>0.128</c:v>
                </c:pt>
                <c:pt idx="12">
                  <c:v>0.158</c:v>
                </c:pt>
                <c:pt idx="13">
                  <c:v>0.14399999999999999</c:v>
                </c:pt>
                <c:pt idx="14">
                  <c:v>0.14099999999999999</c:v>
                </c:pt>
                <c:pt idx="15">
                  <c:v>0.13800000000000001</c:v>
                </c:pt>
                <c:pt idx="16">
                  <c:v>0.105</c:v>
                </c:pt>
                <c:pt idx="17">
                  <c:v>0.16900000000000001</c:v>
                </c:pt>
                <c:pt idx="18">
                  <c:v>0.10100000000000001</c:v>
                </c:pt>
                <c:pt idx="19">
                  <c:v>8.5999999999999993E-2</c:v>
                </c:pt>
                <c:pt idx="20">
                  <c:v>0.159</c:v>
                </c:pt>
                <c:pt idx="21">
                  <c:v>0.13</c:v>
                </c:pt>
                <c:pt idx="22">
                  <c:v>9.1999999999999998E-2</c:v>
                </c:pt>
                <c:pt idx="23">
                  <c:v>8.2000000000000003E-2</c:v>
                </c:pt>
                <c:pt idx="24">
                  <c:v>4.1000000000000002E-2</c:v>
                </c:pt>
                <c:pt idx="25">
                  <c:v>0.09</c:v>
                </c:pt>
                <c:pt idx="26">
                  <c:v>8.1000000000000003E-2</c:v>
                </c:pt>
                <c:pt idx="27">
                  <c:v>0.10199999999999999</c:v>
                </c:pt>
                <c:pt idx="28">
                  <c:v>6.9000000000000006E-2</c:v>
                </c:pt>
                <c:pt idx="29">
                  <c:v>4.5999999999999999E-2</c:v>
                </c:pt>
                <c:pt idx="30">
                  <c:v>5.5E-2</c:v>
                </c:pt>
                <c:pt idx="31">
                  <c:v>2.8000000000000001E-2</c:v>
                </c:pt>
                <c:pt idx="32">
                  <c:v>4.0000000000000001E-3</c:v>
                </c:pt>
                <c:pt idx="33">
                  <c:v>0</c:v>
                </c:pt>
                <c:pt idx="34">
                  <c:v>-1.0999999999999999E-2</c:v>
                </c:pt>
                <c:pt idx="35">
                  <c:v>-6.7000000000000004E-2</c:v>
                </c:pt>
                <c:pt idx="36">
                  <c:v>-8.5999999999999993E-2</c:v>
                </c:pt>
                <c:pt idx="37">
                  <c:v>-0.109</c:v>
                </c:pt>
                <c:pt idx="38">
                  <c:v>-0.123</c:v>
                </c:pt>
                <c:pt idx="39">
                  <c:v>0.19500000000000001</c:v>
                </c:pt>
                <c:pt idx="40">
                  <c:v>0.28299999999999997</c:v>
                </c:pt>
                <c:pt idx="41">
                  <c:v>0.43099999999999999</c:v>
                </c:pt>
                <c:pt idx="42">
                  <c:v>0.73099999999999998</c:v>
                </c:pt>
                <c:pt idx="43">
                  <c:v>0.83099999999999996</c:v>
                </c:pt>
                <c:pt idx="44">
                  <c:v>4.2999999999999997E-2</c:v>
                </c:pt>
                <c:pt idx="45">
                  <c:v>-0.14299999999999999</c:v>
                </c:pt>
                <c:pt idx="46">
                  <c:v>-2.9000000000000001E-2</c:v>
                </c:pt>
                <c:pt idx="47">
                  <c:v>0.11899999999999999</c:v>
                </c:pt>
                <c:pt idx="48">
                  <c:v>0.53400000000000003</c:v>
                </c:pt>
                <c:pt idx="49">
                  <c:v>-0.37</c:v>
                </c:pt>
                <c:pt idx="50">
                  <c:v>-0.71399999999999997</c:v>
                </c:pt>
                <c:pt idx="51">
                  <c:v>-0.755</c:v>
                </c:pt>
                <c:pt idx="52">
                  <c:v>-0.78700000000000003</c:v>
                </c:pt>
                <c:pt idx="53">
                  <c:v>-0.44</c:v>
                </c:pt>
                <c:pt idx="54">
                  <c:v>-0.69399999999999995</c:v>
                </c:pt>
                <c:pt idx="55">
                  <c:v>-0.66500000000000004</c:v>
                </c:pt>
                <c:pt idx="56">
                  <c:v>-0.79100000000000004</c:v>
                </c:pt>
                <c:pt idx="57">
                  <c:v>-0.14899999999999999</c:v>
                </c:pt>
                <c:pt idx="58">
                  <c:v>-0.63</c:v>
                </c:pt>
                <c:pt idx="59">
                  <c:v>-0.874</c:v>
                </c:pt>
                <c:pt idx="60">
                  <c:v>-0.54900000000000004</c:v>
                </c:pt>
                <c:pt idx="61">
                  <c:v>-0.47</c:v>
                </c:pt>
                <c:pt idx="62">
                  <c:v>-0.873</c:v>
                </c:pt>
                <c:pt idx="63">
                  <c:v>-0.52100000000000002</c:v>
                </c:pt>
                <c:pt idx="64">
                  <c:v>-0.316</c:v>
                </c:pt>
                <c:pt idx="65">
                  <c:v>-0.92500000000000004</c:v>
                </c:pt>
                <c:pt idx="66">
                  <c:v>-1.2609999999999999</c:v>
                </c:pt>
                <c:pt idx="67">
                  <c:v>-1.1599999999999999</c:v>
                </c:pt>
                <c:pt idx="68">
                  <c:v>-1.369</c:v>
                </c:pt>
                <c:pt idx="69">
                  <c:v>-0.68400000000000005</c:v>
                </c:pt>
                <c:pt idx="70">
                  <c:v>-0.28000000000000003</c:v>
                </c:pt>
                <c:pt idx="71">
                  <c:v>-0.85399999999999998</c:v>
                </c:pt>
                <c:pt idx="72">
                  <c:v>-0.72499999999999998</c:v>
                </c:pt>
                <c:pt idx="73">
                  <c:v>-1.002</c:v>
                </c:pt>
                <c:pt idx="74">
                  <c:v>-0.37</c:v>
                </c:pt>
                <c:pt idx="75">
                  <c:v>-0.74299999999999999</c:v>
                </c:pt>
                <c:pt idx="76">
                  <c:v>-1.03</c:v>
                </c:pt>
                <c:pt idx="77">
                  <c:v>-0.93400000000000005</c:v>
                </c:pt>
                <c:pt idx="78">
                  <c:v>-0.83099999999999996</c:v>
                </c:pt>
                <c:pt idx="79">
                  <c:v>-0.60499999999999998</c:v>
                </c:pt>
                <c:pt idx="80">
                  <c:v>-0.93400000000000005</c:v>
                </c:pt>
                <c:pt idx="81">
                  <c:v>-0.84199999999999997</c:v>
                </c:pt>
                <c:pt idx="82">
                  <c:v>-1.2050000000000001</c:v>
                </c:pt>
                <c:pt idx="83">
                  <c:v>-1.38</c:v>
                </c:pt>
                <c:pt idx="84">
                  <c:v>-1.466</c:v>
                </c:pt>
                <c:pt idx="85">
                  <c:v>-0.65300000000000002</c:v>
                </c:pt>
                <c:pt idx="86">
                  <c:v>-1.0189999999999999</c:v>
                </c:pt>
                <c:pt idx="87">
                  <c:v>-1.1200000000000001</c:v>
                </c:pt>
                <c:pt idx="88">
                  <c:v>-0.44600000000000001</c:v>
                </c:pt>
                <c:pt idx="89">
                  <c:v>-0.29899999999999999</c:v>
                </c:pt>
                <c:pt idx="90">
                  <c:v>-0.62</c:v>
                </c:pt>
                <c:pt idx="91">
                  <c:v>-0.54900000000000004</c:v>
                </c:pt>
                <c:pt idx="92">
                  <c:v>-0.59099999999999997</c:v>
                </c:pt>
                <c:pt idx="93">
                  <c:v>-0.48899999999999999</c:v>
                </c:pt>
                <c:pt idx="94">
                  <c:v>-0.64600000000000002</c:v>
                </c:pt>
                <c:pt idx="95">
                  <c:v>-0.67200000000000004</c:v>
                </c:pt>
                <c:pt idx="96">
                  <c:v>-0.57299999999999995</c:v>
                </c:pt>
                <c:pt idx="97">
                  <c:v>-0.309</c:v>
                </c:pt>
                <c:pt idx="98">
                  <c:v>-0.42399999999999999</c:v>
                </c:pt>
                <c:pt idx="99">
                  <c:v>-0.44900000000000001</c:v>
                </c:pt>
                <c:pt idx="100">
                  <c:v>-0.42899999999999999</c:v>
                </c:pt>
                <c:pt idx="101">
                  <c:v>-0.64400000000000002</c:v>
                </c:pt>
                <c:pt idx="102">
                  <c:v>-0.35499999999999998</c:v>
                </c:pt>
                <c:pt idx="103">
                  <c:v>-0.28000000000000003</c:v>
                </c:pt>
                <c:pt idx="104">
                  <c:v>-0.23599999999999999</c:v>
                </c:pt>
                <c:pt idx="105">
                  <c:v>-0.69199999999999995</c:v>
                </c:pt>
                <c:pt idx="106">
                  <c:v>-0.33800000000000002</c:v>
                </c:pt>
                <c:pt idx="107">
                  <c:v>-0.40600000000000003</c:v>
                </c:pt>
                <c:pt idx="108">
                  <c:v>-0.35899999999999999</c:v>
                </c:pt>
                <c:pt idx="109">
                  <c:v>-0.42899999999999999</c:v>
                </c:pt>
                <c:pt idx="110">
                  <c:v>-0.49299999999999999</c:v>
                </c:pt>
                <c:pt idx="111">
                  <c:v>-0.37</c:v>
                </c:pt>
                <c:pt idx="112">
                  <c:v>-0.25</c:v>
                </c:pt>
                <c:pt idx="113">
                  <c:v>-0.222</c:v>
                </c:pt>
                <c:pt idx="114">
                  <c:v>-0.17899999999999999</c:v>
                </c:pt>
                <c:pt idx="115">
                  <c:v>-0.48</c:v>
                </c:pt>
                <c:pt idx="116">
                  <c:v>-0.57099999999999995</c:v>
                </c:pt>
                <c:pt idx="117">
                  <c:v>-0.50600000000000001</c:v>
                </c:pt>
                <c:pt idx="118">
                  <c:v>-0.17399999999999999</c:v>
                </c:pt>
                <c:pt idx="119">
                  <c:v>-0.501</c:v>
                </c:pt>
                <c:pt idx="120">
                  <c:v>-0.53600000000000003</c:v>
                </c:pt>
                <c:pt idx="121">
                  <c:v>-0.42699999999999999</c:v>
                </c:pt>
                <c:pt idx="122">
                  <c:v>-0.54200000000000004</c:v>
                </c:pt>
                <c:pt idx="123">
                  <c:v>-0.252</c:v>
                </c:pt>
                <c:pt idx="124">
                  <c:v>-0.30399999999999999</c:v>
                </c:pt>
                <c:pt idx="125">
                  <c:v>-5.0999999999999997E-2</c:v>
                </c:pt>
                <c:pt idx="126">
                  <c:v>-5.1999999999999998E-2</c:v>
                </c:pt>
                <c:pt idx="127">
                  <c:v>0.111</c:v>
                </c:pt>
                <c:pt idx="128">
                  <c:v>0.157</c:v>
                </c:pt>
                <c:pt idx="129">
                  <c:v>0.24</c:v>
                </c:pt>
                <c:pt idx="130">
                  <c:v>0.14799999999999999</c:v>
                </c:pt>
                <c:pt idx="131">
                  <c:v>0.16900000000000001</c:v>
                </c:pt>
                <c:pt idx="132">
                  <c:v>0.2</c:v>
                </c:pt>
                <c:pt idx="133">
                  <c:v>0.18099999999999999</c:v>
                </c:pt>
                <c:pt idx="134">
                  <c:v>0.154</c:v>
                </c:pt>
                <c:pt idx="135">
                  <c:v>0.122</c:v>
                </c:pt>
                <c:pt idx="136">
                  <c:v>0.28100000000000003</c:v>
                </c:pt>
                <c:pt idx="137">
                  <c:v>0.17</c:v>
                </c:pt>
                <c:pt idx="138">
                  <c:v>0.29499999999999998</c:v>
                </c:pt>
                <c:pt idx="139">
                  <c:v>0.35099999999999998</c:v>
                </c:pt>
                <c:pt idx="140">
                  <c:v>0.111</c:v>
                </c:pt>
                <c:pt idx="141">
                  <c:v>8.5999999999999993E-2</c:v>
                </c:pt>
                <c:pt idx="142">
                  <c:v>3.1E-2</c:v>
                </c:pt>
                <c:pt idx="143">
                  <c:v>-0.16</c:v>
                </c:pt>
              </c:numCache>
            </c:numRef>
          </c:val>
          <c:smooth val="0"/>
          <c:extLst>
            <c:ext xmlns:c16="http://schemas.microsoft.com/office/drawing/2014/chart" uri="{C3380CC4-5D6E-409C-BE32-E72D297353CC}">
              <c16:uniqueId val="{00000001-B5D3-2241-A61E-DCF10A2DF5D7}"/>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none"/>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2"/>
          <c:min val="-2"/>
        </c:scaling>
        <c:delete val="0"/>
        <c:axPos val="l"/>
        <c:majorGridlines>
          <c:spPr>
            <a:ln w="9525" cap="rnd">
              <a:solidFill>
                <a:srgbClr val="E3E7EC"/>
              </a:solidFill>
              <a:round/>
            </a:ln>
          </c:spPr>
        </c:majorGridlines>
        <c:title>
          <c:tx>
            <c:rich>
              <a:bodyPr rot="-5400000" vert="horz"/>
              <a:lstStyle/>
              <a:p>
                <a:pPr>
                  <a:defRPr sz="900" b="0"/>
                </a:pPr>
                <a:r>
                  <a:rPr lang="ja-JP" sz="900" b="0"/>
                  <a:t>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1"/>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
          <c:y val="0.25"/>
          <c:w val="0.76"/>
          <c:h val="0.55000000000000004"/>
        </c:manualLayout>
      </c:layout>
      <c:lineChart>
        <c:grouping val="standard"/>
        <c:varyColors val="0"/>
        <c:ser>
          <c:idx val="0"/>
          <c:order val="0"/>
          <c:tx>
            <c:strRef>
              <c:f>'図17_分析8_典型日'!$C$1</c:f>
              <c:strCache>
                <c:ptCount val="1"/>
                <c:pt idx="0">
                  <c:v>屋上の気温</c:v>
                </c:pt>
              </c:strCache>
            </c:strRef>
          </c:tx>
          <c:spPr>
            <a:ln w="15875" cap="rnd">
              <a:solidFill>
                <a:srgbClr val="ED7D31"/>
              </a:solidFill>
              <a:round/>
            </a:ln>
          </c:spPr>
          <c:marker>
            <c:symbol val="none"/>
          </c:marker>
          <c:cat>
            <c:strRef>
              <c:f>'図17_分析8_典型日'!$B$2:$B$145</c:f>
              <c:strCache>
                <c:ptCount val="144"/>
                <c:pt idx="0">
                  <c:v>0:00</c:v>
                </c:pt>
                <c:pt idx="18">
                  <c:v>3:00</c:v>
                </c:pt>
                <c:pt idx="36">
                  <c:v>6:00</c:v>
                </c:pt>
                <c:pt idx="54">
                  <c:v>9:00</c:v>
                </c:pt>
                <c:pt idx="72">
                  <c:v>12:00</c:v>
                </c:pt>
                <c:pt idx="90">
                  <c:v>15:00</c:v>
                </c:pt>
                <c:pt idx="108">
                  <c:v>18:00</c:v>
                </c:pt>
                <c:pt idx="126">
                  <c:v>21:00</c:v>
                </c:pt>
              </c:strCache>
            </c:strRef>
          </c:cat>
          <c:val>
            <c:numRef>
              <c:f>'図17_分析8_典型日'!$C$2:$C$145</c:f>
              <c:numCache>
                <c:formatCode>General</c:formatCode>
                <c:ptCount val="144"/>
                <c:pt idx="0">
                  <c:v>23.81</c:v>
                </c:pt>
                <c:pt idx="1">
                  <c:v>23.7</c:v>
                </c:pt>
                <c:pt idx="2">
                  <c:v>23.7</c:v>
                </c:pt>
                <c:pt idx="3">
                  <c:v>23.7</c:v>
                </c:pt>
                <c:pt idx="4">
                  <c:v>23.68</c:v>
                </c:pt>
                <c:pt idx="5">
                  <c:v>23.64</c:v>
                </c:pt>
                <c:pt idx="6">
                  <c:v>23.7</c:v>
                </c:pt>
                <c:pt idx="7">
                  <c:v>23.7</c:v>
                </c:pt>
                <c:pt idx="8">
                  <c:v>23.72</c:v>
                </c:pt>
                <c:pt idx="9">
                  <c:v>23.72</c:v>
                </c:pt>
                <c:pt idx="10">
                  <c:v>23.71</c:v>
                </c:pt>
                <c:pt idx="11">
                  <c:v>23.75</c:v>
                </c:pt>
                <c:pt idx="12">
                  <c:v>23.65</c:v>
                </c:pt>
                <c:pt idx="13">
                  <c:v>23.66</c:v>
                </c:pt>
                <c:pt idx="14">
                  <c:v>23.61</c:v>
                </c:pt>
                <c:pt idx="15">
                  <c:v>23.63</c:v>
                </c:pt>
                <c:pt idx="16">
                  <c:v>23.61</c:v>
                </c:pt>
                <c:pt idx="17">
                  <c:v>23.53</c:v>
                </c:pt>
                <c:pt idx="18">
                  <c:v>23.58</c:v>
                </c:pt>
                <c:pt idx="19">
                  <c:v>23.61</c:v>
                </c:pt>
                <c:pt idx="20">
                  <c:v>23.5</c:v>
                </c:pt>
                <c:pt idx="21">
                  <c:v>23.5</c:v>
                </c:pt>
                <c:pt idx="22">
                  <c:v>23.54</c:v>
                </c:pt>
                <c:pt idx="23">
                  <c:v>23.57</c:v>
                </c:pt>
                <c:pt idx="24">
                  <c:v>23.6</c:v>
                </c:pt>
                <c:pt idx="25">
                  <c:v>23.667000000000002</c:v>
                </c:pt>
                <c:pt idx="26">
                  <c:v>23.52</c:v>
                </c:pt>
                <c:pt idx="27">
                  <c:v>23.52</c:v>
                </c:pt>
                <c:pt idx="28">
                  <c:v>23.48</c:v>
                </c:pt>
                <c:pt idx="29">
                  <c:v>23.28</c:v>
                </c:pt>
                <c:pt idx="30">
                  <c:v>23.21</c:v>
                </c:pt>
                <c:pt idx="31">
                  <c:v>23.26</c:v>
                </c:pt>
                <c:pt idx="32">
                  <c:v>23.25</c:v>
                </c:pt>
                <c:pt idx="33">
                  <c:v>23.37</c:v>
                </c:pt>
                <c:pt idx="34">
                  <c:v>23.38</c:v>
                </c:pt>
                <c:pt idx="35">
                  <c:v>23.28</c:v>
                </c:pt>
                <c:pt idx="36">
                  <c:v>23.35</c:v>
                </c:pt>
                <c:pt idx="37">
                  <c:v>23.29</c:v>
                </c:pt>
                <c:pt idx="38">
                  <c:v>23.34</c:v>
                </c:pt>
                <c:pt idx="39">
                  <c:v>23.52</c:v>
                </c:pt>
                <c:pt idx="40">
                  <c:v>23.72</c:v>
                </c:pt>
                <c:pt idx="41">
                  <c:v>23.63</c:v>
                </c:pt>
                <c:pt idx="42">
                  <c:v>23.79</c:v>
                </c:pt>
                <c:pt idx="43">
                  <c:v>24</c:v>
                </c:pt>
                <c:pt idx="44">
                  <c:v>24.05</c:v>
                </c:pt>
                <c:pt idx="45">
                  <c:v>23.83</c:v>
                </c:pt>
                <c:pt idx="46">
                  <c:v>24.01</c:v>
                </c:pt>
                <c:pt idx="47">
                  <c:v>24.21</c:v>
                </c:pt>
                <c:pt idx="48">
                  <c:v>24.08</c:v>
                </c:pt>
                <c:pt idx="49">
                  <c:v>24.34</c:v>
                </c:pt>
                <c:pt idx="50">
                  <c:v>24.74</c:v>
                </c:pt>
                <c:pt idx="51">
                  <c:v>25.27</c:v>
                </c:pt>
                <c:pt idx="52">
                  <c:v>25.92</c:v>
                </c:pt>
                <c:pt idx="53">
                  <c:v>25.94</c:v>
                </c:pt>
                <c:pt idx="54">
                  <c:v>26.86</c:v>
                </c:pt>
                <c:pt idx="55">
                  <c:v>27.51</c:v>
                </c:pt>
                <c:pt idx="56">
                  <c:v>27.53</c:v>
                </c:pt>
                <c:pt idx="57">
                  <c:v>27.84</c:v>
                </c:pt>
                <c:pt idx="58">
                  <c:v>27.88</c:v>
                </c:pt>
                <c:pt idx="59">
                  <c:v>28.24</c:v>
                </c:pt>
                <c:pt idx="60">
                  <c:v>29.11</c:v>
                </c:pt>
                <c:pt idx="61">
                  <c:v>29.06</c:v>
                </c:pt>
                <c:pt idx="62">
                  <c:v>29.24</c:v>
                </c:pt>
                <c:pt idx="63">
                  <c:v>29.32</c:v>
                </c:pt>
                <c:pt idx="64">
                  <c:v>29.39</c:v>
                </c:pt>
                <c:pt idx="65">
                  <c:v>29.77</c:v>
                </c:pt>
                <c:pt idx="66">
                  <c:v>29.3</c:v>
                </c:pt>
                <c:pt idx="67">
                  <c:v>29.44</c:v>
                </c:pt>
                <c:pt idx="68">
                  <c:v>29.56</c:v>
                </c:pt>
                <c:pt idx="69">
                  <c:v>30.08</c:v>
                </c:pt>
                <c:pt idx="70">
                  <c:v>30.32</c:v>
                </c:pt>
                <c:pt idx="71">
                  <c:v>29.78</c:v>
                </c:pt>
                <c:pt idx="72">
                  <c:v>29.55</c:v>
                </c:pt>
                <c:pt idx="73">
                  <c:v>29.73</c:v>
                </c:pt>
                <c:pt idx="74">
                  <c:v>29.73</c:v>
                </c:pt>
                <c:pt idx="75">
                  <c:v>30.38</c:v>
                </c:pt>
                <c:pt idx="76">
                  <c:v>30.98</c:v>
                </c:pt>
                <c:pt idx="77">
                  <c:v>31.18</c:v>
                </c:pt>
                <c:pt idx="78">
                  <c:v>31.27</c:v>
                </c:pt>
                <c:pt idx="79">
                  <c:v>31.33</c:v>
                </c:pt>
                <c:pt idx="80">
                  <c:v>31.12</c:v>
                </c:pt>
                <c:pt idx="81">
                  <c:v>31.43</c:v>
                </c:pt>
                <c:pt idx="82">
                  <c:v>30.8</c:v>
                </c:pt>
                <c:pt idx="83">
                  <c:v>30.96</c:v>
                </c:pt>
                <c:pt idx="84">
                  <c:v>31.32</c:v>
                </c:pt>
                <c:pt idx="85">
                  <c:v>31.42</c:v>
                </c:pt>
                <c:pt idx="86">
                  <c:v>31.37</c:v>
                </c:pt>
                <c:pt idx="87">
                  <c:v>31.15</c:v>
                </c:pt>
                <c:pt idx="88">
                  <c:v>31.13</c:v>
                </c:pt>
                <c:pt idx="89">
                  <c:v>30.47</c:v>
                </c:pt>
                <c:pt idx="90">
                  <c:v>30.59</c:v>
                </c:pt>
                <c:pt idx="91">
                  <c:v>30.47</c:v>
                </c:pt>
                <c:pt idx="92">
                  <c:v>30.28</c:v>
                </c:pt>
                <c:pt idx="93">
                  <c:v>30.34</c:v>
                </c:pt>
                <c:pt idx="94">
                  <c:v>30.7</c:v>
                </c:pt>
                <c:pt idx="95">
                  <c:v>30.13</c:v>
                </c:pt>
                <c:pt idx="96">
                  <c:v>29.85</c:v>
                </c:pt>
                <c:pt idx="97">
                  <c:v>29.73</c:v>
                </c:pt>
                <c:pt idx="98">
                  <c:v>29.89</c:v>
                </c:pt>
                <c:pt idx="99">
                  <c:v>29.85</c:v>
                </c:pt>
                <c:pt idx="100">
                  <c:v>29.73</c:v>
                </c:pt>
                <c:pt idx="101">
                  <c:v>29.43</c:v>
                </c:pt>
                <c:pt idx="102">
                  <c:v>29.32</c:v>
                </c:pt>
                <c:pt idx="103">
                  <c:v>29.14</c:v>
                </c:pt>
                <c:pt idx="104">
                  <c:v>28.96</c:v>
                </c:pt>
                <c:pt idx="105">
                  <c:v>28.57</c:v>
                </c:pt>
                <c:pt idx="106">
                  <c:v>28.56</c:v>
                </c:pt>
                <c:pt idx="107">
                  <c:v>28.38</c:v>
                </c:pt>
                <c:pt idx="108">
                  <c:v>28.53</c:v>
                </c:pt>
                <c:pt idx="109">
                  <c:v>28.35</c:v>
                </c:pt>
                <c:pt idx="110">
                  <c:v>28.13</c:v>
                </c:pt>
                <c:pt idx="111">
                  <c:v>28.07</c:v>
                </c:pt>
                <c:pt idx="112">
                  <c:v>27.97</c:v>
                </c:pt>
                <c:pt idx="113">
                  <c:v>27.75</c:v>
                </c:pt>
                <c:pt idx="114">
                  <c:v>27.87</c:v>
                </c:pt>
                <c:pt idx="115">
                  <c:v>27.63</c:v>
                </c:pt>
                <c:pt idx="116">
                  <c:v>27.38</c:v>
                </c:pt>
                <c:pt idx="117">
                  <c:v>27.28</c:v>
                </c:pt>
                <c:pt idx="118">
                  <c:v>27.28</c:v>
                </c:pt>
                <c:pt idx="119">
                  <c:v>27.22</c:v>
                </c:pt>
                <c:pt idx="120">
                  <c:v>27.14</c:v>
                </c:pt>
                <c:pt idx="121">
                  <c:v>27.08</c:v>
                </c:pt>
                <c:pt idx="122">
                  <c:v>27.14</c:v>
                </c:pt>
                <c:pt idx="123">
                  <c:v>27.06</c:v>
                </c:pt>
                <c:pt idx="124">
                  <c:v>26.84</c:v>
                </c:pt>
                <c:pt idx="125">
                  <c:v>26.46</c:v>
                </c:pt>
                <c:pt idx="126">
                  <c:v>26.37</c:v>
                </c:pt>
                <c:pt idx="127">
                  <c:v>26.31</c:v>
                </c:pt>
                <c:pt idx="128">
                  <c:v>26.32</c:v>
                </c:pt>
                <c:pt idx="129">
                  <c:v>26.28</c:v>
                </c:pt>
                <c:pt idx="130">
                  <c:v>26.2</c:v>
                </c:pt>
                <c:pt idx="131">
                  <c:v>26.24</c:v>
                </c:pt>
                <c:pt idx="132">
                  <c:v>26.12</c:v>
                </c:pt>
                <c:pt idx="133">
                  <c:v>26.11</c:v>
                </c:pt>
                <c:pt idx="134">
                  <c:v>26.07</c:v>
                </c:pt>
                <c:pt idx="135">
                  <c:v>26.05</c:v>
                </c:pt>
                <c:pt idx="136">
                  <c:v>26.05</c:v>
                </c:pt>
                <c:pt idx="137">
                  <c:v>26.04</c:v>
                </c:pt>
                <c:pt idx="138">
                  <c:v>25.98</c:v>
                </c:pt>
                <c:pt idx="139">
                  <c:v>25.91</c:v>
                </c:pt>
                <c:pt idx="140">
                  <c:v>25.9</c:v>
                </c:pt>
                <c:pt idx="141">
                  <c:v>25.9</c:v>
                </c:pt>
                <c:pt idx="142">
                  <c:v>25.9</c:v>
                </c:pt>
                <c:pt idx="143">
                  <c:v>25.9</c:v>
                </c:pt>
              </c:numCache>
            </c:numRef>
          </c:val>
          <c:smooth val="0"/>
          <c:extLst>
            <c:ext xmlns:c16="http://schemas.microsoft.com/office/drawing/2014/chart" uri="{C3380CC4-5D6E-409C-BE32-E72D297353CC}">
              <c16:uniqueId val="{00000000-F095-764E-8830-5385AC182C78}"/>
            </c:ext>
          </c:extLst>
        </c:ser>
        <c:ser>
          <c:idx val="1"/>
          <c:order val="1"/>
          <c:tx>
            <c:strRef>
              <c:f>'図17_分析8_典型日'!$D$1</c:f>
              <c:strCache>
                <c:ptCount val="1"/>
                <c:pt idx="0">
                  <c:v>列3</c:v>
                </c:pt>
              </c:strCache>
            </c:strRef>
          </c:tx>
          <c:spPr>
            <a:ln w="11430" cap="rnd">
              <a:solidFill>
                <a:srgbClr val="5E6B7A"/>
              </a:solidFill>
              <a:round/>
            </a:ln>
          </c:spPr>
          <c:marker>
            <c:symbol val="none"/>
          </c:marker>
          <c:cat>
            <c:strRef>
              <c:f>'図17_分析8_典型日'!$B$2:$B$145</c:f>
              <c:strCache>
                <c:ptCount val="144"/>
                <c:pt idx="0">
                  <c:v>0:00</c:v>
                </c:pt>
                <c:pt idx="18">
                  <c:v>3:00</c:v>
                </c:pt>
                <c:pt idx="36">
                  <c:v>6:00</c:v>
                </c:pt>
                <c:pt idx="54">
                  <c:v>9:00</c:v>
                </c:pt>
                <c:pt idx="72">
                  <c:v>12:00</c:v>
                </c:pt>
                <c:pt idx="90">
                  <c:v>15:00</c:v>
                </c:pt>
                <c:pt idx="108">
                  <c:v>18:00</c:v>
                </c:pt>
                <c:pt idx="126">
                  <c:v>21:00</c:v>
                </c:pt>
              </c:strCache>
            </c:strRef>
          </c:cat>
          <c:val>
            <c:numRef>
              <c:f>'図17_分析8_典型日'!$D$2:$D$145</c:f>
              <c:numCache>
                <c:formatCode>General</c:formatCode>
                <c:ptCount val="144"/>
                <c:pt idx="0">
                  <c:v>23.597999999999999</c:v>
                </c:pt>
                <c:pt idx="1">
                  <c:v>23.5</c:v>
                </c:pt>
                <c:pt idx="2">
                  <c:v>23.390999999999998</c:v>
                </c:pt>
                <c:pt idx="3">
                  <c:v>23.384</c:v>
                </c:pt>
                <c:pt idx="4">
                  <c:v>23.32</c:v>
                </c:pt>
                <c:pt idx="5">
                  <c:v>23.38</c:v>
                </c:pt>
                <c:pt idx="6">
                  <c:v>23.398</c:v>
                </c:pt>
                <c:pt idx="7">
                  <c:v>23.428999999999998</c:v>
                </c:pt>
                <c:pt idx="8">
                  <c:v>23.562999999999999</c:v>
                </c:pt>
                <c:pt idx="9">
                  <c:v>23.596</c:v>
                </c:pt>
                <c:pt idx="10">
                  <c:v>23.62</c:v>
                </c:pt>
                <c:pt idx="11">
                  <c:v>23.577999999999999</c:v>
                </c:pt>
                <c:pt idx="12">
                  <c:v>23.527000000000001</c:v>
                </c:pt>
                <c:pt idx="13">
                  <c:v>23.562999999999999</c:v>
                </c:pt>
                <c:pt idx="14">
                  <c:v>23.548999999999999</c:v>
                </c:pt>
                <c:pt idx="15">
                  <c:v>23.591999999999999</c:v>
                </c:pt>
                <c:pt idx="16">
                  <c:v>23.55</c:v>
                </c:pt>
                <c:pt idx="17">
                  <c:v>23.472000000000001</c:v>
                </c:pt>
                <c:pt idx="18">
                  <c:v>23.503</c:v>
                </c:pt>
                <c:pt idx="19">
                  <c:v>23.401</c:v>
                </c:pt>
                <c:pt idx="20">
                  <c:v>23.437999999999999</c:v>
                </c:pt>
                <c:pt idx="21">
                  <c:v>23.44</c:v>
                </c:pt>
                <c:pt idx="22">
                  <c:v>23.439</c:v>
                </c:pt>
                <c:pt idx="23">
                  <c:v>23.468</c:v>
                </c:pt>
                <c:pt idx="24">
                  <c:v>23.544</c:v>
                </c:pt>
                <c:pt idx="25">
                  <c:v>23.518999999999998</c:v>
                </c:pt>
                <c:pt idx="26">
                  <c:v>23.42</c:v>
                </c:pt>
                <c:pt idx="27">
                  <c:v>23.38</c:v>
                </c:pt>
                <c:pt idx="28">
                  <c:v>23.359000000000002</c:v>
                </c:pt>
                <c:pt idx="29">
                  <c:v>23.228999999999999</c:v>
                </c:pt>
                <c:pt idx="30">
                  <c:v>23.251999999999999</c:v>
                </c:pt>
                <c:pt idx="31">
                  <c:v>23.234000000000002</c:v>
                </c:pt>
                <c:pt idx="32">
                  <c:v>23.297999999999998</c:v>
                </c:pt>
                <c:pt idx="33">
                  <c:v>23.300999999999998</c:v>
                </c:pt>
                <c:pt idx="34">
                  <c:v>23.292000000000002</c:v>
                </c:pt>
                <c:pt idx="35">
                  <c:v>23.329000000000001</c:v>
                </c:pt>
                <c:pt idx="36">
                  <c:v>23.477</c:v>
                </c:pt>
                <c:pt idx="37">
                  <c:v>23.498000000000001</c:v>
                </c:pt>
                <c:pt idx="38">
                  <c:v>23.603999999999999</c:v>
                </c:pt>
                <c:pt idx="39">
                  <c:v>23.843</c:v>
                </c:pt>
                <c:pt idx="40">
                  <c:v>23.992000000000001</c:v>
                </c:pt>
                <c:pt idx="41">
                  <c:v>23.920999999999999</c:v>
                </c:pt>
                <c:pt idx="42">
                  <c:v>24.06</c:v>
                </c:pt>
                <c:pt idx="43">
                  <c:v>24.225999999999999</c:v>
                </c:pt>
                <c:pt idx="44">
                  <c:v>24.28</c:v>
                </c:pt>
                <c:pt idx="45">
                  <c:v>24.274000000000001</c:v>
                </c:pt>
                <c:pt idx="46">
                  <c:v>24.463999999999999</c:v>
                </c:pt>
                <c:pt idx="47">
                  <c:v>24.721</c:v>
                </c:pt>
                <c:pt idx="48">
                  <c:v>24.603000000000002</c:v>
                </c:pt>
                <c:pt idx="49">
                  <c:v>25.469000000000001</c:v>
                </c:pt>
                <c:pt idx="50">
                  <c:v>26.222000000000001</c:v>
                </c:pt>
                <c:pt idx="51">
                  <c:v>27.597000000000001</c:v>
                </c:pt>
                <c:pt idx="52">
                  <c:v>28.071999999999999</c:v>
                </c:pt>
                <c:pt idx="53">
                  <c:v>29.177</c:v>
                </c:pt>
                <c:pt idx="54">
                  <c:v>29.992999999999999</c:v>
                </c:pt>
                <c:pt idx="55">
                  <c:v>30.488</c:v>
                </c:pt>
                <c:pt idx="56">
                  <c:v>29.689</c:v>
                </c:pt>
                <c:pt idx="57">
                  <c:v>28.998999999999999</c:v>
                </c:pt>
                <c:pt idx="58">
                  <c:v>27.821000000000002</c:v>
                </c:pt>
                <c:pt idx="59">
                  <c:v>28.792999999999999</c:v>
                </c:pt>
                <c:pt idx="60">
                  <c:v>28.9</c:v>
                </c:pt>
                <c:pt idx="61">
                  <c:v>29.225999999999999</c:v>
                </c:pt>
                <c:pt idx="62">
                  <c:v>28.893000000000001</c:v>
                </c:pt>
                <c:pt idx="63">
                  <c:v>28.811</c:v>
                </c:pt>
                <c:pt idx="64">
                  <c:v>28.99</c:v>
                </c:pt>
                <c:pt idx="65">
                  <c:v>28.992999999999999</c:v>
                </c:pt>
                <c:pt idx="66">
                  <c:v>29.26</c:v>
                </c:pt>
                <c:pt idx="67">
                  <c:v>29.594000000000001</c:v>
                </c:pt>
                <c:pt idx="68">
                  <c:v>29.225999999999999</c:v>
                </c:pt>
                <c:pt idx="69">
                  <c:v>29.373000000000001</c:v>
                </c:pt>
                <c:pt idx="70">
                  <c:v>29.286999999999999</c:v>
                </c:pt>
                <c:pt idx="71">
                  <c:v>29.67</c:v>
                </c:pt>
                <c:pt idx="72">
                  <c:v>29.286999999999999</c:v>
                </c:pt>
                <c:pt idx="73">
                  <c:v>29.585999999999999</c:v>
                </c:pt>
                <c:pt idx="74">
                  <c:v>29.908000000000001</c:v>
                </c:pt>
                <c:pt idx="75">
                  <c:v>30.077999999999999</c:v>
                </c:pt>
                <c:pt idx="76">
                  <c:v>29.823</c:v>
                </c:pt>
                <c:pt idx="77">
                  <c:v>30.419</c:v>
                </c:pt>
                <c:pt idx="78">
                  <c:v>30.827000000000002</c:v>
                </c:pt>
                <c:pt idx="79">
                  <c:v>30.54</c:v>
                </c:pt>
                <c:pt idx="80">
                  <c:v>30.751999999999999</c:v>
                </c:pt>
                <c:pt idx="81">
                  <c:v>31.167999999999999</c:v>
                </c:pt>
                <c:pt idx="82">
                  <c:v>30.541</c:v>
                </c:pt>
                <c:pt idx="83">
                  <c:v>30.626000000000001</c:v>
                </c:pt>
                <c:pt idx="84">
                  <c:v>30.896999999999998</c:v>
                </c:pt>
                <c:pt idx="85">
                  <c:v>31.244</c:v>
                </c:pt>
                <c:pt idx="86">
                  <c:v>30.786999999999999</c:v>
                </c:pt>
                <c:pt idx="87">
                  <c:v>30.440999999999999</c:v>
                </c:pt>
                <c:pt idx="88">
                  <c:v>30.84</c:v>
                </c:pt>
                <c:pt idx="89">
                  <c:v>30.693000000000001</c:v>
                </c:pt>
                <c:pt idx="90">
                  <c:v>30.748999999999999</c:v>
                </c:pt>
                <c:pt idx="91">
                  <c:v>30.512</c:v>
                </c:pt>
                <c:pt idx="92">
                  <c:v>30.224</c:v>
                </c:pt>
                <c:pt idx="93">
                  <c:v>30.262</c:v>
                </c:pt>
                <c:pt idx="94">
                  <c:v>30.477</c:v>
                </c:pt>
                <c:pt idx="95">
                  <c:v>30.282</c:v>
                </c:pt>
                <c:pt idx="96">
                  <c:v>30.152000000000001</c:v>
                </c:pt>
                <c:pt idx="97">
                  <c:v>30.236000000000001</c:v>
                </c:pt>
                <c:pt idx="98">
                  <c:v>29.989000000000001</c:v>
                </c:pt>
                <c:pt idx="99">
                  <c:v>30.140999999999998</c:v>
                </c:pt>
                <c:pt idx="100">
                  <c:v>29.707999999999998</c:v>
                </c:pt>
                <c:pt idx="101">
                  <c:v>29.657</c:v>
                </c:pt>
                <c:pt idx="102">
                  <c:v>29.734000000000002</c:v>
                </c:pt>
                <c:pt idx="103">
                  <c:v>29.8</c:v>
                </c:pt>
                <c:pt idx="104">
                  <c:v>29.581</c:v>
                </c:pt>
                <c:pt idx="105">
                  <c:v>29.236000000000001</c:v>
                </c:pt>
                <c:pt idx="106">
                  <c:v>29.071000000000002</c:v>
                </c:pt>
                <c:pt idx="107">
                  <c:v>29.062000000000001</c:v>
                </c:pt>
                <c:pt idx="108">
                  <c:v>28.780999999999999</c:v>
                </c:pt>
                <c:pt idx="109">
                  <c:v>28.718</c:v>
                </c:pt>
                <c:pt idx="110">
                  <c:v>28.42</c:v>
                </c:pt>
                <c:pt idx="111">
                  <c:v>28.46</c:v>
                </c:pt>
                <c:pt idx="112">
                  <c:v>28.23</c:v>
                </c:pt>
                <c:pt idx="113">
                  <c:v>28.231999999999999</c:v>
                </c:pt>
                <c:pt idx="114">
                  <c:v>28.178999999999998</c:v>
                </c:pt>
                <c:pt idx="115">
                  <c:v>28.186</c:v>
                </c:pt>
                <c:pt idx="116">
                  <c:v>27.995999999999999</c:v>
                </c:pt>
                <c:pt idx="117">
                  <c:v>27.477</c:v>
                </c:pt>
                <c:pt idx="118">
                  <c:v>27.556999999999999</c:v>
                </c:pt>
                <c:pt idx="119">
                  <c:v>28.059000000000001</c:v>
                </c:pt>
                <c:pt idx="120">
                  <c:v>27.696999999999999</c:v>
                </c:pt>
                <c:pt idx="121">
                  <c:v>27.376000000000001</c:v>
                </c:pt>
                <c:pt idx="122">
                  <c:v>27.36</c:v>
                </c:pt>
                <c:pt idx="123">
                  <c:v>27.295999999999999</c:v>
                </c:pt>
                <c:pt idx="124">
                  <c:v>27.204000000000001</c:v>
                </c:pt>
                <c:pt idx="125">
                  <c:v>26.992999999999999</c:v>
                </c:pt>
                <c:pt idx="126">
                  <c:v>26.57</c:v>
                </c:pt>
                <c:pt idx="127">
                  <c:v>26.405999999999999</c:v>
                </c:pt>
                <c:pt idx="128">
                  <c:v>26.244</c:v>
                </c:pt>
                <c:pt idx="129">
                  <c:v>26.172000000000001</c:v>
                </c:pt>
                <c:pt idx="130">
                  <c:v>26.108000000000001</c:v>
                </c:pt>
                <c:pt idx="131">
                  <c:v>26.059000000000001</c:v>
                </c:pt>
                <c:pt idx="132">
                  <c:v>25.956</c:v>
                </c:pt>
                <c:pt idx="133">
                  <c:v>25.901</c:v>
                </c:pt>
                <c:pt idx="134">
                  <c:v>25.899000000000001</c:v>
                </c:pt>
                <c:pt idx="135">
                  <c:v>25.863</c:v>
                </c:pt>
                <c:pt idx="136">
                  <c:v>25.823</c:v>
                </c:pt>
                <c:pt idx="137">
                  <c:v>25.786999999999999</c:v>
                </c:pt>
                <c:pt idx="138">
                  <c:v>25.71</c:v>
                </c:pt>
                <c:pt idx="139">
                  <c:v>25.670999999999999</c:v>
                </c:pt>
                <c:pt idx="140">
                  <c:v>25.632999999999999</c:v>
                </c:pt>
                <c:pt idx="141">
                  <c:v>25.609000000000002</c:v>
                </c:pt>
                <c:pt idx="142">
                  <c:v>25.62</c:v>
                </c:pt>
                <c:pt idx="143">
                  <c:v>25.614000000000001</c:v>
                </c:pt>
              </c:numCache>
            </c:numRef>
          </c:val>
          <c:smooth val="0"/>
          <c:extLst>
            <c:ext xmlns:c16="http://schemas.microsoft.com/office/drawing/2014/chart" uri="{C3380CC4-5D6E-409C-BE32-E72D297353CC}">
              <c16:uniqueId val="{00000001-F095-764E-8830-5385AC182C78}"/>
            </c:ext>
          </c:extLst>
        </c:ser>
        <c:ser>
          <c:idx val="2"/>
          <c:order val="2"/>
          <c:tx>
            <c:strRef>
              <c:f>'図17_分析8_典型日'!$E$1</c:f>
              <c:strCache>
                <c:ptCount val="1"/>
                <c:pt idx="0">
                  <c:v>列8</c:v>
                </c:pt>
              </c:strCache>
            </c:strRef>
          </c:tx>
          <c:spPr>
            <a:ln w="11430" cap="rnd">
              <a:solidFill>
                <a:srgbClr val="01B8AA"/>
              </a:solidFill>
              <a:round/>
            </a:ln>
          </c:spPr>
          <c:marker>
            <c:symbol val="none"/>
          </c:marker>
          <c:cat>
            <c:strRef>
              <c:f>'図17_分析8_典型日'!$B$2:$B$145</c:f>
              <c:strCache>
                <c:ptCount val="144"/>
                <c:pt idx="0">
                  <c:v>0:00</c:v>
                </c:pt>
                <c:pt idx="18">
                  <c:v>3:00</c:v>
                </c:pt>
                <c:pt idx="36">
                  <c:v>6:00</c:v>
                </c:pt>
                <c:pt idx="54">
                  <c:v>9:00</c:v>
                </c:pt>
                <c:pt idx="72">
                  <c:v>12:00</c:v>
                </c:pt>
                <c:pt idx="90">
                  <c:v>15:00</c:v>
                </c:pt>
                <c:pt idx="108">
                  <c:v>18:00</c:v>
                </c:pt>
                <c:pt idx="126">
                  <c:v>21:00</c:v>
                </c:pt>
              </c:strCache>
            </c:strRef>
          </c:cat>
          <c:val>
            <c:numRef>
              <c:f>'図17_分析8_典型日'!$E$2:$E$145</c:f>
              <c:numCache>
                <c:formatCode>General</c:formatCode>
                <c:ptCount val="144"/>
                <c:pt idx="0">
                  <c:v>23.117999999999999</c:v>
                </c:pt>
                <c:pt idx="1">
                  <c:v>22.959</c:v>
                </c:pt>
                <c:pt idx="2">
                  <c:v>22.904</c:v>
                </c:pt>
                <c:pt idx="3">
                  <c:v>22.919</c:v>
                </c:pt>
                <c:pt idx="4">
                  <c:v>22.867000000000001</c:v>
                </c:pt>
                <c:pt idx="5">
                  <c:v>22.904</c:v>
                </c:pt>
                <c:pt idx="6">
                  <c:v>22.919</c:v>
                </c:pt>
                <c:pt idx="7">
                  <c:v>22.960999999999999</c:v>
                </c:pt>
                <c:pt idx="8">
                  <c:v>23.052</c:v>
                </c:pt>
                <c:pt idx="9">
                  <c:v>23.157</c:v>
                </c:pt>
                <c:pt idx="10">
                  <c:v>23.161000000000001</c:v>
                </c:pt>
                <c:pt idx="11">
                  <c:v>23.158000000000001</c:v>
                </c:pt>
                <c:pt idx="12">
                  <c:v>23.138999999999999</c:v>
                </c:pt>
                <c:pt idx="13">
                  <c:v>23.175999999999998</c:v>
                </c:pt>
                <c:pt idx="14">
                  <c:v>23.187000000000001</c:v>
                </c:pt>
                <c:pt idx="15">
                  <c:v>23.23</c:v>
                </c:pt>
                <c:pt idx="16">
                  <c:v>23.193000000000001</c:v>
                </c:pt>
                <c:pt idx="17">
                  <c:v>23.132999999999999</c:v>
                </c:pt>
                <c:pt idx="18">
                  <c:v>23.178999999999998</c:v>
                </c:pt>
                <c:pt idx="19">
                  <c:v>23.129000000000001</c:v>
                </c:pt>
                <c:pt idx="20">
                  <c:v>23.111999999999998</c:v>
                </c:pt>
                <c:pt idx="21">
                  <c:v>23.128</c:v>
                </c:pt>
                <c:pt idx="22">
                  <c:v>23.158999999999999</c:v>
                </c:pt>
                <c:pt idx="23">
                  <c:v>23.207999999999998</c:v>
                </c:pt>
                <c:pt idx="24">
                  <c:v>23.244</c:v>
                </c:pt>
                <c:pt idx="25">
                  <c:v>23.242999999999999</c:v>
                </c:pt>
                <c:pt idx="26">
                  <c:v>23.17</c:v>
                </c:pt>
                <c:pt idx="27">
                  <c:v>23.119</c:v>
                </c:pt>
                <c:pt idx="28">
                  <c:v>23.082999999999998</c:v>
                </c:pt>
                <c:pt idx="29">
                  <c:v>22.994</c:v>
                </c:pt>
                <c:pt idx="30">
                  <c:v>23.01</c:v>
                </c:pt>
                <c:pt idx="31">
                  <c:v>23.003</c:v>
                </c:pt>
                <c:pt idx="32">
                  <c:v>23.047999999999998</c:v>
                </c:pt>
                <c:pt idx="33">
                  <c:v>23.041</c:v>
                </c:pt>
                <c:pt idx="34">
                  <c:v>23.048999999999999</c:v>
                </c:pt>
                <c:pt idx="35">
                  <c:v>23.096</c:v>
                </c:pt>
                <c:pt idx="36">
                  <c:v>23.204000000000001</c:v>
                </c:pt>
                <c:pt idx="37">
                  <c:v>23.206</c:v>
                </c:pt>
                <c:pt idx="38">
                  <c:v>23.294</c:v>
                </c:pt>
                <c:pt idx="39">
                  <c:v>23.431000000000001</c:v>
                </c:pt>
                <c:pt idx="40">
                  <c:v>23.638000000000002</c:v>
                </c:pt>
                <c:pt idx="41">
                  <c:v>24.053999999999998</c:v>
                </c:pt>
                <c:pt idx="42">
                  <c:v>24.413</c:v>
                </c:pt>
                <c:pt idx="43">
                  <c:v>24.385999999999999</c:v>
                </c:pt>
                <c:pt idx="44">
                  <c:v>24.384</c:v>
                </c:pt>
                <c:pt idx="45">
                  <c:v>25.065999999999999</c:v>
                </c:pt>
                <c:pt idx="46">
                  <c:v>24.779</c:v>
                </c:pt>
                <c:pt idx="47">
                  <c:v>25.254000000000001</c:v>
                </c:pt>
                <c:pt idx="48">
                  <c:v>25.001000000000001</c:v>
                </c:pt>
                <c:pt idx="49">
                  <c:v>25.780999999999999</c:v>
                </c:pt>
                <c:pt idx="50">
                  <c:v>26.326000000000001</c:v>
                </c:pt>
                <c:pt idx="51">
                  <c:v>26.492999999999999</c:v>
                </c:pt>
                <c:pt idx="52">
                  <c:v>26.670999999999999</c:v>
                </c:pt>
                <c:pt idx="53">
                  <c:v>27.523</c:v>
                </c:pt>
                <c:pt idx="54">
                  <c:v>28.396000000000001</c:v>
                </c:pt>
                <c:pt idx="55">
                  <c:v>28.056999999999999</c:v>
                </c:pt>
                <c:pt idx="56">
                  <c:v>27.658000000000001</c:v>
                </c:pt>
                <c:pt idx="57">
                  <c:v>28.401</c:v>
                </c:pt>
                <c:pt idx="58">
                  <c:v>28.48</c:v>
                </c:pt>
                <c:pt idx="59">
                  <c:v>29.39</c:v>
                </c:pt>
                <c:pt idx="60">
                  <c:v>29.138000000000002</c:v>
                </c:pt>
                <c:pt idx="61">
                  <c:v>28.960999999999999</c:v>
                </c:pt>
                <c:pt idx="62">
                  <c:v>28.632000000000001</c:v>
                </c:pt>
                <c:pt idx="63">
                  <c:v>28.908000000000001</c:v>
                </c:pt>
                <c:pt idx="64">
                  <c:v>29.152999999999999</c:v>
                </c:pt>
                <c:pt idx="65">
                  <c:v>29.02</c:v>
                </c:pt>
                <c:pt idx="66">
                  <c:v>29.077000000000002</c:v>
                </c:pt>
                <c:pt idx="67">
                  <c:v>29.123999999999999</c:v>
                </c:pt>
                <c:pt idx="68">
                  <c:v>28.937000000000001</c:v>
                </c:pt>
                <c:pt idx="69">
                  <c:v>29.295999999999999</c:v>
                </c:pt>
                <c:pt idx="70">
                  <c:v>29.148</c:v>
                </c:pt>
                <c:pt idx="71">
                  <c:v>29.289000000000001</c:v>
                </c:pt>
                <c:pt idx="72">
                  <c:v>29.213999999999999</c:v>
                </c:pt>
                <c:pt idx="73">
                  <c:v>29.276</c:v>
                </c:pt>
                <c:pt idx="74">
                  <c:v>30.111000000000001</c:v>
                </c:pt>
                <c:pt idx="75">
                  <c:v>29.742000000000001</c:v>
                </c:pt>
                <c:pt idx="76">
                  <c:v>29.986000000000001</c:v>
                </c:pt>
                <c:pt idx="77">
                  <c:v>29.902999999999999</c:v>
                </c:pt>
                <c:pt idx="78">
                  <c:v>30.449000000000002</c:v>
                </c:pt>
                <c:pt idx="79">
                  <c:v>30.12</c:v>
                </c:pt>
                <c:pt idx="80">
                  <c:v>31.016999999999999</c:v>
                </c:pt>
                <c:pt idx="81">
                  <c:v>31.251999999999999</c:v>
                </c:pt>
                <c:pt idx="82">
                  <c:v>31.058</c:v>
                </c:pt>
                <c:pt idx="83">
                  <c:v>31.379000000000001</c:v>
                </c:pt>
                <c:pt idx="84">
                  <c:v>31.393999999999998</c:v>
                </c:pt>
                <c:pt idx="85">
                  <c:v>31.332999999999998</c:v>
                </c:pt>
                <c:pt idx="86">
                  <c:v>31.207999999999998</c:v>
                </c:pt>
                <c:pt idx="87">
                  <c:v>31.506</c:v>
                </c:pt>
                <c:pt idx="88">
                  <c:v>31.388000000000002</c:v>
                </c:pt>
                <c:pt idx="89">
                  <c:v>31.097999999999999</c:v>
                </c:pt>
                <c:pt idx="90">
                  <c:v>30.567</c:v>
                </c:pt>
                <c:pt idx="91">
                  <c:v>30.359000000000002</c:v>
                </c:pt>
                <c:pt idx="92">
                  <c:v>30.338999999999999</c:v>
                </c:pt>
                <c:pt idx="93">
                  <c:v>30.314</c:v>
                </c:pt>
                <c:pt idx="94">
                  <c:v>30.318000000000001</c:v>
                </c:pt>
                <c:pt idx="95">
                  <c:v>30.5</c:v>
                </c:pt>
                <c:pt idx="96">
                  <c:v>30.256</c:v>
                </c:pt>
                <c:pt idx="97">
                  <c:v>30.22</c:v>
                </c:pt>
                <c:pt idx="98">
                  <c:v>29.905999999999999</c:v>
                </c:pt>
                <c:pt idx="99">
                  <c:v>30.071000000000002</c:v>
                </c:pt>
                <c:pt idx="100">
                  <c:v>29.757000000000001</c:v>
                </c:pt>
                <c:pt idx="101">
                  <c:v>29.326000000000001</c:v>
                </c:pt>
                <c:pt idx="102">
                  <c:v>29.582000000000001</c:v>
                </c:pt>
                <c:pt idx="103">
                  <c:v>29.408000000000001</c:v>
                </c:pt>
                <c:pt idx="104">
                  <c:v>29.164000000000001</c:v>
                </c:pt>
                <c:pt idx="105">
                  <c:v>28.757999999999999</c:v>
                </c:pt>
                <c:pt idx="106">
                  <c:v>28.712</c:v>
                </c:pt>
                <c:pt idx="107">
                  <c:v>28.54</c:v>
                </c:pt>
                <c:pt idx="108">
                  <c:v>28.678000000000001</c:v>
                </c:pt>
                <c:pt idx="109">
                  <c:v>28.236000000000001</c:v>
                </c:pt>
                <c:pt idx="110">
                  <c:v>28.106999999999999</c:v>
                </c:pt>
                <c:pt idx="111">
                  <c:v>27.963000000000001</c:v>
                </c:pt>
                <c:pt idx="112">
                  <c:v>27.863</c:v>
                </c:pt>
                <c:pt idx="113">
                  <c:v>27.689</c:v>
                </c:pt>
                <c:pt idx="114">
                  <c:v>27.634</c:v>
                </c:pt>
                <c:pt idx="115">
                  <c:v>27.233000000000001</c:v>
                </c:pt>
                <c:pt idx="116">
                  <c:v>27.236000000000001</c:v>
                </c:pt>
                <c:pt idx="117">
                  <c:v>27.198</c:v>
                </c:pt>
                <c:pt idx="118">
                  <c:v>27.2</c:v>
                </c:pt>
                <c:pt idx="119">
                  <c:v>27.109000000000002</c:v>
                </c:pt>
                <c:pt idx="120">
                  <c:v>27.236000000000001</c:v>
                </c:pt>
                <c:pt idx="121">
                  <c:v>27.271999999999998</c:v>
                </c:pt>
                <c:pt idx="122">
                  <c:v>27.007999999999999</c:v>
                </c:pt>
                <c:pt idx="123">
                  <c:v>26.756</c:v>
                </c:pt>
                <c:pt idx="124">
                  <c:v>26.513999999999999</c:v>
                </c:pt>
                <c:pt idx="125">
                  <c:v>26.306999999999999</c:v>
                </c:pt>
                <c:pt idx="126">
                  <c:v>26.192</c:v>
                </c:pt>
                <c:pt idx="127">
                  <c:v>26.143999999999998</c:v>
                </c:pt>
                <c:pt idx="128">
                  <c:v>26.038</c:v>
                </c:pt>
                <c:pt idx="129">
                  <c:v>26.016999999999999</c:v>
                </c:pt>
                <c:pt idx="130">
                  <c:v>25.998999999999999</c:v>
                </c:pt>
                <c:pt idx="131">
                  <c:v>25.948</c:v>
                </c:pt>
                <c:pt idx="132">
                  <c:v>25.882999999999999</c:v>
                </c:pt>
                <c:pt idx="133">
                  <c:v>25.881</c:v>
                </c:pt>
                <c:pt idx="134">
                  <c:v>25.86</c:v>
                </c:pt>
                <c:pt idx="135">
                  <c:v>25.869</c:v>
                </c:pt>
                <c:pt idx="136">
                  <c:v>25.806000000000001</c:v>
                </c:pt>
                <c:pt idx="137">
                  <c:v>25.791</c:v>
                </c:pt>
                <c:pt idx="138">
                  <c:v>25.736999999999998</c:v>
                </c:pt>
                <c:pt idx="139">
                  <c:v>25.692</c:v>
                </c:pt>
                <c:pt idx="140">
                  <c:v>25.64</c:v>
                </c:pt>
                <c:pt idx="141">
                  <c:v>25.643000000000001</c:v>
                </c:pt>
                <c:pt idx="142">
                  <c:v>25.643999999999998</c:v>
                </c:pt>
                <c:pt idx="143">
                  <c:v>25.622</c:v>
                </c:pt>
              </c:numCache>
            </c:numRef>
          </c:val>
          <c:smooth val="0"/>
          <c:extLst>
            <c:ext xmlns:c16="http://schemas.microsoft.com/office/drawing/2014/chart" uri="{C3380CC4-5D6E-409C-BE32-E72D297353CC}">
              <c16:uniqueId val="{00000002-F095-764E-8830-5385AC182C78}"/>
            </c:ext>
          </c:extLst>
        </c:ser>
        <c:ser>
          <c:idx val="3"/>
          <c:order val="3"/>
          <c:tx>
            <c:strRef>
              <c:f>'図17_分析8_典型日'!$F$1</c:f>
              <c:strCache>
                <c:ptCount val="1"/>
                <c:pt idx="0">
                  <c:v>列11</c:v>
                </c:pt>
              </c:strCache>
            </c:strRef>
          </c:tx>
          <c:spPr>
            <a:ln w="11430" cap="rnd">
              <a:solidFill>
                <a:srgbClr val="118DFF"/>
              </a:solidFill>
              <a:round/>
            </a:ln>
          </c:spPr>
          <c:marker>
            <c:symbol val="none"/>
          </c:marker>
          <c:cat>
            <c:strRef>
              <c:f>'図17_分析8_典型日'!$B$2:$B$145</c:f>
              <c:strCache>
                <c:ptCount val="144"/>
                <c:pt idx="0">
                  <c:v>0:00</c:v>
                </c:pt>
                <c:pt idx="18">
                  <c:v>3:00</c:v>
                </c:pt>
                <c:pt idx="36">
                  <c:v>6:00</c:v>
                </c:pt>
                <c:pt idx="54">
                  <c:v>9:00</c:v>
                </c:pt>
                <c:pt idx="72">
                  <c:v>12:00</c:v>
                </c:pt>
                <c:pt idx="90">
                  <c:v>15:00</c:v>
                </c:pt>
                <c:pt idx="108">
                  <c:v>18:00</c:v>
                </c:pt>
                <c:pt idx="126">
                  <c:v>21:00</c:v>
                </c:pt>
              </c:strCache>
            </c:strRef>
          </c:cat>
          <c:val>
            <c:numRef>
              <c:f>'図17_分析8_典型日'!$F$2:$F$145</c:f>
              <c:numCache>
                <c:formatCode>General</c:formatCode>
                <c:ptCount val="144"/>
                <c:pt idx="0">
                  <c:v>23.094000000000001</c:v>
                </c:pt>
                <c:pt idx="1">
                  <c:v>23.026</c:v>
                </c:pt>
                <c:pt idx="2">
                  <c:v>22.939</c:v>
                </c:pt>
                <c:pt idx="3">
                  <c:v>22.937999999999999</c:v>
                </c:pt>
                <c:pt idx="4">
                  <c:v>22.861000000000001</c:v>
                </c:pt>
                <c:pt idx="5">
                  <c:v>22.911999999999999</c:v>
                </c:pt>
                <c:pt idx="6">
                  <c:v>22.855</c:v>
                </c:pt>
                <c:pt idx="7">
                  <c:v>22.928000000000001</c:v>
                </c:pt>
                <c:pt idx="8">
                  <c:v>23.055</c:v>
                </c:pt>
                <c:pt idx="9">
                  <c:v>23.170999999999999</c:v>
                </c:pt>
                <c:pt idx="10">
                  <c:v>23.172000000000001</c:v>
                </c:pt>
                <c:pt idx="11">
                  <c:v>23.125</c:v>
                </c:pt>
                <c:pt idx="12">
                  <c:v>23.117999999999999</c:v>
                </c:pt>
                <c:pt idx="13">
                  <c:v>23.164000000000001</c:v>
                </c:pt>
                <c:pt idx="14">
                  <c:v>23.193000000000001</c:v>
                </c:pt>
                <c:pt idx="15">
                  <c:v>23.225999999999999</c:v>
                </c:pt>
                <c:pt idx="16">
                  <c:v>23.207999999999998</c:v>
                </c:pt>
                <c:pt idx="17">
                  <c:v>23.151</c:v>
                </c:pt>
                <c:pt idx="18">
                  <c:v>23.175999999999998</c:v>
                </c:pt>
                <c:pt idx="19">
                  <c:v>23.099</c:v>
                </c:pt>
                <c:pt idx="20">
                  <c:v>23.071000000000002</c:v>
                </c:pt>
                <c:pt idx="21">
                  <c:v>23.071999999999999</c:v>
                </c:pt>
                <c:pt idx="22">
                  <c:v>23.085999999999999</c:v>
                </c:pt>
                <c:pt idx="23">
                  <c:v>23.155999999999999</c:v>
                </c:pt>
                <c:pt idx="24">
                  <c:v>23.166</c:v>
                </c:pt>
                <c:pt idx="25">
                  <c:v>23.173999999999999</c:v>
                </c:pt>
                <c:pt idx="26">
                  <c:v>23.123999999999999</c:v>
                </c:pt>
                <c:pt idx="27">
                  <c:v>23.08</c:v>
                </c:pt>
                <c:pt idx="28">
                  <c:v>23.033000000000001</c:v>
                </c:pt>
                <c:pt idx="29">
                  <c:v>22.960999999999999</c:v>
                </c:pt>
                <c:pt idx="30">
                  <c:v>22.952000000000002</c:v>
                </c:pt>
                <c:pt idx="31">
                  <c:v>22.934000000000001</c:v>
                </c:pt>
                <c:pt idx="32">
                  <c:v>23.074000000000002</c:v>
                </c:pt>
                <c:pt idx="33">
                  <c:v>23.17</c:v>
                </c:pt>
                <c:pt idx="34">
                  <c:v>23.148</c:v>
                </c:pt>
                <c:pt idx="35">
                  <c:v>23.231999999999999</c:v>
                </c:pt>
                <c:pt idx="36">
                  <c:v>23.350999999999999</c:v>
                </c:pt>
                <c:pt idx="37">
                  <c:v>23.31</c:v>
                </c:pt>
                <c:pt idx="38">
                  <c:v>23.486000000000001</c:v>
                </c:pt>
                <c:pt idx="39">
                  <c:v>23.565000000000001</c:v>
                </c:pt>
                <c:pt idx="40">
                  <c:v>24.117999999999999</c:v>
                </c:pt>
                <c:pt idx="41">
                  <c:v>24.088000000000001</c:v>
                </c:pt>
                <c:pt idx="42">
                  <c:v>24.262</c:v>
                </c:pt>
                <c:pt idx="43">
                  <c:v>24.298999999999999</c:v>
                </c:pt>
                <c:pt idx="44">
                  <c:v>24.341999999999999</c:v>
                </c:pt>
                <c:pt idx="45">
                  <c:v>24.878</c:v>
                </c:pt>
                <c:pt idx="46">
                  <c:v>25.134</c:v>
                </c:pt>
                <c:pt idx="47">
                  <c:v>25.184000000000001</c:v>
                </c:pt>
                <c:pt idx="48">
                  <c:v>25.122</c:v>
                </c:pt>
                <c:pt idx="49">
                  <c:v>25.29</c:v>
                </c:pt>
                <c:pt idx="50">
                  <c:v>25.451000000000001</c:v>
                </c:pt>
                <c:pt idx="51">
                  <c:v>26.131</c:v>
                </c:pt>
                <c:pt idx="52">
                  <c:v>26.718</c:v>
                </c:pt>
                <c:pt idx="53">
                  <c:v>27.192</c:v>
                </c:pt>
                <c:pt idx="54">
                  <c:v>27.925000000000001</c:v>
                </c:pt>
                <c:pt idx="55">
                  <c:v>28.265000000000001</c:v>
                </c:pt>
                <c:pt idx="56">
                  <c:v>27.736999999999998</c:v>
                </c:pt>
                <c:pt idx="57">
                  <c:v>28.396000000000001</c:v>
                </c:pt>
                <c:pt idx="58">
                  <c:v>28.209</c:v>
                </c:pt>
                <c:pt idx="59">
                  <c:v>29</c:v>
                </c:pt>
                <c:pt idx="60">
                  <c:v>29.048999999999999</c:v>
                </c:pt>
                <c:pt idx="61">
                  <c:v>28.73</c:v>
                </c:pt>
                <c:pt idx="62">
                  <c:v>28.815999999999999</c:v>
                </c:pt>
                <c:pt idx="63">
                  <c:v>28.901</c:v>
                </c:pt>
                <c:pt idx="64">
                  <c:v>28.890999999999998</c:v>
                </c:pt>
                <c:pt idx="65">
                  <c:v>28.951000000000001</c:v>
                </c:pt>
                <c:pt idx="66">
                  <c:v>28.706</c:v>
                </c:pt>
                <c:pt idx="67">
                  <c:v>28.821000000000002</c:v>
                </c:pt>
                <c:pt idx="68">
                  <c:v>28.815000000000001</c:v>
                </c:pt>
                <c:pt idx="69">
                  <c:v>29.2</c:v>
                </c:pt>
                <c:pt idx="70">
                  <c:v>29.114999999999998</c:v>
                </c:pt>
                <c:pt idx="71">
                  <c:v>29.265000000000001</c:v>
                </c:pt>
                <c:pt idx="72">
                  <c:v>29.245999999999999</c:v>
                </c:pt>
                <c:pt idx="73">
                  <c:v>29.256</c:v>
                </c:pt>
                <c:pt idx="74">
                  <c:v>29.8</c:v>
                </c:pt>
                <c:pt idx="75">
                  <c:v>29.643999999999998</c:v>
                </c:pt>
                <c:pt idx="76">
                  <c:v>30.041</c:v>
                </c:pt>
                <c:pt idx="77">
                  <c:v>29.834</c:v>
                </c:pt>
                <c:pt idx="78">
                  <c:v>30.335000000000001</c:v>
                </c:pt>
                <c:pt idx="79">
                  <c:v>30.079000000000001</c:v>
                </c:pt>
                <c:pt idx="80">
                  <c:v>30.576000000000001</c:v>
                </c:pt>
                <c:pt idx="81">
                  <c:v>30.795000000000002</c:v>
                </c:pt>
                <c:pt idx="82">
                  <c:v>30.61</c:v>
                </c:pt>
                <c:pt idx="83">
                  <c:v>30.86</c:v>
                </c:pt>
                <c:pt idx="84">
                  <c:v>30.754999999999999</c:v>
                </c:pt>
                <c:pt idx="85">
                  <c:v>30.77</c:v>
                </c:pt>
                <c:pt idx="86">
                  <c:v>30.841000000000001</c:v>
                </c:pt>
                <c:pt idx="87">
                  <c:v>30.495999999999999</c:v>
                </c:pt>
                <c:pt idx="88">
                  <c:v>30.923999999999999</c:v>
                </c:pt>
                <c:pt idx="89">
                  <c:v>30.722999999999999</c:v>
                </c:pt>
                <c:pt idx="90">
                  <c:v>30.283999999999999</c:v>
                </c:pt>
                <c:pt idx="91">
                  <c:v>29.998000000000001</c:v>
                </c:pt>
                <c:pt idx="92">
                  <c:v>30.055</c:v>
                </c:pt>
                <c:pt idx="93">
                  <c:v>30.190999999999999</c:v>
                </c:pt>
                <c:pt idx="94">
                  <c:v>30.102</c:v>
                </c:pt>
                <c:pt idx="95">
                  <c:v>29.969000000000001</c:v>
                </c:pt>
                <c:pt idx="96">
                  <c:v>30.004000000000001</c:v>
                </c:pt>
                <c:pt idx="97">
                  <c:v>29.870999999999999</c:v>
                </c:pt>
                <c:pt idx="98">
                  <c:v>29.826000000000001</c:v>
                </c:pt>
                <c:pt idx="99">
                  <c:v>29.539000000000001</c:v>
                </c:pt>
                <c:pt idx="100">
                  <c:v>29.22</c:v>
                </c:pt>
                <c:pt idx="101">
                  <c:v>29.457000000000001</c:v>
                </c:pt>
                <c:pt idx="102">
                  <c:v>29.309000000000001</c:v>
                </c:pt>
                <c:pt idx="103">
                  <c:v>28.44</c:v>
                </c:pt>
                <c:pt idx="104">
                  <c:v>28.318999999999999</c:v>
                </c:pt>
                <c:pt idx="105">
                  <c:v>28.943000000000001</c:v>
                </c:pt>
                <c:pt idx="106">
                  <c:v>28.762</c:v>
                </c:pt>
                <c:pt idx="107">
                  <c:v>28.59</c:v>
                </c:pt>
                <c:pt idx="108">
                  <c:v>28.463999999999999</c:v>
                </c:pt>
                <c:pt idx="109">
                  <c:v>28.329000000000001</c:v>
                </c:pt>
                <c:pt idx="110">
                  <c:v>28.155000000000001</c:v>
                </c:pt>
                <c:pt idx="111">
                  <c:v>28.245000000000001</c:v>
                </c:pt>
                <c:pt idx="112">
                  <c:v>28.033999999999999</c:v>
                </c:pt>
                <c:pt idx="113">
                  <c:v>28.018000000000001</c:v>
                </c:pt>
                <c:pt idx="114">
                  <c:v>28.08</c:v>
                </c:pt>
                <c:pt idx="115">
                  <c:v>27.425999999999998</c:v>
                </c:pt>
                <c:pt idx="116">
                  <c:v>27.282</c:v>
                </c:pt>
                <c:pt idx="117">
                  <c:v>27.158000000000001</c:v>
                </c:pt>
                <c:pt idx="118">
                  <c:v>26.975000000000001</c:v>
                </c:pt>
                <c:pt idx="119">
                  <c:v>26.945</c:v>
                </c:pt>
                <c:pt idx="120">
                  <c:v>26.824000000000002</c:v>
                </c:pt>
                <c:pt idx="121">
                  <c:v>26.693000000000001</c:v>
                </c:pt>
                <c:pt idx="122">
                  <c:v>26.46</c:v>
                </c:pt>
                <c:pt idx="123">
                  <c:v>26.495999999999999</c:v>
                </c:pt>
                <c:pt idx="124">
                  <c:v>26.411999999999999</c:v>
                </c:pt>
                <c:pt idx="125">
                  <c:v>26.207999999999998</c:v>
                </c:pt>
                <c:pt idx="126">
                  <c:v>26.167999999999999</c:v>
                </c:pt>
                <c:pt idx="127">
                  <c:v>26.135999999999999</c:v>
                </c:pt>
                <c:pt idx="128">
                  <c:v>25.899000000000001</c:v>
                </c:pt>
                <c:pt idx="129">
                  <c:v>25.901</c:v>
                </c:pt>
                <c:pt idx="130">
                  <c:v>26.018000000000001</c:v>
                </c:pt>
                <c:pt idx="131">
                  <c:v>25.902000000000001</c:v>
                </c:pt>
                <c:pt idx="132">
                  <c:v>25.920999999999999</c:v>
                </c:pt>
                <c:pt idx="133">
                  <c:v>25.895</c:v>
                </c:pt>
                <c:pt idx="134">
                  <c:v>25.657</c:v>
                </c:pt>
                <c:pt idx="135">
                  <c:v>25.866</c:v>
                </c:pt>
                <c:pt idx="136">
                  <c:v>25.826000000000001</c:v>
                </c:pt>
                <c:pt idx="137">
                  <c:v>25.795000000000002</c:v>
                </c:pt>
                <c:pt idx="138">
                  <c:v>25.643000000000001</c:v>
                </c:pt>
                <c:pt idx="139">
                  <c:v>25.431999999999999</c:v>
                </c:pt>
                <c:pt idx="140">
                  <c:v>25.666</c:v>
                </c:pt>
                <c:pt idx="141">
                  <c:v>25.547999999999998</c:v>
                </c:pt>
                <c:pt idx="142">
                  <c:v>25.661000000000001</c:v>
                </c:pt>
                <c:pt idx="143">
                  <c:v>25.635000000000002</c:v>
                </c:pt>
              </c:numCache>
            </c:numRef>
          </c:val>
          <c:smooth val="0"/>
          <c:extLst>
            <c:ext xmlns:c16="http://schemas.microsoft.com/office/drawing/2014/chart" uri="{C3380CC4-5D6E-409C-BE32-E72D297353CC}">
              <c16:uniqueId val="{00000003-F095-764E-8830-5385AC182C78}"/>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none"/>
        <c:minorTickMark val="none"/>
        <c:tickLblPos val="low"/>
        <c:spPr>
          <a:ln w="9525" cap="rnd">
            <a:solidFill>
              <a:srgbClr val="5E6B7A"/>
            </a:solidFill>
            <a:round/>
          </a:ln>
        </c:spPr>
        <c:crossAx val="20"/>
        <c:crosses val="autoZero"/>
        <c:auto val="1"/>
        <c:lblAlgn val="ctr"/>
        <c:lblOffset val="100"/>
        <c:noMultiLvlLbl val="0"/>
      </c:catAx>
      <c:valAx>
        <c:axId val="20"/>
        <c:scaling>
          <c:orientation val="minMax"/>
          <c:max val="32"/>
          <c:min val="22"/>
        </c:scaling>
        <c:delete val="0"/>
        <c:axPos val="l"/>
        <c:majorGridlines>
          <c:spPr>
            <a:ln w="9525" cap="rnd">
              <a:solidFill>
                <a:srgbClr val="E3E7EC"/>
              </a:solidFill>
              <a:round/>
            </a:ln>
          </c:spPr>
        </c:majorGridlines>
        <c:title>
          <c:tx>
            <c:rich>
              <a:bodyPr rot="-5400000" vert="horz"/>
              <a:lstStyle/>
              <a:p>
                <a:pPr>
                  <a:defRPr sz="900" b="0"/>
                </a:pPr>
                <a:r>
                  <a:rPr lang="ja-JP" sz="900" b="0"/>
                  <a:t>吸気温度［℃］</a:t>
                </a:r>
              </a:p>
            </c:rich>
          </c:tx>
          <c:overlay val="0"/>
        </c:title>
        <c:numFmt formatCode="0" sourceLinked="0"/>
        <c:majorTickMark val="out"/>
        <c:minorTickMark val="none"/>
        <c:tickLblPos val="nextTo"/>
        <c:spPr>
          <a:ln w="9525" cap="rnd">
            <a:solidFill>
              <a:srgbClr val="5E6B7A"/>
            </a:solidFill>
            <a:round/>
          </a:ln>
        </c:spPr>
        <c:crossAx val="10"/>
        <c:crosses val="autoZero"/>
        <c:crossBetween val="between"/>
        <c:majorUnit val="2"/>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
          <c:y val="0.05"/>
          <c:w val="0.76"/>
          <c:h val="0.72"/>
        </c:manualLayout>
      </c:layout>
      <c:lineChart>
        <c:grouping val="standard"/>
        <c:varyColors val="0"/>
        <c:ser>
          <c:idx val="0"/>
          <c:order val="0"/>
          <c:tx>
            <c:strRef>
              <c:f>'図17_分析8_典型日'!$G$1</c:f>
              <c:strCache>
                <c:ptCount val="1"/>
                <c:pt idx="0">
                  <c:v>列8</c:v>
                </c:pt>
              </c:strCache>
            </c:strRef>
          </c:tx>
          <c:spPr>
            <a:ln w="11430" cap="rnd">
              <a:solidFill>
                <a:srgbClr val="01B8AA"/>
              </a:solidFill>
              <a:round/>
            </a:ln>
          </c:spPr>
          <c:marker>
            <c:symbol val="none"/>
          </c:marker>
          <c:cat>
            <c:strRef>
              <c:f>'図17_分析8_典型日'!$B$2:$B$145</c:f>
              <c:strCache>
                <c:ptCount val="144"/>
                <c:pt idx="0">
                  <c:v>0:00</c:v>
                </c:pt>
                <c:pt idx="18">
                  <c:v>3:00</c:v>
                </c:pt>
                <c:pt idx="36">
                  <c:v>6:00</c:v>
                </c:pt>
                <c:pt idx="54">
                  <c:v>9:00</c:v>
                </c:pt>
                <c:pt idx="72">
                  <c:v>12:00</c:v>
                </c:pt>
                <c:pt idx="90">
                  <c:v>15:00</c:v>
                </c:pt>
                <c:pt idx="108">
                  <c:v>18:00</c:v>
                </c:pt>
                <c:pt idx="126">
                  <c:v>21:00</c:v>
                </c:pt>
              </c:strCache>
            </c:strRef>
          </c:cat>
          <c:val>
            <c:numRef>
              <c:f>'図17_分析8_典型日'!$G$2:$G$145</c:f>
              <c:numCache>
                <c:formatCode>General</c:formatCode>
                <c:ptCount val="144"/>
                <c:pt idx="0">
                  <c:v>-0.48</c:v>
                </c:pt>
                <c:pt idx="1">
                  <c:v>-0.54100000000000004</c:v>
                </c:pt>
                <c:pt idx="2">
                  <c:v>-0.48699999999999999</c:v>
                </c:pt>
                <c:pt idx="3">
                  <c:v>-0.46600000000000003</c:v>
                </c:pt>
                <c:pt idx="4">
                  <c:v>-0.45300000000000001</c:v>
                </c:pt>
                <c:pt idx="5">
                  <c:v>-0.47599999999999998</c:v>
                </c:pt>
                <c:pt idx="6">
                  <c:v>-0.47899999999999998</c:v>
                </c:pt>
                <c:pt idx="7">
                  <c:v>-0.46800000000000003</c:v>
                </c:pt>
                <c:pt idx="8">
                  <c:v>-0.51100000000000001</c:v>
                </c:pt>
                <c:pt idx="9">
                  <c:v>-0.439</c:v>
                </c:pt>
                <c:pt idx="10">
                  <c:v>-0.45900000000000002</c:v>
                </c:pt>
                <c:pt idx="11">
                  <c:v>-0.42</c:v>
                </c:pt>
                <c:pt idx="12">
                  <c:v>-0.38800000000000001</c:v>
                </c:pt>
                <c:pt idx="13">
                  <c:v>-0.38800000000000001</c:v>
                </c:pt>
                <c:pt idx="14">
                  <c:v>-0.36199999999999999</c:v>
                </c:pt>
                <c:pt idx="15">
                  <c:v>-0.36199999999999999</c:v>
                </c:pt>
                <c:pt idx="16">
                  <c:v>-0.35699999999999998</c:v>
                </c:pt>
                <c:pt idx="17">
                  <c:v>-0.33900000000000002</c:v>
                </c:pt>
                <c:pt idx="18">
                  <c:v>-0.32400000000000001</c:v>
                </c:pt>
                <c:pt idx="19">
                  <c:v>-0.27200000000000002</c:v>
                </c:pt>
                <c:pt idx="20">
                  <c:v>-0.32600000000000001</c:v>
                </c:pt>
                <c:pt idx="21">
                  <c:v>-0.312</c:v>
                </c:pt>
                <c:pt idx="22">
                  <c:v>-0.28000000000000003</c:v>
                </c:pt>
                <c:pt idx="23">
                  <c:v>-0.26</c:v>
                </c:pt>
                <c:pt idx="24">
                  <c:v>-0.3</c:v>
                </c:pt>
                <c:pt idx="25">
                  <c:v>-0.27600000000000002</c:v>
                </c:pt>
                <c:pt idx="26">
                  <c:v>-0.25</c:v>
                </c:pt>
                <c:pt idx="27">
                  <c:v>-0.26100000000000001</c:v>
                </c:pt>
                <c:pt idx="28">
                  <c:v>-0.27600000000000002</c:v>
                </c:pt>
                <c:pt idx="29">
                  <c:v>-0.23400000000000001</c:v>
                </c:pt>
                <c:pt idx="30">
                  <c:v>-0.24199999999999999</c:v>
                </c:pt>
                <c:pt idx="31">
                  <c:v>-0.23100000000000001</c:v>
                </c:pt>
                <c:pt idx="32">
                  <c:v>-0.25</c:v>
                </c:pt>
                <c:pt idx="33">
                  <c:v>-0.26</c:v>
                </c:pt>
                <c:pt idx="34">
                  <c:v>-0.24299999999999999</c:v>
                </c:pt>
                <c:pt idx="35">
                  <c:v>-0.23300000000000001</c:v>
                </c:pt>
                <c:pt idx="36">
                  <c:v>-0.27200000000000002</c:v>
                </c:pt>
                <c:pt idx="37">
                  <c:v>-0.29199999999999998</c:v>
                </c:pt>
                <c:pt idx="38">
                  <c:v>-0.31</c:v>
                </c:pt>
                <c:pt idx="39">
                  <c:v>-0.41199999999999998</c:v>
                </c:pt>
                <c:pt idx="40">
                  <c:v>-0.35399999999999998</c:v>
                </c:pt>
                <c:pt idx="41">
                  <c:v>0.13300000000000001</c:v>
                </c:pt>
                <c:pt idx="42">
                  <c:v>0.35299999999999998</c:v>
                </c:pt>
                <c:pt idx="43">
                  <c:v>0.16</c:v>
                </c:pt>
                <c:pt idx="44">
                  <c:v>0.104</c:v>
                </c:pt>
                <c:pt idx="45">
                  <c:v>0.79100000000000004</c:v>
                </c:pt>
                <c:pt idx="46">
                  <c:v>0.314</c:v>
                </c:pt>
                <c:pt idx="47">
                  <c:v>0.53300000000000003</c:v>
                </c:pt>
                <c:pt idx="48">
                  <c:v>0.39800000000000002</c:v>
                </c:pt>
                <c:pt idx="49">
                  <c:v>0.312</c:v>
                </c:pt>
                <c:pt idx="50">
                  <c:v>0.10299999999999999</c:v>
                </c:pt>
                <c:pt idx="51">
                  <c:v>-1.103</c:v>
                </c:pt>
                <c:pt idx="52">
                  <c:v>-1.401</c:v>
                </c:pt>
                <c:pt idx="53">
                  <c:v>-1.653</c:v>
                </c:pt>
                <c:pt idx="54">
                  <c:v>-1.5980000000000001</c:v>
                </c:pt>
                <c:pt idx="55">
                  <c:v>-2.431</c:v>
                </c:pt>
                <c:pt idx="56">
                  <c:v>-2.0310000000000001</c:v>
                </c:pt>
                <c:pt idx="57">
                  <c:v>-0.59799999999999998</c:v>
                </c:pt>
                <c:pt idx="58">
                  <c:v>0.65900000000000003</c:v>
                </c:pt>
                <c:pt idx="59">
                  <c:v>0.59699999999999998</c:v>
                </c:pt>
                <c:pt idx="60">
                  <c:v>0.23799999999999999</c:v>
                </c:pt>
                <c:pt idx="61">
                  <c:v>-0.26400000000000001</c:v>
                </c:pt>
                <c:pt idx="62">
                  <c:v>-0.26100000000000001</c:v>
                </c:pt>
                <c:pt idx="63">
                  <c:v>9.7000000000000003E-2</c:v>
                </c:pt>
                <c:pt idx="64">
                  <c:v>0.16300000000000001</c:v>
                </c:pt>
                <c:pt idx="65">
                  <c:v>2.7E-2</c:v>
                </c:pt>
                <c:pt idx="66">
                  <c:v>-0.183</c:v>
                </c:pt>
                <c:pt idx="67">
                  <c:v>-0.47</c:v>
                </c:pt>
                <c:pt idx="68">
                  <c:v>-0.28899999999999998</c:v>
                </c:pt>
                <c:pt idx="69">
                  <c:v>-7.8E-2</c:v>
                </c:pt>
                <c:pt idx="70">
                  <c:v>-0.13900000000000001</c:v>
                </c:pt>
                <c:pt idx="71">
                  <c:v>-0.38100000000000001</c:v>
                </c:pt>
                <c:pt idx="72">
                  <c:v>-7.1999999999999995E-2</c:v>
                </c:pt>
                <c:pt idx="73">
                  <c:v>-0.31</c:v>
                </c:pt>
                <c:pt idx="74">
                  <c:v>0.20300000000000001</c:v>
                </c:pt>
                <c:pt idx="75">
                  <c:v>-0.33600000000000002</c:v>
                </c:pt>
                <c:pt idx="76">
                  <c:v>0.16200000000000001</c:v>
                </c:pt>
                <c:pt idx="77">
                  <c:v>-0.51600000000000001</c:v>
                </c:pt>
                <c:pt idx="78">
                  <c:v>-0.378</c:v>
                </c:pt>
                <c:pt idx="79">
                  <c:v>-0.42</c:v>
                </c:pt>
                <c:pt idx="80">
                  <c:v>0.26400000000000001</c:v>
                </c:pt>
                <c:pt idx="81">
                  <c:v>8.4000000000000005E-2</c:v>
                </c:pt>
                <c:pt idx="82">
                  <c:v>0.51700000000000002</c:v>
                </c:pt>
                <c:pt idx="83">
                  <c:v>0.753</c:v>
                </c:pt>
                <c:pt idx="84">
                  <c:v>0.498</c:v>
                </c:pt>
                <c:pt idx="85">
                  <c:v>8.8999999999999996E-2</c:v>
                </c:pt>
                <c:pt idx="86">
                  <c:v>0.42099999999999999</c:v>
                </c:pt>
                <c:pt idx="87">
                  <c:v>1.0640000000000001</c:v>
                </c:pt>
                <c:pt idx="88">
                  <c:v>0.54800000000000004</c:v>
                </c:pt>
                <c:pt idx="89">
                  <c:v>0.40400000000000003</c:v>
                </c:pt>
                <c:pt idx="90">
                  <c:v>-0.182</c:v>
                </c:pt>
                <c:pt idx="91">
                  <c:v>-0.153</c:v>
                </c:pt>
                <c:pt idx="92">
                  <c:v>0.114</c:v>
                </c:pt>
                <c:pt idx="93">
                  <c:v>5.1999999999999998E-2</c:v>
                </c:pt>
                <c:pt idx="94">
                  <c:v>-0.159</c:v>
                </c:pt>
                <c:pt idx="95">
                  <c:v>0.218</c:v>
                </c:pt>
                <c:pt idx="96">
                  <c:v>0.10299999999999999</c:v>
                </c:pt>
                <c:pt idx="97">
                  <c:v>-1.6E-2</c:v>
                </c:pt>
                <c:pt idx="98">
                  <c:v>-8.3000000000000004E-2</c:v>
                </c:pt>
                <c:pt idx="99">
                  <c:v>-7.0000000000000007E-2</c:v>
                </c:pt>
                <c:pt idx="100">
                  <c:v>4.9000000000000002E-2</c:v>
                </c:pt>
                <c:pt idx="101">
                  <c:v>-0.33100000000000002</c:v>
                </c:pt>
                <c:pt idx="102">
                  <c:v>-0.152</c:v>
                </c:pt>
                <c:pt idx="103">
                  <c:v>-0.39200000000000002</c:v>
                </c:pt>
                <c:pt idx="104">
                  <c:v>-0.41699999999999998</c:v>
                </c:pt>
                <c:pt idx="105">
                  <c:v>-0.47799999999999998</c:v>
                </c:pt>
                <c:pt idx="106">
                  <c:v>-0.35899999999999999</c:v>
                </c:pt>
                <c:pt idx="107">
                  <c:v>-0.52200000000000002</c:v>
                </c:pt>
                <c:pt idx="108">
                  <c:v>-0.10299999999999999</c:v>
                </c:pt>
                <c:pt idx="109">
                  <c:v>-0.48199999999999998</c:v>
                </c:pt>
                <c:pt idx="110">
                  <c:v>-0.313</c:v>
                </c:pt>
                <c:pt idx="111">
                  <c:v>-0.497</c:v>
                </c:pt>
                <c:pt idx="112">
                  <c:v>-0.36699999999999999</c:v>
                </c:pt>
                <c:pt idx="113">
                  <c:v>-0.54300000000000004</c:v>
                </c:pt>
                <c:pt idx="114">
                  <c:v>-0.54400000000000004</c:v>
                </c:pt>
                <c:pt idx="115">
                  <c:v>-0.95199999999999996</c:v>
                </c:pt>
                <c:pt idx="116">
                  <c:v>-0.76</c:v>
                </c:pt>
                <c:pt idx="117">
                  <c:v>-0.27900000000000003</c:v>
                </c:pt>
                <c:pt idx="118">
                  <c:v>-0.35699999999999998</c:v>
                </c:pt>
                <c:pt idx="119">
                  <c:v>-0.95</c:v>
                </c:pt>
                <c:pt idx="120">
                  <c:v>-0.46100000000000002</c:v>
                </c:pt>
                <c:pt idx="121">
                  <c:v>-0.10299999999999999</c:v>
                </c:pt>
                <c:pt idx="122">
                  <c:v>-0.35199999999999998</c:v>
                </c:pt>
                <c:pt idx="123">
                  <c:v>-0.54</c:v>
                </c:pt>
                <c:pt idx="124">
                  <c:v>-0.69</c:v>
                </c:pt>
                <c:pt idx="125">
                  <c:v>-0.68700000000000006</c:v>
                </c:pt>
                <c:pt idx="126">
                  <c:v>-0.378</c:v>
                </c:pt>
                <c:pt idx="127">
                  <c:v>-0.26100000000000001</c:v>
                </c:pt>
                <c:pt idx="128">
                  <c:v>-0.20699999999999999</c:v>
                </c:pt>
                <c:pt idx="129">
                  <c:v>-0.156</c:v>
                </c:pt>
                <c:pt idx="130">
                  <c:v>-0.109</c:v>
                </c:pt>
                <c:pt idx="131">
                  <c:v>-0.111</c:v>
                </c:pt>
                <c:pt idx="132">
                  <c:v>-7.1999999999999995E-2</c:v>
                </c:pt>
                <c:pt idx="133">
                  <c:v>-0.02</c:v>
                </c:pt>
                <c:pt idx="134">
                  <c:v>-3.9E-2</c:v>
                </c:pt>
                <c:pt idx="135">
                  <c:v>6.0000000000000001E-3</c:v>
                </c:pt>
                <c:pt idx="136">
                  <c:v>-1.7999999999999999E-2</c:v>
                </c:pt>
                <c:pt idx="137">
                  <c:v>4.0000000000000001E-3</c:v>
                </c:pt>
                <c:pt idx="138">
                  <c:v>2.7E-2</c:v>
                </c:pt>
                <c:pt idx="139">
                  <c:v>2.1000000000000001E-2</c:v>
                </c:pt>
                <c:pt idx="140">
                  <c:v>7.0000000000000001E-3</c:v>
                </c:pt>
                <c:pt idx="141">
                  <c:v>3.4000000000000002E-2</c:v>
                </c:pt>
                <c:pt idx="142">
                  <c:v>2.4E-2</c:v>
                </c:pt>
                <c:pt idx="143">
                  <c:v>8.0000000000000002E-3</c:v>
                </c:pt>
              </c:numCache>
            </c:numRef>
          </c:val>
          <c:smooth val="0"/>
          <c:extLst>
            <c:ext xmlns:c16="http://schemas.microsoft.com/office/drawing/2014/chart" uri="{C3380CC4-5D6E-409C-BE32-E72D297353CC}">
              <c16:uniqueId val="{00000000-401E-8849-95D2-6C0CEC2FB2F6}"/>
            </c:ext>
          </c:extLst>
        </c:ser>
        <c:ser>
          <c:idx val="1"/>
          <c:order val="1"/>
          <c:tx>
            <c:strRef>
              <c:f>'図17_分析8_典型日'!$H$1</c:f>
              <c:strCache>
                <c:ptCount val="1"/>
                <c:pt idx="0">
                  <c:v>列11</c:v>
                </c:pt>
              </c:strCache>
            </c:strRef>
          </c:tx>
          <c:spPr>
            <a:ln w="11430" cap="rnd">
              <a:solidFill>
                <a:srgbClr val="118DFF"/>
              </a:solidFill>
              <a:round/>
            </a:ln>
          </c:spPr>
          <c:marker>
            <c:symbol val="none"/>
          </c:marker>
          <c:cat>
            <c:strRef>
              <c:f>'図17_分析8_典型日'!$B$2:$B$145</c:f>
              <c:strCache>
                <c:ptCount val="144"/>
                <c:pt idx="0">
                  <c:v>0:00</c:v>
                </c:pt>
                <c:pt idx="18">
                  <c:v>3:00</c:v>
                </c:pt>
                <c:pt idx="36">
                  <c:v>6:00</c:v>
                </c:pt>
                <c:pt idx="54">
                  <c:v>9:00</c:v>
                </c:pt>
                <c:pt idx="72">
                  <c:v>12:00</c:v>
                </c:pt>
                <c:pt idx="90">
                  <c:v>15:00</c:v>
                </c:pt>
                <c:pt idx="108">
                  <c:v>18:00</c:v>
                </c:pt>
                <c:pt idx="126">
                  <c:v>21:00</c:v>
                </c:pt>
              </c:strCache>
            </c:strRef>
          </c:cat>
          <c:val>
            <c:numRef>
              <c:f>'図17_分析8_典型日'!$H$2:$H$145</c:f>
              <c:numCache>
                <c:formatCode>General</c:formatCode>
                <c:ptCount val="144"/>
                <c:pt idx="0">
                  <c:v>-0.50600000000000001</c:v>
                </c:pt>
                <c:pt idx="1">
                  <c:v>-0.47799999999999998</c:v>
                </c:pt>
                <c:pt idx="2">
                  <c:v>-0.45600000000000002</c:v>
                </c:pt>
                <c:pt idx="3">
                  <c:v>-0.45</c:v>
                </c:pt>
                <c:pt idx="4">
                  <c:v>-0.46300000000000002</c:v>
                </c:pt>
                <c:pt idx="5">
                  <c:v>-0.47</c:v>
                </c:pt>
                <c:pt idx="6">
                  <c:v>-0.54600000000000004</c:v>
                </c:pt>
                <c:pt idx="7">
                  <c:v>-0.50600000000000001</c:v>
                </c:pt>
                <c:pt idx="8">
                  <c:v>-0.51</c:v>
                </c:pt>
                <c:pt idx="9">
                  <c:v>-0.42699999999999999</c:v>
                </c:pt>
                <c:pt idx="10">
                  <c:v>-0.44900000000000001</c:v>
                </c:pt>
                <c:pt idx="11">
                  <c:v>-0.45400000000000001</c:v>
                </c:pt>
                <c:pt idx="12">
                  <c:v>-0.40200000000000002</c:v>
                </c:pt>
                <c:pt idx="13">
                  <c:v>-0.39700000000000002</c:v>
                </c:pt>
                <c:pt idx="14">
                  <c:v>-0.35099999999999998</c:v>
                </c:pt>
                <c:pt idx="15">
                  <c:v>-0.36199999999999999</c:v>
                </c:pt>
                <c:pt idx="16">
                  <c:v>-0.33900000000000002</c:v>
                </c:pt>
                <c:pt idx="17">
                  <c:v>-0.315</c:v>
                </c:pt>
                <c:pt idx="18">
                  <c:v>-0.32100000000000001</c:v>
                </c:pt>
                <c:pt idx="19">
                  <c:v>-0.29599999999999999</c:v>
                </c:pt>
                <c:pt idx="20">
                  <c:v>-0.36</c:v>
                </c:pt>
                <c:pt idx="21">
                  <c:v>-0.35899999999999999</c:v>
                </c:pt>
                <c:pt idx="22">
                  <c:v>-0.35</c:v>
                </c:pt>
                <c:pt idx="23">
                  <c:v>-0.31</c:v>
                </c:pt>
                <c:pt idx="24">
                  <c:v>-0.376</c:v>
                </c:pt>
                <c:pt idx="25">
                  <c:v>-0.34399999999999997</c:v>
                </c:pt>
                <c:pt idx="26">
                  <c:v>-0.29499999999999998</c:v>
                </c:pt>
                <c:pt idx="27">
                  <c:v>-0.30199999999999999</c:v>
                </c:pt>
                <c:pt idx="28">
                  <c:v>-0.32700000000000001</c:v>
                </c:pt>
                <c:pt idx="29">
                  <c:v>-0.26100000000000001</c:v>
                </c:pt>
                <c:pt idx="30">
                  <c:v>-0.29399999999999998</c:v>
                </c:pt>
                <c:pt idx="31">
                  <c:v>-0.29499999999999998</c:v>
                </c:pt>
                <c:pt idx="32">
                  <c:v>-0.22500000000000001</c:v>
                </c:pt>
                <c:pt idx="33">
                  <c:v>-0.13300000000000001</c:v>
                </c:pt>
                <c:pt idx="34">
                  <c:v>-0.14499999999999999</c:v>
                </c:pt>
                <c:pt idx="35">
                  <c:v>-0.09</c:v>
                </c:pt>
                <c:pt idx="36">
                  <c:v>-0.115</c:v>
                </c:pt>
                <c:pt idx="37">
                  <c:v>-0.17899999999999999</c:v>
                </c:pt>
                <c:pt idx="38">
                  <c:v>-0.104</c:v>
                </c:pt>
                <c:pt idx="39">
                  <c:v>-0.26500000000000001</c:v>
                </c:pt>
                <c:pt idx="40">
                  <c:v>0.14099999999999999</c:v>
                </c:pt>
                <c:pt idx="41">
                  <c:v>0.188</c:v>
                </c:pt>
                <c:pt idx="42">
                  <c:v>0.21099999999999999</c:v>
                </c:pt>
                <c:pt idx="43">
                  <c:v>9.0999999999999998E-2</c:v>
                </c:pt>
                <c:pt idx="44">
                  <c:v>8.6999999999999994E-2</c:v>
                </c:pt>
                <c:pt idx="45">
                  <c:v>0.62</c:v>
                </c:pt>
                <c:pt idx="46">
                  <c:v>0.70099999999999996</c:v>
                </c:pt>
                <c:pt idx="47">
                  <c:v>0.49299999999999999</c:v>
                </c:pt>
                <c:pt idx="48">
                  <c:v>0.55600000000000005</c:v>
                </c:pt>
                <c:pt idx="49">
                  <c:v>-9.9000000000000005E-2</c:v>
                </c:pt>
                <c:pt idx="50">
                  <c:v>-0.69799999999999995</c:v>
                </c:pt>
                <c:pt idx="51">
                  <c:v>-1.341</c:v>
                </c:pt>
                <c:pt idx="52">
                  <c:v>-1.2310000000000001</c:v>
                </c:pt>
                <c:pt idx="53">
                  <c:v>-1.831</c:v>
                </c:pt>
                <c:pt idx="54">
                  <c:v>-1.956</c:v>
                </c:pt>
                <c:pt idx="55">
                  <c:v>-2.0640000000000001</c:v>
                </c:pt>
                <c:pt idx="56">
                  <c:v>-1.829</c:v>
                </c:pt>
                <c:pt idx="57">
                  <c:v>-0.48199999999999998</c:v>
                </c:pt>
                <c:pt idx="58">
                  <c:v>0.47299999999999998</c:v>
                </c:pt>
                <c:pt idx="59">
                  <c:v>0.35499999999999998</c:v>
                </c:pt>
                <c:pt idx="60">
                  <c:v>0.255</c:v>
                </c:pt>
                <c:pt idx="61">
                  <c:v>-0.373</c:v>
                </c:pt>
                <c:pt idx="62">
                  <c:v>0.01</c:v>
                </c:pt>
                <c:pt idx="63">
                  <c:v>0.22600000000000001</c:v>
                </c:pt>
                <c:pt idx="64">
                  <c:v>-3.1E-2</c:v>
                </c:pt>
                <c:pt idx="65">
                  <c:v>-4.7E-2</c:v>
                </c:pt>
                <c:pt idx="66">
                  <c:v>-0.5</c:v>
                </c:pt>
                <c:pt idx="67">
                  <c:v>-0.69499999999999995</c:v>
                </c:pt>
                <c:pt idx="68">
                  <c:v>-0.44400000000000001</c:v>
                </c:pt>
                <c:pt idx="69">
                  <c:v>-0.14699999999999999</c:v>
                </c:pt>
                <c:pt idx="70">
                  <c:v>-9.0999999999999998E-2</c:v>
                </c:pt>
                <c:pt idx="71">
                  <c:v>-0.42799999999999999</c:v>
                </c:pt>
                <c:pt idx="72">
                  <c:v>-4.0000000000000001E-3</c:v>
                </c:pt>
                <c:pt idx="73">
                  <c:v>-0.34499999999999997</c:v>
                </c:pt>
                <c:pt idx="74">
                  <c:v>2.8000000000000001E-2</c:v>
                </c:pt>
                <c:pt idx="75">
                  <c:v>-0.309</c:v>
                </c:pt>
                <c:pt idx="76">
                  <c:v>0.30099999999999999</c:v>
                </c:pt>
                <c:pt idx="77">
                  <c:v>-0.55500000000000005</c:v>
                </c:pt>
                <c:pt idx="78">
                  <c:v>-0.39400000000000002</c:v>
                </c:pt>
                <c:pt idx="79">
                  <c:v>-0.39800000000000002</c:v>
                </c:pt>
                <c:pt idx="80">
                  <c:v>-0.221</c:v>
                </c:pt>
                <c:pt idx="81">
                  <c:v>-0.30499999999999999</c:v>
                </c:pt>
                <c:pt idx="82">
                  <c:v>7.4999999999999997E-2</c:v>
                </c:pt>
                <c:pt idx="83">
                  <c:v>0.27100000000000002</c:v>
                </c:pt>
                <c:pt idx="84">
                  <c:v>-7.9000000000000001E-2</c:v>
                </c:pt>
                <c:pt idx="85">
                  <c:v>-0.47499999999999998</c:v>
                </c:pt>
                <c:pt idx="86">
                  <c:v>0.219</c:v>
                </c:pt>
                <c:pt idx="87">
                  <c:v>3.1E-2</c:v>
                </c:pt>
                <c:pt idx="88">
                  <c:v>0.188</c:v>
                </c:pt>
                <c:pt idx="89">
                  <c:v>6.7000000000000004E-2</c:v>
                </c:pt>
                <c:pt idx="90">
                  <c:v>-0.35499999999999998</c:v>
                </c:pt>
                <c:pt idx="91">
                  <c:v>-0.39200000000000002</c:v>
                </c:pt>
                <c:pt idx="92">
                  <c:v>-0.11899999999999999</c:v>
                </c:pt>
                <c:pt idx="93">
                  <c:v>1.0999999999999999E-2</c:v>
                </c:pt>
                <c:pt idx="94">
                  <c:v>-0.27500000000000002</c:v>
                </c:pt>
                <c:pt idx="95">
                  <c:v>-0.26400000000000001</c:v>
                </c:pt>
                <c:pt idx="96">
                  <c:v>0</c:v>
                </c:pt>
                <c:pt idx="97">
                  <c:v>-0.36199999999999999</c:v>
                </c:pt>
                <c:pt idx="98">
                  <c:v>-1.4E-2</c:v>
                </c:pt>
                <c:pt idx="99">
                  <c:v>-0.59299999999999997</c:v>
                </c:pt>
                <c:pt idx="100">
                  <c:v>-0.47099999999999997</c:v>
                </c:pt>
                <c:pt idx="101">
                  <c:v>-0.247</c:v>
                </c:pt>
                <c:pt idx="102">
                  <c:v>-0.49099999999999999</c:v>
                </c:pt>
                <c:pt idx="103">
                  <c:v>-1.306</c:v>
                </c:pt>
                <c:pt idx="104">
                  <c:v>-1.2470000000000001</c:v>
                </c:pt>
                <c:pt idx="105">
                  <c:v>-0.30399999999999999</c:v>
                </c:pt>
                <c:pt idx="106">
                  <c:v>-0.318</c:v>
                </c:pt>
                <c:pt idx="107">
                  <c:v>-0.41499999999999998</c:v>
                </c:pt>
                <c:pt idx="108">
                  <c:v>-0.25</c:v>
                </c:pt>
                <c:pt idx="109">
                  <c:v>-0.35899999999999999</c:v>
                </c:pt>
                <c:pt idx="110">
                  <c:v>-0.22700000000000001</c:v>
                </c:pt>
                <c:pt idx="111">
                  <c:v>-0.104</c:v>
                </c:pt>
                <c:pt idx="112">
                  <c:v>-0.124</c:v>
                </c:pt>
                <c:pt idx="113">
                  <c:v>-8.8999999999999996E-2</c:v>
                </c:pt>
                <c:pt idx="114">
                  <c:v>0.06</c:v>
                </c:pt>
                <c:pt idx="115">
                  <c:v>-0.53900000000000003</c:v>
                </c:pt>
                <c:pt idx="116">
                  <c:v>-0.52500000000000002</c:v>
                </c:pt>
                <c:pt idx="117">
                  <c:v>-0.255</c:v>
                </c:pt>
                <c:pt idx="118">
                  <c:v>-0.55400000000000005</c:v>
                </c:pt>
                <c:pt idx="119">
                  <c:v>-1.026</c:v>
                </c:pt>
                <c:pt idx="120">
                  <c:v>-0.78300000000000003</c:v>
                </c:pt>
                <c:pt idx="121">
                  <c:v>-0.67300000000000004</c:v>
                </c:pt>
                <c:pt idx="122">
                  <c:v>-0.81699999999999995</c:v>
                </c:pt>
                <c:pt idx="123">
                  <c:v>-0.82899999999999996</c:v>
                </c:pt>
                <c:pt idx="124">
                  <c:v>-0.78500000000000003</c:v>
                </c:pt>
                <c:pt idx="125">
                  <c:v>-0.80800000000000005</c:v>
                </c:pt>
                <c:pt idx="126">
                  <c:v>-0.40600000000000003</c:v>
                </c:pt>
                <c:pt idx="127">
                  <c:v>-0.24099999999999999</c:v>
                </c:pt>
                <c:pt idx="128">
                  <c:v>-0.32700000000000001</c:v>
                </c:pt>
                <c:pt idx="129">
                  <c:v>-0.25600000000000001</c:v>
                </c:pt>
                <c:pt idx="130">
                  <c:v>-8.3000000000000004E-2</c:v>
                </c:pt>
                <c:pt idx="131">
                  <c:v>-0.155</c:v>
                </c:pt>
                <c:pt idx="132">
                  <c:v>-0.03</c:v>
                </c:pt>
                <c:pt idx="133">
                  <c:v>-2.1000000000000001E-2</c:v>
                </c:pt>
                <c:pt idx="134">
                  <c:v>-0.252</c:v>
                </c:pt>
                <c:pt idx="135">
                  <c:v>6.0000000000000001E-3</c:v>
                </c:pt>
                <c:pt idx="136">
                  <c:v>8.0000000000000002E-3</c:v>
                </c:pt>
                <c:pt idx="137">
                  <c:v>1.4999999999999999E-2</c:v>
                </c:pt>
                <c:pt idx="138">
                  <c:v>-6.2E-2</c:v>
                </c:pt>
                <c:pt idx="139">
                  <c:v>-0.255</c:v>
                </c:pt>
                <c:pt idx="140">
                  <c:v>1.6E-2</c:v>
                </c:pt>
                <c:pt idx="141">
                  <c:v>-7.0999999999999994E-2</c:v>
                </c:pt>
                <c:pt idx="142">
                  <c:v>2.5999999999999999E-2</c:v>
                </c:pt>
                <c:pt idx="143">
                  <c:v>1.6E-2</c:v>
                </c:pt>
              </c:numCache>
            </c:numRef>
          </c:val>
          <c:smooth val="0"/>
          <c:extLst>
            <c:ext xmlns:c16="http://schemas.microsoft.com/office/drawing/2014/chart" uri="{C3380CC4-5D6E-409C-BE32-E72D297353CC}">
              <c16:uniqueId val="{00000001-401E-8849-95D2-6C0CEC2FB2F6}"/>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none"/>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1.5"/>
          <c:min val="-2.5"/>
        </c:scaling>
        <c:delete val="0"/>
        <c:axPos val="l"/>
        <c:majorGridlines>
          <c:spPr>
            <a:ln w="9525" cap="rnd">
              <a:solidFill>
                <a:srgbClr val="E3E7EC"/>
              </a:solidFill>
              <a:round/>
            </a:ln>
          </c:spPr>
        </c:majorGridlines>
        <c:title>
          <c:tx>
            <c:rich>
              <a:bodyPr rot="-5400000" vert="horz"/>
              <a:lstStyle/>
              <a:p>
                <a:pPr>
                  <a:defRPr sz="900" b="0"/>
                </a:pPr>
                <a:r>
                  <a:rPr lang="ja-JP" sz="900" b="0"/>
                  <a:t>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5"/>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13"/>
          <c:y val="0.13"/>
          <c:w val="0.83"/>
          <c:h val="0.62"/>
        </c:manualLayout>
      </c:layout>
      <c:barChart>
        <c:barDir val="col"/>
        <c:grouping val="clustered"/>
        <c:varyColors val="0"/>
        <c:ser>
          <c:idx val="0"/>
          <c:order val="0"/>
          <c:tx>
            <c:strRef>
              <c:f>'図09_分析4_天気と吸気温度差'!$J$1</c:f>
              <c:strCache>
                <c:ptCount val="1"/>
                <c:pt idx="0">
                  <c:v>列8</c:v>
                </c:pt>
              </c:strCache>
            </c:strRef>
          </c:tx>
          <c:spPr>
            <a:solidFill>
              <a:srgbClr val="01B8AA"/>
            </a:solidFill>
            <a:ln w="6350" cap="rnd">
              <a:solidFill>
                <a:srgbClr val="01B8AA"/>
              </a:solidFill>
              <a:round/>
            </a:ln>
          </c:spPr>
          <c:invertIfNegative val="0"/>
          <c:cat>
            <c:strRef>
              <c:f>'図09_分析4_天気と吸気温度差'!$B$2:$B$18</c:f>
              <c:strCache>
                <c:ptCount val="17"/>
                <c:pt idx="0">
                  <c:v>8/29</c:v>
                </c:pt>
                <c:pt idx="2">
                  <c:v>8/31</c:v>
                </c:pt>
                <c:pt idx="4">
                  <c:v>9/2</c:v>
                </c:pt>
                <c:pt idx="6">
                  <c:v>9/4</c:v>
                </c:pt>
                <c:pt idx="8">
                  <c:v>9/6</c:v>
                </c:pt>
                <c:pt idx="10">
                  <c:v>9/8</c:v>
                </c:pt>
                <c:pt idx="12">
                  <c:v>9/10</c:v>
                </c:pt>
                <c:pt idx="14">
                  <c:v>9/12</c:v>
                </c:pt>
                <c:pt idx="16">
                  <c:v>9/14</c:v>
                </c:pt>
              </c:strCache>
            </c:strRef>
          </c:cat>
          <c:val>
            <c:numRef>
              <c:f>'図09_分析4_天気と吸気温度差'!$J$2:$J$18</c:f>
              <c:numCache>
                <c:formatCode>General</c:formatCode>
                <c:ptCount val="17"/>
                <c:pt idx="0">
                  <c:v>-0.871</c:v>
                </c:pt>
                <c:pt idx="1">
                  <c:v>-0.754</c:v>
                </c:pt>
                <c:pt idx="2">
                  <c:v>-0.17899999999999999</c:v>
                </c:pt>
                <c:pt idx="3">
                  <c:v>-0.13300000000000001</c:v>
                </c:pt>
                <c:pt idx="4">
                  <c:v>-0.23899999999999999</c:v>
                </c:pt>
                <c:pt idx="5">
                  <c:v>-0.28799999999999998</c:v>
                </c:pt>
                <c:pt idx="6">
                  <c:v>-0.38800000000000001</c:v>
                </c:pt>
                <c:pt idx="7">
                  <c:v>-0.41</c:v>
                </c:pt>
                <c:pt idx="8">
                  <c:v>-1.637</c:v>
                </c:pt>
                <c:pt idx="9">
                  <c:v>-0.83499999999999996</c:v>
                </c:pt>
                <c:pt idx="10">
                  <c:v>-0.55300000000000005</c:v>
                </c:pt>
                <c:pt idx="11">
                  <c:v>-0.623</c:v>
                </c:pt>
                <c:pt idx="12">
                  <c:v>-0.749</c:v>
                </c:pt>
                <c:pt idx="13">
                  <c:v>-0.40100000000000002</c:v>
                </c:pt>
                <c:pt idx="14">
                  <c:v>-1.5509999999999999</c:v>
                </c:pt>
                <c:pt idx="15">
                  <c:v>-0.95699999999999996</c:v>
                </c:pt>
                <c:pt idx="16">
                  <c:v>-4.3999999999999997E-2</c:v>
                </c:pt>
              </c:numCache>
            </c:numRef>
          </c:val>
          <c:extLst>
            <c:ext xmlns:c16="http://schemas.microsoft.com/office/drawing/2014/chart" uri="{C3380CC4-5D6E-409C-BE32-E72D297353CC}">
              <c16:uniqueId val="{00000000-BC95-6144-B59E-47AAEE5C1F75}"/>
            </c:ext>
          </c:extLst>
        </c:ser>
        <c:ser>
          <c:idx val="1"/>
          <c:order val="1"/>
          <c:tx>
            <c:strRef>
              <c:f>'図09_分析4_天気と吸気温度差'!$K$1</c:f>
              <c:strCache>
                <c:ptCount val="1"/>
                <c:pt idx="0">
                  <c:v>列11</c:v>
                </c:pt>
              </c:strCache>
            </c:strRef>
          </c:tx>
          <c:spPr>
            <a:solidFill>
              <a:srgbClr val="118DFF"/>
            </a:solidFill>
            <a:ln w="6350" cap="rnd">
              <a:solidFill>
                <a:srgbClr val="118DFF"/>
              </a:solidFill>
              <a:round/>
            </a:ln>
          </c:spPr>
          <c:invertIfNegative val="0"/>
          <c:cat>
            <c:strRef>
              <c:f>'図09_分析4_天気と吸気温度差'!$B$2:$B$18</c:f>
              <c:strCache>
                <c:ptCount val="17"/>
                <c:pt idx="0">
                  <c:v>8/29</c:v>
                </c:pt>
                <c:pt idx="2">
                  <c:v>8/31</c:v>
                </c:pt>
                <c:pt idx="4">
                  <c:v>9/2</c:v>
                </c:pt>
                <c:pt idx="6">
                  <c:v>9/4</c:v>
                </c:pt>
                <c:pt idx="8">
                  <c:v>9/6</c:v>
                </c:pt>
                <c:pt idx="10">
                  <c:v>9/8</c:v>
                </c:pt>
                <c:pt idx="12">
                  <c:v>9/10</c:v>
                </c:pt>
                <c:pt idx="14">
                  <c:v>9/12</c:v>
                </c:pt>
                <c:pt idx="16">
                  <c:v>9/14</c:v>
                </c:pt>
              </c:strCache>
            </c:strRef>
          </c:cat>
          <c:val>
            <c:numRef>
              <c:f>'図09_分析4_天気と吸気温度差'!$K$2:$K$18</c:f>
              <c:numCache>
                <c:formatCode>General</c:formatCode>
                <c:ptCount val="17"/>
                <c:pt idx="0">
                  <c:v>-0.56100000000000005</c:v>
                </c:pt>
                <c:pt idx="1">
                  <c:v>-0.58099999999999996</c:v>
                </c:pt>
                <c:pt idx="2">
                  <c:v>-0.192</c:v>
                </c:pt>
                <c:pt idx="3">
                  <c:v>-0.122</c:v>
                </c:pt>
                <c:pt idx="4">
                  <c:v>-0.34699999999999998</c:v>
                </c:pt>
                <c:pt idx="5">
                  <c:v>-0.376</c:v>
                </c:pt>
                <c:pt idx="6">
                  <c:v>-0.22500000000000001</c:v>
                </c:pt>
                <c:pt idx="7">
                  <c:v>-0.45700000000000002</c:v>
                </c:pt>
                <c:pt idx="8">
                  <c:v>-1.3660000000000001</c:v>
                </c:pt>
                <c:pt idx="9">
                  <c:v>-0.92700000000000005</c:v>
                </c:pt>
                <c:pt idx="10">
                  <c:v>-0.39200000000000002</c:v>
                </c:pt>
                <c:pt idx="11">
                  <c:v>-0.61799999999999999</c:v>
                </c:pt>
                <c:pt idx="12">
                  <c:v>-0.68600000000000005</c:v>
                </c:pt>
                <c:pt idx="13">
                  <c:v>-0.436</c:v>
                </c:pt>
                <c:pt idx="14">
                  <c:v>-1.246</c:v>
                </c:pt>
                <c:pt idx="15">
                  <c:v>-0.83199999999999996</c:v>
                </c:pt>
                <c:pt idx="16">
                  <c:v>-0.39800000000000002</c:v>
                </c:pt>
              </c:numCache>
            </c:numRef>
          </c:val>
          <c:extLst>
            <c:ext xmlns:c16="http://schemas.microsoft.com/office/drawing/2014/chart" uri="{C3380CC4-5D6E-409C-BE32-E72D297353CC}">
              <c16:uniqueId val="{00000001-BC95-6144-B59E-47AAEE5C1F75}"/>
            </c:ext>
          </c:extLst>
        </c:ser>
        <c:dLbls>
          <c:showLegendKey val="0"/>
          <c:showVal val="0"/>
          <c:showCatName val="0"/>
          <c:showSerName val="0"/>
          <c:showPercent val="0"/>
          <c:showBubbleSize val="0"/>
        </c:dLbls>
        <c:gapWidth val="30"/>
        <c:axId val="10"/>
        <c:axId val="20"/>
      </c:barChart>
      <c:catAx>
        <c:axId val="10"/>
        <c:scaling>
          <c:orientation val="minMax"/>
        </c:scaling>
        <c:delete val="0"/>
        <c:axPos val="b"/>
        <c:numFmt formatCode="General" sourceLinked="1"/>
        <c:majorTickMark val="out"/>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0.5"/>
          <c:min val="-2"/>
        </c:scaling>
        <c:delete val="0"/>
        <c:axPos val="l"/>
        <c:majorGridlines>
          <c:spPr>
            <a:ln w="9525" cap="rnd">
              <a:solidFill>
                <a:srgbClr val="E3E7EC"/>
              </a:solidFill>
              <a:round/>
            </a:ln>
          </c:spPr>
        </c:majorGridlines>
        <c:title>
          <c:tx>
            <c:rich>
              <a:bodyPr rot="-5400000" vert="horz"/>
              <a:lstStyle/>
              <a:p>
                <a:pPr>
                  <a:defRPr sz="900" b="0"/>
                </a:pPr>
                <a:r>
                  <a:rPr lang="ja-JP" sz="900" b="0"/>
                  <a:t>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5"/>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13"/>
          <c:y val="0.13"/>
          <c:w val="0.83"/>
          <c:h val="0.62"/>
        </c:manualLayout>
      </c:layout>
      <c:barChart>
        <c:barDir val="col"/>
        <c:grouping val="clustered"/>
        <c:varyColors val="0"/>
        <c:ser>
          <c:idx val="0"/>
          <c:order val="0"/>
          <c:tx>
            <c:strRef>
              <c:f>'図09_分析4_天気と吸気温度差'!$J$1</c:f>
              <c:strCache>
                <c:ptCount val="1"/>
                <c:pt idx="0">
                  <c:v>日向（OACP-3）</c:v>
                </c:pt>
              </c:strCache>
            </c:strRef>
          </c:tx>
          <c:spPr>
            <a:solidFill>
              <a:srgbClr val="ED7D31"/>
            </a:solidFill>
            <a:ln w="6350" cap="rnd">
              <a:solidFill>
                <a:srgbClr val="ED7D31"/>
              </a:solidFill>
              <a:round/>
            </a:ln>
          </c:spPr>
          <c:invertIfNegative val="0"/>
          <c:cat>
            <c:strRef>
              <c:f>'図09_分析4_天気と吸気温度差'!$B$2:$B$18</c:f>
              <c:strCache>
                <c:ptCount val="17"/>
                <c:pt idx="0">
                  <c:v>8/29</c:v>
                </c:pt>
                <c:pt idx="2">
                  <c:v>8/31</c:v>
                </c:pt>
                <c:pt idx="4">
                  <c:v>9/2</c:v>
                </c:pt>
                <c:pt idx="6">
                  <c:v>9/4</c:v>
                </c:pt>
                <c:pt idx="8">
                  <c:v>9/6</c:v>
                </c:pt>
                <c:pt idx="10">
                  <c:v>9/8</c:v>
                </c:pt>
                <c:pt idx="12">
                  <c:v>9/10</c:v>
                </c:pt>
                <c:pt idx="14">
                  <c:v>9/12</c:v>
                </c:pt>
                <c:pt idx="16">
                  <c:v>9/14</c:v>
                </c:pt>
              </c:strCache>
            </c:strRef>
          </c:cat>
          <c:val>
            <c:numRef>
              <c:f>'図09_分析4_天気と吸気温度差'!$J$2:$J$18</c:f>
              <c:numCache>
                <c:formatCode>General</c:formatCode>
                <c:ptCount val="17"/>
                <c:pt idx="0">
                  <c:v>37.200000000000003</c:v>
                </c:pt>
                <c:pt idx="1">
                  <c:v>227.5</c:v>
                </c:pt>
                <c:pt idx="2">
                  <c:v>188.3</c:v>
                </c:pt>
                <c:pt idx="3">
                  <c:v>277.89999999999998</c:v>
                </c:pt>
                <c:pt idx="4">
                  <c:v>322.7</c:v>
                </c:pt>
                <c:pt idx="5">
                  <c:v>200.4</c:v>
                </c:pt>
                <c:pt idx="6">
                  <c:v>96.5</c:v>
                </c:pt>
                <c:pt idx="7">
                  <c:v>195.2</c:v>
                </c:pt>
                <c:pt idx="8">
                  <c:v>29.7</c:v>
                </c:pt>
                <c:pt idx="9">
                  <c:v>81.099999999999994</c:v>
                </c:pt>
                <c:pt idx="10">
                  <c:v>259.7</c:v>
                </c:pt>
                <c:pt idx="11">
                  <c:v>173.1</c:v>
                </c:pt>
                <c:pt idx="12">
                  <c:v>126.3</c:v>
                </c:pt>
                <c:pt idx="13">
                  <c:v>80.400000000000006</c:v>
                </c:pt>
                <c:pt idx="14">
                  <c:v>151.9</c:v>
                </c:pt>
                <c:pt idx="15">
                  <c:v>154.9</c:v>
                </c:pt>
                <c:pt idx="16">
                  <c:v>555.6</c:v>
                </c:pt>
              </c:numCache>
            </c:numRef>
          </c:val>
          <c:extLst>
            <c:ext xmlns:c16="http://schemas.microsoft.com/office/drawing/2014/chart" uri="{C3380CC4-5D6E-409C-BE32-E72D297353CC}">
              <c16:uniqueId val="{00000000-BC95-6144-B59E-47AAEE5C1F75}"/>
            </c:ext>
          </c:extLst>
        </c:ser>
        <c:ser>
          <c:idx val="1"/>
          <c:order val="1"/>
          <c:tx>
            <c:strRef>
              <c:f>'図09_分析4_天気と吸気温度差'!$K$1</c:f>
              <c:strCache>
                <c:ptCount val="1"/>
                <c:pt idx="0">
                  <c:v>緑陰内（OACP-8）</c:v>
                </c:pt>
              </c:strCache>
            </c:strRef>
          </c:tx>
          <c:spPr>
            <a:solidFill>
              <a:srgbClr val="5E6B7A"/>
            </a:solidFill>
            <a:ln w="6350" cap="rnd">
              <a:solidFill>
                <a:srgbClr val="5E6B7A"/>
              </a:solidFill>
              <a:round/>
            </a:ln>
          </c:spPr>
          <c:invertIfNegative val="0"/>
          <c:cat>
            <c:strRef>
              <c:f>'図09_分析4_天気と吸気温度差'!$B$2:$B$18</c:f>
              <c:strCache>
                <c:ptCount val="17"/>
                <c:pt idx="0">
                  <c:v>8/29</c:v>
                </c:pt>
                <c:pt idx="2">
                  <c:v>8/31</c:v>
                </c:pt>
                <c:pt idx="4">
                  <c:v>9/2</c:v>
                </c:pt>
                <c:pt idx="6">
                  <c:v>9/4</c:v>
                </c:pt>
                <c:pt idx="8">
                  <c:v>9/6</c:v>
                </c:pt>
                <c:pt idx="10">
                  <c:v>9/8</c:v>
                </c:pt>
                <c:pt idx="12">
                  <c:v>9/10</c:v>
                </c:pt>
                <c:pt idx="14">
                  <c:v>9/12</c:v>
                </c:pt>
                <c:pt idx="16">
                  <c:v>9/14</c:v>
                </c:pt>
              </c:strCache>
            </c:strRef>
          </c:cat>
          <c:val>
            <c:numRef>
              <c:f>'図09_分析4_天気と吸気温度差'!$K$2:$K$18</c:f>
              <c:numCache>
                <c:formatCode>General</c:formatCode>
                <c:ptCount val="17"/>
                <c:pt idx="0">
                  <c:v>9.9</c:v>
                </c:pt>
                <c:pt idx="1">
                  <c:v>45.6</c:v>
                </c:pt>
                <c:pt idx="2">
                  <c:v>29.5</c:v>
                </c:pt>
                <c:pt idx="3">
                  <c:v>43.1</c:v>
                </c:pt>
                <c:pt idx="4">
                  <c:v>36.200000000000003</c:v>
                </c:pt>
                <c:pt idx="5">
                  <c:v>30.7</c:v>
                </c:pt>
                <c:pt idx="6">
                  <c:v>15.1</c:v>
                </c:pt>
                <c:pt idx="7">
                  <c:v>30.8</c:v>
                </c:pt>
                <c:pt idx="8">
                  <c:v>3.9</c:v>
                </c:pt>
                <c:pt idx="9">
                  <c:v>11.7</c:v>
                </c:pt>
                <c:pt idx="10">
                  <c:v>33.299999999999997</c:v>
                </c:pt>
                <c:pt idx="11">
                  <c:v>24.3</c:v>
                </c:pt>
                <c:pt idx="12">
                  <c:v>21.3</c:v>
                </c:pt>
                <c:pt idx="13">
                  <c:v>13.1</c:v>
                </c:pt>
                <c:pt idx="14">
                  <c:v>18.600000000000001</c:v>
                </c:pt>
                <c:pt idx="15">
                  <c:v>15.8</c:v>
                </c:pt>
                <c:pt idx="16">
                  <c:v>33.299999999999997</c:v>
                </c:pt>
              </c:numCache>
            </c:numRef>
          </c:val>
          <c:extLst>
            <c:ext xmlns:c16="http://schemas.microsoft.com/office/drawing/2014/chart" uri="{C3380CC4-5D6E-409C-BE32-E72D297353CC}">
              <c16:uniqueId val="{00000001-BC95-6144-B59E-47AAEE5C1F75}"/>
            </c:ext>
          </c:extLst>
        </c:ser>
        <c:dLbls>
          <c:showLegendKey val="0"/>
          <c:showVal val="0"/>
          <c:showCatName val="0"/>
          <c:showSerName val="0"/>
          <c:showPercent val="0"/>
          <c:showBubbleSize val="0"/>
        </c:dLbls>
        <c:gapWidth val="30"/>
        <c:axId val="10"/>
        <c:axId val="20"/>
      </c:barChart>
      <c:catAx>
        <c:axId val="10"/>
        <c:scaling>
          <c:orientation val="minMax"/>
        </c:scaling>
        <c:delete val="0"/>
        <c:axPos val="b"/>
        <c:numFmt formatCode="General" sourceLinked="1"/>
        <c:majorTickMark val="out"/>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600"/>
          <c:min val="0"/>
        </c:scaling>
        <c:delete val="0"/>
        <c:axPos val="l"/>
        <c:majorGridlines>
          <c:spPr>
            <a:ln w="9525" cap="rnd">
              <a:solidFill>
                <a:srgbClr val="E3E7EC"/>
              </a:solidFill>
              <a:round/>
            </a:ln>
          </c:spPr>
        </c:majorGridlines>
        <c:title>
          <c:tx>
            <c:rich>
              <a:bodyPr rot="-5400000" vert="horz"/>
              <a:lstStyle/>
              <a:p>
                <a:pPr>
                  <a:defRPr sz="900" b="0"/>
                </a:pPr>
                <a:r>
                  <a:rPr lang="ja-JP" sz="900" b="0"/>
                  <a:t>日射量［W/㎡］</a:t>
                </a:r>
              </a:p>
            </c:rich>
          </c:tx>
          <c:overlay val="0"/>
        </c:title>
        <c:numFmt formatCode="0" sourceLinked="0"/>
        <c:majorTickMark val="out"/>
        <c:minorTickMark val="none"/>
        <c:tickLblPos val="nextTo"/>
        <c:spPr>
          <a:ln w="9525" cap="rnd">
            <a:solidFill>
              <a:srgbClr val="5E6B7A"/>
            </a:solidFill>
            <a:round/>
          </a:ln>
        </c:spPr>
        <c:crossAx val="10"/>
        <c:crosses val="autoZero"/>
        <c:crossBetween val="between"/>
        <c:majorUnit val="200"/>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scatterChart>
        <c:scatterStyle val="lineMarker"/>
        <c:varyColors val="0"/>
        <c:ser>
          <c:idx val="0"/>
          <c:order val="0"/>
          <c:tx>
            <c:strRef>
              <c:f>'付録_日射遮蔽'!$F$1</c:f>
              <c:strCache>
                <c:ptCount val="1"/>
                <c:pt idx="0">
                  <c:v>吸気温度差（列8）</c:v>
                </c:pt>
              </c:strCache>
            </c:strRef>
          </c:tx>
          <c:spPr>
            <a:ln>
              <a:noFill/>
            </a:ln>
          </c:spPr>
          <c:marker>
            <c:symbol val="circle"/>
            <c:size val="5"/>
            <c:spPr>
              <a:solidFill>
                <a:srgbClr val="01B8AA"/>
              </a:solidFill>
              <a:ln w="9525" cap="rnd">
                <a:solidFill>
                  <a:srgbClr val="01B8AA"/>
                </a:solidFill>
                <a:round/>
              </a:ln>
            </c:spPr>
          </c:marker>
          <c:trendline>
            <c:spPr>
              <a:ln w="15875" cap="rnd">
                <a:solidFill>
                  <a:srgbClr val="22354F"/>
                </a:solidFill>
                <a:prstDash val="dash"/>
                <a:round/>
              </a:ln>
            </c:spPr>
            <c:trendlineType val="linear"/>
            <c:dispRSqr val="0"/>
            <c:dispEq val="0"/>
          </c:trendline>
          <c:xVal>
            <c:numRef>
              <c:f>'付録_日射遮蔽'!$E$2:$E$60</c:f>
              <c:numCache>
                <c:formatCode>General</c:formatCode>
                <c:ptCount val="59"/>
                <c:pt idx="0">
                  <c:v>79.599999999999994</c:v>
                </c:pt>
                <c:pt idx="1">
                  <c:v>81.2</c:v>
                </c:pt>
                <c:pt idx="2">
                  <c:v>83.1</c:v>
                </c:pt>
                <c:pt idx="3">
                  <c:v>87.7</c:v>
                </c:pt>
                <c:pt idx="4">
                  <c:v>85.3</c:v>
                </c:pt>
                <c:pt idx="5">
                  <c:v>82.1</c:v>
                </c:pt>
                <c:pt idx="6">
                  <c:v>82.9</c:v>
                </c:pt>
                <c:pt idx="7">
                  <c:v>86.6</c:v>
                </c:pt>
                <c:pt idx="8">
                  <c:v>84.8</c:v>
                </c:pt>
                <c:pt idx="9">
                  <c:v>83.4</c:v>
                </c:pt>
                <c:pt idx="10">
                  <c:v>85.5</c:v>
                </c:pt>
                <c:pt idx="11">
                  <c:v>81.400000000000006</c:v>
                </c:pt>
                <c:pt idx="12">
                  <c:v>86.3</c:v>
                </c:pt>
                <c:pt idx="13">
                  <c:v>85.4</c:v>
                </c:pt>
                <c:pt idx="14">
                  <c:v>91.4</c:v>
                </c:pt>
                <c:pt idx="15">
                  <c:v>90.5</c:v>
                </c:pt>
                <c:pt idx="16">
                  <c:v>88.9</c:v>
                </c:pt>
                <c:pt idx="17">
                  <c:v>84.2</c:v>
                </c:pt>
                <c:pt idx="18">
                  <c:v>84.7</c:v>
                </c:pt>
                <c:pt idx="19">
                  <c:v>84.4</c:v>
                </c:pt>
                <c:pt idx="20">
                  <c:v>83.8</c:v>
                </c:pt>
                <c:pt idx="21">
                  <c:v>85.7</c:v>
                </c:pt>
                <c:pt idx="22">
                  <c:v>85.7</c:v>
                </c:pt>
                <c:pt idx="23">
                  <c:v>85.6</c:v>
                </c:pt>
                <c:pt idx="24">
                  <c:v>83</c:v>
                </c:pt>
                <c:pt idx="25">
                  <c:v>84.6</c:v>
                </c:pt>
                <c:pt idx="26">
                  <c:v>85.6</c:v>
                </c:pt>
                <c:pt idx="27">
                  <c:v>85.5</c:v>
                </c:pt>
                <c:pt idx="28">
                  <c:v>84.6</c:v>
                </c:pt>
                <c:pt idx="29">
                  <c:v>84.8</c:v>
                </c:pt>
                <c:pt idx="30">
                  <c:v>84.8</c:v>
                </c:pt>
                <c:pt idx="31">
                  <c:v>86.2</c:v>
                </c:pt>
                <c:pt idx="32">
                  <c:v>84.1</c:v>
                </c:pt>
                <c:pt idx="33">
                  <c:v>82.1</c:v>
                </c:pt>
                <c:pt idx="34">
                  <c:v>84.2</c:v>
                </c:pt>
                <c:pt idx="35">
                  <c:v>88.5</c:v>
                </c:pt>
                <c:pt idx="36">
                  <c:v>90.1</c:v>
                </c:pt>
                <c:pt idx="37">
                  <c:v>86.9</c:v>
                </c:pt>
                <c:pt idx="38">
                  <c:v>88.6</c:v>
                </c:pt>
                <c:pt idx="39">
                  <c:v>79.099999999999994</c:v>
                </c:pt>
                <c:pt idx="40">
                  <c:v>84.1</c:v>
                </c:pt>
                <c:pt idx="41">
                  <c:v>86.6</c:v>
                </c:pt>
                <c:pt idx="42">
                  <c:v>88.2</c:v>
                </c:pt>
                <c:pt idx="43">
                  <c:v>89.8</c:v>
                </c:pt>
                <c:pt idx="44">
                  <c:v>88.8</c:v>
                </c:pt>
                <c:pt idx="45">
                  <c:v>85.3</c:v>
                </c:pt>
                <c:pt idx="46">
                  <c:v>83.7</c:v>
                </c:pt>
                <c:pt idx="47">
                  <c:v>84.5</c:v>
                </c:pt>
                <c:pt idx="48">
                  <c:v>85.7</c:v>
                </c:pt>
                <c:pt idx="49">
                  <c:v>89.7</c:v>
                </c:pt>
                <c:pt idx="50">
                  <c:v>86.3</c:v>
                </c:pt>
                <c:pt idx="51">
                  <c:v>87</c:v>
                </c:pt>
                <c:pt idx="52">
                  <c:v>94.1</c:v>
                </c:pt>
                <c:pt idx="53">
                  <c:v>93.5</c:v>
                </c:pt>
                <c:pt idx="54">
                  <c:v>93.6</c:v>
                </c:pt>
                <c:pt idx="55">
                  <c:v>95.1</c:v>
                </c:pt>
                <c:pt idx="56">
                  <c:v>94.4</c:v>
                </c:pt>
                <c:pt idx="57">
                  <c:v>93.7</c:v>
                </c:pt>
                <c:pt idx="58">
                  <c:v>92.2</c:v>
                </c:pt>
              </c:numCache>
            </c:numRef>
          </c:xVal>
          <c:yVal>
            <c:numRef>
              <c:f>'付録_日射遮蔽'!$F$2:$F$60</c:f>
              <c:numCache>
                <c:formatCode>General</c:formatCode>
                <c:ptCount val="59"/>
                <c:pt idx="0">
                  <c:v>0.12</c:v>
                </c:pt>
                <c:pt idx="1">
                  <c:v>-0.23499999999999999</c:v>
                </c:pt>
                <c:pt idx="2">
                  <c:v>-0.64800000000000002</c:v>
                </c:pt>
                <c:pt idx="3">
                  <c:v>-5.8999999999999997E-2</c:v>
                </c:pt>
                <c:pt idx="4">
                  <c:v>-0.16200000000000001</c:v>
                </c:pt>
                <c:pt idx="5">
                  <c:v>-0.17399999999999999</c:v>
                </c:pt>
                <c:pt idx="6">
                  <c:v>-0.35499999999999998</c:v>
                </c:pt>
                <c:pt idx="7">
                  <c:v>-0.23300000000000001</c:v>
                </c:pt>
                <c:pt idx="8">
                  <c:v>-0.246</c:v>
                </c:pt>
                <c:pt idx="9">
                  <c:v>-0.20699999999999999</c:v>
                </c:pt>
                <c:pt idx="10">
                  <c:v>0.13600000000000001</c:v>
                </c:pt>
                <c:pt idx="11">
                  <c:v>2.8000000000000001E-2</c:v>
                </c:pt>
                <c:pt idx="12">
                  <c:v>-0.42899999999999999</c:v>
                </c:pt>
                <c:pt idx="13">
                  <c:v>-0.28100000000000003</c:v>
                </c:pt>
                <c:pt idx="14">
                  <c:v>-0.40400000000000003</c:v>
                </c:pt>
                <c:pt idx="15">
                  <c:v>0.22</c:v>
                </c:pt>
                <c:pt idx="16">
                  <c:v>-8.4000000000000005E-2</c:v>
                </c:pt>
                <c:pt idx="17">
                  <c:v>-0.222</c:v>
                </c:pt>
                <c:pt idx="18">
                  <c:v>-0.26500000000000001</c:v>
                </c:pt>
                <c:pt idx="19">
                  <c:v>-0.40100000000000002</c:v>
                </c:pt>
                <c:pt idx="20">
                  <c:v>-0.436</c:v>
                </c:pt>
                <c:pt idx="21">
                  <c:v>-0.31900000000000001</c:v>
                </c:pt>
                <c:pt idx="22">
                  <c:v>-0.32400000000000001</c:v>
                </c:pt>
                <c:pt idx="23">
                  <c:v>-0.159</c:v>
                </c:pt>
                <c:pt idx="24">
                  <c:v>9.1999999999999998E-2</c:v>
                </c:pt>
                <c:pt idx="25">
                  <c:v>-0.37</c:v>
                </c:pt>
                <c:pt idx="26">
                  <c:v>-0.45100000000000001</c:v>
                </c:pt>
                <c:pt idx="27">
                  <c:v>-0.59399999999999997</c:v>
                </c:pt>
                <c:pt idx="28">
                  <c:v>-0.46800000000000003</c:v>
                </c:pt>
                <c:pt idx="29">
                  <c:v>-0.51300000000000001</c:v>
                </c:pt>
                <c:pt idx="30">
                  <c:v>-0.50800000000000001</c:v>
                </c:pt>
                <c:pt idx="31">
                  <c:v>-0.66700000000000004</c:v>
                </c:pt>
                <c:pt idx="32">
                  <c:v>-1.157</c:v>
                </c:pt>
                <c:pt idx="33">
                  <c:v>-0.47599999999999998</c:v>
                </c:pt>
                <c:pt idx="34">
                  <c:v>-0.50600000000000001</c:v>
                </c:pt>
                <c:pt idx="35">
                  <c:v>-0.71699999999999997</c:v>
                </c:pt>
                <c:pt idx="36">
                  <c:v>-0.47099999999999997</c:v>
                </c:pt>
                <c:pt idx="37">
                  <c:v>-0.36399999999999999</c:v>
                </c:pt>
                <c:pt idx="38">
                  <c:v>-0.251</c:v>
                </c:pt>
                <c:pt idx="39">
                  <c:v>-0.52600000000000002</c:v>
                </c:pt>
                <c:pt idx="40">
                  <c:v>-0.57399999999999995</c:v>
                </c:pt>
                <c:pt idx="41">
                  <c:v>-0.372</c:v>
                </c:pt>
                <c:pt idx="42">
                  <c:v>-0.46</c:v>
                </c:pt>
                <c:pt idx="43">
                  <c:v>-0.46700000000000003</c:v>
                </c:pt>
                <c:pt idx="44">
                  <c:v>-8.6999999999999994E-2</c:v>
                </c:pt>
                <c:pt idx="45">
                  <c:v>-0.54900000000000004</c:v>
                </c:pt>
                <c:pt idx="46">
                  <c:v>-0.70799999999999996</c:v>
                </c:pt>
                <c:pt idx="47">
                  <c:v>-0.35099999999999998</c:v>
                </c:pt>
                <c:pt idx="48">
                  <c:v>-0.56599999999999995</c:v>
                </c:pt>
                <c:pt idx="49">
                  <c:v>0.59</c:v>
                </c:pt>
                <c:pt idx="50">
                  <c:v>-0.121</c:v>
                </c:pt>
                <c:pt idx="51">
                  <c:v>-0.47399999999999998</c:v>
                </c:pt>
                <c:pt idx="52">
                  <c:v>-0.81899999999999995</c:v>
                </c:pt>
                <c:pt idx="53">
                  <c:v>2.1999999999999999E-2</c:v>
                </c:pt>
                <c:pt idx="54">
                  <c:v>1.3340000000000001</c:v>
                </c:pt>
                <c:pt idx="55">
                  <c:v>0.44700000000000001</c:v>
                </c:pt>
                <c:pt idx="56">
                  <c:v>-0.29899999999999999</c:v>
                </c:pt>
                <c:pt idx="57">
                  <c:v>-0.51200000000000001</c:v>
                </c:pt>
                <c:pt idx="58">
                  <c:v>-0.24399999999999999</c:v>
                </c:pt>
              </c:numCache>
            </c:numRef>
          </c:yVal>
          <c:smooth val="0"/>
          <c:extLst>
            <c:ext xmlns:c16="http://schemas.microsoft.com/office/drawing/2014/chart" uri="{C3380CC4-5D6E-409C-BE32-E72D297353CC}">
              <c16:uniqueId val="{00000001-A17D-8C49-B514-BA7B12CF63CB}"/>
            </c:ext>
          </c:extLst>
        </c:ser>
        <c:dLbls>
          <c:showLegendKey val="0"/>
          <c:showVal val="0"/>
          <c:showCatName val="0"/>
          <c:showSerName val="0"/>
          <c:showPercent val="0"/>
          <c:showBubbleSize val="0"/>
        </c:dLbls>
        <c:axId val="10"/>
        <c:axId val="20"/>
      </c:scatterChart>
      <c:valAx>
        <c:axId val="10"/>
        <c:scaling>
          <c:orientation val="minMax"/>
          <c:max val="100"/>
          <c:min val="75"/>
        </c:scaling>
        <c:delete val="0"/>
        <c:axPos val="b"/>
        <c:title>
          <c:tx>
            <c:rich>
              <a:bodyPr/>
              <a:lstStyle/>
              <a:p>
                <a:pPr>
                  <a:defRPr sz="900" b="0"/>
                </a:pPr>
                <a:r>
                  <a:rPr lang="ja-JP" sz="900" b="0"/>
                  <a:t>日射を遮る割合［％］</a:t>
                </a:r>
              </a:p>
            </c:rich>
          </c:tx>
          <c:overlay val="0"/>
        </c:title>
        <c:numFmt formatCode="0" sourceLinked="0"/>
        <c:majorTickMark val="out"/>
        <c:minorTickMark val="none"/>
        <c:tickLblPos val="low"/>
        <c:spPr>
          <a:ln w="15875" cap="rnd">
            <a:solidFill>
              <a:srgbClr val="5E6B7A"/>
            </a:solidFill>
            <a:round/>
          </a:ln>
        </c:spPr>
        <c:crossAx val="20"/>
        <c:crosses val="autoZero"/>
        <c:crossBetween val="midCat"/>
        <c:majorUnit val="5"/>
      </c:valAx>
      <c:valAx>
        <c:axId val="20"/>
        <c:scaling>
          <c:orientation val="minMax"/>
          <c:max val="1.5"/>
          <c:min val="-1.5"/>
        </c:scaling>
        <c:delete val="0"/>
        <c:axPos val="l"/>
        <c:majorGridlines>
          <c:spPr>
            <a:ln w="9525" cap="rnd">
              <a:solidFill>
                <a:srgbClr val="E3E7EC"/>
              </a:solidFill>
              <a:round/>
            </a:ln>
          </c:spPr>
        </c:majorGridlines>
        <c:title>
          <c:tx>
            <c:rich>
              <a:bodyPr rot="-5400000" vert="horz"/>
              <a:lstStyle/>
              <a:p>
                <a:pPr>
                  <a:defRPr sz="900" b="0"/>
                </a:pPr>
                <a:r>
                  <a:rPr lang="ja-JP" sz="900" b="0"/>
                  <a:t>1時間平均の吸気温度差［℃］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scatterChart>
        <c:scatterStyle val="lineMarker"/>
        <c:varyColors val="0"/>
        <c:ser>
          <c:idx val="0"/>
          <c:order val="0"/>
          <c:tx>
            <c:strRef>
              <c:f>'付録_日射遮蔽'!$G$1</c:f>
              <c:strCache>
                <c:ptCount val="1"/>
                <c:pt idx="0">
                  <c:v>吸気温度差（列11）</c:v>
                </c:pt>
              </c:strCache>
            </c:strRef>
          </c:tx>
          <c:spPr>
            <a:ln>
              <a:noFill/>
            </a:ln>
          </c:spPr>
          <c:marker>
            <c:symbol val="circle"/>
            <c:size val="5"/>
            <c:spPr>
              <a:solidFill>
                <a:srgbClr val="118DFF"/>
              </a:solidFill>
              <a:ln w="9525" cap="rnd">
                <a:solidFill>
                  <a:srgbClr val="118DFF"/>
                </a:solidFill>
                <a:round/>
              </a:ln>
            </c:spPr>
          </c:marker>
          <c:trendline>
            <c:spPr>
              <a:ln w="15875" cap="rnd">
                <a:solidFill>
                  <a:srgbClr val="22354F"/>
                </a:solidFill>
                <a:prstDash val="dash"/>
                <a:round/>
              </a:ln>
            </c:spPr>
            <c:trendlineType val="linear"/>
            <c:dispRSqr val="0"/>
            <c:dispEq val="0"/>
          </c:trendline>
          <c:xVal>
            <c:numRef>
              <c:f>'付録_日射遮蔽'!$E$2:$E$60</c:f>
              <c:numCache>
                <c:formatCode>General</c:formatCode>
                <c:ptCount val="59"/>
                <c:pt idx="0">
                  <c:v>79.599999999999994</c:v>
                </c:pt>
                <c:pt idx="1">
                  <c:v>81.2</c:v>
                </c:pt>
                <c:pt idx="2">
                  <c:v>83.1</c:v>
                </c:pt>
                <c:pt idx="3">
                  <c:v>87.7</c:v>
                </c:pt>
                <c:pt idx="4">
                  <c:v>85.3</c:v>
                </c:pt>
                <c:pt idx="5">
                  <c:v>82.1</c:v>
                </c:pt>
                <c:pt idx="6">
                  <c:v>82.9</c:v>
                </c:pt>
                <c:pt idx="7">
                  <c:v>86.6</c:v>
                </c:pt>
                <c:pt idx="8">
                  <c:v>84.8</c:v>
                </c:pt>
                <c:pt idx="9">
                  <c:v>83.4</c:v>
                </c:pt>
                <c:pt idx="10">
                  <c:v>85.5</c:v>
                </c:pt>
                <c:pt idx="11">
                  <c:v>81.400000000000006</c:v>
                </c:pt>
                <c:pt idx="12">
                  <c:v>86.3</c:v>
                </c:pt>
                <c:pt idx="13">
                  <c:v>85.4</c:v>
                </c:pt>
                <c:pt idx="14">
                  <c:v>91.4</c:v>
                </c:pt>
                <c:pt idx="15">
                  <c:v>90.5</c:v>
                </c:pt>
                <c:pt idx="16">
                  <c:v>88.9</c:v>
                </c:pt>
                <c:pt idx="17">
                  <c:v>84.2</c:v>
                </c:pt>
                <c:pt idx="18">
                  <c:v>84.7</c:v>
                </c:pt>
                <c:pt idx="19">
                  <c:v>84.4</c:v>
                </c:pt>
                <c:pt idx="20">
                  <c:v>83.8</c:v>
                </c:pt>
                <c:pt idx="21">
                  <c:v>85.7</c:v>
                </c:pt>
                <c:pt idx="22">
                  <c:v>85.7</c:v>
                </c:pt>
                <c:pt idx="23">
                  <c:v>85.6</c:v>
                </c:pt>
                <c:pt idx="24">
                  <c:v>83</c:v>
                </c:pt>
                <c:pt idx="25">
                  <c:v>84.6</c:v>
                </c:pt>
                <c:pt idx="26">
                  <c:v>85.6</c:v>
                </c:pt>
                <c:pt idx="27">
                  <c:v>85.5</c:v>
                </c:pt>
                <c:pt idx="28">
                  <c:v>84.6</c:v>
                </c:pt>
                <c:pt idx="29">
                  <c:v>84.8</c:v>
                </c:pt>
                <c:pt idx="30">
                  <c:v>84.8</c:v>
                </c:pt>
                <c:pt idx="31">
                  <c:v>86.2</c:v>
                </c:pt>
                <c:pt idx="32">
                  <c:v>84.1</c:v>
                </c:pt>
                <c:pt idx="33">
                  <c:v>82.1</c:v>
                </c:pt>
                <c:pt idx="34">
                  <c:v>84.2</c:v>
                </c:pt>
                <c:pt idx="35">
                  <c:v>88.5</c:v>
                </c:pt>
                <c:pt idx="36">
                  <c:v>90.1</c:v>
                </c:pt>
                <c:pt idx="37">
                  <c:v>86.9</c:v>
                </c:pt>
                <c:pt idx="38">
                  <c:v>88.6</c:v>
                </c:pt>
                <c:pt idx="39">
                  <c:v>79.099999999999994</c:v>
                </c:pt>
                <c:pt idx="40">
                  <c:v>84.1</c:v>
                </c:pt>
                <c:pt idx="41">
                  <c:v>86.6</c:v>
                </c:pt>
                <c:pt idx="42">
                  <c:v>88.2</c:v>
                </c:pt>
                <c:pt idx="43">
                  <c:v>89.8</c:v>
                </c:pt>
                <c:pt idx="44">
                  <c:v>88.8</c:v>
                </c:pt>
                <c:pt idx="45">
                  <c:v>85.3</c:v>
                </c:pt>
                <c:pt idx="46">
                  <c:v>83.7</c:v>
                </c:pt>
                <c:pt idx="47">
                  <c:v>84.5</c:v>
                </c:pt>
                <c:pt idx="48">
                  <c:v>85.7</c:v>
                </c:pt>
                <c:pt idx="49">
                  <c:v>89.7</c:v>
                </c:pt>
                <c:pt idx="50">
                  <c:v>86.3</c:v>
                </c:pt>
                <c:pt idx="51">
                  <c:v>87</c:v>
                </c:pt>
                <c:pt idx="52">
                  <c:v>94.1</c:v>
                </c:pt>
                <c:pt idx="53">
                  <c:v>93.5</c:v>
                </c:pt>
                <c:pt idx="54">
                  <c:v>93.6</c:v>
                </c:pt>
                <c:pt idx="55">
                  <c:v>95.1</c:v>
                </c:pt>
                <c:pt idx="56">
                  <c:v>94.4</c:v>
                </c:pt>
                <c:pt idx="57">
                  <c:v>93.7</c:v>
                </c:pt>
                <c:pt idx="58">
                  <c:v>92.2</c:v>
                </c:pt>
              </c:numCache>
            </c:numRef>
          </c:xVal>
          <c:yVal>
            <c:numRef>
              <c:f>'付録_日射遮蔽'!$G$2:$G$60</c:f>
              <c:numCache>
                <c:formatCode>General</c:formatCode>
                <c:ptCount val="59"/>
                <c:pt idx="0">
                  <c:v>9.0999999999999998E-2</c:v>
                </c:pt>
                <c:pt idx="1">
                  <c:v>-4.1000000000000002E-2</c:v>
                </c:pt>
                <c:pt idx="2">
                  <c:v>-0.34300000000000003</c:v>
                </c:pt>
                <c:pt idx="3">
                  <c:v>-3.1E-2</c:v>
                </c:pt>
                <c:pt idx="4">
                  <c:v>-0.40699999999999997</c:v>
                </c:pt>
                <c:pt idx="5">
                  <c:v>-0.4</c:v>
                </c:pt>
                <c:pt idx="6">
                  <c:v>-0.19</c:v>
                </c:pt>
                <c:pt idx="7">
                  <c:v>-0.42699999999999999</c:v>
                </c:pt>
                <c:pt idx="8">
                  <c:v>-0.10299999999999999</c:v>
                </c:pt>
                <c:pt idx="9">
                  <c:v>-9.4E-2</c:v>
                </c:pt>
                <c:pt idx="10">
                  <c:v>0.14199999999999999</c:v>
                </c:pt>
                <c:pt idx="11">
                  <c:v>-0.11799999999999999</c:v>
                </c:pt>
                <c:pt idx="12">
                  <c:v>-0.41499999999999998</c:v>
                </c:pt>
                <c:pt idx="13">
                  <c:v>-0.15</c:v>
                </c:pt>
                <c:pt idx="14">
                  <c:v>-0.42399999999999999</c:v>
                </c:pt>
                <c:pt idx="15">
                  <c:v>-0.19400000000000001</c:v>
                </c:pt>
                <c:pt idx="16">
                  <c:v>-0.52600000000000002</c:v>
                </c:pt>
                <c:pt idx="17">
                  <c:v>-0.28599999999999998</c:v>
                </c:pt>
                <c:pt idx="18">
                  <c:v>-0.38</c:v>
                </c:pt>
                <c:pt idx="19">
                  <c:v>-0.45100000000000001</c:v>
                </c:pt>
                <c:pt idx="20">
                  <c:v>-0.51</c:v>
                </c:pt>
                <c:pt idx="21">
                  <c:v>-0.46700000000000003</c:v>
                </c:pt>
                <c:pt idx="22">
                  <c:v>-0.44700000000000001</c:v>
                </c:pt>
                <c:pt idx="23">
                  <c:v>-0.307</c:v>
                </c:pt>
                <c:pt idx="24">
                  <c:v>-0.14399999999999999</c:v>
                </c:pt>
                <c:pt idx="25">
                  <c:v>-0.21299999999999999</c:v>
                </c:pt>
                <c:pt idx="26">
                  <c:v>-0.14499999999999999</c:v>
                </c:pt>
                <c:pt idx="27">
                  <c:v>-0.42399999999999999</c:v>
                </c:pt>
                <c:pt idx="28">
                  <c:v>-0.36299999999999999</c:v>
                </c:pt>
                <c:pt idx="29">
                  <c:v>-0.34100000000000003</c:v>
                </c:pt>
                <c:pt idx="30">
                  <c:v>-0.57799999999999996</c:v>
                </c:pt>
                <c:pt idx="31">
                  <c:v>-1.1160000000000001</c:v>
                </c:pt>
                <c:pt idx="32">
                  <c:v>-1.2969999999999999</c:v>
                </c:pt>
                <c:pt idx="33">
                  <c:v>-0.57499999999999996</c:v>
                </c:pt>
                <c:pt idx="34">
                  <c:v>-0.43</c:v>
                </c:pt>
                <c:pt idx="35">
                  <c:v>-0.504</c:v>
                </c:pt>
                <c:pt idx="36">
                  <c:v>-0.375</c:v>
                </c:pt>
                <c:pt idx="37">
                  <c:v>-0.438</c:v>
                </c:pt>
                <c:pt idx="38">
                  <c:v>0.23899999999999999</c:v>
                </c:pt>
                <c:pt idx="39">
                  <c:v>-0.63900000000000001</c:v>
                </c:pt>
                <c:pt idx="40">
                  <c:v>-0.68500000000000005</c:v>
                </c:pt>
                <c:pt idx="41">
                  <c:v>-0.53100000000000003</c:v>
                </c:pt>
                <c:pt idx="42">
                  <c:v>-0.47699999999999998</c:v>
                </c:pt>
                <c:pt idx="43">
                  <c:v>-0.38500000000000001</c:v>
                </c:pt>
                <c:pt idx="44">
                  <c:v>-0.13700000000000001</c:v>
                </c:pt>
                <c:pt idx="45">
                  <c:v>-0.89100000000000001</c:v>
                </c:pt>
                <c:pt idx="46">
                  <c:v>-0.93600000000000005</c:v>
                </c:pt>
                <c:pt idx="47">
                  <c:v>-0.49199999999999999</c:v>
                </c:pt>
                <c:pt idx="48">
                  <c:v>-0.46100000000000002</c:v>
                </c:pt>
                <c:pt idx="49">
                  <c:v>0.01</c:v>
                </c:pt>
                <c:pt idx="50">
                  <c:v>-5.2999999999999999E-2</c:v>
                </c:pt>
                <c:pt idx="51">
                  <c:v>-0.81200000000000006</c:v>
                </c:pt>
                <c:pt idx="52">
                  <c:v>-1.157</c:v>
                </c:pt>
                <c:pt idx="53">
                  <c:v>-0.60099999999999998</c:v>
                </c:pt>
                <c:pt idx="54">
                  <c:v>0.71</c:v>
                </c:pt>
                <c:pt idx="55">
                  <c:v>0.16</c:v>
                </c:pt>
                <c:pt idx="56">
                  <c:v>-0.58299999999999996</c:v>
                </c:pt>
                <c:pt idx="57">
                  <c:v>-0.66700000000000004</c:v>
                </c:pt>
                <c:pt idx="58">
                  <c:v>-0.51700000000000002</c:v>
                </c:pt>
              </c:numCache>
            </c:numRef>
          </c:yVal>
          <c:smooth val="0"/>
          <c:extLst>
            <c:ext xmlns:c16="http://schemas.microsoft.com/office/drawing/2014/chart" uri="{C3380CC4-5D6E-409C-BE32-E72D297353CC}">
              <c16:uniqueId val="{00000001-5B5D-F243-A5E4-506C3924017B}"/>
            </c:ext>
          </c:extLst>
        </c:ser>
        <c:dLbls>
          <c:showLegendKey val="0"/>
          <c:showVal val="0"/>
          <c:showCatName val="0"/>
          <c:showSerName val="0"/>
          <c:showPercent val="0"/>
          <c:showBubbleSize val="0"/>
        </c:dLbls>
        <c:axId val="10"/>
        <c:axId val="20"/>
      </c:scatterChart>
      <c:valAx>
        <c:axId val="10"/>
        <c:scaling>
          <c:orientation val="minMax"/>
          <c:max val="100"/>
          <c:min val="75"/>
        </c:scaling>
        <c:delete val="0"/>
        <c:axPos val="b"/>
        <c:title>
          <c:tx>
            <c:rich>
              <a:bodyPr/>
              <a:lstStyle/>
              <a:p>
                <a:pPr>
                  <a:defRPr sz="900" b="0"/>
                </a:pPr>
                <a:r>
                  <a:rPr lang="ja-JP" sz="900" b="0"/>
                  <a:t>日射を遮る割合［％］</a:t>
                </a:r>
              </a:p>
            </c:rich>
          </c:tx>
          <c:overlay val="0"/>
        </c:title>
        <c:numFmt formatCode="0" sourceLinked="0"/>
        <c:majorTickMark val="out"/>
        <c:minorTickMark val="none"/>
        <c:tickLblPos val="low"/>
        <c:spPr>
          <a:ln w="15875" cap="rnd">
            <a:solidFill>
              <a:srgbClr val="5E6B7A"/>
            </a:solidFill>
            <a:round/>
          </a:ln>
        </c:spPr>
        <c:crossAx val="20"/>
        <c:crosses val="autoZero"/>
        <c:crossBetween val="midCat"/>
        <c:majorUnit val="5"/>
      </c:valAx>
      <c:valAx>
        <c:axId val="20"/>
        <c:scaling>
          <c:orientation val="minMax"/>
          <c:max val="1.5"/>
          <c:min val="-1.5"/>
        </c:scaling>
        <c:delete val="0"/>
        <c:axPos val="l"/>
        <c:majorGridlines>
          <c:spPr>
            <a:ln w="9525" cap="rnd">
              <a:solidFill>
                <a:srgbClr val="E3E7EC"/>
              </a:solidFill>
              <a:round/>
            </a:ln>
          </c:spPr>
        </c:majorGridlines>
        <c:title>
          <c:tx>
            <c:rich>
              <a:bodyPr rot="-5400000" vert="horz"/>
              <a:lstStyle/>
              <a:p>
                <a:pPr>
                  <a:defRPr sz="900" b="0"/>
                </a:pPr>
                <a:r>
                  <a:rPr lang="ja-JP" sz="900" b="0"/>
                  <a:t>1時間平均の吸気温度差［℃］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omments/modernComment_10C_0.xml><?xml version="1.0" encoding="utf-8"?>
<p188:cmLst xmlns:a="http://schemas.openxmlformats.org/drawingml/2006/main" xmlns:r="http://schemas.openxmlformats.org/officeDocument/2006/relationships" xmlns:p188="http://schemas.microsoft.com/office/powerpoint/2018/8/main">
  <p188:cm id="{16F71C78-90A4-FB49-83DE-B2E9640B1048}" authorId="{485FE2FF-9899-62DA-30A3-A58E7F9AFF31}" created="2026-10-04T10:15:22.837">
    <pc:sldMkLst xmlns:pc="http://schemas.microsoft.com/office/powerpoint/2013/main/command">
      <pc:docMk/>
      <pc:sldMk cId="0" sldId="268"/>
    </pc:sldMkLst>
    <p188:txBody>
      <a:bodyPr/>
      <a:lstStyle/>
      <a:p>
        <a:r>
          <a:rPr lang="ja-JP" altLang="en-US"/>
          <a:t>ここ行っている分析をさらに踏み込んでください。
ここでは11-1、8-1では吸気温度が低減せず逆に上昇してしまっています。なぜ、区画１では吸気温度差が正の値に推移してしまっているかを分析してください。
要素は、風速、日射量、外気温、繁茂率などが考えられますが、これらの要素を総合的に分析し、結論を表やグラフを用いて次ページに新たにスライドを設けて結論をまとめてください。</a:t>
        </a:r>
      </a:p>
    </p188:txBody>
  </p188:cm>
</p188:cmLst>
</file>

<file path=ppt/comments/modernComment_11B_0.xml><?xml version="1.0" encoding="utf-8"?>
<p188:cmLst xmlns:a="http://schemas.openxmlformats.org/drawingml/2006/main" xmlns:r="http://schemas.openxmlformats.org/officeDocument/2006/relationships" xmlns:p188="http://schemas.microsoft.com/office/powerpoint/2018/8/main">
  <p188:cm id="{07962775-8C45-A446-B869-8F5C225F0887}" authorId="{485FE2FF-9899-62DA-30A3-A58E7F9AFF31}" created="2026-10-04T10:02:47.776">
    <pc:sldMkLst xmlns:pc="http://schemas.microsoft.com/office/powerpoint/2013/main/command">
      <pc:docMk/>
      <pc:sldMk cId="0" sldId="283"/>
    </pc:sldMkLst>
    <p188:txBody>
      <a:bodyPr/>
      <a:lstStyle/>
      <a:p>
        <a:r>
          <a:rPr lang="ja-JP" altLang="en-US"/>
          <a:t>「遮られた日射量＝日向−緑陰内」の定義にするのではなく、日射量のデータをそのままグラフに表してください。
日射量のデータを緑陰内と直射日光下の両方のデータを2本の棒グラフで表示し、これを下段のグラフとする。上段のグラフには吸気温度差のグラフを作成し、横軸の日付を対応させてください。作成するスライドのイメージは、15ページ目の「分析4：天気と吸気温度差の関係（日ごとの推移） 」の上段と中段のグラフの形式を参考に作成してください
その後、日射量の遮られた割合と吸気温度差の関係性を分析し、結果をまとめ、グラフ表も含めあたスライドを作成してください。</a:t>
        </a:r>
      </a:p>
    </p188:txBody>
  </p188:cm>
</p188:cmLst>
</file>

<file path=ppt/comments/modernComment_11C_0.xml><?xml version="1.0" encoding="utf-8"?>
<p188:cmLst xmlns:a="http://schemas.openxmlformats.org/drawingml/2006/main" xmlns:r="http://schemas.openxmlformats.org/officeDocument/2006/relationships" xmlns:p188="http://schemas.microsoft.com/office/powerpoint/2018/8/main">
  <p188:cm id="{76BCCD38-5E65-984B-9182-E739A028A870}" authorId="{485FE2FF-9899-62DA-30A3-A58E7F9AFF31}" created="2026-10-04T09:32:21.613">
    <pc:sldMkLst xmlns:pc="http://schemas.microsoft.com/office/powerpoint/2013/main/command">
      <pc:docMk/>
      <pc:sldMk cId="3472236179" sldId="284"/>
    </pc:sldMkLst>
    <p188:txBody>
      <a:bodyPr/>
      <a:lstStyle/>
      <a:p>
        <a:r>
          <a:rPr lang="ja-JP" altLang="en-US"/>
          <a:t>ここのスライドでは、風速と吸気温度差に関するの追加分析を行なってください。
具体的な分析手法としては、天気と吸気温度差の関係性を示す際に用いた3段グラフと用いて、上段は吸気温度、中段は吸気温度差、下段は風の閾値ごとにブッロクを作成し表示する色を変化させる。色はなんでも良いが、比較的見やすい色の系統を選択し、グラデーション的な色を閾値ごとに設定してください。
19ページでは大まかな風の強さごとの吸気温度差しかわからなかったが、20ページ目では、より具体的な風の強さごとの吸気温度の低下量との関係性を分析したい。
それに適する分析方法を選択し、分析を行い、指示したグラフの作成と結果、考察のまとめまでを行ってください。</a:t>
        </a:r>
      </a:p>
    </p188:txBody>
  </p188:cm>
</p188:cmLst>
</file>

<file path=ppt/comments/modernComment_11D_0.xml><?xml version="1.0" encoding="utf-8"?>
<p188:cmLst xmlns:a="http://schemas.openxmlformats.org/drawingml/2006/main" xmlns:r="http://schemas.openxmlformats.org/officeDocument/2006/relationships" xmlns:p188="http://schemas.microsoft.com/office/powerpoint/2018/8/main">
  <p188:cm id="{195DDE05-F52C-5344-A4F9-7D9AC5A009C0}" authorId="{485FE2FF-9899-62DA-30A3-A58E7F9AFF31}" created="2026-10-04T11:39:35.243">
    <pc:sldMkLst xmlns:pc="http://schemas.microsoft.com/office/powerpoint/2013/main/command">
      <pc:docMk/>
      <pc:sldMk cId="0" sldId="285"/>
    </pc:sldMkLst>
    <p188:txBody>
      <a:bodyPr/>
      <a:lstStyle/>
      <a:p>
        <a:r>
          <a:rPr lang="ja-JP" altLang="en-US"/>
          <a:t>つまり、現段階のデータでは原因の特定はできない？
わんちゃん室外機が回ってない時期でもこの温度差が存在している？
あとは風向きとか？</a:t>
        </a:r>
      </a:p>
    </p188:txBody>
  </p188:cm>
</p188:cmLst>
</file>

<file path=ppt/comments/modernComment_11E_0.xml><?xml version="1.0" encoding="utf-8"?>
<p188:cmLst xmlns:a="http://schemas.openxmlformats.org/drawingml/2006/main" xmlns:r="http://schemas.openxmlformats.org/officeDocument/2006/relationships" xmlns:p188="http://schemas.microsoft.com/office/powerpoint/2018/8/main">
  <p188:cm id="{BBE3A53D-9595-0C45-8681-E0108991C16D}" authorId="{485FE2FF-9899-62DA-30A3-A58E7F9AFF31}" created="2026-10-04T11:45:15.818">
    <pc:sldMkLst xmlns:pc="http://schemas.microsoft.com/office/powerpoint/2013/main/command">
      <pc:docMk/>
      <pc:sldMk cId="0" sldId="286"/>
    </pc:sldMkLst>
    <p188:txBody>
      <a:bodyPr/>
      <a:lstStyle/>
      <a:p>
        <a:r>
          <a:rPr lang="ja-JP" altLang="en-US"/>
          <a:t>結果（仮説）
日射が強い → 中央の列8は周りを芋緑化に囲まれ、通路の風が弱い → 日射で温まった空気や排熱が抜けにくく、葉や吸気の温度が上がる → 晴れた時間に列8の低減効果が消える（特に区画1）。外側の列11は日射が強くても列3より低い。
</a:t>
        </a:r>
      </a:p>
    </p188:txBody>
  </p188:cm>
</p188:cmLst>
</file>

<file path=ppt/comments/modernComment_109_0.xml><?xml version="1.0" encoding="utf-8"?>
<p188:cmLst xmlns:a="http://schemas.openxmlformats.org/drawingml/2006/main" xmlns:r="http://schemas.openxmlformats.org/officeDocument/2006/relationships" xmlns:p188="http://schemas.microsoft.com/office/powerpoint/2018/8/main">
  <p188:cm id="{E736F0FE-4F86-674A-8AF4-0F6A545D0FBE}" authorId="{485FE2FF-9899-62DA-30A3-A58E7F9AFF31}" created="2026-10-04T09:13:24.180">
    <pc:sldMkLst xmlns:pc="http://schemas.microsoft.com/office/powerpoint/2013/main/command">
      <pc:docMk/>
      <pc:sldMk cId="0" sldId="265"/>
    </pc:sldMkLst>
    <p188:txBody>
      <a:bodyPr/>
      <a:lstStyle/>
      <a:p>
        <a:r>
          <a:rPr lang="ja-JP" altLang="en-US"/>
          <a:t>ここの補正が果たして正確な補正であるかが不透明なため、この補正は非表示スライドとする。もし、このスライドで行なっている分析に意義がある場合は、その意義をノート機能にに記入し改善すべき分析内容があれば修正し、スライドを作成てください。</a:t>
        </a:r>
      </a:p>
    </p188:txBody>
  </p188:cm>
</p188:cmLst>
</file>

<file path=ppt/comments/modernComment_111_0.xml><?xml version="1.0" encoding="utf-8"?>
<p188:cmLst xmlns:a="http://schemas.openxmlformats.org/drawingml/2006/main" xmlns:r="http://schemas.openxmlformats.org/officeDocument/2006/relationships" xmlns:p188="http://schemas.microsoft.com/office/powerpoint/2018/8/main">
  <p188:cm id="{88CC08E1-3CBC-E04A-9521-F25025BA108D}" authorId="{485FE2FF-9899-62DA-30A3-A58E7F9AFF31}" created="2026-10-04T09:16:59.602">
    <pc:sldMkLst xmlns:pc="http://schemas.microsoft.com/office/powerpoint/2013/main/command">
      <pc:docMk/>
      <pc:sldMk cId="0" sldId="273"/>
    </pc:sldMkLst>
    <p188:txBody>
      <a:bodyPr/>
      <a:lstStyle/>
      <a:p>
        <a:r>
          <a:rPr lang="ja-JP" altLang="en-US"/>
          <a:t>このスライドの重回帰分析の意図、行った手法、結果、全体から言えることをノート機能に記入してください。
また、経過日数の項目を説明変数にしている意味があまり理解できません。その点についても追加の説明をお願いします。
現状のこの分析に対する個人の印象として、あまり分析に意味がないように感じます。確かに重回帰分析を行えば何かしらの相関が見られることが予測できますが、気温以外の項目に差への影響がはっきりしないとでています。つまり、相関が存在しないのか重回帰分析が適切な分析手法ではないかが考えらます。なぜ、重回帰分析では相関を探せないのかまで分析を深めることができるんどえあれば、この分析に意味を見出せますが、そうでなければこの分析は必要ないような気がします。</a:t>
        </a:r>
      </a:p>
    </p188:txBody>
  </p188:cm>
  <p188:cm id="{A9FCC14B-9C90-FC42-A373-71A0567A81DC}" authorId="{485FE2FF-9899-62DA-30A3-A58E7F9AFF31}" created="2026-10-04T09:38:52.895">
    <pc:sldMkLst xmlns:pc="http://schemas.microsoft.com/office/powerpoint/2013/main/command">
      <pc:docMk/>
      <pc:sldMk cId="0" sldId="273"/>
    </pc:sldMkLst>
    <p188:txBody>
      <a:bodyPr/>
      <a:lstStyle/>
      <a:p>
        <a:r>
          <a:rPr lang="ja-JP" altLang="en-US"/>
          <a:t>代替案として、元々の重回帰分析では、吸気温度差を目的変数、日射量、風速、繁茂率、外気温、天気、などを導入しようと考えていた。これらの説明変数を用いることでより良い重回帰分析を実施可能かを判断し、もし可能であると判断した場合は、用いる説明変数を最適化し、再度重回帰分析を実施し、分析、結果、グラフ作成まで行い、スライトにまとめてください。</a:t>
        </a:r>
      </a:p>
    </p188:txBody>
  </p188:cm>
</p188:cmLst>
</file>

<file path=ppt/comments/modernComment_112_0.xml><?xml version="1.0" encoding="utf-8"?>
<p188:cmLst xmlns:a="http://schemas.openxmlformats.org/drawingml/2006/main" xmlns:r="http://schemas.openxmlformats.org/officeDocument/2006/relationships" xmlns:p188="http://schemas.microsoft.com/office/powerpoint/2018/8/main">
  <p188:cm id="{23B9602B-CD74-B948-A163-AC5F8237B491}" authorId="{485FE2FF-9899-62DA-30A3-A58E7F9AFF31}" created="2026-10-04T11:59:53.448">
    <ac:deMkLst xmlns:ac="http://schemas.microsoft.com/office/drawing/2013/main/command">
      <pc:docMk xmlns:pc="http://schemas.microsoft.com/office/powerpoint/2013/main/command"/>
      <pc:sldMk xmlns:pc="http://schemas.microsoft.com/office/powerpoint/2013/main/command" cId="0" sldId="274"/>
      <ac:graphicFrameMk id="31" creationId="{00000000-0000-0000-0000-000000000000}"/>
    </ac:deMkLst>
    <p188:txBody>
      <a:bodyPr/>
      <a:lstStyle/>
      <a:p>
        <a:r>
          <a:rPr lang="ja-JP" altLang="en-US"/>
          <a:t>どうして、列８烈１１で風の該当する数が違うんですか？</a:t>
        </a:r>
      </a:p>
    </p188:txBody>
  </p188:cm>
</p188:cmLst>
</file>

<file path=ppt/comments/modernComment_113_0.xml><?xml version="1.0" encoding="utf-8"?>
<p188:cmLst xmlns:a="http://schemas.openxmlformats.org/drawingml/2006/main" xmlns:r="http://schemas.openxmlformats.org/officeDocument/2006/relationships" xmlns:p188="http://schemas.microsoft.com/office/powerpoint/2018/8/main">
  <p188:cm id="{3A6C92B2-05A2-8A42-8D90-2A1E96C30412}" authorId="{485FE2FF-9899-62DA-30A3-A58E7F9AFF31}" created="2026-10-04T09:41:42.112">
    <ac:deMkLst xmlns:ac="http://schemas.microsoft.com/office/drawing/2013/main/command">
      <pc:docMk xmlns:pc="http://schemas.microsoft.com/office/powerpoint/2013/main/command"/>
      <pc:sldMk xmlns:pc="http://schemas.microsoft.com/office/powerpoint/2013/main/command" cId="0" sldId="275"/>
      <ac:graphicFrameMk id="26" creationId="{00000000-0000-0000-0000-000000000000}"/>
    </ac:deMkLst>
    <p188:txBody>
      <a:bodyPr/>
      <a:lstStyle/>
      <a:p>
        <a:r>
          <a:rPr lang="ja-JP" altLang="en-US"/>
          <a:t>この分析に感して、6月16日ごろから8月27日にかけて吸気温度差が正の値に推移しています。なぜこの期間において吸気温度差が正の値に推したのか分析を行なってください。
その結果を新たに次のスライドにまとめ、必要であればグラフ、表を活用して分析結果を説明してください。</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34003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sz="1200" dirty="0">
                <a:latin typeface="游ゴシック"/>
                <a:ea typeface="游ゴシック"/>
              </a:rPr>
              <a:t>【このスライドの扱い】補正が正確か確かめられないため、非表示の参考スライドとする。</a:t>
            </a:r>
          </a:p>
          <a:p>
            <a:r>
              <a:rPr lang="ja-JP" altLang="en-US" sz="1200" dirty="0">
                <a:latin typeface="游ゴシック"/>
                <a:ea typeface="游ゴシック"/>
              </a:rPr>
              <a:t>【意義】分析1で「列11は列3より低い」とした結果が、運転時間の違い（列3は休日や夕方20時ごろまで運転、列8・11は7〜8時に始まり17〜18時に止まる）によるものでないかを確かめる。</a:t>
            </a:r>
          </a:p>
          <a:p>
            <a:r>
              <a:rPr lang="ja-JP" altLang="en-US" sz="1200" dirty="0">
                <a:latin typeface="游ゴシック"/>
                <a:ea typeface="游ゴシック"/>
              </a:rPr>
              <a:t>列11は、運転中と判定する基準を0.5・1.0・2.0℃に変えても−0.24〜−0.29℃で低いままだった。したがって列11が低いという結論は、運転時間の違いでは説明できない。この点を確かめたことに意義がある。</a:t>
            </a:r>
          </a:p>
          <a:p>
            <a:r>
              <a:rPr lang="ja-JP" altLang="en-US" sz="1200" dirty="0">
                <a:latin typeface="游ゴシック"/>
                <a:ea typeface="游ゴシック"/>
              </a:rPr>
              <a:t>【v3から変えた点】</a:t>
            </a:r>
          </a:p>
          <a:p>
            <a:r>
              <a:rPr lang="ja-JP" altLang="en-US" sz="1200" dirty="0">
                <a:latin typeface="游ゴシック"/>
                <a:ea typeface="游ゴシック"/>
              </a:rPr>
              <a:t>1. 夜間の差を差し引く補正をやめた。夜間の差には芋緑化の影響（夜間の放射など）も含まれうるうえ、熱電対ごとのずれ（p.7）とも区別できないため。</a:t>
            </a:r>
          </a:p>
          <a:p>
            <a:r>
              <a:rPr lang="ja-JP" altLang="en-US" sz="1200" dirty="0">
                <a:latin typeface="游ゴシック"/>
                <a:ea typeface="游ゴシック"/>
              </a:rPr>
              <a:t>2. 判定の基準を1つに決めず、0.5・1.0・2.0℃で結果が変わるかを示した。列8は基準しだいで−0.02〜＋0.20℃と正負が変わる。</a:t>
            </a:r>
          </a:p>
          <a:p>
            <a:r>
              <a:rPr lang="ja-JP" altLang="en-US" sz="1200" dirty="0">
                <a:latin typeface="游ゴシック"/>
                <a:ea typeface="游ゴシック"/>
              </a:rPr>
              <a:t>3. v3の値（列8 ＋0.10℃）は、今回の再計算（−0.01℃）と一致しなかった。運転判定の細かな違いで値が動くこと自体が、この補正の不確かさを示している。</a:t>
            </a:r>
          </a:p>
          <a:p>
            <a:r>
              <a:rPr lang="ja-JP" altLang="en-US" sz="1200" dirty="0">
                <a:latin typeface="游ゴシック"/>
                <a:ea typeface="游ゴシック"/>
              </a:rPr>
              <a:t>【今後】2026年のエアネットの運転データで運転状態の判定を確かめてから、表示するかを決める。</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sz="1200" dirty="0">
                <a:latin typeface="游ゴシック"/>
                <a:ea typeface="游ゴシック"/>
              </a:rPr>
              <a:t>【目的】8-1・11-1（区画1）で吸気温度差が正になる理由を、風速・日射（天気）・外気温・運転状態に分けて確かめた。繁茂率は保留（算出後に条件として追加する）。</a:t>
            </a:r>
          </a:p>
          <a:p>
            <a:r>
              <a:rPr lang="ja-JP" altLang="en-US" sz="1200" dirty="0">
                <a:latin typeface="游ゴシック"/>
                <a:ea typeface="游ゴシック"/>
              </a:rPr>
              <a:t>【方法】1時間平均の区画1の吸気温度差（3方位平均）を条件ごとに平均した。天気は日ごとの判定（p.17）、風速は屋上の風速の4区分（p.21）。休日の日中と夜間1〜5時（全台停止）は参考。</a:t>
            </a:r>
          </a:p>
          <a:p>
            <a:r>
              <a:rPr lang="ja-JP" altLang="en-US" sz="1200" dirty="0">
                <a:latin typeface="游ゴシック"/>
                <a:ea typeface="游ゴシック"/>
              </a:rPr>
              <a:t>【結果1】8-1は気温・天気・風速のどの条件でも正。暑いほど大きく（28℃未満＋0.23℃→31℃以上＋1.00℃）、晴れで大きい（＋0.93℃）が、曇り・雨でも正（＋0.36・＋0.33℃）。風速区分による違いは小さい。</a:t>
            </a:r>
          </a:p>
          <a:p>
            <a:r>
              <a:rPr lang="ja-JP" altLang="en-US" sz="1200" dirty="0">
                <a:latin typeface="游ゴシック"/>
                <a:ea typeface="游ゴシック"/>
              </a:rPr>
              <a:t>【結果2】夜間（全台停止）は8-1 −0.06℃、11-1 −0.17℃で正ではない。休日の日中（芋緑化側の運転が半分程度）も−0.21・−0.28℃。8-1が止まって3-1だけ運転している時間は−0.39℃、両方運転中は＋0.70℃。正になるのは芋緑化側が運転している時間に限られる。</a:t>
            </a:r>
          </a:p>
          <a:p>
            <a:r>
              <a:rPr lang="ja-JP" altLang="en-US" sz="1200" dirty="0">
                <a:latin typeface="游ゴシック"/>
                <a:ea typeface="游ゴシック"/>
              </a:rPr>
              <a:t>【結果3】各室外機の吸気温度を、その列の3区画平均と比べた（勤務日の日中）。列3では区画1が最も低く（−0.39℃）、列8では区画1が最も高い（＋0.30℃）。夜間はどの区画も0.1℃以内。8-1の＋0.63℃は、3-1が低い分0.39℃と8-1が高い分0.30℃でほぼ説明できる。</a:t>
            </a:r>
          </a:p>
          <a:p>
            <a:r>
              <a:rPr lang="ja-JP" altLang="en-US" sz="1200" dirty="0">
                <a:latin typeface="游ゴシック"/>
                <a:ea typeface="游ゴシック"/>
              </a:rPr>
              <a:t>【言えること】区画1が高いのは運転中にだけ現れる位置の差で、気象は差の大きさを変えるだけ。基準の3-1が列3の中で低いことも半分ほど効いている。</a:t>
            </a:r>
          </a:p>
          <a:p>
            <a:r>
              <a:rPr lang="ja-JP" altLang="en-US" sz="1200" dirty="0">
                <a:latin typeface="游ゴシック"/>
                <a:ea typeface="游ゴシック"/>
              </a:rPr>
              <a:t>【まだ言えないこと】なぜ運転中に区画1が高くなるか。区画1まわりの排気の流れ（自分や隣の室外機の排気の再吸込み）、3-1の周りの風通しの良さなどが候補。配置図と現地での確認、区画1での風速・排気温度の計測が必要。</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sz="1200" dirty="0">
                <a:latin typeface="游ゴシック"/>
                <a:ea typeface="游ゴシック"/>
              </a:rPr>
              <a:t>【目的】列11のほうが列8より吸気温度の低減効果が大きい理由と、その流れを1枚にまとめた。</a:t>
            </a:r>
          </a:p>
          <a:p>
            <a:r>
              <a:rPr lang="ja-JP" altLang="en-US" sz="1200" dirty="0">
                <a:latin typeface="游ゴシック"/>
                <a:ea typeface="游ゴシック"/>
              </a:rPr>
              <a:t>【方法】同じ区画・方位の熱電対どうしで「列8−列11」を1時間ごとに計算（区画3は列11の北側が未接続のため、列8も北側を除いて比べた）。区画ごと、屋上の照度ごとに箱ひげ図にした。照度は日射量の代わり（8/29以降の日射量との相関0.99）。</a:t>
            </a:r>
          </a:p>
          <a:p>
            <a:r>
              <a:rPr lang="ja-JP" altLang="en-US" sz="1200" dirty="0">
                <a:latin typeface="游ゴシック"/>
                <a:ea typeface="游ゴシック"/>
              </a:rPr>
              <a:t>【結果】差は平均0.20℃（95％区間0.09〜0.30）。区画1 0.50℃、区画2 0.20℃、区画3 0.12℃。方位をそろえた全体の差に対して区画1が約64％を占める。</a:t>
            </a:r>
          </a:p>
          <a:p>
            <a:r>
              <a:rPr lang="ja-JP" altLang="en-US" sz="1200" dirty="0">
                <a:latin typeface="游ゴシック"/>
                <a:ea typeface="游ゴシック"/>
              </a:rPr>
              <a:t>照度ごとの差（平均）は、2万lx未満0.06、2〜4万0.21、4〜6万0.25、6〜8万0.28、8万lx以上0.48℃。</a:t>
            </a:r>
          </a:p>
          <a:p>
            <a:r>
              <a:rPr lang="ja-JP" altLang="en-US" sz="1200" dirty="0">
                <a:latin typeface="游ゴシック"/>
                <a:ea typeface="游ゴシック"/>
              </a:rPr>
              <a:t>回帰（差＝照度＋気温＋屋上風速＋雨、274時間）：照度1万lxあたり＋0.031℃（区間0.020〜0.042）、気温1℃あたり＋0.023℃。風速と雨は区間が0℃を含む。通路の風速（列3側）で入れ替えても同じ。</a:t>
            </a:r>
          </a:p>
          <a:p>
            <a:r>
              <a:rPr lang="ja-JP" altLang="en-US" sz="1200" dirty="0">
                <a:latin typeface="游ゴシック"/>
                <a:ea typeface="游ゴシック"/>
              </a:rPr>
              <a:t>通路内の風速は、列3側1.25m/sに対して列8側0.78m/s（約63％、勤務日の日中189時間）。下層の葉の温度−気温は列8 ＋0.92℃、列11 ＋0.51℃で、列8−列11の差は照度が高いほど大きい（0.25→0.49→0.69℃）。</a:t>
            </a:r>
          </a:p>
          <a:p>
            <a:r>
              <a:rPr lang="ja-JP" altLang="en-US" sz="1200" dirty="0">
                <a:latin typeface="游ゴシック"/>
                <a:ea typeface="游ゴシック"/>
              </a:rPr>
              <a:t>【考えられる流れ】日射が強い → 中央の列8は周りを芋緑化に囲まれ、通路の風が弱い → 日射で温まった空気や排熱が抜けにくく、葉や吸気の温度が上がる → 晴れた時間に列8の低減効果が消える（特に区画1）。外側の列11は日射が強くても列3より低い。</a:t>
            </a:r>
          </a:p>
          <a:p>
            <a:r>
              <a:rPr lang="ja-JP" altLang="en-US" sz="1200" dirty="0">
                <a:latin typeface="游ゴシック"/>
                <a:ea typeface="游ゴシック"/>
              </a:rPr>
              <a:t>【注意】列11には風速計がない。列8の風が弱いのが芋緑化のためか場所のためかは区別できない。仮説の確認には列11の風速と、区画1まわりの排気の流れの計測が必要。</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sz="1200" dirty="0">
                <a:latin typeface="游ゴシック"/>
                <a:ea typeface="游ゴシック"/>
              </a:rPr>
              <a:t>【この分析の意図】気温・天気・日射・風速は互いに連動して動く（晴れた日は暑く、日射も強い）。1つずつの区分比較（p.17〜19・p.21）では、どの条件が効いているのかを分けられない。そこで重回帰で、条件を同時に入れて1つずつの影響を分けて求める。</a:t>
            </a:r>
          </a:p>
          <a:p>
            <a:r>
              <a:rPr lang="ja-JP" altLang="en-US" sz="1200" dirty="0">
                <a:latin typeface="游ゴシック"/>
                <a:ea typeface="游ゴシック"/>
              </a:rPr>
              <a:t>【v3の手法】日単位（勤務日31日間）で、吸気温度差＝a＋b1×気温＋b2×照度比＋b3×風速＋b4×経過日数とした。</a:t>
            </a:r>
          </a:p>
          <a:p>
            <a:r>
              <a:rPr lang="ja-JP" altLang="en-US" sz="1200" dirty="0">
                <a:latin typeface="游ゴシック"/>
                <a:ea typeface="游ゴシック"/>
              </a:rPr>
              <a:t>【経過日数を入れた理由】繁茂率がまだないため、葉の成長や季節の移り変わりをまとめて表す代わりの項目として入れた。ただし経過日数は気温と-0.48、照度比と-0.52の相関があり、「9月に気温が下がった影響」と区別できない。このため今回の式からは外し、繁茂率が算出できたら繁茂率で入れ直す。</a:t>
            </a:r>
          </a:p>
          <a:p>
            <a:r>
              <a:rPr lang="ja-JP" altLang="en-US" sz="1200" dirty="0">
                <a:latin typeface="游ゴシック"/>
                <a:ea typeface="游ゴシック"/>
              </a:rPr>
              <a:t>【日単位の回帰で気温以外の影響が見つからなかった理由】</a:t>
            </a:r>
          </a:p>
          <a:p>
            <a:r>
              <a:rPr lang="ja-JP" altLang="en-US" sz="1200" dirty="0">
                <a:latin typeface="游ゴシック"/>
                <a:ea typeface="游ゴシック"/>
              </a:rPr>
              <a:t>1. データ数が少ない：31日間に対して説明変数が4つあり、係数の区間が広くなる。</a:t>
            </a:r>
          </a:p>
          <a:p>
            <a:r>
              <a:rPr lang="ja-JP" altLang="en-US" sz="1200" dirty="0">
                <a:latin typeface="游ゴシック"/>
                <a:ea typeface="游ゴシック"/>
              </a:rPr>
              <a:t>2. 説明変数どうしが重なっている：日単位では気温と照度比の相関が0.82と高く、どちらの影響かを分けられない。</a:t>
            </a:r>
          </a:p>
          <a:p>
            <a:r>
              <a:rPr lang="ja-JP" altLang="en-US" sz="1200" dirty="0">
                <a:latin typeface="游ゴシック"/>
                <a:ea typeface="游ゴシック"/>
              </a:rPr>
              <a:t>3. 日平均で時間ごとの違いが消える：日射の強い時間と弱い時間の違いが、1日の平均では見えなくなる。</a:t>
            </a:r>
          </a:p>
          <a:p>
            <a:r>
              <a:rPr lang="ja-JP" altLang="en-US" sz="1200" dirty="0">
                <a:latin typeface="游ゴシック"/>
                <a:ea typeface="游ゴシック"/>
              </a:rPr>
              <a:t>【やり直した方法】1時間値（勤務日の日中、274時間・31日間）にした。1時間値では気温と照度の相関は0.50まで下がる。候補は気温・雨・照度・屋上の風速の4つで、全15通りの組み合わせを「日を8つに分け、学習に使わない日で当てはまりを確かめる」方法（検証R²）で比べた。照度は日射量と相関0.99のため日射の代わりに使った（日射量は8/29以降しかない）。天気は「雨（1時間に0.5mm以上）」として入れた（晴れ・曇りは照度で表される）。繁茂率は保留。</a:t>
            </a:r>
          </a:p>
          <a:p>
            <a:r>
              <a:rPr lang="ja-JP" altLang="en-US" sz="1200" dirty="0">
                <a:latin typeface="游ゴシック"/>
                <a:ea typeface="游ゴシック"/>
              </a:rPr>
              <a:t>【結果】最も当てはまるのは「気温＋雨」（検証R² 列8 0.35、列11 0.18）。照度や風速を加えると下がる。気温1℃あたり列8 ＋0.07℃、列11 ＋0.03℃。雨の時間は列8 −0.31℃、列11 −0.27℃（列8は区間が0℃を含む）。</a:t>
            </a:r>
          </a:p>
          <a:p>
            <a:r>
              <a:rPr lang="ja-JP" altLang="en-US" sz="1200" dirty="0">
                <a:latin typeface="游ゴシック"/>
                <a:ea typeface="游ゴシック"/>
              </a:rPr>
              <a:t>【全体から言えること】気象で説明できるのは列8で約35％、列11で約18％まで。重回帰で気温以外の影響が見つかりにくいのは、手法の問題だけではない。照度・風速の影響がもともと小さいうえ、吸気温度差の大部分が区画1の位置の差や運転時間のずれなど気象以外の違いで決まっているためである（p.14・p.16）。</a:t>
            </a:r>
          </a:p>
          <a:p>
            <a:r>
              <a:rPr lang="ja-JP" altLang="en-US" sz="1200" dirty="0">
                <a:latin typeface="游ゴシック"/>
                <a:ea typeface="游ゴシック"/>
              </a:rPr>
              <a:t>【扱い】主張の根拠ではなく、「気象で説明できる範囲は限られる」ことを示す補足として残す。繁茂率が算出できたら説明変数に加えて再計算する。</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sz="1200" dirty="0">
                <a:latin typeface="游ゴシック"/>
                <a:ea typeface="游ゴシック"/>
              </a:rPr>
              <a:t>【変更点】風速の区分を、極弱風1.0以下、弱風1.0超〜2.7、中風2.7超〜4.1、強風4.1超［m/s］に変えた。分析の手法（1時間値の箱ひげ図）は変えていない。</a:t>
            </a:r>
          </a:p>
          <a:p>
            <a:r>
              <a:rPr lang="ja-JP" altLang="en-US" sz="1200" dirty="0">
                <a:latin typeface="游ゴシック"/>
                <a:ea typeface="游ゴシック"/>
              </a:rPr>
              <a:t>【使った風速】風速は通路内の2か所（列3側・列8側）で計測している。ほかに屋上のマルチ環境計測計にも風速がある。</a:t>
            </a:r>
          </a:p>
          <a:p>
            <a:r>
              <a:rPr lang="ja-JP" altLang="en-US" sz="1200" dirty="0">
                <a:latin typeface="游ゴシック"/>
                <a:ea typeface="游ゴシック"/>
              </a:rPr>
              <a:t>通路内の風速は1時間平均で列3側が最大2.54m/s、列8側が最大1.52m/sで、この閾値では極弱風・弱風にしか入らない（列3側：極弱風54時間・弱風137時間）。4区分の比較が成り立つのは屋上の風速だけのため、v3と同じく屋上の風速で区分した。通路内の風速はp.23（細かい刻み）とp.16（列8で風が弱まっているか）で使った。</a:t>
            </a:r>
          </a:p>
          <a:p>
            <a:r>
              <a:rPr lang="ja-JP" altLang="en-US" sz="1200" dirty="0">
                <a:latin typeface="游ゴシック"/>
                <a:ea typeface="游ゴシック"/>
              </a:rPr>
              <a:t>【結果】時間数は極弱風50、弱風161、中風60、強風3時間（列8）。強風は3時間のみ。</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sz="1200" dirty="0">
                <a:latin typeface="游ゴシック"/>
                <a:ea typeface="游ゴシック"/>
              </a:rPr>
              <a:t>【方法】天気の3段グラフ（p.17）と同じ形式。下段は、その日の日中（9〜18時）平均の屋上風速を4区分で色分けした（濃いほど強い）。細い灰色の帯は休日。</a:t>
            </a:r>
          </a:p>
          <a:p>
            <a:r>
              <a:rPr lang="ja-JP" altLang="en-US" sz="1200" dirty="0">
                <a:latin typeface="游ゴシック"/>
                <a:ea typeface="游ゴシック"/>
              </a:rPr>
              <a:t>【結果】勤務日は極弱風3日間、弱風22日間、中風6日間、強風0日間。極弱風の日は涼しい曇りの日（平均26.3℃、照度比0.37）、中風の日は暑い晴れの日（31.6℃、照度比0.84）に偏る。</a:t>
            </a:r>
          </a:p>
          <a:p>
            <a:r>
              <a:rPr lang="ja-JP" altLang="en-US" sz="1200" dirty="0">
                <a:latin typeface="游ゴシック"/>
                <a:ea typeface="游ゴシック"/>
              </a:rPr>
              <a:t>【言えること】日単位では風速と気温・天気が重なっているため、風だけの影響は分けられない。風速を細かく区切り、気温と雨をそろえた比較はp.23。</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sz="1200" dirty="0">
                <a:latin typeface="游ゴシック"/>
                <a:ea typeface="游ゴシック"/>
              </a:rPr>
              <a:t>【目的】p.21の4区分では大まかな傾向しかわからないため、風速を細かく区切って、風の強さごとの吸気温度の低下量を調べた。</a:t>
            </a:r>
          </a:p>
          <a:p>
            <a:r>
              <a:rPr lang="ja-JP" altLang="en-US" sz="1200" dirty="0">
                <a:latin typeface="游ゴシック"/>
                <a:ea typeface="游ゴシック"/>
              </a:rPr>
              <a:t>【方法】勤務日の日中の1時間値。上段は屋上の風速（1.0以下、以降0.5〜0.7m/s刻みで4.1まで）、下段は通路内・列3側の風速（0.25m/s刻み、8/14以降）。</a:t>
            </a:r>
          </a:p>
          <a:p>
            <a:r>
              <a:rPr lang="ja-JP" altLang="en-US" sz="1200" dirty="0">
                <a:latin typeface="游ゴシック"/>
                <a:ea typeface="游ゴシック"/>
              </a:rPr>
              <a:t>「気温と雨をそろえた値」は次の式で求めた：吸気温度差＝（風速区分ごとの値）＋b1×（気温−期間平均）＋b2×（雨−期間平均）。区分ごとの値は、気温と雨が期間の平均的な時間での吸気温度差を表す。入力：1時間ごとの吸気温度差・風速区分・気温・雨、学習：区分ごとの値とb1・b2、出力：区分ごとの値。</a:t>
            </a:r>
          </a:p>
          <a:p>
            <a:r>
              <a:rPr lang="ja-JP" altLang="en-US" sz="1200" dirty="0">
                <a:latin typeface="游ゴシック"/>
                <a:ea typeface="游ゴシック"/>
              </a:rPr>
              <a:t>【結果】屋上の風速では、そのままの値も、そろえた値も区分による違いは0.2℃程度で、一定の傾きはない。風速1m/sあたり（気温・雨をそろえた値）：列8 −0.037℃（区間-0.105〜0.030）、列11 −0.066℃（-0.137〜0.004）。</a:t>
            </a:r>
          </a:p>
          <a:p>
            <a:r>
              <a:rPr lang="ja-JP" altLang="en-US" sz="1200" dirty="0">
                <a:latin typeface="游ゴシック"/>
                <a:ea typeface="游ゴシック"/>
              </a:rPr>
              <a:t>通路内（列3側）では、そのままだと風が弱いほど大きく低い（0.75m/s以下で列8 −0.49℃、1.5〜1.75m/sで＋0.18℃）。しかし気温と雨をそろえると−0.08〜−0.09℃でほぼ一定になる。風の弱い時間が、涼しい時間や雨の時間と重なっていたためである。</a:t>
            </a:r>
          </a:p>
          <a:p>
            <a:r>
              <a:rPr lang="ja-JP" altLang="en-US" sz="1200" dirty="0">
                <a:latin typeface="游ゴシック"/>
                <a:ea typeface="游ゴシック"/>
              </a:rPr>
              <a:t>【言えること】この期間の風速の範囲では、風速そのものが吸気温度差を大きく変える様子は見られない。</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sz="1200" dirty="0">
                <a:latin typeface="游ゴシック"/>
                <a:ea typeface="游ゴシック"/>
              </a:rPr>
              <a:t>【対象期間】コメントの「6月16日ごろから8月27日」は、データが7/30からのため「8月16日ごろから8月27日」と読み替えた。8/16は日曜のため、勤務日は8/17〜8/27の9日間。</a:t>
            </a:r>
          </a:p>
          <a:p>
            <a:r>
              <a:rPr lang="ja-JP" altLang="en-US" sz="1200" dirty="0">
                <a:latin typeface="游ゴシック"/>
                <a:ea typeface="游ゴシック"/>
              </a:rPr>
              <a:t>【結果】期間内は9日間中8日間が晴れで、日中平均気温31.6℃（期間外28.4℃）。列8の正の日はすべて晴れで31℃以上の日、晴れでない8/27（雨）は−0.28℃。</a:t>
            </a:r>
          </a:p>
          <a:p>
            <a:r>
              <a:rPr lang="ja-JP" altLang="en-US" sz="1200" dirty="0">
                <a:latin typeface="游ゴシック"/>
                <a:ea typeface="游ゴシック"/>
              </a:rPr>
              <a:t>晴れ・31℃以上の日だけで比べると、期間内＋0.28℃（7日間）、期間外＋0.24℃（4日間：7/30・7/31・8/7・8/28）でほぼ同じ。</a:t>
            </a:r>
          </a:p>
          <a:p>
            <a:r>
              <a:rPr lang="ja-JP" altLang="en-US" sz="1200" dirty="0">
                <a:latin typeface="游ゴシック"/>
                <a:ea typeface="游ゴシック"/>
              </a:rPr>
              <a:t>期間外の日で「列8＝a＋b×気温＋c×照度比」を求め、期間内の気象を入れると＋0.09℃（実測＋0.17℃）。列11は推定−0.20℃、実測−0.14℃。</a:t>
            </a:r>
          </a:p>
          <a:p>
            <a:r>
              <a:rPr lang="ja-JP" altLang="en-US" sz="1200" dirty="0">
                <a:latin typeface="游ゴシック"/>
                <a:ea typeface="游ゴシック"/>
              </a:rPr>
              <a:t>【言えること】期間内に列8が正になったのは、主に晴れて暑い日が続いたため（p.16の「日射が強いほど列8が高くなる」と同じ）。期間特有の変化（茂り方など）があるかは、残る差が小さく判断できない。繁茂率の算出後に確かめる。</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sz="1200" dirty="0">
                <a:latin typeface="游ゴシック"/>
                <a:ea typeface="游ゴシック"/>
              </a:rPr>
              <a:t>【方法】コメントに合わせ、「遮られた日射量＝日向−緑陰内」に変えず、日射量をそのまま示した。下段は日向と緑陰内の日中平均（9〜18時）を2本の棒、上段は同じ日の吸気温度差。p.17と同じく横軸の日付をそろえた。</a:t>
            </a:r>
          </a:p>
          <a:p>
            <a:r>
              <a:rPr lang="ja-JP" altLang="en-US" sz="1200" dirty="0">
                <a:latin typeface="游ゴシック"/>
                <a:ea typeface="游ゴシック"/>
              </a:rPr>
              <a:t>【データ】日射計は8/28以前を欠損扱い（乱れた値のため）。夜間の負の値（ゼロ点のずれ）は日中平均にはほぼ影響しない。</a:t>
            </a:r>
          </a:p>
          <a:p>
            <a:r>
              <a:rPr lang="ja-JP" altLang="en-US" sz="1200" dirty="0">
                <a:latin typeface="游ゴシック"/>
                <a:ea typeface="游ゴシック"/>
              </a:rPr>
              <a:t>【結果】遮る割合（1−緑陰内÷日向）は日ごとに73〜94％。日向の日射量と吸気温度差の相関は列8 ＋0.59、列11 ＋0.44（17日間）。</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sz="1200" dirty="0">
                <a:latin typeface="游ゴシック"/>
                <a:ea typeface="游ゴシック"/>
              </a:rPr>
              <a:t>【方法】遮る割合＝1−緑陰内の日射量÷日向の日射量。日向の日射量100W/㎡以上の時間（夜間・早朝のゼロ点のずれの影響を避けるため）。</a:t>
            </a:r>
          </a:p>
          <a:p>
            <a:r>
              <a:rPr lang="ja-JP" altLang="en-US" sz="1200" dirty="0">
                <a:latin typeface="游ゴシック"/>
                <a:ea typeface="游ゴシック"/>
              </a:rPr>
              <a:t>【結果】相関は列8 ＋0.27、列11 ＋0.03。日射の強さもあわせた回帰（吸気温度差＝a＋b1×遮る割合＋b2×日向の日射量）では、遮る割合1％あたり列8 ＋0.014℃（区間-0.017〜0.044）、列11 −0.004℃（-0.041〜0.033）で、どちらも区間が0℃を含む。</a:t>
            </a:r>
          </a:p>
          <a:p>
            <a:r>
              <a:rPr lang="ja-JP" altLang="en-US" sz="1200" dirty="0">
                <a:latin typeface="游ゴシック"/>
                <a:ea typeface="游ゴシック"/>
              </a:rPr>
              <a:t>【言えること】この期間（9月、曇り・雨が多い）では、遮る割合はほぼ一定で、遮る割合の違いと吸気温度差の関係は見られない。晴れの多い時期のデータと繁茂率がそろったら再確認する。</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22354F"/>
          </a:solidFill>
          <a:ln/>
        </p:spPr>
      </p:sp>
      <p:sp>
        <p:nvSpPr>
          <p:cNvPr id="3" name="Shape 1"/>
          <p:cNvSpPr/>
          <p:nvPr/>
        </p:nvSpPr>
        <p:spPr>
          <a:xfrm>
            <a:off x="0" y="566928"/>
            <a:ext cx="73152" cy="4576572"/>
          </a:xfrm>
          <a:prstGeom prst="rect">
            <a:avLst/>
          </a:prstGeom>
          <a:solidFill>
            <a:srgbClr val="01B8AA"/>
          </a:solidFill>
          <a:ln/>
        </p:spPr>
      </p:sp>
      <p:sp>
        <p:nvSpPr>
          <p:cNvPr id="4" name="Text 2"/>
          <p:cNvSpPr/>
          <p:nvPr/>
        </p:nvSpPr>
        <p:spPr>
          <a:xfrm>
            <a:off x="365760" y="4846320"/>
            <a:ext cx="5486400" cy="228600"/>
          </a:xfrm>
          <a:prstGeom prst="rect">
            <a:avLst/>
          </a:prstGeom>
          <a:noFill/>
          <a:ln/>
        </p:spPr>
        <p:txBody>
          <a:bodyPr wrap="square" lIns="0" tIns="0" rIns="0" bIns="0" rtlCol="0" anchor="ctr"/>
          <a:lstStyle/>
          <a:p>
            <a:pPr marL="0" indent="0">
              <a:buNone/>
            </a:pPr>
            <a:r>
              <a:rPr lang="en-US" sz="900" dirty="0">
                <a:solidFill>
                  <a:srgbClr val="5E6B7A"/>
                </a:solidFill>
                <a:latin typeface="游ゴシック" pitchFamily="34" charset="0"/>
                <a:ea typeface="游ゴシック" pitchFamily="34" charset="-122"/>
                <a:cs typeface="游ゴシック" pitchFamily="34" charset="-120"/>
              </a:rPr>
              <a:t>屋上芋緑化｜2026年実測｜分析結果（暫定）</a:t>
            </a:r>
            <a:endParaRPr lang="en-US" sz="900" dirty="0"/>
          </a:p>
        </p:txBody>
      </p:sp>
      <p:sp>
        <p:nvSpPr>
          <p:cNvPr id="5" name="Text 3"/>
          <p:cNvSpPr>
            <a:spLocks noGrp="1"/>
          </p:cNvSpPr>
          <p:nvPr>
            <p:ph type="title" idx="103" hasCustomPrompt="1"/>
          </p:nvPr>
        </p:nvSpPr>
        <p:spPr>
          <a:xfrm>
            <a:off x="365760" y="73152"/>
            <a:ext cx="7223760" cy="420624"/>
          </a:xfrm>
          <a:prstGeom prst="rect">
            <a:avLst/>
          </a:prstGeom>
          <a:noFill/>
          <a:ln/>
        </p:spPr>
        <p:txBody>
          <a:bodyPr wrap="square" rtlCol="0"/>
          <a:lstStyle>
            <a:lvl1pPr marL="0" indent="0" algn="l">
              <a:buNone/>
              <a:defRPr lang="en-US" sz="2000" b="1" dirty="0">
                <a:solidFill>
                  <a:srgbClr val="FFFFFF"/>
                </a:solidFill>
                <a:latin typeface="游ゴシック" pitchFamily="34" charset="0"/>
                <a:ea typeface="游ゴシック" pitchFamily="34" charset="-122"/>
                <a:cs typeface="游ゴシック" pitchFamily="34" charset="-120"/>
              </a:defRPr>
            </a:lvl1pPr>
          </a:lstStyle>
          <a:p>
            <a:pPr marL="0" indent="0" algn="l">
              <a:buNone/>
            </a:pPr>
            <a:endParaRPr lang="en-US" sz="20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22354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109_0.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chart" Target="../charts/chart6.xml"/></Relationships>
</file>

<file path=ppt/slides/_rels/slide11.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chart" Target="../charts/chart8.xml"/></Relationships>
</file>

<file path=ppt/slides/_rels/slide12.xml.rels><?xml version="1.0" encoding="UTF-8" standalone="yes"?>
<Relationships xmlns="http://schemas.openxmlformats.org/package/2006/relationships"><Relationship Id="rId8" Type="http://schemas.openxmlformats.org/officeDocument/2006/relationships/chart" Target="../charts/chart14.xml"/><Relationship Id="rId3" Type="http://schemas.openxmlformats.org/officeDocument/2006/relationships/chart" Target="../charts/chart9.xml"/><Relationship Id="rId7" Type="http://schemas.openxmlformats.org/officeDocument/2006/relationships/chart" Target="../charts/chart13.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chart" Target="../charts/chart12.xml"/><Relationship Id="rId5" Type="http://schemas.openxmlformats.org/officeDocument/2006/relationships/chart" Target="../charts/chart11.xml"/><Relationship Id="rId4" Type="http://schemas.openxmlformats.org/officeDocument/2006/relationships/chart" Target="../charts/chart10.xml"/></Relationships>
</file>

<file path=ppt/slides/_rels/slide13.xml.rels><?xml version="1.0" encoding="UTF-8" standalone="yes"?>
<Relationships xmlns="http://schemas.openxmlformats.org/package/2006/relationships"><Relationship Id="rId8" Type="http://schemas.openxmlformats.org/officeDocument/2006/relationships/chart" Target="../charts/chart19.xml"/><Relationship Id="rId3" Type="http://schemas.microsoft.com/office/2018/10/relationships/comments" Target="../comments/modernComment_10C_0.xml"/><Relationship Id="rId7" Type="http://schemas.openxmlformats.org/officeDocument/2006/relationships/chart" Target="../charts/chart18.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chart" Target="../charts/chart17.xml"/><Relationship Id="rId5" Type="http://schemas.openxmlformats.org/officeDocument/2006/relationships/chart" Target="../charts/chart16.xml"/><Relationship Id="rId4" Type="http://schemas.openxmlformats.org/officeDocument/2006/relationships/chart" Target="../charts/chart15.xml"/><Relationship Id="rId9" Type="http://schemas.openxmlformats.org/officeDocument/2006/relationships/chart" Target="../charts/chart20.xml"/></Relationships>
</file>

<file path=ppt/slides/_rels/slide14.xml.rels><?xml version="1.0" encoding="UTF-8" standalone="yes"?>
<Relationships xmlns="http://schemas.openxmlformats.org/package/2006/relationships"><Relationship Id="rId3" Type="http://schemas.microsoft.com/office/2018/10/relationships/comments" Target="../comments/modernComment_11D_0.xm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chart" Target="../charts/chart21.xml"/></Relationships>
</file>

<file path=ppt/slides/_rels/slide15.xml.rels><?xml version="1.0" encoding="UTF-8" standalone="yes"?>
<Relationships xmlns="http://schemas.openxmlformats.org/package/2006/relationships"><Relationship Id="rId3" Type="http://schemas.openxmlformats.org/officeDocument/2006/relationships/chart" Target="../charts/chart22.xm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chart" Target="../charts/chart23.xml"/></Relationships>
</file>

<file path=ppt/slides/_rels/slide16.xml.rels><?xml version="1.0" encoding="UTF-8" standalone="yes"?>
<Relationships xmlns="http://schemas.openxmlformats.org/package/2006/relationships"><Relationship Id="rId3" Type="http://schemas.microsoft.com/office/2018/10/relationships/comments" Target="../comments/modernComment_11E_0.xml"/><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chart" Target="../charts/chart25.xml"/><Relationship Id="rId4" Type="http://schemas.openxmlformats.org/officeDocument/2006/relationships/chart" Target="../charts/chart24.xml"/></Relationships>
</file>

<file path=ppt/slides/_rels/slide17.xml.rels><?xml version="1.0" encoding="UTF-8" standalone="yes"?>
<Relationships xmlns="http://schemas.openxmlformats.org/package/2006/relationships"><Relationship Id="rId3" Type="http://schemas.openxmlformats.org/officeDocument/2006/relationships/chart" Target="../charts/chart26.xml"/><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chart" Target="../charts/chart28.xml"/><Relationship Id="rId4" Type="http://schemas.openxmlformats.org/officeDocument/2006/relationships/chart" Target="../charts/chart27.xml"/></Relationships>
</file>

<file path=ppt/slides/_rels/slide18.xml.rels><?xml version="1.0" encoding="UTF-8" standalone="yes"?>
<Relationships xmlns="http://schemas.openxmlformats.org/package/2006/relationships"><Relationship Id="rId3" Type="http://schemas.openxmlformats.org/officeDocument/2006/relationships/chart" Target="../charts/chart29.xm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chart" Target="../charts/chart30.xml"/></Relationships>
</file>

<file path=ppt/slides/_rels/slide19.xml.rels><?xml version="1.0" encoding="UTF-8" standalone="yes"?>
<Relationships xmlns="http://schemas.openxmlformats.org/package/2006/relationships"><Relationship Id="rId3" Type="http://schemas.openxmlformats.org/officeDocument/2006/relationships/chart" Target="../charts/chart31.xm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chart" Target="../charts/chart32.xml"/></Relationships>
</file>

<file path=ppt/slides/_rels/slide20.xml.rels><?xml version="1.0" encoding="UTF-8" standalone="yes"?>
<Relationships xmlns="http://schemas.openxmlformats.org/package/2006/relationships"><Relationship Id="rId3" Type="http://schemas.microsoft.com/office/2018/10/relationships/comments" Target="../comments/modernComment_111_0.xm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chart" Target="../charts/chart33.xml"/></Relationships>
</file>

<file path=ppt/slides/_rels/slide21.xml.rels><?xml version="1.0" encoding="UTF-8" standalone="yes"?>
<Relationships xmlns="http://schemas.openxmlformats.org/package/2006/relationships"><Relationship Id="rId3" Type="http://schemas.microsoft.com/office/2018/10/relationships/comments" Target="../comments/modernComment_112_0.xml"/><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chart" Target="../charts/chart35.xml"/><Relationship Id="rId4" Type="http://schemas.openxmlformats.org/officeDocument/2006/relationships/chart" Target="../charts/chart34.xml"/></Relationships>
</file>

<file path=ppt/slides/_rels/slide22.xml.rels><?xml version="1.0" encoding="UTF-8" standalone="yes"?>
<Relationships xmlns="http://schemas.openxmlformats.org/package/2006/relationships"><Relationship Id="rId3" Type="http://schemas.microsoft.com/office/2018/10/relationships/comments" Target="../comments/modernComment_11C_0.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chart" Target="../charts/chart38.xml"/><Relationship Id="rId5" Type="http://schemas.openxmlformats.org/officeDocument/2006/relationships/chart" Target="../charts/chart37.xml"/><Relationship Id="rId4" Type="http://schemas.openxmlformats.org/officeDocument/2006/relationships/chart" Target="../charts/chart36.xml"/></Relationships>
</file>

<file path=ppt/slides/_rels/slide23.xml.rels><?xml version="1.0" encoding="UTF-8" standalone="yes"?>
<Relationships xmlns="http://schemas.openxmlformats.org/package/2006/relationships"><Relationship Id="rId3" Type="http://schemas.openxmlformats.org/officeDocument/2006/relationships/chart" Target="../charts/chart39.xml"/><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chart" Target="../charts/chart40.xml"/></Relationships>
</file>

<file path=ppt/slides/_rels/slide24.xml.rels><?xml version="1.0" encoding="UTF-8" standalone="yes"?>
<Relationships xmlns="http://schemas.openxmlformats.org/package/2006/relationships"><Relationship Id="rId3" Type="http://schemas.microsoft.com/office/2018/10/relationships/comments" Target="../comments/modernComment_113_0.xm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chart" Target="../charts/chart41.xml"/></Relationships>
</file>

<file path=ppt/slides/_rels/slide25.xml.rels><?xml version="1.0" encoding="UTF-8" standalone="yes"?>
<Relationships xmlns="http://schemas.openxmlformats.org/package/2006/relationships"><Relationship Id="rId3" Type="http://schemas.openxmlformats.org/officeDocument/2006/relationships/chart" Target="../charts/chart42.xm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chart" Target="../charts/chart43.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chart" Target="../charts/chart46.xml"/><Relationship Id="rId5" Type="http://schemas.openxmlformats.org/officeDocument/2006/relationships/chart" Target="../charts/chart45.xml"/><Relationship Id="rId4" Type="http://schemas.openxmlformats.org/officeDocument/2006/relationships/chart" Target="../charts/chart44.xml"/></Relationships>
</file>

<file path=ppt/slides/_rels/slide28.xml.rels><?xml version="1.0" encoding="UTF-8" standalone="yes"?>
<Relationships xmlns="http://schemas.openxmlformats.org/package/2006/relationships"><Relationship Id="rId3" Type="http://schemas.openxmlformats.org/officeDocument/2006/relationships/chart" Target="../charts/chart47.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chart" Target="../charts/chart50.xml"/><Relationship Id="rId5" Type="http://schemas.openxmlformats.org/officeDocument/2006/relationships/chart" Target="../charts/chart49.xml"/><Relationship Id="rId4" Type="http://schemas.openxmlformats.org/officeDocument/2006/relationships/chart" Target="../charts/chart48.xml"/></Relationships>
</file>

<file path=ppt/slides/_rels/slide29.xml.rels><?xml version="1.0" encoding="UTF-8" standalone="yes"?>
<Relationships xmlns="http://schemas.openxmlformats.org/package/2006/relationships"><Relationship Id="rId3" Type="http://schemas.openxmlformats.org/officeDocument/2006/relationships/chart" Target="../charts/chart51.xml"/><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chart" Target="../charts/chart5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chart" Target="../charts/chart53.xml"/><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chart" Target="../charts/chart54.xml"/></Relationships>
</file>

<file path=ppt/slides/_rels/slide34.xml.rels><?xml version="1.0" encoding="UTF-8" standalone="yes"?>
<Relationships xmlns="http://schemas.openxmlformats.org/package/2006/relationships"><Relationship Id="rId3" Type="http://schemas.microsoft.com/office/2018/10/relationships/comments" Target="../comments/modernComment_11B_0.xml"/><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chart" Target="../charts/chart56.xml"/><Relationship Id="rId4" Type="http://schemas.openxmlformats.org/officeDocument/2006/relationships/chart" Target="../charts/chart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1371600"/>
            <a:ext cx="91440" cy="1554480"/>
          </a:xfrm>
          <a:prstGeom prst="rect">
            <a:avLst/>
          </a:prstGeom>
          <a:solidFill>
            <a:srgbClr val="01B8AA"/>
          </a:solidFill>
          <a:ln w="12700">
            <a:solidFill>
              <a:srgbClr val="01B8AA"/>
            </a:solidFill>
            <a:prstDash val="solid"/>
          </a:ln>
        </p:spPr>
        <p:txBody>
          <a:bodyPr/>
          <a:lstStyle/>
          <a:p>
            <a:endParaRPr lang="ja-JP" altLang="en-US"/>
          </a:p>
        </p:txBody>
      </p:sp>
      <p:sp>
        <p:nvSpPr>
          <p:cNvPr id="3" name="Text 1"/>
          <p:cNvSpPr txBox="1"/>
          <p:nvPr/>
        </p:nvSpPr>
        <p:spPr>
          <a:xfrm>
            <a:off x="822960" y="1325880"/>
            <a:ext cx="7772400" cy="640080"/>
          </a:xfrm>
          <a:prstGeom prst="rect">
            <a:avLst/>
          </a:prstGeom>
          <a:noFill/>
          <a:ln/>
        </p:spPr>
        <p:txBody>
          <a:bodyPr wrap="square" lIns="0" tIns="0" rIns="0" bIns="0" rtlCol="0" anchor="ctr"/>
          <a:lstStyle/>
          <a:p>
            <a:pPr marL="0" indent="0">
              <a:buNone/>
            </a:pPr>
            <a:r>
              <a:rPr lang="en-US" sz="2800" b="1" dirty="0">
                <a:solidFill>
                  <a:srgbClr val="FFFFFF"/>
                </a:solidFill>
                <a:latin typeface="游ゴシック" pitchFamily="34" charset="0"/>
                <a:ea typeface="游ゴシック" pitchFamily="34" charset="-122"/>
                <a:cs typeface="游ゴシック" pitchFamily="34" charset="-120"/>
              </a:rPr>
              <a:t>屋上芋緑化が室外機の吸気温度に与える影響</a:t>
            </a:r>
            <a:endParaRPr lang="en-US" sz="2800" dirty="0"/>
          </a:p>
        </p:txBody>
      </p:sp>
      <p:sp>
        <p:nvSpPr>
          <p:cNvPr id="4" name="Text 2"/>
          <p:cNvSpPr txBox="1"/>
          <p:nvPr/>
        </p:nvSpPr>
        <p:spPr>
          <a:xfrm>
            <a:off x="822960" y="1965960"/>
            <a:ext cx="7772400" cy="457200"/>
          </a:xfrm>
          <a:prstGeom prst="rect">
            <a:avLst/>
          </a:prstGeom>
          <a:noFill/>
          <a:ln/>
        </p:spPr>
        <p:txBody>
          <a:bodyPr wrap="square" lIns="0" tIns="0" rIns="0" bIns="0" rtlCol="0" anchor="ctr"/>
          <a:lstStyle/>
          <a:p>
            <a:pPr marL="0" indent="0">
              <a:buNone/>
            </a:pPr>
            <a:r>
              <a:rPr lang="en-US" sz="1800" dirty="0">
                <a:solidFill>
                  <a:srgbClr val="D6E0EA"/>
                </a:solidFill>
                <a:latin typeface="游ゴシック" pitchFamily="34" charset="0"/>
                <a:ea typeface="游ゴシック" pitchFamily="34" charset="-122"/>
                <a:cs typeface="游ゴシック" pitchFamily="34" charset="-120"/>
              </a:rPr>
              <a:t>2026年 実測データの分析結果（暫定）</a:t>
            </a:r>
            <a:endParaRPr lang="en-US" sz="1800" dirty="0"/>
          </a:p>
        </p:txBody>
      </p:sp>
      <p:sp>
        <p:nvSpPr>
          <p:cNvPr id="5" name="Text 3"/>
          <p:cNvSpPr txBox="1"/>
          <p:nvPr/>
        </p:nvSpPr>
        <p:spPr>
          <a:xfrm>
            <a:off x="822960" y="2514600"/>
            <a:ext cx="7772400" cy="365760"/>
          </a:xfrm>
          <a:prstGeom prst="rect">
            <a:avLst/>
          </a:prstGeom>
          <a:noFill/>
          <a:ln/>
        </p:spPr>
        <p:txBody>
          <a:bodyPr wrap="square" lIns="0" tIns="0" rIns="0" bIns="0" rtlCol="0" anchor="ctr"/>
          <a:lstStyle/>
          <a:p>
            <a:pPr marL="0" indent="0">
              <a:buNone/>
            </a:pPr>
            <a:r>
              <a:rPr lang="en-US" sz="1300" dirty="0">
                <a:solidFill>
                  <a:srgbClr val="D6E0EA"/>
                </a:solidFill>
                <a:latin typeface="游ゴシック" pitchFamily="34" charset="0"/>
                <a:ea typeface="游ゴシック" pitchFamily="34" charset="-122"/>
                <a:cs typeface="游ゴシック" pitchFamily="34" charset="-120"/>
              </a:rPr>
              <a:t>OACP-3（芋緑化なし）と OACP-8・OACP-11（芋緑化あり）の同時刻比較｜7/30〜9/14</a:t>
            </a:r>
            <a:endParaRPr lang="en-US" sz="1300" dirty="0"/>
          </a:p>
        </p:txBody>
      </p:sp>
      <p:sp>
        <p:nvSpPr>
          <p:cNvPr id="6" name="Text 4"/>
          <p:cNvSpPr txBox="1"/>
          <p:nvPr/>
        </p:nvSpPr>
        <p:spPr>
          <a:xfrm>
            <a:off x="822960" y="4206240"/>
            <a:ext cx="7772400" cy="320040"/>
          </a:xfrm>
          <a:prstGeom prst="rect">
            <a:avLst/>
          </a:prstGeom>
          <a:noFill/>
          <a:ln/>
        </p:spPr>
        <p:txBody>
          <a:bodyPr wrap="square" lIns="0" tIns="0" rIns="0" bIns="0" rtlCol="0" anchor="ctr"/>
          <a:lstStyle/>
          <a:p>
            <a:pPr marL="0" indent="0">
              <a:buNone/>
            </a:pPr>
            <a:r>
              <a:rPr lang="en-US" sz="1100" dirty="0">
                <a:solidFill>
                  <a:srgbClr val="AFC0D0"/>
                </a:solidFill>
                <a:latin typeface="游ゴシック" pitchFamily="34" charset="0"/>
                <a:ea typeface="游ゴシック" pitchFamily="34" charset="-122"/>
                <a:cs typeface="游ゴシック" pitchFamily="34" charset="-120"/>
              </a:rPr>
              <a:t>高口研究室｜2026年の計測は継続中のため、結果は暫定値</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結果の要約</a:t>
            </a:r>
            <a:endParaRPr lang="en-US" sz="2000" dirty="0"/>
          </a:p>
        </p:txBody>
      </p:sp>
      <p:sp>
        <p:nvSpPr>
          <p:cNvPr id="3" name="Shape 1"/>
          <p:cNvSpPr/>
          <p:nvPr/>
        </p:nvSpPr>
        <p:spPr>
          <a:xfrm>
            <a:off x="7726680" y="155448"/>
            <a:ext cx="1097280" cy="274320"/>
          </a:xfrm>
          <a:prstGeom prst="roundRect">
            <a:avLst>
              <a:gd name="adj" fmla="val 26667"/>
            </a:avLst>
          </a:prstGeom>
          <a:solidFill>
            <a:srgbClr val="01B8AA"/>
          </a:solidFill>
          <a:ln w="12700">
            <a:solidFill>
              <a:srgbClr val="01B8AA"/>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要約</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芋緑化ありの列の吸気温度が、同じ時刻の列3より低いかを比べた（7/30〜9/14）</a:t>
            </a:r>
            <a:endParaRPr lang="en-US" sz="1200" dirty="0"/>
          </a:p>
        </p:txBody>
      </p:sp>
      <p:sp>
        <p:nvSpPr>
          <p:cNvPr id="6" name="Shape 4"/>
          <p:cNvSpPr/>
          <p:nvPr/>
        </p:nvSpPr>
        <p:spPr>
          <a:xfrm>
            <a:off x="411480" y="1234440"/>
            <a:ext cx="384048" cy="384048"/>
          </a:xfrm>
          <a:prstGeom prst="ellipse">
            <a:avLst/>
          </a:prstGeom>
          <a:solidFill>
            <a:srgbClr val="118DFF"/>
          </a:solidFill>
          <a:ln w="12700">
            <a:solidFill>
              <a:srgbClr val="118DFF"/>
            </a:solidFill>
            <a:prstDash val="solid"/>
          </a:ln>
        </p:spPr>
        <p:txBody>
          <a:bodyPr/>
          <a:lstStyle/>
          <a:p>
            <a:endParaRPr lang="ja-JP" altLang="en-US"/>
          </a:p>
        </p:txBody>
      </p:sp>
      <p:sp>
        <p:nvSpPr>
          <p:cNvPr id="7" name="Text 5"/>
          <p:cNvSpPr txBox="1"/>
          <p:nvPr/>
        </p:nvSpPr>
        <p:spPr>
          <a:xfrm>
            <a:off x="411480" y="123444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游ゴシック" pitchFamily="34" charset="0"/>
                <a:ea typeface="游ゴシック" pitchFamily="34" charset="-122"/>
                <a:cs typeface="游ゴシック" pitchFamily="34" charset="-120"/>
              </a:rPr>
              <a:t>1</a:t>
            </a:r>
            <a:endParaRPr lang="en-US" sz="1300" dirty="0"/>
          </a:p>
        </p:txBody>
      </p:sp>
      <p:sp>
        <p:nvSpPr>
          <p:cNvPr id="8" name="Text 6"/>
          <p:cNvSpPr txBox="1"/>
          <p:nvPr/>
        </p:nvSpPr>
        <p:spPr>
          <a:xfrm>
            <a:off x="960120" y="1143000"/>
            <a:ext cx="2651760" cy="566928"/>
          </a:xfrm>
          <a:prstGeom prst="rect">
            <a:avLst/>
          </a:prstGeom>
          <a:noFill/>
          <a:ln/>
        </p:spPr>
        <p:txBody>
          <a:bodyPr wrap="square" lIns="0" tIns="0" rIns="0" bIns="0" rtlCol="0" anchor="ctr"/>
          <a:lstStyle/>
          <a:p>
            <a:pPr marL="0" indent="0">
              <a:buNone/>
            </a:pPr>
            <a:r>
              <a:rPr lang="en-US" sz="1300" b="1" dirty="0">
                <a:solidFill>
                  <a:srgbClr val="22354F"/>
                </a:solidFill>
                <a:latin typeface="游ゴシック" pitchFamily="34" charset="0"/>
                <a:ea typeface="游ゴシック" pitchFamily="34" charset="-122"/>
                <a:cs typeface="游ゴシック" pitchFamily="34" charset="-120"/>
              </a:rPr>
              <a:t>列11（外側）は低い</a:t>
            </a:r>
            <a:endParaRPr lang="en-US" sz="1300" dirty="0"/>
          </a:p>
        </p:txBody>
      </p:sp>
      <p:sp>
        <p:nvSpPr>
          <p:cNvPr id="9" name="Text 7"/>
          <p:cNvSpPr txBox="1"/>
          <p:nvPr/>
        </p:nvSpPr>
        <p:spPr>
          <a:xfrm>
            <a:off x="3611880" y="1143000"/>
            <a:ext cx="5166360" cy="566928"/>
          </a:xfrm>
          <a:prstGeom prst="rect">
            <a:avLst/>
          </a:prstGeom>
          <a:noFill/>
          <a:ln/>
        </p:spPr>
        <p:txBody>
          <a:bodyPr wrap="square" lIns="0" tIns="0" rIns="0" bIns="0" rtlCol="0" anchor="ctr"/>
          <a:lstStyle/>
          <a:p>
            <a:pPr marL="0" indent="0">
              <a:spcAft>
                <a:spcPts val="300"/>
              </a:spcAft>
              <a:buNone/>
            </a:pPr>
            <a:r>
              <a:rPr lang="ja-JP" altLang="en-US" sz="1150" dirty="0">
                <a:solidFill>
                  <a:srgbClr val="172033"/>
                </a:solidFill>
                <a:latin typeface="游ゴシック" pitchFamily="34" charset="0"/>
                <a:ea typeface="游ゴシック" pitchFamily="34" charset="-122"/>
                <a:cs typeface="游ゴシック" pitchFamily="34" charset="-120"/>
              </a:rPr>
              <a:t>32日中28日で列3より低い（平均0.26℃低い）。運転中と判定する基準を変えても低いまま</a:t>
            </a:r>
            <a:endParaRPr lang="ja-JP" altLang="en-US" sz="1150" dirty="0"/>
          </a:p>
        </p:txBody>
      </p:sp>
      <p:sp>
        <p:nvSpPr>
          <p:cNvPr id="10" name="Shape 8"/>
          <p:cNvSpPr/>
          <p:nvPr/>
        </p:nvSpPr>
        <p:spPr>
          <a:xfrm>
            <a:off x="411480" y="1837944"/>
            <a:ext cx="384048" cy="384048"/>
          </a:xfrm>
          <a:prstGeom prst="ellipse">
            <a:avLst/>
          </a:prstGeom>
          <a:solidFill>
            <a:srgbClr val="01B8AA"/>
          </a:solidFill>
          <a:ln w="12700">
            <a:solidFill>
              <a:srgbClr val="01B8AA"/>
            </a:solidFill>
            <a:prstDash val="solid"/>
          </a:ln>
        </p:spPr>
        <p:txBody>
          <a:bodyPr/>
          <a:lstStyle/>
          <a:p>
            <a:endParaRPr lang="ja-JP" altLang="en-US"/>
          </a:p>
        </p:txBody>
      </p:sp>
      <p:sp>
        <p:nvSpPr>
          <p:cNvPr id="11" name="Text 9"/>
          <p:cNvSpPr txBox="1"/>
          <p:nvPr/>
        </p:nvSpPr>
        <p:spPr>
          <a:xfrm>
            <a:off x="411480" y="183794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游ゴシック" pitchFamily="34" charset="0"/>
                <a:ea typeface="游ゴシック" pitchFamily="34" charset="-122"/>
                <a:cs typeface="游ゴシック" pitchFamily="34" charset="-120"/>
              </a:rPr>
              <a:t>2</a:t>
            </a:r>
            <a:endParaRPr lang="en-US" sz="1300" dirty="0"/>
          </a:p>
        </p:txBody>
      </p:sp>
      <p:sp>
        <p:nvSpPr>
          <p:cNvPr id="12" name="Text 10"/>
          <p:cNvSpPr txBox="1"/>
          <p:nvPr/>
        </p:nvSpPr>
        <p:spPr>
          <a:xfrm>
            <a:off x="960120" y="1746504"/>
            <a:ext cx="2651760" cy="566928"/>
          </a:xfrm>
          <a:prstGeom prst="rect">
            <a:avLst/>
          </a:prstGeom>
          <a:noFill/>
          <a:ln/>
        </p:spPr>
        <p:txBody>
          <a:bodyPr wrap="square" lIns="0" tIns="0" rIns="0" bIns="0" rtlCol="0" anchor="ctr"/>
          <a:lstStyle/>
          <a:p>
            <a:pPr marL="0" indent="0">
              <a:buNone/>
            </a:pPr>
            <a:r>
              <a:rPr lang="en-US" sz="1300" b="1" dirty="0">
                <a:solidFill>
                  <a:srgbClr val="22354F"/>
                </a:solidFill>
                <a:latin typeface="游ゴシック" pitchFamily="34" charset="0"/>
                <a:ea typeface="游ゴシック" pitchFamily="34" charset="-122"/>
                <a:cs typeface="游ゴシック" pitchFamily="34" charset="-120"/>
              </a:rPr>
              <a:t>列8（中央）は低くない</a:t>
            </a:r>
            <a:endParaRPr lang="en-US" sz="1300" dirty="0"/>
          </a:p>
        </p:txBody>
      </p:sp>
      <p:sp>
        <p:nvSpPr>
          <p:cNvPr id="13" name="Text 11"/>
          <p:cNvSpPr txBox="1"/>
          <p:nvPr/>
        </p:nvSpPr>
        <p:spPr>
          <a:xfrm>
            <a:off x="3611880" y="1746504"/>
            <a:ext cx="5166360" cy="566928"/>
          </a:xfrm>
          <a:prstGeom prst="rect">
            <a:avLst/>
          </a:prstGeom>
          <a:noFill/>
          <a:ln/>
        </p:spPr>
        <p:txBody>
          <a:bodyPr wrap="square" lIns="0" tIns="0" rIns="0" bIns="0" rtlCol="0" anchor="ctr"/>
          <a:lstStyle/>
          <a:p>
            <a:pPr marL="0" indent="0">
              <a:spcAft>
                <a:spcPts val="300"/>
              </a:spcAft>
              <a:buNone/>
            </a:pPr>
            <a:r>
              <a:rPr lang="ja-JP" altLang="en-US" sz="1150" dirty="0">
                <a:solidFill>
                  <a:srgbClr val="172033"/>
                </a:solidFill>
                <a:latin typeface="游ゴシック" pitchFamily="34" charset="0"/>
                <a:ea typeface="游ゴシック" pitchFamily="34" charset="-122"/>
                <a:cs typeface="游ゴシック" pitchFamily="34" charset="-120"/>
              </a:rPr>
              <a:t>平均の差は0.06℃と小さく、低いとは言えない。晴れて日射が強い時間に列3より高くなる</a:t>
            </a:r>
            <a:endParaRPr lang="ja-JP" altLang="en-US" sz="1150" dirty="0"/>
          </a:p>
        </p:txBody>
      </p:sp>
      <p:sp>
        <p:nvSpPr>
          <p:cNvPr id="14" name="Shape 12"/>
          <p:cNvSpPr/>
          <p:nvPr/>
        </p:nvSpPr>
        <p:spPr>
          <a:xfrm>
            <a:off x="411480" y="2441448"/>
            <a:ext cx="384048" cy="384048"/>
          </a:xfrm>
          <a:prstGeom prst="ellipse">
            <a:avLst/>
          </a:prstGeom>
          <a:solidFill>
            <a:srgbClr val="8E5BC4"/>
          </a:solidFill>
          <a:ln w="12700">
            <a:solidFill>
              <a:srgbClr val="8E5BC4"/>
            </a:solidFill>
            <a:prstDash val="solid"/>
          </a:ln>
        </p:spPr>
        <p:txBody>
          <a:bodyPr/>
          <a:lstStyle/>
          <a:p>
            <a:endParaRPr lang="ja-JP" altLang="en-US"/>
          </a:p>
        </p:txBody>
      </p:sp>
      <p:sp>
        <p:nvSpPr>
          <p:cNvPr id="15" name="Text 13"/>
          <p:cNvSpPr txBox="1"/>
          <p:nvPr/>
        </p:nvSpPr>
        <p:spPr>
          <a:xfrm>
            <a:off x="411480" y="244144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游ゴシック" pitchFamily="34" charset="0"/>
                <a:ea typeface="游ゴシック" pitchFamily="34" charset="-122"/>
                <a:cs typeface="游ゴシック" pitchFamily="34" charset="-120"/>
              </a:rPr>
              <a:t>3</a:t>
            </a:r>
            <a:endParaRPr lang="en-US" sz="1300" dirty="0"/>
          </a:p>
        </p:txBody>
      </p:sp>
      <p:sp>
        <p:nvSpPr>
          <p:cNvPr id="16" name="Text 14"/>
          <p:cNvSpPr txBox="1"/>
          <p:nvPr/>
        </p:nvSpPr>
        <p:spPr>
          <a:xfrm>
            <a:off x="960120" y="2350008"/>
            <a:ext cx="2651760" cy="566928"/>
          </a:xfrm>
          <a:prstGeom prst="rect">
            <a:avLst/>
          </a:prstGeom>
          <a:noFill/>
          <a:ln/>
        </p:spPr>
        <p:txBody>
          <a:bodyPr wrap="square" lIns="0" tIns="0" rIns="0" bIns="0" rtlCol="0" anchor="ctr"/>
          <a:lstStyle/>
          <a:p>
            <a:pPr marL="0" indent="0">
              <a:buNone/>
            </a:pPr>
            <a:r>
              <a:rPr lang="en-US" sz="1300" b="1" dirty="0">
                <a:solidFill>
                  <a:srgbClr val="22354F"/>
                </a:solidFill>
                <a:latin typeface="游ゴシック" pitchFamily="34" charset="0"/>
                <a:ea typeface="游ゴシック" pitchFamily="34" charset="-122"/>
                <a:cs typeface="游ゴシック" pitchFamily="34" charset="-120"/>
              </a:rPr>
              <a:t>暑い日ほど低減効果が小さい</a:t>
            </a:r>
            <a:endParaRPr lang="en-US" sz="1300" dirty="0"/>
          </a:p>
        </p:txBody>
      </p:sp>
      <p:sp>
        <p:nvSpPr>
          <p:cNvPr id="17" name="Text 15"/>
          <p:cNvSpPr txBox="1"/>
          <p:nvPr/>
        </p:nvSpPr>
        <p:spPr>
          <a:xfrm>
            <a:off x="3611880" y="2350008"/>
            <a:ext cx="5166360" cy="566928"/>
          </a:xfrm>
          <a:prstGeom prst="rect">
            <a:avLst/>
          </a:prstGeom>
          <a:noFill/>
          <a:ln/>
        </p:spPr>
        <p:txBody>
          <a:bodyPr wrap="square" lIns="0" tIns="0" rIns="0" bIns="0" rtlCol="0" anchor="ctr"/>
          <a:lstStyle/>
          <a:p>
            <a:pPr marL="0" indent="0">
              <a:spcAft>
                <a:spcPts val="300"/>
              </a:spcAft>
              <a:buNone/>
            </a:pPr>
            <a:r>
              <a:rPr lang="ja-JP" altLang="en-US" sz="1150" dirty="0">
                <a:solidFill>
                  <a:srgbClr val="172033"/>
                </a:solidFill>
                <a:latin typeface="游ゴシック" pitchFamily="34" charset="0"/>
                <a:ea typeface="游ゴシック" pitchFamily="34" charset="-122"/>
                <a:cs typeface="游ゴシック" pitchFamily="34" charset="-120"/>
              </a:rPr>
              <a:t>31℃以上の日は列8が0.27℃高く、28℃未満の日は0.34℃低い。風速は気温・雨をそろえると影響がほぼ見えない</a:t>
            </a:r>
            <a:endParaRPr lang="ja-JP" altLang="en-US" sz="1150" dirty="0"/>
          </a:p>
        </p:txBody>
      </p:sp>
      <p:sp>
        <p:nvSpPr>
          <p:cNvPr id="18" name="Shape 16"/>
          <p:cNvSpPr/>
          <p:nvPr/>
        </p:nvSpPr>
        <p:spPr>
          <a:xfrm>
            <a:off x="411480" y="3044952"/>
            <a:ext cx="384048" cy="384048"/>
          </a:xfrm>
          <a:prstGeom prst="ellipse">
            <a:avLst/>
          </a:prstGeom>
          <a:solidFill>
            <a:srgbClr val="ED7D31"/>
          </a:solidFill>
          <a:ln w="12700">
            <a:solidFill>
              <a:srgbClr val="ED7D31"/>
            </a:solidFill>
            <a:prstDash val="solid"/>
          </a:ln>
        </p:spPr>
        <p:txBody>
          <a:bodyPr/>
          <a:lstStyle/>
          <a:p>
            <a:endParaRPr lang="ja-JP" altLang="en-US"/>
          </a:p>
        </p:txBody>
      </p:sp>
      <p:sp>
        <p:nvSpPr>
          <p:cNvPr id="19" name="Text 17"/>
          <p:cNvSpPr txBox="1"/>
          <p:nvPr/>
        </p:nvSpPr>
        <p:spPr>
          <a:xfrm>
            <a:off x="411480" y="304495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游ゴシック" pitchFamily="34" charset="0"/>
                <a:ea typeface="游ゴシック" pitchFamily="34" charset="-122"/>
                <a:cs typeface="游ゴシック" pitchFamily="34" charset="-120"/>
              </a:rPr>
              <a:t>4</a:t>
            </a:r>
            <a:endParaRPr lang="en-US" sz="1300" dirty="0"/>
          </a:p>
        </p:txBody>
      </p:sp>
      <p:sp>
        <p:nvSpPr>
          <p:cNvPr id="20" name="Text 18"/>
          <p:cNvSpPr txBox="1"/>
          <p:nvPr/>
        </p:nvSpPr>
        <p:spPr>
          <a:xfrm>
            <a:off x="960120" y="2953512"/>
            <a:ext cx="2651760" cy="566928"/>
          </a:xfrm>
          <a:prstGeom prst="rect">
            <a:avLst/>
          </a:prstGeom>
          <a:noFill/>
          <a:ln/>
        </p:spPr>
        <p:txBody>
          <a:bodyPr wrap="square" lIns="0" tIns="0" rIns="0" bIns="0" rtlCol="0" anchor="ctr"/>
          <a:lstStyle/>
          <a:p>
            <a:pPr marL="0" indent="0">
              <a:buNone/>
            </a:pPr>
            <a:r>
              <a:rPr lang="en-US" sz="1300" b="1" dirty="0">
                <a:solidFill>
                  <a:srgbClr val="22354F"/>
                </a:solidFill>
                <a:latin typeface="游ゴシック" pitchFamily="34" charset="0"/>
                <a:ea typeface="游ゴシック" pitchFamily="34" charset="-122"/>
                <a:cs typeface="游ゴシック" pitchFamily="34" charset="-120"/>
              </a:rPr>
              <a:t>区画1は運転中だけ高い</a:t>
            </a:r>
            <a:endParaRPr lang="en-US" sz="1300" dirty="0"/>
          </a:p>
        </p:txBody>
      </p:sp>
      <p:sp>
        <p:nvSpPr>
          <p:cNvPr id="21" name="Text 19"/>
          <p:cNvSpPr txBox="1"/>
          <p:nvPr/>
        </p:nvSpPr>
        <p:spPr>
          <a:xfrm>
            <a:off x="3611880" y="2953512"/>
            <a:ext cx="5166360" cy="566928"/>
          </a:xfrm>
          <a:prstGeom prst="rect">
            <a:avLst/>
          </a:prstGeom>
          <a:noFill/>
          <a:ln/>
        </p:spPr>
        <p:txBody>
          <a:bodyPr wrap="square" lIns="0" tIns="0" rIns="0" bIns="0" rtlCol="0" anchor="ctr"/>
          <a:lstStyle/>
          <a:p>
            <a:pPr marL="0" indent="0">
              <a:spcAft>
                <a:spcPts val="300"/>
              </a:spcAft>
              <a:buNone/>
            </a:pPr>
            <a:r>
              <a:rPr lang="ja-JP" altLang="en-US" sz="1150" dirty="0">
                <a:solidFill>
                  <a:srgbClr val="172033"/>
                </a:solidFill>
                <a:latin typeface="游ゴシック" pitchFamily="34" charset="0"/>
                <a:ea typeface="游ゴシック" pitchFamily="34" charset="-122"/>
                <a:cs typeface="游ゴシック" pitchFamily="34" charset="-120"/>
              </a:rPr>
              <a:t>8-1は＋0.63℃、11-1は＋0.13℃で、芋緑化側が運転している時間だけ高い。基準の3-1が列3で最も低いことも効いている</a:t>
            </a:r>
            <a:endParaRPr lang="ja-JP" altLang="en-US" sz="1150" dirty="0"/>
          </a:p>
        </p:txBody>
      </p:sp>
      <p:sp>
        <p:nvSpPr>
          <p:cNvPr id="22" name="Shape 20"/>
          <p:cNvSpPr/>
          <p:nvPr/>
        </p:nvSpPr>
        <p:spPr>
          <a:xfrm>
            <a:off x="411480" y="3648456"/>
            <a:ext cx="384048" cy="384048"/>
          </a:xfrm>
          <a:prstGeom prst="ellipse">
            <a:avLst/>
          </a:prstGeom>
          <a:solidFill>
            <a:srgbClr val="E66C64"/>
          </a:solidFill>
          <a:ln w="12700">
            <a:solidFill>
              <a:srgbClr val="E66C64"/>
            </a:solidFill>
            <a:prstDash val="solid"/>
          </a:ln>
        </p:spPr>
        <p:txBody>
          <a:bodyPr/>
          <a:lstStyle/>
          <a:p>
            <a:endParaRPr lang="ja-JP" altLang="en-US"/>
          </a:p>
        </p:txBody>
      </p:sp>
      <p:sp>
        <p:nvSpPr>
          <p:cNvPr id="23" name="Text 21"/>
          <p:cNvSpPr txBox="1"/>
          <p:nvPr/>
        </p:nvSpPr>
        <p:spPr>
          <a:xfrm>
            <a:off x="411480" y="364845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游ゴシック" pitchFamily="34" charset="0"/>
                <a:ea typeface="游ゴシック" pitchFamily="34" charset="-122"/>
                <a:cs typeface="游ゴシック" pitchFamily="34" charset="-120"/>
              </a:rPr>
              <a:t>5</a:t>
            </a:r>
            <a:endParaRPr lang="en-US" sz="1300" dirty="0"/>
          </a:p>
        </p:txBody>
      </p:sp>
      <p:sp>
        <p:nvSpPr>
          <p:cNvPr id="24" name="Text 22"/>
          <p:cNvSpPr txBox="1"/>
          <p:nvPr/>
        </p:nvSpPr>
        <p:spPr>
          <a:xfrm>
            <a:off x="960120" y="3557016"/>
            <a:ext cx="2651760" cy="566928"/>
          </a:xfrm>
          <a:prstGeom prst="rect">
            <a:avLst/>
          </a:prstGeom>
          <a:noFill/>
          <a:ln/>
        </p:spPr>
        <p:txBody>
          <a:bodyPr wrap="square" lIns="0" tIns="0" rIns="0" bIns="0" rtlCol="0" anchor="ctr"/>
          <a:lstStyle/>
          <a:p>
            <a:pPr marL="0" indent="0">
              <a:buNone/>
            </a:pPr>
            <a:r>
              <a:rPr lang="en-US" sz="1300" b="1" dirty="0">
                <a:solidFill>
                  <a:srgbClr val="22354F"/>
                </a:solidFill>
                <a:latin typeface="游ゴシック" pitchFamily="34" charset="0"/>
                <a:ea typeface="游ゴシック" pitchFamily="34" charset="-122"/>
                <a:cs typeface="游ゴシック" pitchFamily="34" charset="-120"/>
              </a:rPr>
              <a:t>列8と列11の差は日射で開く</a:t>
            </a:r>
            <a:endParaRPr lang="en-US" sz="1300" dirty="0"/>
          </a:p>
        </p:txBody>
      </p:sp>
      <p:sp>
        <p:nvSpPr>
          <p:cNvPr id="25" name="Text 23"/>
          <p:cNvSpPr txBox="1"/>
          <p:nvPr/>
        </p:nvSpPr>
        <p:spPr>
          <a:xfrm>
            <a:off x="3611880" y="3557016"/>
            <a:ext cx="5166360" cy="566928"/>
          </a:xfrm>
          <a:prstGeom prst="rect">
            <a:avLst/>
          </a:prstGeom>
          <a:noFill/>
          <a:ln/>
        </p:spPr>
        <p:txBody>
          <a:bodyPr wrap="square" lIns="0" tIns="0" rIns="0" bIns="0" rtlCol="0" anchor="ctr"/>
          <a:lstStyle/>
          <a:p>
            <a:pPr marL="0" indent="0">
              <a:spcAft>
                <a:spcPts val="300"/>
              </a:spcAft>
              <a:buNone/>
            </a:pPr>
            <a:r>
              <a:rPr lang="ja-JP" altLang="en-US" sz="1150" dirty="0">
                <a:solidFill>
                  <a:srgbClr val="172033"/>
                </a:solidFill>
                <a:latin typeface="游ゴシック" pitchFamily="34" charset="0"/>
                <a:ea typeface="游ゴシック" pitchFamily="34" charset="-122"/>
                <a:cs typeface="游ゴシック" pitchFamily="34" charset="-120"/>
              </a:rPr>
              <a:t>差は0.20℃で、約6割が区画1。照度8万lx以上では0.48℃まで開く。「中央の列ほど低い」という仮説は支持されない</a:t>
            </a:r>
            <a:endParaRPr lang="ja-JP" altLang="en-US" sz="1150" dirty="0"/>
          </a:p>
        </p:txBody>
      </p:sp>
      <p:sp>
        <p:nvSpPr>
          <p:cNvPr id="26" name="Shape 24"/>
          <p:cNvSpPr/>
          <p:nvPr/>
        </p:nvSpPr>
        <p:spPr>
          <a:xfrm>
            <a:off x="365760" y="4206240"/>
            <a:ext cx="8412480" cy="502920"/>
          </a:xfrm>
          <a:prstGeom prst="roundRect">
            <a:avLst>
              <a:gd name="adj" fmla="val 10909"/>
            </a:avLst>
          </a:prstGeom>
          <a:solidFill>
            <a:srgbClr val="FDE8E6"/>
          </a:solidFill>
          <a:ln w="12700">
            <a:solidFill>
              <a:srgbClr val="FDE8E6"/>
            </a:solidFill>
            <a:prstDash val="solid"/>
          </a:ln>
        </p:spPr>
        <p:txBody>
          <a:bodyPr/>
          <a:lstStyle/>
          <a:p>
            <a:endParaRPr lang="ja-JP" altLang="en-US"/>
          </a:p>
        </p:txBody>
      </p:sp>
      <p:sp>
        <p:nvSpPr>
          <p:cNvPr id="27" name="Text 25"/>
          <p:cNvSpPr txBox="1"/>
          <p:nvPr/>
        </p:nvSpPr>
        <p:spPr>
          <a:xfrm>
            <a:off x="502920" y="4206240"/>
            <a:ext cx="8138160" cy="502920"/>
          </a:xfrm>
          <a:prstGeom prst="rect">
            <a:avLst/>
          </a:prstGeom>
          <a:noFill/>
          <a:ln/>
        </p:spPr>
        <p:txBody>
          <a:bodyPr wrap="square" lIns="0" tIns="0" rIns="0" bIns="0" rtlCol="0" anchor="ctr"/>
          <a:lstStyle/>
          <a:p>
            <a:pPr marL="0" indent="0">
              <a:spcAft>
                <a:spcPts val="0"/>
              </a:spcAft>
              <a:buNone/>
            </a:pPr>
            <a:r>
              <a:rPr lang="ja-JP" altLang="en-US" sz="1100" b="1" dirty="0">
                <a:solidFill>
                  <a:srgbClr val="E66C64"/>
                </a:solidFill>
                <a:latin typeface="游ゴシック" pitchFamily="34" charset="0"/>
                <a:ea typeface="游ゴシック" pitchFamily="34" charset="-122"/>
                <a:cs typeface="游ゴシック" pitchFamily="34" charset="-120"/>
              </a:rPr>
              <a:t>注意　</a:t>
            </a:r>
            <a:r>
              <a:rPr lang="ja-JP" altLang="en-US" sz="1100" dirty="0">
                <a:solidFill>
                  <a:srgbClr val="172033"/>
                </a:solidFill>
                <a:latin typeface="游ゴシック" pitchFamily="34" charset="0"/>
                <a:ea typeface="游ゴシック" pitchFamily="34" charset="-122"/>
                <a:cs typeface="游ゴシック" pitchFamily="34" charset="-120"/>
              </a:rPr>
              <a:t>排気温度から見ると、列3は休日や夕方（20時ごろまで）も動いている。休日・夕方は列3だけが動く時間が多いため、差が大きく見える</a:t>
            </a:r>
            <a:endParaRPr lang="ja-JP" altLang="en-US" sz="1100" dirty="0"/>
          </a:p>
        </p:txBody>
      </p:sp>
      <p:sp>
        <p:nvSpPr>
          <p:cNvPr id="28"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分析の流れ</a:t>
            </a:r>
            <a:endParaRPr lang="en-US" sz="2000" dirty="0"/>
          </a:p>
        </p:txBody>
      </p:sp>
      <p:sp>
        <p:nvSpPr>
          <p:cNvPr id="3" name="Shape 1"/>
          <p:cNvSpPr/>
          <p:nvPr/>
        </p:nvSpPr>
        <p:spPr>
          <a:xfrm>
            <a:off x="7726680" y="155448"/>
            <a:ext cx="1097280" cy="274320"/>
          </a:xfrm>
          <a:prstGeom prst="roundRect">
            <a:avLst>
              <a:gd name="adj" fmla="val 26667"/>
            </a:avLst>
          </a:prstGeom>
          <a:solidFill>
            <a:srgbClr val="5E6B7A"/>
          </a:solidFill>
          <a:ln w="12700">
            <a:solidFill>
              <a:srgbClr val="5E6B7A"/>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前提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前提の確認から順に、芋緑化ありの列の吸気温度が低いかを確かめる</a:t>
            </a:r>
            <a:endParaRPr lang="en-US" sz="1200" dirty="0"/>
          </a:p>
        </p:txBody>
      </p:sp>
      <p:sp>
        <p:nvSpPr>
          <p:cNvPr id="6" name="Shape 4"/>
          <p:cNvSpPr/>
          <p:nvPr/>
        </p:nvSpPr>
        <p:spPr>
          <a:xfrm>
            <a:off x="365760" y="1188720"/>
            <a:ext cx="1572768" cy="411480"/>
          </a:xfrm>
          <a:prstGeom prst="rect">
            <a:avLst/>
          </a:prstGeom>
          <a:solidFill>
            <a:srgbClr val="5E6B7A"/>
          </a:solidFill>
          <a:ln w="12700">
            <a:solidFill>
              <a:srgbClr val="5E6B7A"/>
            </a:solidFill>
            <a:prstDash val="solid"/>
          </a:ln>
        </p:spPr>
        <p:txBody>
          <a:bodyPr/>
          <a:lstStyle/>
          <a:p>
            <a:endParaRPr lang="ja-JP" altLang="en-US"/>
          </a:p>
        </p:txBody>
      </p:sp>
      <p:sp>
        <p:nvSpPr>
          <p:cNvPr id="7" name="Text 5"/>
          <p:cNvSpPr txBox="1"/>
          <p:nvPr/>
        </p:nvSpPr>
        <p:spPr>
          <a:xfrm>
            <a:off x="365760" y="1188720"/>
            <a:ext cx="1572768"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游ゴシック" pitchFamily="34" charset="0"/>
                <a:ea typeface="游ゴシック" pitchFamily="34" charset="-122"/>
                <a:cs typeface="游ゴシック" pitchFamily="34" charset="-120"/>
              </a:rPr>
              <a:t>前提</a:t>
            </a:r>
            <a:endParaRPr lang="en-US" sz="1200" dirty="0"/>
          </a:p>
        </p:txBody>
      </p:sp>
      <p:sp>
        <p:nvSpPr>
          <p:cNvPr id="8" name="Shape 6"/>
          <p:cNvSpPr/>
          <p:nvPr/>
        </p:nvSpPr>
        <p:spPr>
          <a:xfrm>
            <a:off x="365760" y="1600200"/>
            <a:ext cx="1572768" cy="1691640"/>
          </a:xfrm>
          <a:prstGeom prst="rect">
            <a:avLst/>
          </a:prstGeom>
          <a:solidFill>
            <a:srgbClr val="F3F5F8"/>
          </a:solidFill>
          <a:ln w="12700">
            <a:solidFill>
              <a:srgbClr val="F3F5F8"/>
            </a:solidFill>
            <a:prstDash val="solid"/>
          </a:ln>
        </p:spPr>
        <p:txBody>
          <a:bodyPr/>
          <a:lstStyle/>
          <a:p>
            <a:endParaRPr lang="ja-JP" altLang="en-US"/>
          </a:p>
        </p:txBody>
      </p:sp>
      <p:sp>
        <p:nvSpPr>
          <p:cNvPr id="9" name="Text 7"/>
          <p:cNvSpPr txBox="1"/>
          <p:nvPr/>
        </p:nvSpPr>
        <p:spPr>
          <a:xfrm>
            <a:off x="457200" y="1691640"/>
            <a:ext cx="1389888" cy="1234440"/>
          </a:xfrm>
          <a:prstGeom prst="rect">
            <a:avLst/>
          </a:prstGeom>
          <a:noFill/>
          <a:ln/>
        </p:spPr>
        <p:txBody>
          <a:bodyPr wrap="square" lIns="0" tIns="0" rIns="0" bIns="0" rtlCol="0" anchor="t"/>
          <a:lstStyle/>
          <a:p>
            <a:pPr marL="0" indent="0">
              <a:buNone/>
            </a:pPr>
            <a:r>
              <a:rPr lang="en-US" sz="1050" dirty="0">
                <a:solidFill>
                  <a:srgbClr val="172033"/>
                </a:solidFill>
                <a:latin typeface="游ゴシック" pitchFamily="34" charset="0"/>
                <a:ea typeface="游ゴシック" pitchFamily="34" charset="-122"/>
                <a:cs typeface="游ゴシック" pitchFamily="34" charset="-120"/>
              </a:rPr>
              <a:t>データの利用期間</a:t>
            </a:r>
            <a:endParaRPr lang="en-US" sz="1050" dirty="0"/>
          </a:p>
          <a:p>
            <a:pPr marL="0" indent="0">
              <a:buNone/>
            </a:pPr>
            <a:r>
              <a:rPr lang="en-US" sz="1050" dirty="0">
                <a:solidFill>
                  <a:srgbClr val="172033"/>
                </a:solidFill>
                <a:latin typeface="游ゴシック" pitchFamily="34" charset="0"/>
                <a:ea typeface="游ゴシック" pitchFamily="34" charset="-122"/>
                <a:cs typeface="游ゴシック" pitchFamily="34" charset="-120"/>
              </a:rPr>
              <a:t>データの欠損と除外</a:t>
            </a:r>
            <a:endParaRPr lang="en-US" sz="1050" dirty="0"/>
          </a:p>
          <a:p>
            <a:pPr marL="0" indent="0">
              <a:buNone/>
            </a:pPr>
            <a:r>
              <a:rPr lang="en-US" sz="1050" dirty="0">
                <a:solidFill>
                  <a:srgbClr val="172033"/>
                </a:solidFill>
                <a:latin typeface="游ゴシック" pitchFamily="34" charset="0"/>
                <a:ea typeface="游ゴシック" pitchFamily="34" charset="-122"/>
                <a:cs typeface="游ゴシック" pitchFamily="34" charset="-120"/>
              </a:rPr>
              <a:t>熱電対の誤差の確認</a:t>
            </a:r>
            <a:endParaRPr lang="en-US" sz="1050" dirty="0"/>
          </a:p>
          <a:p>
            <a:pPr marL="0" indent="0">
              <a:buNone/>
            </a:pPr>
            <a:r>
              <a:rPr lang="en-US" sz="1050" dirty="0">
                <a:solidFill>
                  <a:srgbClr val="172033"/>
                </a:solidFill>
                <a:latin typeface="游ゴシック" pitchFamily="34" charset="0"/>
                <a:ea typeface="游ゴシック" pitchFamily="34" charset="-122"/>
                <a:cs typeface="游ゴシック" pitchFamily="34" charset="-120"/>
              </a:rPr>
              <a:t>吸気温度差の定義</a:t>
            </a:r>
            <a:endParaRPr lang="en-US" sz="1050" dirty="0"/>
          </a:p>
        </p:txBody>
      </p:sp>
      <p:sp>
        <p:nvSpPr>
          <p:cNvPr id="10" name="Text 8"/>
          <p:cNvSpPr txBox="1"/>
          <p:nvPr/>
        </p:nvSpPr>
        <p:spPr>
          <a:xfrm>
            <a:off x="457200" y="2990088"/>
            <a:ext cx="1389888" cy="237744"/>
          </a:xfrm>
          <a:prstGeom prst="rect">
            <a:avLst/>
          </a:prstGeom>
          <a:noFill/>
          <a:ln/>
        </p:spPr>
        <p:txBody>
          <a:bodyPr wrap="square" lIns="0" tIns="0" rIns="0" bIns="0" rtlCol="0" anchor="ctr"/>
          <a:lstStyle/>
          <a:p>
            <a:pPr marL="0" indent="0">
              <a:buNone/>
            </a:pPr>
            <a:r>
              <a:rPr lang="en-US" sz="1000" dirty="0">
                <a:solidFill>
                  <a:srgbClr val="5E6B7A"/>
                </a:solidFill>
                <a:latin typeface="游ゴシック" pitchFamily="34" charset="0"/>
                <a:ea typeface="游ゴシック" pitchFamily="34" charset="-122"/>
                <a:cs typeface="游ゴシック" pitchFamily="34" charset="-120"/>
              </a:rPr>
              <a:t>p.4〜8</a:t>
            </a:r>
            <a:endParaRPr lang="en-US" sz="1000" dirty="0"/>
          </a:p>
        </p:txBody>
      </p:sp>
      <p:sp>
        <p:nvSpPr>
          <p:cNvPr id="11" name="Shape 9"/>
          <p:cNvSpPr/>
          <p:nvPr/>
        </p:nvSpPr>
        <p:spPr>
          <a:xfrm>
            <a:off x="2075688" y="1188720"/>
            <a:ext cx="1572768" cy="411480"/>
          </a:xfrm>
          <a:prstGeom prst="rect">
            <a:avLst/>
          </a:prstGeom>
          <a:solidFill>
            <a:srgbClr val="E66C64"/>
          </a:solidFill>
          <a:ln w="12700">
            <a:solidFill>
              <a:srgbClr val="E66C64"/>
            </a:solidFill>
            <a:prstDash val="solid"/>
          </a:ln>
        </p:spPr>
        <p:txBody>
          <a:bodyPr/>
          <a:lstStyle/>
          <a:p>
            <a:endParaRPr lang="ja-JP" altLang="en-US"/>
          </a:p>
        </p:txBody>
      </p:sp>
      <p:sp>
        <p:nvSpPr>
          <p:cNvPr id="12" name="Text 10"/>
          <p:cNvSpPr txBox="1"/>
          <p:nvPr/>
        </p:nvSpPr>
        <p:spPr>
          <a:xfrm>
            <a:off x="2075688" y="1188720"/>
            <a:ext cx="1572768"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游ゴシック" pitchFamily="34" charset="0"/>
                <a:ea typeface="游ゴシック" pitchFamily="34" charset="-122"/>
                <a:cs typeface="游ゴシック" pitchFamily="34" charset="-120"/>
              </a:rPr>
              <a:t>主分析</a:t>
            </a:r>
            <a:endParaRPr lang="en-US" sz="1200" dirty="0"/>
          </a:p>
        </p:txBody>
      </p:sp>
      <p:sp>
        <p:nvSpPr>
          <p:cNvPr id="13" name="Shape 11"/>
          <p:cNvSpPr/>
          <p:nvPr/>
        </p:nvSpPr>
        <p:spPr>
          <a:xfrm>
            <a:off x="2075688" y="1600200"/>
            <a:ext cx="1572768" cy="1691640"/>
          </a:xfrm>
          <a:prstGeom prst="rect">
            <a:avLst/>
          </a:prstGeom>
          <a:solidFill>
            <a:srgbClr val="F3F5F8"/>
          </a:solidFill>
          <a:ln w="12700">
            <a:solidFill>
              <a:srgbClr val="F3F5F8"/>
            </a:solidFill>
            <a:prstDash val="solid"/>
          </a:ln>
        </p:spPr>
        <p:txBody>
          <a:bodyPr/>
          <a:lstStyle/>
          <a:p>
            <a:endParaRPr lang="ja-JP" altLang="en-US"/>
          </a:p>
        </p:txBody>
      </p:sp>
      <p:sp>
        <p:nvSpPr>
          <p:cNvPr id="14" name="Text 12"/>
          <p:cNvSpPr txBox="1"/>
          <p:nvPr/>
        </p:nvSpPr>
        <p:spPr>
          <a:xfrm>
            <a:off x="2167128" y="1691640"/>
            <a:ext cx="1389888" cy="1234440"/>
          </a:xfrm>
          <a:prstGeom prst="rect">
            <a:avLst/>
          </a:prstGeom>
          <a:noFill/>
          <a:ln/>
        </p:spPr>
        <p:txBody>
          <a:bodyPr wrap="square" lIns="0" tIns="0" rIns="0" bIns="0" rtlCol="0" anchor="t"/>
          <a:lstStyle/>
          <a:p>
            <a:pPr marL="0" indent="0">
              <a:buNone/>
            </a:pPr>
            <a:r>
              <a:rPr lang="en-US" sz="1050" dirty="0">
                <a:solidFill>
                  <a:srgbClr val="172033"/>
                </a:solidFill>
                <a:latin typeface="游ゴシック" pitchFamily="34" charset="0"/>
                <a:ea typeface="游ゴシック" pitchFamily="34" charset="-122"/>
                <a:cs typeface="游ゴシック" pitchFamily="34" charset="-120"/>
              </a:rPr>
              <a:t>分析1　期間全体</a:t>
            </a:r>
            <a:endParaRPr lang="en-US" sz="1050" dirty="0"/>
          </a:p>
          <a:p>
            <a:pPr marL="0" indent="0">
              <a:buNone/>
            </a:pPr>
            <a:r>
              <a:rPr lang="en-US" sz="1050" dirty="0">
                <a:solidFill>
                  <a:srgbClr val="172033"/>
                </a:solidFill>
                <a:latin typeface="游ゴシック" pitchFamily="34" charset="0"/>
                <a:ea typeface="游ゴシック" pitchFamily="34" charset="-122"/>
                <a:cs typeface="游ゴシック" pitchFamily="34" charset="-120"/>
              </a:rPr>
              <a:t>分析2　時刻別</a:t>
            </a:r>
            <a:endParaRPr lang="en-US" sz="1050" dirty="0"/>
          </a:p>
          <a:p>
            <a:pPr marL="0" indent="0">
              <a:buNone/>
            </a:pPr>
            <a:r>
              <a:rPr lang="en-US" sz="1050" dirty="0">
                <a:solidFill>
                  <a:srgbClr val="172033"/>
                </a:solidFill>
                <a:latin typeface="游ゴシック" pitchFamily="34" charset="0"/>
                <a:ea typeface="游ゴシック" pitchFamily="34" charset="-122"/>
                <a:cs typeface="游ゴシック" pitchFamily="34" charset="-120"/>
              </a:rPr>
              <a:t>分析3　区画別</a:t>
            </a:r>
            <a:endParaRPr lang="en-US" sz="1050" dirty="0"/>
          </a:p>
          <a:p>
            <a:pPr marL="0" indent="0">
              <a:buNone/>
            </a:pPr>
            <a:r>
              <a:rPr lang="en-US" sz="1050" dirty="0">
                <a:solidFill>
                  <a:srgbClr val="172033"/>
                </a:solidFill>
                <a:latin typeface="游ゴシック" pitchFamily="34" charset="0"/>
                <a:ea typeface="游ゴシック" pitchFamily="34" charset="-122"/>
                <a:cs typeface="游ゴシック" pitchFamily="34" charset="-120"/>
              </a:rPr>
              <a:t>　区画1と列差の要因</a:t>
            </a:r>
            <a:endParaRPr lang="en-US" sz="1050" dirty="0"/>
          </a:p>
        </p:txBody>
      </p:sp>
      <p:sp>
        <p:nvSpPr>
          <p:cNvPr id="15" name="Text 13"/>
          <p:cNvSpPr txBox="1"/>
          <p:nvPr/>
        </p:nvSpPr>
        <p:spPr>
          <a:xfrm>
            <a:off x="2167128" y="2990088"/>
            <a:ext cx="1389888" cy="237744"/>
          </a:xfrm>
          <a:prstGeom prst="rect">
            <a:avLst/>
          </a:prstGeom>
          <a:noFill/>
          <a:ln/>
        </p:spPr>
        <p:txBody>
          <a:bodyPr wrap="square" lIns="0" tIns="0" rIns="0" bIns="0" rtlCol="0" anchor="ctr"/>
          <a:lstStyle/>
          <a:p>
            <a:pPr marL="0" indent="0">
              <a:buNone/>
            </a:pPr>
            <a:r>
              <a:rPr lang="en-US" sz="1000" dirty="0">
                <a:solidFill>
                  <a:srgbClr val="5E6B7A"/>
                </a:solidFill>
                <a:latin typeface="游ゴシック" pitchFamily="34" charset="0"/>
                <a:ea typeface="游ゴシック" pitchFamily="34" charset="-122"/>
                <a:cs typeface="游ゴシック" pitchFamily="34" charset="-120"/>
              </a:rPr>
              <a:t>p.9〜16</a:t>
            </a:r>
            <a:endParaRPr lang="en-US" sz="1000" dirty="0"/>
          </a:p>
        </p:txBody>
      </p:sp>
      <p:sp>
        <p:nvSpPr>
          <p:cNvPr id="16" name="Shape 14"/>
          <p:cNvSpPr/>
          <p:nvPr/>
        </p:nvSpPr>
        <p:spPr>
          <a:xfrm>
            <a:off x="3785616" y="1188720"/>
            <a:ext cx="1572768" cy="411480"/>
          </a:xfrm>
          <a:prstGeom prst="rect">
            <a:avLst/>
          </a:prstGeom>
          <a:solidFill>
            <a:srgbClr val="8E5BC4"/>
          </a:solidFill>
          <a:ln w="12700">
            <a:solidFill>
              <a:srgbClr val="8E5BC4"/>
            </a:solidFill>
            <a:prstDash val="solid"/>
          </a:ln>
        </p:spPr>
        <p:txBody>
          <a:bodyPr/>
          <a:lstStyle/>
          <a:p>
            <a:endParaRPr lang="ja-JP" altLang="en-US"/>
          </a:p>
        </p:txBody>
      </p:sp>
      <p:sp>
        <p:nvSpPr>
          <p:cNvPr id="17" name="Text 15"/>
          <p:cNvSpPr txBox="1"/>
          <p:nvPr/>
        </p:nvSpPr>
        <p:spPr>
          <a:xfrm>
            <a:off x="3785616" y="1188720"/>
            <a:ext cx="1572768"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游ゴシック" pitchFamily="34" charset="0"/>
                <a:ea typeface="游ゴシック" pitchFamily="34" charset="-122"/>
                <a:cs typeface="游ゴシック" pitchFamily="34" charset="-120"/>
              </a:rPr>
              <a:t>補足分析（条件別）</a:t>
            </a:r>
            <a:endParaRPr lang="en-US" sz="1200" dirty="0"/>
          </a:p>
        </p:txBody>
      </p:sp>
      <p:sp>
        <p:nvSpPr>
          <p:cNvPr id="18" name="Shape 16"/>
          <p:cNvSpPr/>
          <p:nvPr/>
        </p:nvSpPr>
        <p:spPr>
          <a:xfrm>
            <a:off x="3785616" y="1600200"/>
            <a:ext cx="1572768" cy="1691640"/>
          </a:xfrm>
          <a:prstGeom prst="rect">
            <a:avLst/>
          </a:prstGeom>
          <a:solidFill>
            <a:srgbClr val="F3F5F8"/>
          </a:solidFill>
          <a:ln w="12700">
            <a:solidFill>
              <a:srgbClr val="F3F5F8"/>
            </a:solidFill>
            <a:prstDash val="solid"/>
          </a:ln>
        </p:spPr>
        <p:txBody>
          <a:bodyPr/>
          <a:lstStyle/>
          <a:p>
            <a:endParaRPr lang="ja-JP" altLang="en-US"/>
          </a:p>
        </p:txBody>
      </p:sp>
      <p:sp>
        <p:nvSpPr>
          <p:cNvPr id="19" name="Text 17"/>
          <p:cNvSpPr txBox="1"/>
          <p:nvPr/>
        </p:nvSpPr>
        <p:spPr>
          <a:xfrm>
            <a:off x="3877056" y="1691640"/>
            <a:ext cx="1389888" cy="1234440"/>
          </a:xfrm>
          <a:prstGeom prst="rect">
            <a:avLst/>
          </a:prstGeom>
          <a:noFill/>
          <a:ln/>
        </p:spPr>
        <p:txBody>
          <a:bodyPr wrap="square" lIns="0" tIns="0" rIns="0" bIns="0" rtlCol="0" anchor="t"/>
          <a:lstStyle/>
          <a:p>
            <a:pPr marL="0" indent="0">
              <a:buNone/>
            </a:pPr>
            <a:r>
              <a:rPr lang="en-US" sz="1050" dirty="0">
                <a:solidFill>
                  <a:srgbClr val="172033"/>
                </a:solidFill>
                <a:latin typeface="游ゴシック" pitchFamily="34" charset="0"/>
                <a:ea typeface="游ゴシック" pitchFamily="34" charset="-122"/>
                <a:cs typeface="游ゴシック" pitchFamily="34" charset="-120"/>
              </a:rPr>
              <a:t>分析4　天気・気温</a:t>
            </a:r>
            <a:endParaRPr lang="en-US" sz="1050" dirty="0"/>
          </a:p>
          <a:p>
            <a:pPr marL="0" indent="0">
              <a:buNone/>
            </a:pPr>
            <a:r>
              <a:rPr lang="en-US" sz="1050" dirty="0">
                <a:solidFill>
                  <a:srgbClr val="172033"/>
                </a:solidFill>
                <a:latin typeface="游ゴシック" pitchFamily="34" charset="0"/>
                <a:ea typeface="游ゴシック" pitchFamily="34" charset="-122"/>
                <a:cs typeface="游ゴシック" pitchFamily="34" charset="-120"/>
              </a:rPr>
              <a:t>　条件をまとめた回帰</a:t>
            </a:r>
            <a:endParaRPr lang="en-US" sz="1050" dirty="0"/>
          </a:p>
          <a:p>
            <a:pPr marL="0" indent="0">
              <a:buNone/>
            </a:pPr>
            <a:r>
              <a:rPr lang="en-US" sz="1050" dirty="0">
                <a:solidFill>
                  <a:srgbClr val="172033"/>
                </a:solidFill>
                <a:latin typeface="游ゴシック" pitchFamily="34" charset="0"/>
                <a:ea typeface="游ゴシック" pitchFamily="34" charset="-122"/>
                <a:cs typeface="游ゴシック" pitchFamily="34" charset="-120"/>
              </a:rPr>
              <a:t>分析5　風速別</a:t>
            </a:r>
            <a:endParaRPr lang="en-US" sz="1050" dirty="0"/>
          </a:p>
          <a:p>
            <a:pPr marL="0" indent="0">
              <a:buNone/>
            </a:pPr>
            <a:r>
              <a:rPr lang="en-US" sz="1050" dirty="0">
                <a:solidFill>
                  <a:srgbClr val="172033"/>
                </a:solidFill>
                <a:latin typeface="游ゴシック" pitchFamily="34" charset="0"/>
                <a:ea typeface="游ゴシック" pitchFamily="34" charset="-122"/>
                <a:cs typeface="游ゴシック" pitchFamily="34" charset="-120"/>
              </a:rPr>
              <a:t>分析7　期間の推移</a:t>
            </a:r>
            <a:endParaRPr lang="en-US" sz="1050" dirty="0"/>
          </a:p>
        </p:txBody>
      </p:sp>
      <p:sp>
        <p:nvSpPr>
          <p:cNvPr id="20" name="Text 18"/>
          <p:cNvSpPr txBox="1"/>
          <p:nvPr/>
        </p:nvSpPr>
        <p:spPr>
          <a:xfrm>
            <a:off x="3877056" y="2990088"/>
            <a:ext cx="1389888" cy="237744"/>
          </a:xfrm>
          <a:prstGeom prst="rect">
            <a:avLst/>
          </a:prstGeom>
          <a:noFill/>
          <a:ln/>
        </p:spPr>
        <p:txBody>
          <a:bodyPr wrap="square" lIns="0" tIns="0" rIns="0" bIns="0" rtlCol="0" anchor="ctr"/>
          <a:lstStyle/>
          <a:p>
            <a:pPr marL="0" indent="0">
              <a:buNone/>
            </a:pPr>
            <a:r>
              <a:rPr lang="en-US" sz="1000" dirty="0">
                <a:solidFill>
                  <a:srgbClr val="5E6B7A"/>
                </a:solidFill>
                <a:latin typeface="游ゴシック" pitchFamily="34" charset="0"/>
                <a:ea typeface="游ゴシック" pitchFamily="34" charset="-122"/>
                <a:cs typeface="游ゴシック" pitchFamily="34" charset="-120"/>
              </a:rPr>
              <a:t>p.17〜25</a:t>
            </a:r>
            <a:endParaRPr lang="en-US" sz="1000" dirty="0"/>
          </a:p>
        </p:txBody>
      </p:sp>
      <p:sp>
        <p:nvSpPr>
          <p:cNvPr id="21" name="Shape 19"/>
          <p:cNvSpPr/>
          <p:nvPr/>
        </p:nvSpPr>
        <p:spPr>
          <a:xfrm>
            <a:off x="5495544" y="1188720"/>
            <a:ext cx="1572768" cy="411480"/>
          </a:xfrm>
          <a:prstGeom prst="rect">
            <a:avLst/>
          </a:prstGeom>
          <a:solidFill>
            <a:srgbClr val="118DFF"/>
          </a:solidFill>
          <a:ln w="12700">
            <a:solidFill>
              <a:srgbClr val="118DFF"/>
            </a:solidFill>
            <a:prstDash val="solid"/>
          </a:ln>
        </p:spPr>
        <p:txBody>
          <a:bodyPr/>
          <a:lstStyle/>
          <a:p>
            <a:endParaRPr lang="ja-JP" altLang="en-US"/>
          </a:p>
        </p:txBody>
      </p:sp>
      <p:sp>
        <p:nvSpPr>
          <p:cNvPr id="22" name="Text 20"/>
          <p:cNvSpPr txBox="1"/>
          <p:nvPr/>
        </p:nvSpPr>
        <p:spPr>
          <a:xfrm>
            <a:off x="5495544" y="1188720"/>
            <a:ext cx="1572768"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游ゴシック" pitchFamily="34" charset="0"/>
                <a:ea typeface="游ゴシック" pitchFamily="34" charset="-122"/>
                <a:cs typeface="游ゴシック" pitchFamily="34" charset="-120"/>
              </a:rPr>
              <a:t>補足分析（詳細）</a:t>
            </a:r>
            <a:endParaRPr lang="en-US" sz="1200" dirty="0"/>
          </a:p>
        </p:txBody>
      </p:sp>
      <p:sp>
        <p:nvSpPr>
          <p:cNvPr id="23" name="Shape 21"/>
          <p:cNvSpPr/>
          <p:nvPr/>
        </p:nvSpPr>
        <p:spPr>
          <a:xfrm>
            <a:off x="5495544" y="1600200"/>
            <a:ext cx="1572768" cy="1691640"/>
          </a:xfrm>
          <a:prstGeom prst="rect">
            <a:avLst/>
          </a:prstGeom>
          <a:solidFill>
            <a:srgbClr val="F3F5F8"/>
          </a:solidFill>
          <a:ln w="12700">
            <a:solidFill>
              <a:srgbClr val="F3F5F8"/>
            </a:solidFill>
            <a:prstDash val="solid"/>
          </a:ln>
        </p:spPr>
        <p:txBody>
          <a:bodyPr/>
          <a:lstStyle/>
          <a:p>
            <a:endParaRPr lang="ja-JP" altLang="en-US"/>
          </a:p>
        </p:txBody>
      </p:sp>
      <p:sp>
        <p:nvSpPr>
          <p:cNvPr id="24" name="Text 22"/>
          <p:cNvSpPr txBox="1"/>
          <p:nvPr/>
        </p:nvSpPr>
        <p:spPr>
          <a:xfrm>
            <a:off x="5586984" y="1691640"/>
            <a:ext cx="1389888" cy="1234440"/>
          </a:xfrm>
          <a:prstGeom prst="rect">
            <a:avLst/>
          </a:prstGeom>
          <a:noFill/>
          <a:ln/>
        </p:spPr>
        <p:txBody>
          <a:bodyPr wrap="square" lIns="0" tIns="0" rIns="0" bIns="0" rtlCol="0" anchor="t"/>
          <a:lstStyle/>
          <a:p>
            <a:pPr marL="0" indent="0">
              <a:buNone/>
            </a:pPr>
            <a:r>
              <a:rPr lang="en-US" sz="1050" dirty="0">
                <a:solidFill>
                  <a:srgbClr val="172033"/>
                </a:solidFill>
                <a:latin typeface="游ゴシック" pitchFamily="34" charset="0"/>
                <a:ea typeface="游ゴシック" pitchFamily="34" charset="-122"/>
                <a:cs typeface="游ゴシック" pitchFamily="34" charset="-120"/>
              </a:rPr>
              <a:t>分析8　代表日</a:t>
            </a:r>
            <a:endParaRPr lang="en-US" sz="1050" dirty="0"/>
          </a:p>
          <a:p>
            <a:pPr marL="0" indent="0">
              <a:buNone/>
            </a:pPr>
            <a:r>
              <a:rPr lang="en-US" sz="1050" dirty="0">
                <a:solidFill>
                  <a:srgbClr val="172033"/>
                </a:solidFill>
                <a:latin typeface="游ゴシック" pitchFamily="34" charset="0"/>
                <a:ea typeface="游ゴシック" pitchFamily="34" charset="-122"/>
                <a:cs typeface="游ゴシック" pitchFamily="34" charset="-120"/>
              </a:rPr>
              <a:t>（1日の流れの例）</a:t>
            </a:r>
            <a:endParaRPr lang="en-US" sz="1050" dirty="0"/>
          </a:p>
        </p:txBody>
      </p:sp>
      <p:sp>
        <p:nvSpPr>
          <p:cNvPr id="25" name="Text 23"/>
          <p:cNvSpPr txBox="1"/>
          <p:nvPr/>
        </p:nvSpPr>
        <p:spPr>
          <a:xfrm>
            <a:off x="5586984" y="2990088"/>
            <a:ext cx="1389888" cy="237744"/>
          </a:xfrm>
          <a:prstGeom prst="rect">
            <a:avLst/>
          </a:prstGeom>
          <a:noFill/>
          <a:ln/>
        </p:spPr>
        <p:txBody>
          <a:bodyPr wrap="square" lIns="0" tIns="0" rIns="0" bIns="0" rtlCol="0" anchor="ctr"/>
          <a:lstStyle/>
          <a:p>
            <a:pPr marL="0" indent="0">
              <a:buNone/>
            </a:pPr>
            <a:r>
              <a:rPr lang="en-US" sz="1000" dirty="0">
                <a:solidFill>
                  <a:srgbClr val="5E6B7A"/>
                </a:solidFill>
                <a:latin typeface="游ゴシック" pitchFamily="34" charset="0"/>
                <a:ea typeface="游ゴシック" pitchFamily="34" charset="-122"/>
                <a:cs typeface="游ゴシック" pitchFamily="34" charset="-120"/>
              </a:rPr>
              <a:t>p.26〜29</a:t>
            </a:r>
            <a:endParaRPr lang="en-US" sz="1000" dirty="0"/>
          </a:p>
        </p:txBody>
      </p:sp>
      <p:sp>
        <p:nvSpPr>
          <p:cNvPr id="26" name="Shape 24"/>
          <p:cNvSpPr/>
          <p:nvPr/>
        </p:nvSpPr>
        <p:spPr>
          <a:xfrm>
            <a:off x="7205472" y="1188720"/>
            <a:ext cx="1572768" cy="411480"/>
          </a:xfrm>
          <a:prstGeom prst="rect">
            <a:avLst/>
          </a:prstGeom>
          <a:solidFill>
            <a:srgbClr val="01B8AA"/>
          </a:solidFill>
          <a:ln w="12700">
            <a:solidFill>
              <a:srgbClr val="01B8AA"/>
            </a:solidFill>
            <a:prstDash val="solid"/>
          </a:ln>
        </p:spPr>
        <p:txBody>
          <a:bodyPr/>
          <a:lstStyle/>
          <a:p>
            <a:endParaRPr lang="ja-JP" altLang="en-US"/>
          </a:p>
        </p:txBody>
      </p:sp>
      <p:sp>
        <p:nvSpPr>
          <p:cNvPr id="27" name="Text 25"/>
          <p:cNvSpPr txBox="1"/>
          <p:nvPr/>
        </p:nvSpPr>
        <p:spPr>
          <a:xfrm>
            <a:off x="7205472" y="1188720"/>
            <a:ext cx="1572768"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游ゴシック" pitchFamily="34" charset="0"/>
                <a:ea typeface="游ゴシック" pitchFamily="34" charset="-122"/>
                <a:cs typeface="游ゴシック" pitchFamily="34" charset="-120"/>
              </a:rPr>
              <a:t>検証・まとめ</a:t>
            </a:r>
            <a:endParaRPr lang="en-US" sz="1200" dirty="0"/>
          </a:p>
        </p:txBody>
      </p:sp>
      <p:sp>
        <p:nvSpPr>
          <p:cNvPr id="28" name="Shape 26"/>
          <p:cNvSpPr/>
          <p:nvPr/>
        </p:nvSpPr>
        <p:spPr>
          <a:xfrm>
            <a:off x="7205472" y="1600200"/>
            <a:ext cx="1572768" cy="1691640"/>
          </a:xfrm>
          <a:prstGeom prst="rect">
            <a:avLst/>
          </a:prstGeom>
          <a:solidFill>
            <a:srgbClr val="F3F5F8"/>
          </a:solidFill>
          <a:ln w="12700">
            <a:solidFill>
              <a:srgbClr val="F3F5F8"/>
            </a:solidFill>
            <a:prstDash val="solid"/>
          </a:ln>
        </p:spPr>
        <p:txBody>
          <a:bodyPr/>
          <a:lstStyle/>
          <a:p>
            <a:endParaRPr lang="ja-JP" altLang="en-US"/>
          </a:p>
        </p:txBody>
      </p:sp>
      <p:sp>
        <p:nvSpPr>
          <p:cNvPr id="29" name="Text 27"/>
          <p:cNvSpPr txBox="1"/>
          <p:nvPr/>
        </p:nvSpPr>
        <p:spPr>
          <a:xfrm>
            <a:off x="7296912" y="1691640"/>
            <a:ext cx="1389888" cy="1234440"/>
          </a:xfrm>
          <a:prstGeom prst="rect">
            <a:avLst/>
          </a:prstGeom>
          <a:noFill/>
          <a:ln/>
        </p:spPr>
        <p:txBody>
          <a:bodyPr wrap="square" lIns="0" tIns="0" rIns="0" bIns="0" rtlCol="0" anchor="t"/>
          <a:lstStyle/>
          <a:p>
            <a:pPr marL="0" indent="0">
              <a:buNone/>
            </a:pPr>
            <a:r>
              <a:rPr lang="en-US" sz="1050" dirty="0">
                <a:solidFill>
                  <a:srgbClr val="172033"/>
                </a:solidFill>
                <a:latin typeface="游ゴシック" pitchFamily="34" charset="0"/>
                <a:ea typeface="游ゴシック" pitchFamily="34" charset="-122"/>
                <a:cs typeface="游ゴシック" pitchFamily="34" charset="-120"/>
              </a:rPr>
              <a:t>エアネット分析との比較</a:t>
            </a:r>
            <a:endParaRPr lang="en-US" sz="1050" dirty="0"/>
          </a:p>
          <a:p>
            <a:pPr marL="0" indent="0">
              <a:buNone/>
            </a:pPr>
            <a:r>
              <a:rPr lang="en-US" sz="1050" dirty="0">
                <a:solidFill>
                  <a:srgbClr val="172033"/>
                </a:solidFill>
                <a:latin typeface="游ゴシック" pitchFamily="34" charset="0"/>
                <a:ea typeface="游ゴシック" pitchFamily="34" charset="-122"/>
                <a:cs typeface="游ゴシック" pitchFamily="34" charset="-120"/>
              </a:rPr>
              <a:t>言えること／まだ言えないこと</a:t>
            </a:r>
            <a:endParaRPr lang="en-US" sz="1050" dirty="0"/>
          </a:p>
          <a:p>
            <a:pPr marL="0" indent="0">
              <a:buNone/>
            </a:pPr>
            <a:r>
              <a:rPr lang="en-US" sz="1050" dirty="0">
                <a:solidFill>
                  <a:srgbClr val="172033"/>
                </a:solidFill>
                <a:latin typeface="游ゴシック" pitchFamily="34" charset="0"/>
                <a:ea typeface="游ゴシック" pitchFamily="34" charset="-122"/>
                <a:cs typeface="游ゴシック" pitchFamily="34" charset="-120"/>
              </a:rPr>
              <a:t>今後の計測</a:t>
            </a:r>
            <a:endParaRPr lang="en-US" sz="1050" dirty="0"/>
          </a:p>
          <a:p>
            <a:pPr marL="0" indent="0">
              <a:buNone/>
            </a:pPr>
            <a:r>
              <a:rPr lang="en-US" sz="1050" dirty="0">
                <a:solidFill>
                  <a:srgbClr val="172033"/>
                </a:solidFill>
                <a:latin typeface="游ゴシック" pitchFamily="34" charset="0"/>
                <a:ea typeface="游ゴシック" pitchFamily="34" charset="-122"/>
                <a:cs typeface="游ゴシック" pitchFamily="34" charset="-120"/>
              </a:rPr>
              <a:t>付録：分析6</a:t>
            </a:r>
            <a:endParaRPr lang="en-US" sz="1050" dirty="0"/>
          </a:p>
        </p:txBody>
      </p:sp>
      <p:sp>
        <p:nvSpPr>
          <p:cNvPr id="30" name="Text 28"/>
          <p:cNvSpPr txBox="1"/>
          <p:nvPr/>
        </p:nvSpPr>
        <p:spPr>
          <a:xfrm>
            <a:off x="7296912" y="2990088"/>
            <a:ext cx="1389888" cy="237744"/>
          </a:xfrm>
          <a:prstGeom prst="rect">
            <a:avLst/>
          </a:prstGeom>
          <a:noFill/>
          <a:ln/>
        </p:spPr>
        <p:txBody>
          <a:bodyPr wrap="square" lIns="0" tIns="0" rIns="0" bIns="0" rtlCol="0" anchor="ctr"/>
          <a:lstStyle/>
          <a:p>
            <a:pPr marL="0" indent="0">
              <a:buNone/>
            </a:pPr>
            <a:r>
              <a:rPr lang="en-US" sz="1000" dirty="0">
                <a:solidFill>
                  <a:srgbClr val="5E6B7A"/>
                </a:solidFill>
                <a:latin typeface="游ゴシック" pitchFamily="34" charset="0"/>
                <a:ea typeface="游ゴシック" pitchFamily="34" charset="-122"/>
                <a:cs typeface="游ゴシック" pitchFamily="34" charset="-120"/>
              </a:rPr>
              <a:t>p.30〜34</a:t>
            </a:r>
            <a:endParaRPr lang="en-US" sz="1000" dirty="0"/>
          </a:p>
        </p:txBody>
      </p:sp>
      <p:sp>
        <p:nvSpPr>
          <p:cNvPr id="31" name="Shape 29"/>
          <p:cNvSpPr/>
          <p:nvPr/>
        </p:nvSpPr>
        <p:spPr>
          <a:xfrm>
            <a:off x="365760" y="3520440"/>
            <a:ext cx="8412480" cy="1188720"/>
          </a:xfrm>
          <a:prstGeom prst="roundRect">
            <a:avLst>
              <a:gd name="adj" fmla="val 4615"/>
            </a:avLst>
          </a:prstGeom>
          <a:solidFill>
            <a:srgbClr val="E4F7F4"/>
          </a:solidFill>
          <a:ln w="12700">
            <a:solidFill>
              <a:srgbClr val="E4F7F4"/>
            </a:solidFill>
            <a:prstDash val="solid"/>
          </a:ln>
        </p:spPr>
        <p:txBody>
          <a:bodyPr/>
          <a:lstStyle/>
          <a:p>
            <a:endParaRPr lang="ja-JP" altLang="en-US"/>
          </a:p>
        </p:txBody>
      </p:sp>
      <p:sp>
        <p:nvSpPr>
          <p:cNvPr id="32" name="Text 30"/>
          <p:cNvSpPr txBox="1"/>
          <p:nvPr/>
        </p:nvSpPr>
        <p:spPr>
          <a:xfrm>
            <a:off x="502920" y="3593592"/>
            <a:ext cx="813816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読み方</a:t>
            </a:r>
            <a:endParaRPr lang="en-US" sz="1200" dirty="0"/>
          </a:p>
        </p:txBody>
      </p:sp>
      <p:sp>
        <p:nvSpPr>
          <p:cNvPr id="33" name="Text 31"/>
          <p:cNvSpPr txBox="1"/>
          <p:nvPr/>
        </p:nvSpPr>
        <p:spPr>
          <a:xfrm>
            <a:off x="502920" y="3886200"/>
            <a:ext cx="8138160" cy="758952"/>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172033"/>
                </a:solidFill>
                <a:latin typeface="游ゴシック" pitchFamily="34" charset="0"/>
                <a:ea typeface="游ゴシック" pitchFamily="34" charset="-122"/>
                <a:cs typeface="游ゴシック" pitchFamily="34" charset="-120"/>
              </a:rPr>
              <a:t>吸気温度差＝芋緑化ありの列 − なしの列（OACP-3）。負に大きいほど「吸気温度の低減効果が大きい」</a:t>
            </a:r>
            <a:endParaRPr lang="en-US" sz="1100" dirty="0"/>
          </a:p>
          <a:p>
            <a:pPr marL="152400" indent="-152400">
              <a:spcAft>
                <a:spcPts val="300"/>
              </a:spcAft>
              <a:buSzPct val="100000"/>
              <a:buChar char="•"/>
            </a:pPr>
            <a:r>
              <a:rPr lang="en-US" sz="1100" dirty="0">
                <a:solidFill>
                  <a:srgbClr val="172033"/>
                </a:solidFill>
                <a:latin typeface="游ゴシック" pitchFamily="34" charset="0"/>
                <a:ea typeface="游ゴシック" pitchFamily="34" charset="-122"/>
                <a:cs typeface="游ゴシック" pitchFamily="34" charset="-120"/>
              </a:rPr>
              <a:t>95％区間は、日の値が前後の日と似ていることを考え、連続5日間をひとまとまりにして再標本化して求めた</a:t>
            </a:r>
            <a:endParaRPr lang="en-US" sz="1100" dirty="0"/>
          </a:p>
        </p:txBody>
      </p:sp>
      <p:sp>
        <p:nvSpPr>
          <p:cNvPr id="34"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計測概要：対象の列と計測点</a:t>
            </a:r>
            <a:endParaRPr lang="en-US" sz="2000" dirty="0"/>
          </a:p>
        </p:txBody>
      </p:sp>
      <p:sp>
        <p:nvSpPr>
          <p:cNvPr id="3" name="Shape 1"/>
          <p:cNvSpPr/>
          <p:nvPr/>
        </p:nvSpPr>
        <p:spPr>
          <a:xfrm>
            <a:off x="7726680" y="155448"/>
            <a:ext cx="1097280" cy="274320"/>
          </a:xfrm>
          <a:prstGeom prst="roundRect">
            <a:avLst>
              <a:gd name="adj" fmla="val 26667"/>
            </a:avLst>
          </a:prstGeom>
          <a:solidFill>
            <a:srgbClr val="5E6B7A"/>
          </a:solidFill>
          <a:ln w="12700">
            <a:solidFill>
              <a:srgbClr val="5E6B7A"/>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前提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どの室外機のどこを測っているかを最初に共有する</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1143000"/>
          <a:ext cx="4572000" cy="1554480"/>
        </p:xfrm>
        <a:graphic>
          <a:graphicData uri="http://schemas.openxmlformats.org/drawingml/2006/table">
            <a:tbl>
              <a:tblPr/>
              <a:tblGrid>
                <a:gridCol w="8229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310896">
                <a:tc>
                  <a:txBody>
                    <a:bodyP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列</a:t>
                      </a:r>
                      <a:endParaRPr lang="en-US" sz="11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芋緑化</a:t>
                      </a:r>
                      <a:endParaRPr lang="en-US" sz="11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区画</a:t>
                      </a:r>
                      <a:endParaRPr lang="en-US" sz="11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計測項目</a:t>
                      </a:r>
                      <a:endParaRPr lang="en-US" sz="11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extLst>
                  <a:ext uri="{0D108BD9-81ED-4DB2-BD59-A6C34878D82A}">
                    <a16:rowId xmlns:a16="http://schemas.microsoft.com/office/drawing/2014/main" val="10000"/>
                  </a:ext>
                </a:extLst>
              </a:tr>
              <a:tr h="512064">
                <a:tc>
                  <a:txBody>
                    <a:bodyPr/>
                    <a:lstStyle/>
                    <a:p>
                      <a:pPr marL="0" indent="0" algn="ctr">
                        <a:buNone/>
                      </a:pPr>
                      <a:r>
                        <a:rPr lang="en-US" sz="1100" dirty="0">
                          <a:solidFill>
                            <a:srgbClr val="172033"/>
                          </a:solidFill>
                          <a:latin typeface="游ゴシック" pitchFamily="34" charset="0"/>
                          <a:ea typeface="游ゴシック" pitchFamily="34" charset="-122"/>
                          <a:cs typeface="游ゴシック" pitchFamily="34" charset="-120"/>
                        </a:rPr>
                        <a:t>OACP-3</a:t>
                      </a:r>
                      <a:endParaRPr lang="en-US" sz="11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100" b="1" dirty="0">
                          <a:solidFill>
                            <a:srgbClr val="5E6B7A"/>
                          </a:solidFill>
                          <a:latin typeface="游ゴシック" pitchFamily="34" charset="0"/>
                          <a:ea typeface="游ゴシック" pitchFamily="34" charset="-122"/>
                          <a:cs typeface="游ゴシック" pitchFamily="34" charset="-120"/>
                        </a:rPr>
                        <a:t>なし</a:t>
                      </a:r>
                      <a:endParaRPr lang="en-US" sz="11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100" dirty="0">
                          <a:solidFill>
                            <a:srgbClr val="172033"/>
                          </a:solidFill>
                          <a:latin typeface="游ゴシック" pitchFamily="34" charset="0"/>
                          <a:ea typeface="游ゴシック" pitchFamily="34" charset="-122"/>
                          <a:cs typeface="游ゴシック" pitchFamily="34" charset="-120"/>
                        </a:rPr>
                        <a:t>左・中央・右</a:t>
                      </a:r>
                      <a:endParaRPr lang="en-US" sz="11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50" dirty="0">
                          <a:solidFill>
                            <a:srgbClr val="172033"/>
                          </a:solidFill>
                          <a:latin typeface="游ゴシック" pitchFamily="34" charset="0"/>
                          <a:ea typeface="游ゴシック" pitchFamily="34" charset="-122"/>
                          <a:cs typeface="游ゴシック" pitchFamily="34" charset="-120"/>
                        </a:rPr>
                        <a:t>吸気（3方位）・排気・</a:t>
                      </a:r>
                      <a:endParaRPr lang="en-US" sz="1050" dirty="0">
                        <a:latin typeface="游ゴシック" charset="0"/>
                        <a:ea typeface="游ゴシック" charset="0"/>
                        <a:cs typeface="游ゴシック" charset="0"/>
                      </a:endParaRPr>
                    </a:p>
                    <a:p>
                      <a:pPr marL="0" indent="0" algn="ctr">
                        <a:buNone/>
                      </a:pPr>
                      <a:r>
                        <a:rPr lang="en-US" sz="1050" dirty="0">
                          <a:solidFill>
                            <a:srgbClr val="172033"/>
                          </a:solidFill>
                          <a:latin typeface="游ゴシック" pitchFamily="34" charset="0"/>
                          <a:ea typeface="游ゴシック" pitchFamily="34" charset="-122"/>
                          <a:cs typeface="游ゴシック" pitchFamily="34" charset="-120"/>
                        </a:rPr>
                        <a:t>メンテ空間・表面</a:t>
                      </a:r>
                      <a:endParaRPr lang="en-US" sz="10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ctr">
                        <a:buNone/>
                      </a:pPr>
                      <a:r>
                        <a:rPr lang="en-US" sz="1100" dirty="0">
                          <a:solidFill>
                            <a:srgbClr val="172033"/>
                          </a:solidFill>
                          <a:latin typeface="游ゴシック" pitchFamily="34" charset="0"/>
                          <a:ea typeface="游ゴシック" pitchFamily="34" charset="-122"/>
                          <a:cs typeface="游ゴシック" pitchFamily="34" charset="-120"/>
                        </a:rPr>
                        <a:t>OACP-8</a:t>
                      </a:r>
                      <a:endParaRPr lang="en-US" sz="11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100" b="1" dirty="0">
                          <a:solidFill>
                            <a:srgbClr val="E66C64"/>
                          </a:solidFill>
                          <a:latin typeface="游ゴシック" pitchFamily="34" charset="0"/>
                          <a:ea typeface="游ゴシック" pitchFamily="34" charset="-122"/>
                          <a:cs typeface="游ゴシック" pitchFamily="34" charset="-120"/>
                        </a:rPr>
                        <a:t>あり</a:t>
                      </a:r>
                      <a:endParaRPr lang="en-US" sz="11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100" dirty="0">
                          <a:solidFill>
                            <a:srgbClr val="172033"/>
                          </a:solidFill>
                          <a:latin typeface="游ゴシック" pitchFamily="34" charset="0"/>
                          <a:ea typeface="游ゴシック" pitchFamily="34" charset="-122"/>
                          <a:cs typeface="游ゴシック" pitchFamily="34" charset="-120"/>
                        </a:rPr>
                        <a:t>左・中央・右</a:t>
                      </a:r>
                      <a:endParaRPr lang="en-US" sz="11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50" dirty="0">
                          <a:solidFill>
                            <a:srgbClr val="172033"/>
                          </a:solidFill>
                          <a:latin typeface="游ゴシック" pitchFamily="34" charset="0"/>
                          <a:ea typeface="游ゴシック" pitchFamily="34" charset="-122"/>
                          <a:cs typeface="游ゴシック" pitchFamily="34" charset="-120"/>
                        </a:rPr>
                        <a:t>同上＋葉の温度</a:t>
                      </a:r>
                      <a:endParaRPr lang="en-US" sz="10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ctr">
                        <a:buNone/>
                      </a:pPr>
                      <a:r>
                        <a:rPr lang="en-US" sz="1100" dirty="0">
                          <a:solidFill>
                            <a:srgbClr val="172033"/>
                          </a:solidFill>
                          <a:latin typeface="游ゴシック" pitchFamily="34" charset="0"/>
                          <a:ea typeface="游ゴシック" pitchFamily="34" charset="-122"/>
                          <a:cs typeface="游ゴシック" pitchFamily="34" charset="-120"/>
                        </a:rPr>
                        <a:t>OACP-11</a:t>
                      </a:r>
                      <a:endParaRPr lang="en-US" sz="11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100" b="1" dirty="0">
                          <a:solidFill>
                            <a:srgbClr val="E66C64"/>
                          </a:solidFill>
                          <a:latin typeface="游ゴシック" pitchFamily="34" charset="0"/>
                          <a:ea typeface="游ゴシック" pitchFamily="34" charset="-122"/>
                          <a:cs typeface="游ゴシック" pitchFamily="34" charset="-120"/>
                        </a:rPr>
                        <a:t>あり</a:t>
                      </a:r>
                      <a:endParaRPr lang="en-US" sz="11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100" dirty="0">
                          <a:solidFill>
                            <a:srgbClr val="172033"/>
                          </a:solidFill>
                          <a:latin typeface="游ゴシック" pitchFamily="34" charset="0"/>
                          <a:ea typeface="游ゴシック" pitchFamily="34" charset="-122"/>
                          <a:cs typeface="游ゴシック" pitchFamily="34" charset="-120"/>
                        </a:rPr>
                        <a:t>左・中央・右</a:t>
                      </a:r>
                      <a:endParaRPr lang="en-US" sz="11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50" dirty="0">
                          <a:solidFill>
                            <a:srgbClr val="172033"/>
                          </a:solidFill>
                          <a:latin typeface="游ゴシック" pitchFamily="34" charset="0"/>
                          <a:ea typeface="游ゴシック" pitchFamily="34" charset="-122"/>
                          <a:cs typeface="游ゴシック" pitchFamily="34" charset="-120"/>
                        </a:rPr>
                        <a:t>同上＋葉の温度</a:t>
                      </a:r>
                      <a:endParaRPr lang="en-US" sz="10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Shape 4"/>
          <p:cNvSpPr/>
          <p:nvPr/>
        </p:nvSpPr>
        <p:spPr>
          <a:xfrm>
            <a:off x="365760" y="3063240"/>
            <a:ext cx="4572000" cy="1645920"/>
          </a:xfrm>
          <a:prstGeom prst="roundRect">
            <a:avLst>
              <a:gd name="adj" fmla="val 3333"/>
            </a:avLst>
          </a:prstGeom>
          <a:solidFill>
            <a:srgbClr val="EAF4FF"/>
          </a:solidFill>
          <a:ln w="12700">
            <a:solidFill>
              <a:srgbClr val="EAF4FF"/>
            </a:solidFill>
            <a:prstDash val="solid"/>
          </a:ln>
        </p:spPr>
        <p:txBody>
          <a:bodyPr/>
          <a:lstStyle/>
          <a:p>
            <a:endParaRPr lang="ja-JP" altLang="en-US"/>
          </a:p>
        </p:txBody>
      </p:sp>
      <p:sp>
        <p:nvSpPr>
          <p:cNvPr id="8" name="Text 5"/>
          <p:cNvSpPr txBox="1"/>
          <p:nvPr/>
        </p:nvSpPr>
        <p:spPr>
          <a:xfrm>
            <a:off x="502920" y="3136392"/>
            <a:ext cx="429768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共通の計測</a:t>
            </a:r>
            <a:endParaRPr lang="en-US" sz="1200" dirty="0"/>
          </a:p>
        </p:txBody>
      </p:sp>
      <p:sp>
        <p:nvSpPr>
          <p:cNvPr id="9" name="Text 6"/>
          <p:cNvSpPr txBox="1"/>
          <p:nvPr/>
        </p:nvSpPr>
        <p:spPr>
          <a:xfrm>
            <a:off x="502920" y="3429000"/>
            <a:ext cx="4297680" cy="1216152"/>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172033"/>
                </a:solidFill>
                <a:latin typeface="游ゴシック" pitchFamily="34" charset="0"/>
                <a:ea typeface="游ゴシック" pitchFamily="34" charset="-122"/>
                <a:cs typeface="游ゴシック" pitchFamily="34" charset="-120"/>
              </a:rPr>
              <a:t>通路内の温湿度（3列）、通路内の風速・風向（列3側・列8側の2か所）</a:t>
            </a:r>
            <a:endParaRPr lang="en-US" sz="1100" dirty="0"/>
          </a:p>
          <a:p>
            <a:pPr marL="152400" indent="-152400">
              <a:spcAft>
                <a:spcPts val="300"/>
              </a:spcAft>
              <a:buSzPct val="100000"/>
              <a:buChar char="•"/>
            </a:pPr>
            <a:r>
              <a:rPr lang="en-US" sz="1100" dirty="0">
                <a:solidFill>
                  <a:srgbClr val="172033"/>
                </a:solidFill>
                <a:latin typeface="游ゴシック" pitchFamily="34" charset="0"/>
                <a:ea typeface="游ゴシック" pitchFamily="34" charset="-122"/>
                <a:cs typeface="游ゴシック" pitchFamily="34" charset="-120"/>
              </a:rPr>
              <a:t>屋上の気温・湿度・風速・風向・雨量・照度</a:t>
            </a:r>
            <a:endParaRPr lang="en-US" sz="1100" dirty="0"/>
          </a:p>
          <a:p>
            <a:pPr marL="152400" indent="-152400">
              <a:spcAft>
                <a:spcPts val="300"/>
              </a:spcAft>
              <a:buSzPct val="100000"/>
              <a:buChar char="•"/>
            </a:pPr>
            <a:r>
              <a:rPr lang="en-US" sz="1100" dirty="0">
                <a:solidFill>
                  <a:srgbClr val="172033"/>
                </a:solidFill>
                <a:latin typeface="游ゴシック" pitchFamily="34" charset="0"/>
                <a:ea typeface="游ゴシック" pitchFamily="34" charset="-122"/>
                <a:cs typeface="游ゴシック" pitchFamily="34" charset="-120"/>
              </a:rPr>
              <a:t>日射量：OACP-3（日向）、OACP-8（緑陰内）</a:t>
            </a:r>
            <a:endParaRPr lang="en-US" sz="1100" dirty="0"/>
          </a:p>
          <a:p>
            <a:pPr marL="152400" indent="-152400">
              <a:spcAft>
                <a:spcPts val="300"/>
              </a:spcAft>
              <a:buSzPct val="100000"/>
              <a:buChar char="•"/>
            </a:pPr>
            <a:r>
              <a:rPr lang="en-US" sz="1100" dirty="0">
                <a:solidFill>
                  <a:srgbClr val="172033"/>
                </a:solidFill>
                <a:latin typeface="游ゴシック" pitchFamily="34" charset="0"/>
                <a:ea typeface="游ゴシック" pitchFamily="34" charset="-122"/>
                <a:cs typeface="游ゴシック" pitchFamily="34" charset="-120"/>
              </a:rPr>
              <a:t>区画1・2は1台目、区画3は2台目の室外機を計測</a:t>
            </a:r>
            <a:endParaRPr lang="en-US" sz="1100" dirty="0"/>
          </a:p>
        </p:txBody>
      </p:sp>
      <p:sp>
        <p:nvSpPr>
          <p:cNvPr id="10" name="Shape 7"/>
          <p:cNvSpPr/>
          <p:nvPr/>
        </p:nvSpPr>
        <p:spPr>
          <a:xfrm>
            <a:off x="5120640" y="1143000"/>
            <a:ext cx="3657600" cy="3566160"/>
          </a:xfrm>
          <a:prstGeom prst="rect">
            <a:avLst/>
          </a:prstGeom>
          <a:solidFill>
            <a:srgbClr val="FFFFFF"/>
          </a:solidFill>
          <a:ln w="12700">
            <a:solidFill>
              <a:srgbClr val="5E6B7A"/>
            </a:solidFill>
            <a:prstDash val="dash"/>
          </a:ln>
        </p:spPr>
        <p:txBody>
          <a:bodyPr/>
          <a:lstStyle/>
          <a:p>
            <a:endParaRPr lang="ja-JP" altLang="en-US"/>
          </a:p>
        </p:txBody>
      </p:sp>
      <p:sp>
        <p:nvSpPr>
          <p:cNvPr id="11" name="Text 8"/>
          <p:cNvSpPr txBox="1"/>
          <p:nvPr/>
        </p:nvSpPr>
        <p:spPr>
          <a:xfrm>
            <a:off x="5257800" y="1234440"/>
            <a:ext cx="914400" cy="237744"/>
          </a:xfrm>
          <a:prstGeom prst="rect">
            <a:avLst/>
          </a:prstGeom>
          <a:solidFill>
            <a:srgbClr val="5E6B7A"/>
          </a:solidFill>
          <a:ln/>
        </p:spPr>
        <p:txBody>
          <a:bodyPr wrap="square" lIns="0" tIns="0" rIns="0" bIns="0" rtlCol="0" anchor="ctr"/>
          <a:lstStyle/>
          <a:p>
            <a:pPr marL="0" indent="0" algn="ctr">
              <a:buNone/>
            </a:pPr>
            <a:r>
              <a:rPr lang="en-US" sz="1000" b="1" dirty="0">
                <a:solidFill>
                  <a:srgbClr val="FFFFFF"/>
                </a:solidFill>
                <a:latin typeface="游ゴシック" pitchFamily="34" charset="0"/>
                <a:ea typeface="游ゴシック" pitchFamily="34" charset="-122"/>
                <a:cs typeface="游ゴシック" pitchFamily="34" charset="-120"/>
              </a:rPr>
              <a:t>グラフ案</a:t>
            </a:r>
            <a:endParaRPr lang="en-US" sz="1000" dirty="0"/>
          </a:p>
        </p:txBody>
      </p:sp>
      <p:sp>
        <p:nvSpPr>
          <p:cNvPr id="12" name="Text 9"/>
          <p:cNvSpPr txBox="1"/>
          <p:nvPr/>
        </p:nvSpPr>
        <p:spPr>
          <a:xfrm>
            <a:off x="5257800" y="1527048"/>
            <a:ext cx="3383280" cy="457200"/>
          </a:xfrm>
          <a:prstGeom prst="rect">
            <a:avLst/>
          </a:prstGeom>
          <a:noFill/>
          <a:ln/>
        </p:spPr>
        <p:txBody>
          <a:bodyPr wrap="square" lIns="0" tIns="0" rIns="0" bIns="0" rtlCol="0" anchor="ctr"/>
          <a:lstStyle/>
          <a:p>
            <a:pPr marL="0" indent="0">
              <a:buNone/>
            </a:pPr>
            <a:r>
              <a:rPr lang="en-US" sz="1250" b="1" dirty="0">
                <a:solidFill>
                  <a:srgbClr val="22354F"/>
                </a:solidFill>
                <a:latin typeface="游ゴシック" pitchFamily="34" charset="0"/>
                <a:ea typeface="游ゴシック" pitchFamily="34" charset="-122"/>
                <a:cs typeface="游ゴシック" pitchFamily="34" charset="-120"/>
              </a:rPr>
              <a:t>屋上配置図と計測点の写真</a:t>
            </a:r>
            <a:endParaRPr lang="en-US" sz="1250" dirty="0"/>
          </a:p>
        </p:txBody>
      </p:sp>
      <p:sp>
        <p:nvSpPr>
          <p:cNvPr id="13" name="Text 10"/>
          <p:cNvSpPr txBox="1"/>
          <p:nvPr/>
        </p:nvSpPr>
        <p:spPr>
          <a:xfrm>
            <a:off x="5257800" y="2057400"/>
            <a:ext cx="3383280" cy="2578608"/>
          </a:xfrm>
          <a:prstGeom prst="rect">
            <a:avLst/>
          </a:prstGeom>
          <a:noFill/>
          <a:ln/>
        </p:spPr>
        <p:txBody>
          <a:bodyPr wrap="square" lIns="0" tIns="0" rIns="0" bIns="0" rtlCol="0" anchor="t"/>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横軸　</a:t>
            </a:r>
            <a:r>
              <a:rPr lang="en-US" sz="1050" dirty="0">
                <a:solidFill>
                  <a:srgbClr val="172033"/>
                </a:solidFill>
                <a:latin typeface="游ゴシック" pitchFamily="34" charset="0"/>
                <a:ea typeface="游ゴシック" pitchFamily="34" charset="-122"/>
                <a:cs typeface="游ゴシック" pitchFamily="34" charset="-120"/>
              </a:rPr>
              <a:t>―</a:t>
            </a:r>
            <a:endParaRPr lang="en-US" sz="1050" dirty="0"/>
          </a:p>
          <a:p>
            <a:pPr marL="0" indent="0">
              <a:buNone/>
            </a:pPr>
            <a:r>
              <a:rPr lang="en-US" sz="1050" b="1" dirty="0">
                <a:solidFill>
                  <a:srgbClr val="5E6B7A"/>
                </a:solidFill>
                <a:latin typeface="游ゴシック" pitchFamily="34" charset="0"/>
                <a:ea typeface="游ゴシック" pitchFamily="34" charset="-122"/>
                <a:cs typeface="游ゴシック" pitchFamily="34" charset="-120"/>
              </a:rPr>
              <a:t>縦軸　</a:t>
            </a:r>
            <a:r>
              <a:rPr lang="en-US" sz="1050" dirty="0">
                <a:solidFill>
                  <a:srgbClr val="172033"/>
                </a:solidFill>
                <a:latin typeface="游ゴシック" pitchFamily="34" charset="0"/>
                <a:ea typeface="游ゴシック" pitchFamily="34" charset="-122"/>
                <a:cs typeface="游ゴシック" pitchFamily="34" charset="-120"/>
              </a:rPr>
              <a:t>―</a:t>
            </a:r>
            <a:endParaRPr lang="en-US" sz="1050" dirty="0"/>
          </a:p>
          <a:p>
            <a:pPr marL="0" indent="0">
              <a:buNone/>
            </a:pPr>
            <a:r>
              <a:rPr lang="en-US" sz="1050" b="1" dirty="0">
                <a:solidFill>
                  <a:srgbClr val="5E6B7A"/>
                </a:solidFill>
                <a:latin typeface="游ゴシック" pitchFamily="34" charset="0"/>
                <a:ea typeface="游ゴシック" pitchFamily="34" charset="-122"/>
                <a:cs typeface="游ゴシック" pitchFamily="34" charset="-120"/>
              </a:rPr>
              <a:t>系列　</a:t>
            </a:r>
            <a:r>
              <a:rPr lang="en-US" sz="1050" dirty="0">
                <a:solidFill>
                  <a:srgbClr val="172033"/>
                </a:solidFill>
                <a:latin typeface="游ゴシック" pitchFamily="34" charset="0"/>
                <a:ea typeface="游ゴシック" pitchFamily="34" charset="-122"/>
                <a:cs typeface="游ゴシック" pitchFamily="34" charset="-120"/>
              </a:rPr>
              <a:t>3列×3区画の位置、吸気温度3方位の熱電対の位置、芋緑化の範囲、日射計の位置</a:t>
            </a:r>
            <a:endParaRPr lang="en-US" sz="1050" dirty="0"/>
          </a:p>
          <a:p>
            <a:pPr marL="0" indent="0">
              <a:buNone/>
            </a:pPr>
            <a:r>
              <a:rPr lang="en-US" sz="1050" b="1" dirty="0">
                <a:solidFill>
                  <a:srgbClr val="5E6B7A"/>
                </a:solidFill>
                <a:latin typeface="游ゴシック" pitchFamily="34" charset="0"/>
                <a:ea typeface="游ゴシック" pitchFamily="34" charset="-122"/>
                <a:cs typeface="游ゴシック" pitchFamily="34" charset="-120"/>
              </a:rPr>
              <a:t>備考　</a:t>
            </a:r>
            <a:r>
              <a:rPr lang="en-US" sz="1050" dirty="0">
                <a:solidFill>
                  <a:srgbClr val="172033"/>
                </a:solidFill>
                <a:latin typeface="游ゴシック" pitchFamily="34" charset="0"/>
                <a:ea typeface="游ゴシック" pitchFamily="34" charset="-122"/>
                <a:cs typeface="游ゴシック" pitchFamily="34" charset="-120"/>
              </a:rPr>
              <a:t>配置図は後から貼る</a:t>
            </a:r>
            <a:endParaRPr lang="en-US" sz="10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データの利用期間</a:t>
            </a:r>
            <a:endParaRPr lang="en-US" sz="2000" dirty="0"/>
          </a:p>
        </p:txBody>
      </p:sp>
      <p:sp>
        <p:nvSpPr>
          <p:cNvPr id="3" name="Shape 1"/>
          <p:cNvSpPr/>
          <p:nvPr/>
        </p:nvSpPr>
        <p:spPr>
          <a:xfrm>
            <a:off x="7726680" y="155448"/>
            <a:ext cx="1097280" cy="274320"/>
          </a:xfrm>
          <a:prstGeom prst="roundRect">
            <a:avLst>
              <a:gd name="adj" fmla="val 26667"/>
            </a:avLst>
          </a:prstGeom>
          <a:solidFill>
            <a:srgbClr val="5E6B7A"/>
          </a:solidFill>
          <a:ln w="12700">
            <a:solidFill>
              <a:srgbClr val="5E6B7A"/>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前提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計測項目ごとに、分析に使える期間を示す</a:t>
            </a:r>
            <a:endParaRPr lang="en-US" sz="1200" dirty="0"/>
          </a:p>
        </p:txBody>
      </p:sp>
      <p:sp>
        <p:nvSpPr>
          <p:cNvPr id="6" name="Shape 4"/>
          <p:cNvSpPr/>
          <p:nvPr/>
        </p:nvSpPr>
        <p:spPr>
          <a:xfrm>
            <a:off x="2331720" y="1207008"/>
            <a:ext cx="0" cy="2514600"/>
          </a:xfrm>
          <a:prstGeom prst="line">
            <a:avLst/>
          </a:prstGeom>
          <a:noFill/>
          <a:ln w="6350">
            <a:solidFill>
              <a:srgbClr val="C9D1DB"/>
            </a:solidFill>
            <a:prstDash val="dash"/>
          </a:ln>
        </p:spPr>
        <p:txBody>
          <a:bodyPr/>
          <a:lstStyle/>
          <a:p>
            <a:endParaRPr lang="ja-JP" altLang="en-US"/>
          </a:p>
        </p:txBody>
      </p:sp>
      <p:sp>
        <p:nvSpPr>
          <p:cNvPr id="7" name="Text 5"/>
          <p:cNvSpPr txBox="1"/>
          <p:nvPr/>
        </p:nvSpPr>
        <p:spPr>
          <a:xfrm>
            <a:off x="2057400" y="1024128"/>
            <a:ext cx="548640" cy="182880"/>
          </a:xfrm>
          <a:prstGeom prst="rect">
            <a:avLst/>
          </a:prstGeom>
          <a:noFill/>
          <a:ln/>
        </p:spPr>
        <p:txBody>
          <a:bodyPr wrap="square" lIns="0" tIns="0" rIns="0" bIns="0" rtlCol="0" anchor="ctr"/>
          <a:lstStyle/>
          <a:p>
            <a:pPr marL="0" indent="0" algn="ctr">
              <a:buNone/>
            </a:pPr>
            <a:r>
              <a:rPr lang="en-US" sz="900" dirty="0">
                <a:solidFill>
                  <a:srgbClr val="5E6B7A"/>
                </a:solidFill>
                <a:latin typeface="游ゴシック" pitchFamily="34" charset="0"/>
                <a:ea typeface="游ゴシック" pitchFamily="34" charset="-122"/>
                <a:cs typeface="游ゴシック" pitchFamily="34" charset="-120"/>
              </a:rPr>
              <a:t>7/29</a:t>
            </a:r>
            <a:endParaRPr lang="en-US" sz="900" dirty="0"/>
          </a:p>
        </p:txBody>
      </p:sp>
      <p:sp>
        <p:nvSpPr>
          <p:cNvPr id="8" name="Shape 6"/>
          <p:cNvSpPr/>
          <p:nvPr/>
        </p:nvSpPr>
        <p:spPr>
          <a:xfrm>
            <a:off x="2731770" y="1207008"/>
            <a:ext cx="0" cy="2514600"/>
          </a:xfrm>
          <a:prstGeom prst="line">
            <a:avLst/>
          </a:prstGeom>
          <a:noFill/>
          <a:ln w="6350">
            <a:solidFill>
              <a:srgbClr val="C9D1DB"/>
            </a:solidFill>
            <a:prstDash val="dash"/>
          </a:ln>
        </p:spPr>
        <p:txBody>
          <a:bodyPr/>
          <a:lstStyle/>
          <a:p>
            <a:endParaRPr lang="ja-JP" altLang="en-US"/>
          </a:p>
        </p:txBody>
      </p:sp>
      <p:sp>
        <p:nvSpPr>
          <p:cNvPr id="9" name="Text 7"/>
          <p:cNvSpPr txBox="1"/>
          <p:nvPr/>
        </p:nvSpPr>
        <p:spPr>
          <a:xfrm>
            <a:off x="2457450" y="1024128"/>
            <a:ext cx="548640" cy="182880"/>
          </a:xfrm>
          <a:prstGeom prst="rect">
            <a:avLst/>
          </a:prstGeom>
          <a:noFill/>
          <a:ln/>
        </p:spPr>
        <p:txBody>
          <a:bodyPr wrap="square" lIns="0" tIns="0" rIns="0" bIns="0" rtlCol="0" anchor="ctr"/>
          <a:lstStyle/>
          <a:p>
            <a:pPr marL="0" indent="0" algn="ctr">
              <a:buNone/>
            </a:pPr>
            <a:r>
              <a:rPr lang="en-US" sz="900" dirty="0">
                <a:solidFill>
                  <a:srgbClr val="5E6B7A"/>
                </a:solidFill>
                <a:latin typeface="游ゴシック" pitchFamily="34" charset="0"/>
                <a:ea typeface="游ゴシック" pitchFamily="34" charset="-122"/>
                <a:cs typeface="游ゴシック" pitchFamily="34" charset="-120"/>
              </a:rPr>
              <a:t>8/1</a:t>
            </a:r>
            <a:endParaRPr lang="en-US" sz="900" dirty="0"/>
          </a:p>
        </p:txBody>
      </p:sp>
      <p:sp>
        <p:nvSpPr>
          <p:cNvPr id="10" name="Shape 8"/>
          <p:cNvSpPr/>
          <p:nvPr/>
        </p:nvSpPr>
        <p:spPr>
          <a:xfrm>
            <a:off x="4598670" y="1207008"/>
            <a:ext cx="0" cy="2514600"/>
          </a:xfrm>
          <a:prstGeom prst="line">
            <a:avLst/>
          </a:prstGeom>
          <a:noFill/>
          <a:ln w="6350">
            <a:solidFill>
              <a:srgbClr val="C9D1DB"/>
            </a:solidFill>
            <a:prstDash val="dash"/>
          </a:ln>
        </p:spPr>
        <p:txBody>
          <a:bodyPr/>
          <a:lstStyle/>
          <a:p>
            <a:endParaRPr lang="ja-JP" altLang="en-US"/>
          </a:p>
        </p:txBody>
      </p:sp>
      <p:sp>
        <p:nvSpPr>
          <p:cNvPr id="11" name="Text 9"/>
          <p:cNvSpPr txBox="1"/>
          <p:nvPr/>
        </p:nvSpPr>
        <p:spPr>
          <a:xfrm>
            <a:off x="4324350" y="1024128"/>
            <a:ext cx="548640" cy="182880"/>
          </a:xfrm>
          <a:prstGeom prst="rect">
            <a:avLst/>
          </a:prstGeom>
          <a:noFill/>
          <a:ln/>
        </p:spPr>
        <p:txBody>
          <a:bodyPr wrap="square" lIns="0" tIns="0" rIns="0" bIns="0" rtlCol="0" anchor="ctr"/>
          <a:lstStyle/>
          <a:p>
            <a:pPr marL="0" indent="0" algn="ctr">
              <a:buNone/>
            </a:pPr>
            <a:r>
              <a:rPr lang="en-US" sz="900" dirty="0">
                <a:solidFill>
                  <a:srgbClr val="5E6B7A"/>
                </a:solidFill>
                <a:latin typeface="游ゴシック" pitchFamily="34" charset="0"/>
                <a:ea typeface="游ゴシック" pitchFamily="34" charset="-122"/>
                <a:cs typeface="游ゴシック" pitchFamily="34" charset="-120"/>
              </a:rPr>
              <a:t>8/15</a:t>
            </a:r>
            <a:endParaRPr lang="en-US" sz="900" dirty="0"/>
          </a:p>
        </p:txBody>
      </p:sp>
      <p:sp>
        <p:nvSpPr>
          <p:cNvPr id="12" name="Shape 10"/>
          <p:cNvSpPr/>
          <p:nvPr/>
        </p:nvSpPr>
        <p:spPr>
          <a:xfrm>
            <a:off x="6865620" y="1207008"/>
            <a:ext cx="0" cy="2514600"/>
          </a:xfrm>
          <a:prstGeom prst="line">
            <a:avLst/>
          </a:prstGeom>
          <a:noFill/>
          <a:ln w="6350">
            <a:solidFill>
              <a:srgbClr val="C9D1DB"/>
            </a:solidFill>
            <a:prstDash val="dash"/>
          </a:ln>
        </p:spPr>
        <p:txBody>
          <a:bodyPr/>
          <a:lstStyle/>
          <a:p>
            <a:endParaRPr lang="ja-JP" altLang="en-US"/>
          </a:p>
        </p:txBody>
      </p:sp>
      <p:sp>
        <p:nvSpPr>
          <p:cNvPr id="13" name="Text 11"/>
          <p:cNvSpPr txBox="1"/>
          <p:nvPr/>
        </p:nvSpPr>
        <p:spPr>
          <a:xfrm>
            <a:off x="6591300" y="1024128"/>
            <a:ext cx="548640" cy="182880"/>
          </a:xfrm>
          <a:prstGeom prst="rect">
            <a:avLst/>
          </a:prstGeom>
          <a:noFill/>
          <a:ln/>
        </p:spPr>
        <p:txBody>
          <a:bodyPr wrap="square" lIns="0" tIns="0" rIns="0" bIns="0" rtlCol="0" anchor="ctr"/>
          <a:lstStyle/>
          <a:p>
            <a:pPr marL="0" indent="0" algn="ctr">
              <a:buNone/>
            </a:pPr>
            <a:r>
              <a:rPr lang="en-US" sz="900" dirty="0">
                <a:solidFill>
                  <a:srgbClr val="5E6B7A"/>
                </a:solidFill>
                <a:latin typeface="游ゴシック" pitchFamily="34" charset="0"/>
                <a:ea typeface="游ゴシック" pitchFamily="34" charset="-122"/>
                <a:cs typeface="游ゴシック" pitchFamily="34" charset="-120"/>
              </a:rPr>
              <a:t>9/1</a:t>
            </a:r>
            <a:endParaRPr lang="en-US" sz="900" dirty="0"/>
          </a:p>
        </p:txBody>
      </p:sp>
      <p:sp>
        <p:nvSpPr>
          <p:cNvPr id="14" name="Shape 12"/>
          <p:cNvSpPr/>
          <p:nvPr/>
        </p:nvSpPr>
        <p:spPr>
          <a:xfrm>
            <a:off x="8599170" y="1207008"/>
            <a:ext cx="0" cy="2514600"/>
          </a:xfrm>
          <a:prstGeom prst="line">
            <a:avLst/>
          </a:prstGeom>
          <a:noFill/>
          <a:ln w="6350">
            <a:solidFill>
              <a:srgbClr val="C9D1DB"/>
            </a:solidFill>
            <a:prstDash val="dash"/>
          </a:ln>
        </p:spPr>
        <p:txBody>
          <a:bodyPr/>
          <a:lstStyle/>
          <a:p>
            <a:endParaRPr lang="ja-JP" altLang="en-US"/>
          </a:p>
        </p:txBody>
      </p:sp>
      <p:sp>
        <p:nvSpPr>
          <p:cNvPr id="15" name="Text 13"/>
          <p:cNvSpPr txBox="1"/>
          <p:nvPr/>
        </p:nvSpPr>
        <p:spPr>
          <a:xfrm>
            <a:off x="8324850" y="1024128"/>
            <a:ext cx="548640" cy="182880"/>
          </a:xfrm>
          <a:prstGeom prst="rect">
            <a:avLst/>
          </a:prstGeom>
          <a:noFill/>
          <a:ln/>
        </p:spPr>
        <p:txBody>
          <a:bodyPr wrap="square" lIns="0" tIns="0" rIns="0" bIns="0" rtlCol="0" anchor="ctr"/>
          <a:lstStyle/>
          <a:p>
            <a:pPr marL="0" indent="0" algn="ctr">
              <a:buNone/>
            </a:pPr>
            <a:r>
              <a:rPr lang="en-US" sz="900" dirty="0">
                <a:solidFill>
                  <a:srgbClr val="5E6B7A"/>
                </a:solidFill>
                <a:latin typeface="游ゴシック" pitchFamily="34" charset="0"/>
                <a:ea typeface="游ゴシック" pitchFamily="34" charset="-122"/>
                <a:cs typeface="游ゴシック" pitchFamily="34" charset="-120"/>
              </a:rPr>
              <a:t>9/14</a:t>
            </a:r>
            <a:endParaRPr lang="en-US" sz="900" dirty="0"/>
          </a:p>
        </p:txBody>
      </p:sp>
      <p:sp>
        <p:nvSpPr>
          <p:cNvPr id="16" name="Text 14"/>
          <p:cNvSpPr txBox="1"/>
          <p:nvPr/>
        </p:nvSpPr>
        <p:spPr>
          <a:xfrm>
            <a:off x="365760" y="1280160"/>
            <a:ext cx="1874520" cy="274320"/>
          </a:xfrm>
          <a:prstGeom prst="rect">
            <a:avLst/>
          </a:prstGeom>
          <a:noFill/>
          <a:ln/>
        </p:spPr>
        <p:txBody>
          <a:bodyPr wrap="square" lIns="0" tIns="0" rIns="0" bIns="0" rtlCol="0" anchor="ctr"/>
          <a:lstStyle/>
          <a:p>
            <a:pPr marL="0" indent="0">
              <a:buNone/>
            </a:pPr>
            <a:r>
              <a:rPr lang="en-US" sz="1100" b="1" dirty="0">
                <a:solidFill>
                  <a:srgbClr val="22354F"/>
                </a:solidFill>
                <a:latin typeface="游ゴシック" pitchFamily="34" charset="0"/>
                <a:ea typeface="游ゴシック" pitchFamily="34" charset="-122"/>
                <a:cs typeface="游ゴシック" pitchFamily="34" charset="-120"/>
              </a:rPr>
              <a:t>計測データ全体</a:t>
            </a:r>
            <a:endParaRPr lang="en-US" sz="1100" dirty="0"/>
          </a:p>
        </p:txBody>
      </p:sp>
      <p:sp>
        <p:nvSpPr>
          <p:cNvPr id="17" name="Shape 15"/>
          <p:cNvSpPr/>
          <p:nvPr/>
        </p:nvSpPr>
        <p:spPr>
          <a:xfrm>
            <a:off x="2421731" y="1307592"/>
            <a:ext cx="6271339" cy="219456"/>
          </a:xfrm>
          <a:prstGeom prst="rect">
            <a:avLst/>
          </a:prstGeom>
          <a:solidFill>
            <a:srgbClr val="22354F"/>
          </a:solidFill>
          <a:ln w="12700">
            <a:solidFill>
              <a:srgbClr val="22354F"/>
            </a:solidFill>
            <a:prstDash val="solid"/>
          </a:ln>
        </p:spPr>
        <p:txBody>
          <a:bodyPr/>
          <a:lstStyle/>
          <a:p>
            <a:endParaRPr lang="ja-JP" altLang="en-US"/>
          </a:p>
        </p:txBody>
      </p:sp>
      <p:sp>
        <p:nvSpPr>
          <p:cNvPr id="18" name="Text 16"/>
          <p:cNvSpPr txBox="1"/>
          <p:nvPr/>
        </p:nvSpPr>
        <p:spPr>
          <a:xfrm>
            <a:off x="2476595" y="1307592"/>
            <a:ext cx="6179899" cy="219456"/>
          </a:xfrm>
          <a:prstGeom prst="rect">
            <a:avLst/>
          </a:prstGeom>
          <a:noFill/>
          <a:ln/>
        </p:spPr>
        <p:txBody>
          <a:bodyPr wrap="square" lIns="0" tIns="0" rIns="0" bIns="0" rtlCol="0" anchor="ctr"/>
          <a:lstStyle/>
          <a:p>
            <a:pPr marL="0" indent="0">
              <a:buNone/>
            </a:pPr>
            <a:r>
              <a:rPr lang="en-US" sz="900" b="1" dirty="0">
                <a:solidFill>
                  <a:srgbClr val="FFFFFF"/>
                </a:solidFill>
                <a:latin typeface="游ゴシック" pitchFamily="34" charset="0"/>
                <a:ea typeface="游ゴシック" pitchFamily="34" charset="-122"/>
                <a:cs typeface="游ゴシック" pitchFamily="34" charset="-120"/>
              </a:rPr>
              <a:t>7/29 16:14〜9/14 16:52</a:t>
            </a:r>
            <a:endParaRPr lang="en-US" sz="900" dirty="0"/>
          </a:p>
        </p:txBody>
      </p:sp>
      <p:sp>
        <p:nvSpPr>
          <p:cNvPr id="19" name="Text 17"/>
          <p:cNvSpPr txBox="1"/>
          <p:nvPr/>
        </p:nvSpPr>
        <p:spPr>
          <a:xfrm>
            <a:off x="365760" y="1627632"/>
            <a:ext cx="1874520" cy="274320"/>
          </a:xfrm>
          <a:prstGeom prst="rect">
            <a:avLst/>
          </a:prstGeom>
          <a:noFill/>
          <a:ln/>
        </p:spPr>
        <p:txBody>
          <a:bodyPr wrap="square" lIns="0" tIns="0" rIns="0" bIns="0" rtlCol="0" anchor="ctr"/>
          <a:lstStyle/>
          <a:p>
            <a:pPr marL="0" indent="0">
              <a:buNone/>
            </a:pPr>
            <a:r>
              <a:rPr lang="en-US" sz="1100" b="1" dirty="0">
                <a:solidFill>
                  <a:srgbClr val="22354F"/>
                </a:solidFill>
                <a:latin typeface="游ゴシック" pitchFamily="34" charset="0"/>
                <a:ea typeface="游ゴシック" pitchFamily="34" charset="-122"/>
                <a:cs typeface="游ゴシック" pitchFamily="34" charset="-120"/>
              </a:rPr>
              <a:t>分析期間（47日間）</a:t>
            </a:r>
            <a:endParaRPr lang="en-US" sz="1100" dirty="0"/>
          </a:p>
        </p:txBody>
      </p:sp>
      <p:sp>
        <p:nvSpPr>
          <p:cNvPr id="20" name="Shape 18"/>
          <p:cNvSpPr/>
          <p:nvPr/>
        </p:nvSpPr>
        <p:spPr>
          <a:xfrm>
            <a:off x="2465070" y="1673352"/>
            <a:ext cx="122682" cy="182880"/>
          </a:xfrm>
          <a:prstGeom prst="rect">
            <a:avLst/>
          </a:prstGeom>
          <a:solidFill>
            <a:srgbClr val="E66C64"/>
          </a:solidFill>
          <a:ln/>
        </p:spPr>
        <p:txBody>
          <a:bodyPr/>
          <a:lstStyle/>
          <a:p>
            <a:endParaRPr lang="ja-JP" altLang="en-US"/>
          </a:p>
        </p:txBody>
      </p:sp>
      <p:sp>
        <p:nvSpPr>
          <p:cNvPr id="21" name="Shape 19"/>
          <p:cNvSpPr/>
          <p:nvPr/>
        </p:nvSpPr>
        <p:spPr>
          <a:xfrm>
            <a:off x="2598420" y="1673352"/>
            <a:ext cx="122682" cy="182880"/>
          </a:xfrm>
          <a:prstGeom prst="rect">
            <a:avLst/>
          </a:prstGeom>
          <a:solidFill>
            <a:srgbClr val="E66C64"/>
          </a:solidFill>
          <a:ln/>
        </p:spPr>
        <p:txBody>
          <a:bodyPr/>
          <a:lstStyle/>
          <a:p>
            <a:endParaRPr lang="ja-JP" altLang="en-US"/>
          </a:p>
        </p:txBody>
      </p:sp>
      <p:sp>
        <p:nvSpPr>
          <p:cNvPr id="22" name="Shape 20"/>
          <p:cNvSpPr/>
          <p:nvPr/>
        </p:nvSpPr>
        <p:spPr>
          <a:xfrm>
            <a:off x="2731770" y="1673352"/>
            <a:ext cx="122682" cy="182880"/>
          </a:xfrm>
          <a:prstGeom prst="rect">
            <a:avLst/>
          </a:prstGeom>
          <a:solidFill>
            <a:srgbClr val="C9D1DB"/>
          </a:solidFill>
          <a:ln/>
        </p:spPr>
        <p:txBody>
          <a:bodyPr/>
          <a:lstStyle/>
          <a:p>
            <a:endParaRPr lang="ja-JP" altLang="en-US"/>
          </a:p>
        </p:txBody>
      </p:sp>
      <p:sp>
        <p:nvSpPr>
          <p:cNvPr id="23" name="Shape 21"/>
          <p:cNvSpPr/>
          <p:nvPr/>
        </p:nvSpPr>
        <p:spPr>
          <a:xfrm>
            <a:off x="2865120" y="1673352"/>
            <a:ext cx="122682" cy="182880"/>
          </a:xfrm>
          <a:prstGeom prst="rect">
            <a:avLst/>
          </a:prstGeom>
          <a:solidFill>
            <a:srgbClr val="C9D1DB"/>
          </a:solidFill>
          <a:ln/>
        </p:spPr>
        <p:txBody>
          <a:bodyPr/>
          <a:lstStyle/>
          <a:p>
            <a:endParaRPr lang="ja-JP" altLang="en-US"/>
          </a:p>
        </p:txBody>
      </p:sp>
      <p:sp>
        <p:nvSpPr>
          <p:cNvPr id="24" name="Shape 22"/>
          <p:cNvSpPr/>
          <p:nvPr/>
        </p:nvSpPr>
        <p:spPr>
          <a:xfrm>
            <a:off x="2998470" y="1673352"/>
            <a:ext cx="122682" cy="182880"/>
          </a:xfrm>
          <a:prstGeom prst="rect">
            <a:avLst/>
          </a:prstGeom>
          <a:solidFill>
            <a:srgbClr val="E66C64"/>
          </a:solidFill>
          <a:ln/>
        </p:spPr>
        <p:txBody>
          <a:bodyPr/>
          <a:lstStyle/>
          <a:p>
            <a:endParaRPr lang="ja-JP" altLang="en-US"/>
          </a:p>
        </p:txBody>
      </p:sp>
      <p:sp>
        <p:nvSpPr>
          <p:cNvPr id="25" name="Shape 23"/>
          <p:cNvSpPr/>
          <p:nvPr/>
        </p:nvSpPr>
        <p:spPr>
          <a:xfrm>
            <a:off x="3131820" y="1673352"/>
            <a:ext cx="122682" cy="182880"/>
          </a:xfrm>
          <a:prstGeom prst="rect">
            <a:avLst/>
          </a:prstGeom>
          <a:solidFill>
            <a:srgbClr val="E66C64"/>
          </a:solidFill>
          <a:ln/>
        </p:spPr>
        <p:txBody>
          <a:bodyPr/>
          <a:lstStyle/>
          <a:p>
            <a:endParaRPr lang="ja-JP" altLang="en-US"/>
          </a:p>
        </p:txBody>
      </p:sp>
      <p:sp>
        <p:nvSpPr>
          <p:cNvPr id="26" name="Shape 24"/>
          <p:cNvSpPr/>
          <p:nvPr/>
        </p:nvSpPr>
        <p:spPr>
          <a:xfrm>
            <a:off x="3265170" y="1673352"/>
            <a:ext cx="122682" cy="182880"/>
          </a:xfrm>
          <a:prstGeom prst="rect">
            <a:avLst/>
          </a:prstGeom>
          <a:solidFill>
            <a:srgbClr val="E66C64"/>
          </a:solidFill>
          <a:ln/>
        </p:spPr>
        <p:txBody>
          <a:bodyPr/>
          <a:lstStyle/>
          <a:p>
            <a:endParaRPr lang="ja-JP" altLang="en-US"/>
          </a:p>
        </p:txBody>
      </p:sp>
      <p:sp>
        <p:nvSpPr>
          <p:cNvPr id="27" name="Shape 25"/>
          <p:cNvSpPr/>
          <p:nvPr/>
        </p:nvSpPr>
        <p:spPr>
          <a:xfrm>
            <a:off x="3398520" y="1673352"/>
            <a:ext cx="122682" cy="182880"/>
          </a:xfrm>
          <a:prstGeom prst="rect">
            <a:avLst/>
          </a:prstGeom>
          <a:solidFill>
            <a:srgbClr val="E66C64"/>
          </a:solidFill>
          <a:ln/>
        </p:spPr>
        <p:txBody>
          <a:bodyPr/>
          <a:lstStyle/>
          <a:p>
            <a:endParaRPr lang="ja-JP" altLang="en-US"/>
          </a:p>
        </p:txBody>
      </p:sp>
      <p:sp>
        <p:nvSpPr>
          <p:cNvPr id="28" name="Shape 26"/>
          <p:cNvSpPr/>
          <p:nvPr/>
        </p:nvSpPr>
        <p:spPr>
          <a:xfrm>
            <a:off x="3531870" y="1673352"/>
            <a:ext cx="122682" cy="182880"/>
          </a:xfrm>
          <a:prstGeom prst="rect">
            <a:avLst/>
          </a:prstGeom>
          <a:solidFill>
            <a:srgbClr val="E66C64"/>
          </a:solidFill>
          <a:ln/>
        </p:spPr>
        <p:txBody>
          <a:bodyPr/>
          <a:lstStyle/>
          <a:p>
            <a:endParaRPr lang="ja-JP" altLang="en-US"/>
          </a:p>
        </p:txBody>
      </p:sp>
      <p:sp>
        <p:nvSpPr>
          <p:cNvPr id="29" name="Shape 27"/>
          <p:cNvSpPr/>
          <p:nvPr/>
        </p:nvSpPr>
        <p:spPr>
          <a:xfrm>
            <a:off x="3665220" y="1673352"/>
            <a:ext cx="122682" cy="182880"/>
          </a:xfrm>
          <a:prstGeom prst="rect">
            <a:avLst/>
          </a:prstGeom>
          <a:solidFill>
            <a:srgbClr val="C9D1DB"/>
          </a:solidFill>
          <a:ln/>
        </p:spPr>
        <p:txBody>
          <a:bodyPr/>
          <a:lstStyle/>
          <a:p>
            <a:endParaRPr lang="ja-JP" altLang="en-US"/>
          </a:p>
        </p:txBody>
      </p:sp>
      <p:sp>
        <p:nvSpPr>
          <p:cNvPr id="30" name="Shape 28"/>
          <p:cNvSpPr/>
          <p:nvPr/>
        </p:nvSpPr>
        <p:spPr>
          <a:xfrm>
            <a:off x="3798570" y="1673352"/>
            <a:ext cx="122682" cy="182880"/>
          </a:xfrm>
          <a:prstGeom prst="rect">
            <a:avLst/>
          </a:prstGeom>
          <a:solidFill>
            <a:srgbClr val="C9D1DB"/>
          </a:solidFill>
          <a:ln/>
        </p:spPr>
        <p:txBody>
          <a:bodyPr/>
          <a:lstStyle/>
          <a:p>
            <a:endParaRPr lang="ja-JP" altLang="en-US"/>
          </a:p>
        </p:txBody>
      </p:sp>
      <p:sp>
        <p:nvSpPr>
          <p:cNvPr id="31" name="Shape 29"/>
          <p:cNvSpPr/>
          <p:nvPr/>
        </p:nvSpPr>
        <p:spPr>
          <a:xfrm>
            <a:off x="3931920" y="1673352"/>
            <a:ext cx="122682" cy="182880"/>
          </a:xfrm>
          <a:prstGeom prst="rect">
            <a:avLst/>
          </a:prstGeom>
          <a:solidFill>
            <a:srgbClr val="E66C64"/>
          </a:solidFill>
          <a:ln/>
        </p:spPr>
        <p:txBody>
          <a:bodyPr/>
          <a:lstStyle/>
          <a:p>
            <a:endParaRPr lang="ja-JP" altLang="en-US"/>
          </a:p>
        </p:txBody>
      </p:sp>
      <p:sp>
        <p:nvSpPr>
          <p:cNvPr id="32" name="Shape 30"/>
          <p:cNvSpPr/>
          <p:nvPr/>
        </p:nvSpPr>
        <p:spPr>
          <a:xfrm>
            <a:off x="4065270" y="1673352"/>
            <a:ext cx="122682" cy="182880"/>
          </a:xfrm>
          <a:prstGeom prst="rect">
            <a:avLst/>
          </a:prstGeom>
          <a:solidFill>
            <a:srgbClr val="C9D1DB"/>
          </a:solidFill>
          <a:ln/>
        </p:spPr>
        <p:txBody>
          <a:bodyPr/>
          <a:lstStyle/>
          <a:p>
            <a:endParaRPr lang="ja-JP" altLang="en-US"/>
          </a:p>
        </p:txBody>
      </p:sp>
      <p:sp>
        <p:nvSpPr>
          <p:cNvPr id="33" name="Shape 31"/>
          <p:cNvSpPr/>
          <p:nvPr/>
        </p:nvSpPr>
        <p:spPr>
          <a:xfrm>
            <a:off x="4198620" y="1673352"/>
            <a:ext cx="122682" cy="182880"/>
          </a:xfrm>
          <a:prstGeom prst="rect">
            <a:avLst/>
          </a:prstGeom>
          <a:solidFill>
            <a:srgbClr val="E66C64"/>
          </a:solidFill>
          <a:ln/>
        </p:spPr>
        <p:txBody>
          <a:bodyPr/>
          <a:lstStyle/>
          <a:p>
            <a:endParaRPr lang="ja-JP" altLang="en-US"/>
          </a:p>
        </p:txBody>
      </p:sp>
      <p:sp>
        <p:nvSpPr>
          <p:cNvPr id="34" name="Shape 32"/>
          <p:cNvSpPr/>
          <p:nvPr/>
        </p:nvSpPr>
        <p:spPr>
          <a:xfrm>
            <a:off x="4331970" y="1673352"/>
            <a:ext cx="122682" cy="182880"/>
          </a:xfrm>
          <a:prstGeom prst="rect">
            <a:avLst/>
          </a:prstGeom>
          <a:solidFill>
            <a:srgbClr val="E66C64"/>
          </a:solidFill>
          <a:ln/>
        </p:spPr>
        <p:txBody>
          <a:bodyPr/>
          <a:lstStyle/>
          <a:p>
            <a:endParaRPr lang="ja-JP" altLang="en-US"/>
          </a:p>
        </p:txBody>
      </p:sp>
      <p:sp>
        <p:nvSpPr>
          <p:cNvPr id="35" name="Shape 33"/>
          <p:cNvSpPr/>
          <p:nvPr/>
        </p:nvSpPr>
        <p:spPr>
          <a:xfrm>
            <a:off x="4465320" y="1673352"/>
            <a:ext cx="122682" cy="182880"/>
          </a:xfrm>
          <a:prstGeom prst="rect">
            <a:avLst/>
          </a:prstGeom>
          <a:solidFill>
            <a:srgbClr val="E66C64"/>
          </a:solidFill>
          <a:ln/>
        </p:spPr>
        <p:txBody>
          <a:bodyPr/>
          <a:lstStyle/>
          <a:p>
            <a:endParaRPr lang="ja-JP" altLang="en-US"/>
          </a:p>
        </p:txBody>
      </p:sp>
      <p:sp>
        <p:nvSpPr>
          <p:cNvPr id="36" name="Shape 34"/>
          <p:cNvSpPr/>
          <p:nvPr/>
        </p:nvSpPr>
        <p:spPr>
          <a:xfrm>
            <a:off x="4598670" y="1673352"/>
            <a:ext cx="122682" cy="182880"/>
          </a:xfrm>
          <a:prstGeom prst="rect">
            <a:avLst/>
          </a:prstGeom>
          <a:solidFill>
            <a:srgbClr val="C9D1DB"/>
          </a:solidFill>
          <a:ln/>
        </p:spPr>
        <p:txBody>
          <a:bodyPr/>
          <a:lstStyle/>
          <a:p>
            <a:endParaRPr lang="ja-JP" altLang="en-US"/>
          </a:p>
        </p:txBody>
      </p:sp>
      <p:sp>
        <p:nvSpPr>
          <p:cNvPr id="37" name="Shape 35"/>
          <p:cNvSpPr/>
          <p:nvPr/>
        </p:nvSpPr>
        <p:spPr>
          <a:xfrm>
            <a:off x="4732020" y="1673352"/>
            <a:ext cx="122682" cy="182880"/>
          </a:xfrm>
          <a:prstGeom prst="rect">
            <a:avLst/>
          </a:prstGeom>
          <a:solidFill>
            <a:srgbClr val="C9D1DB"/>
          </a:solidFill>
          <a:ln/>
        </p:spPr>
        <p:txBody>
          <a:bodyPr/>
          <a:lstStyle/>
          <a:p>
            <a:endParaRPr lang="ja-JP" altLang="en-US"/>
          </a:p>
        </p:txBody>
      </p:sp>
      <p:sp>
        <p:nvSpPr>
          <p:cNvPr id="38" name="Shape 36"/>
          <p:cNvSpPr/>
          <p:nvPr/>
        </p:nvSpPr>
        <p:spPr>
          <a:xfrm>
            <a:off x="4865370" y="1673352"/>
            <a:ext cx="122682" cy="182880"/>
          </a:xfrm>
          <a:prstGeom prst="rect">
            <a:avLst/>
          </a:prstGeom>
          <a:solidFill>
            <a:srgbClr val="E66C64"/>
          </a:solidFill>
          <a:ln/>
        </p:spPr>
        <p:txBody>
          <a:bodyPr/>
          <a:lstStyle/>
          <a:p>
            <a:endParaRPr lang="ja-JP" altLang="en-US"/>
          </a:p>
        </p:txBody>
      </p:sp>
      <p:sp>
        <p:nvSpPr>
          <p:cNvPr id="39" name="Shape 37"/>
          <p:cNvSpPr/>
          <p:nvPr/>
        </p:nvSpPr>
        <p:spPr>
          <a:xfrm>
            <a:off x="4998720" y="1673352"/>
            <a:ext cx="122682" cy="182880"/>
          </a:xfrm>
          <a:prstGeom prst="rect">
            <a:avLst/>
          </a:prstGeom>
          <a:solidFill>
            <a:srgbClr val="E66C64"/>
          </a:solidFill>
          <a:ln/>
        </p:spPr>
        <p:txBody>
          <a:bodyPr/>
          <a:lstStyle/>
          <a:p>
            <a:endParaRPr lang="ja-JP" altLang="en-US"/>
          </a:p>
        </p:txBody>
      </p:sp>
      <p:sp>
        <p:nvSpPr>
          <p:cNvPr id="40" name="Shape 38"/>
          <p:cNvSpPr/>
          <p:nvPr/>
        </p:nvSpPr>
        <p:spPr>
          <a:xfrm>
            <a:off x="5132070" y="1673352"/>
            <a:ext cx="122682" cy="182880"/>
          </a:xfrm>
          <a:prstGeom prst="rect">
            <a:avLst/>
          </a:prstGeom>
          <a:solidFill>
            <a:srgbClr val="E66C64"/>
          </a:solidFill>
          <a:ln/>
        </p:spPr>
        <p:txBody>
          <a:bodyPr/>
          <a:lstStyle/>
          <a:p>
            <a:endParaRPr lang="ja-JP" altLang="en-US"/>
          </a:p>
        </p:txBody>
      </p:sp>
      <p:sp>
        <p:nvSpPr>
          <p:cNvPr id="41" name="Shape 39"/>
          <p:cNvSpPr/>
          <p:nvPr/>
        </p:nvSpPr>
        <p:spPr>
          <a:xfrm>
            <a:off x="5265420" y="1673352"/>
            <a:ext cx="122682" cy="182880"/>
          </a:xfrm>
          <a:prstGeom prst="rect">
            <a:avLst/>
          </a:prstGeom>
          <a:solidFill>
            <a:srgbClr val="E66C64"/>
          </a:solidFill>
          <a:ln/>
        </p:spPr>
        <p:txBody>
          <a:bodyPr/>
          <a:lstStyle/>
          <a:p>
            <a:endParaRPr lang="ja-JP" altLang="en-US"/>
          </a:p>
        </p:txBody>
      </p:sp>
      <p:sp>
        <p:nvSpPr>
          <p:cNvPr id="42" name="Shape 40"/>
          <p:cNvSpPr/>
          <p:nvPr/>
        </p:nvSpPr>
        <p:spPr>
          <a:xfrm>
            <a:off x="5398770" y="1673352"/>
            <a:ext cx="122682" cy="182880"/>
          </a:xfrm>
          <a:prstGeom prst="rect">
            <a:avLst/>
          </a:prstGeom>
          <a:solidFill>
            <a:srgbClr val="E66C64"/>
          </a:solidFill>
          <a:ln/>
        </p:spPr>
        <p:txBody>
          <a:bodyPr/>
          <a:lstStyle/>
          <a:p>
            <a:endParaRPr lang="ja-JP" altLang="en-US"/>
          </a:p>
        </p:txBody>
      </p:sp>
      <p:sp>
        <p:nvSpPr>
          <p:cNvPr id="43" name="Shape 41"/>
          <p:cNvSpPr/>
          <p:nvPr/>
        </p:nvSpPr>
        <p:spPr>
          <a:xfrm>
            <a:off x="5532120" y="1673352"/>
            <a:ext cx="122682" cy="182880"/>
          </a:xfrm>
          <a:prstGeom prst="rect">
            <a:avLst/>
          </a:prstGeom>
          <a:solidFill>
            <a:srgbClr val="C9D1DB"/>
          </a:solidFill>
          <a:ln/>
        </p:spPr>
        <p:txBody>
          <a:bodyPr/>
          <a:lstStyle/>
          <a:p>
            <a:endParaRPr lang="ja-JP" altLang="en-US"/>
          </a:p>
        </p:txBody>
      </p:sp>
      <p:sp>
        <p:nvSpPr>
          <p:cNvPr id="44" name="Shape 42"/>
          <p:cNvSpPr/>
          <p:nvPr/>
        </p:nvSpPr>
        <p:spPr>
          <a:xfrm>
            <a:off x="5665470" y="1673352"/>
            <a:ext cx="122682" cy="182880"/>
          </a:xfrm>
          <a:prstGeom prst="rect">
            <a:avLst/>
          </a:prstGeom>
          <a:solidFill>
            <a:srgbClr val="C9D1DB"/>
          </a:solidFill>
          <a:ln/>
        </p:spPr>
        <p:txBody>
          <a:bodyPr/>
          <a:lstStyle/>
          <a:p>
            <a:endParaRPr lang="ja-JP" altLang="en-US"/>
          </a:p>
        </p:txBody>
      </p:sp>
      <p:sp>
        <p:nvSpPr>
          <p:cNvPr id="45" name="Shape 43"/>
          <p:cNvSpPr/>
          <p:nvPr/>
        </p:nvSpPr>
        <p:spPr>
          <a:xfrm>
            <a:off x="5798820" y="1673352"/>
            <a:ext cx="122682" cy="182880"/>
          </a:xfrm>
          <a:prstGeom prst="rect">
            <a:avLst/>
          </a:prstGeom>
          <a:solidFill>
            <a:srgbClr val="E66C64"/>
          </a:solidFill>
          <a:ln/>
        </p:spPr>
        <p:txBody>
          <a:bodyPr/>
          <a:lstStyle/>
          <a:p>
            <a:endParaRPr lang="ja-JP" altLang="en-US"/>
          </a:p>
        </p:txBody>
      </p:sp>
      <p:sp>
        <p:nvSpPr>
          <p:cNvPr id="46" name="Shape 44"/>
          <p:cNvSpPr/>
          <p:nvPr/>
        </p:nvSpPr>
        <p:spPr>
          <a:xfrm>
            <a:off x="5932170" y="1673352"/>
            <a:ext cx="122682" cy="182880"/>
          </a:xfrm>
          <a:prstGeom prst="rect">
            <a:avLst/>
          </a:prstGeom>
          <a:solidFill>
            <a:srgbClr val="E66C64"/>
          </a:solidFill>
          <a:ln/>
        </p:spPr>
        <p:txBody>
          <a:bodyPr/>
          <a:lstStyle/>
          <a:p>
            <a:endParaRPr lang="ja-JP" altLang="en-US"/>
          </a:p>
        </p:txBody>
      </p:sp>
      <p:sp>
        <p:nvSpPr>
          <p:cNvPr id="47" name="Shape 45"/>
          <p:cNvSpPr/>
          <p:nvPr/>
        </p:nvSpPr>
        <p:spPr>
          <a:xfrm>
            <a:off x="6065520" y="1673352"/>
            <a:ext cx="122682" cy="182880"/>
          </a:xfrm>
          <a:prstGeom prst="rect">
            <a:avLst/>
          </a:prstGeom>
          <a:solidFill>
            <a:srgbClr val="E66C64"/>
          </a:solidFill>
          <a:ln/>
        </p:spPr>
        <p:txBody>
          <a:bodyPr/>
          <a:lstStyle/>
          <a:p>
            <a:endParaRPr lang="ja-JP" altLang="en-US"/>
          </a:p>
        </p:txBody>
      </p:sp>
      <p:sp>
        <p:nvSpPr>
          <p:cNvPr id="48" name="Shape 46"/>
          <p:cNvSpPr/>
          <p:nvPr/>
        </p:nvSpPr>
        <p:spPr>
          <a:xfrm>
            <a:off x="6198870" y="1673352"/>
            <a:ext cx="122682" cy="182880"/>
          </a:xfrm>
          <a:prstGeom prst="rect">
            <a:avLst/>
          </a:prstGeom>
          <a:solidFill>
            <a:srgbClr val="E66C64"/>
          </a:solidFill>
          <a:ln/>
        </p:spPr>
        <p:txBody>
          <a:bodyPr/>
          <a:lstStyle/>
          <a:p>
            <a:endParaRPr lang="ja-JP" altLang="en-US"/>
          </a:p>
        </p:txBody>
      </p:sp>
      <p:sp>
        <p:nvSpPr>
          <p:cNvPr id="49" name="Shape 47"/>
          <p:cNvSpPr/>
          <p:nvPr/>
        </p:nvSpPr>
        <p:spPr>
          <a:xfrm>
            <a:off x="6332220" y="1673352"/>
            <a:ext cx="122682" cy="182880"/>
          </a:xfrm>
          <a:prstGeom prst="rect">
            <a:avLst/>
          </a:prstGeom>
          <a:solidFill>
            <a:srgbClr val="E66C64"/>
          </a:solidFill>
          <a:ln/>
        </p:spPr>
        <p:txBody>
          <a:bodyPr/>
          <a:lstStyle/>
          <a:p>
            <a:endParaRPr lang="ja-JP" altLang="en-US"/>
          </a:p>
        </p:txBody>
      </p:sp>
      <p:sp>
        <p:nvSpPr>
          <p:cNvPr id="50" name="Shape 48"/>
          <p:cNvSpPr/>
          <p:nvPr/>
        </p:nvSpPr>
        <p:spPr>
          <a:xfrm>
            <a:off x="6465570" y="1673352"/>
            <a:ext cx="122682" cy="182880"/>
          </a:xfrm>
          <a:prstGeom prst="rect">
            <a:avLst/>
          </a:prstGeom>
          <a:solidFill>
            <a:srgbClr val="C9D1DB"/>
          </a:solidFill>
          <a:ln/>
        </p:spPr>
        <p:txBody>
          <a:bodyPr/>
          <a:lstStyle/>
          <a:p>
            <a:endParaRPr lang="ja-JP" altLang="en-US"/>
          </a:p>
        </p:txBody>
      </p:sp>
      <p:sp>
        <p:nvSpPr>
          <p:cNvPr id="51" name="Shape 49"/>
          <p:cNvSpPr/>
          <p:nvPr/>
        </p:nvSpPr>
        <p:spPr>
          <a:xfrm>
            <a:off x="6598920" y="1673352"/>
            <a:ext cx="122682" cy="182880"/>
          </a:xfrm>
          <a:prstGeom prst="rect">
            <a:avLst/>
          </a:prstGeom>
          <a:solidFill>
            <a:srgbClr val="C9D1DB"/>
          </a:solidFill>
          <a:ln/>
        </p:spPr>
        <p:txBody>
          <a:bodyPr/>
          <a:lstStyle/>
          <a:p>
            <a:endParaRPr lang="ja-JP" altLang="en-US"/>
          </a:p>
        </p:txBody>
      </p:sp>
      <p:sp>
        <p:nvSpPr>
          <p:cNvPr id="52" name="Shape 50"/>
          <p:cNvSpPr/>
          <p:nvPr/>
        </p:nvSpPr>
        <p:spPr>
          <a:xfrm>
            <a:off x="6732270" y="1673352"/>
            <a:ext cx="122682" cy="182880"/>
          </a:xfrm>
          <a:prstGeom prst="rect">
            <a:avLst/>
          </a:prstGeom>
          <a:solidFill>
            <a:srgbClr val="E66C64"/>
          </a:solidFill>
          <a:ln/>
        </p:spPr>
        <p:txBody>
          <a:bodyPr/>
          <a:lstStyle/>
          <a:p>
            <a:endParaRPr lang="ja-JP" altLang="en-US"/>
          </a:p>
        </p:txBody>
      </p:sp>
      <p:sp>
        <p:nvSpPr>
          <p:cNvPr id="53" name="Shape 51"/>
          <p:cNvSpPr/>
          <p:nvPr/>
        </p:nvSpPr>
        <p:spPr>
          <a:xfrm>
            <a:off x="6865620" y="1673352"/>
            <a:ext cx="122682" cy="182880"/>
          </a:xfrm>
          <a:prstGeom prst="rect">
            <a:avLst/>
          </a:prstGeom>
          <a:solidFill>
            <a:srgbClr val="E66C64"/>
          </a:solidFill>
          <a:ln/>
        </p:spPr>
        <p:txBody>
          <a:bodyPr/>
          <a:lstStyle/>
          <a:p>
            <a:endParaRPr lang="ja-JP" altLang="en-US"/>
          </a:p>
        </p:txBody>
      </p:sp>
      <p:sp>
        <p:nvSpPr>
          <p:cNvPr id="54" name="Shape 52"/>
          <p:cNvSpPr/>
          <p:nvPr/>
        </p:nvSpPr>
        <p:spPr>
          <a:xfrm>
            <a:off x="6998970" y="1673352"/>
            <a:ext cx="122682" cy="182880"/>
          </a:xfrm>
          <a:prstGeom prst="rect">
            <a:avLst/>
          </a:prstGeom>
          <a:solidFill>
            <a:srgbClr val="E66C64"/>
          </a:solidFill>
          <a:ln/>
        </p:spPr>
        <p:txBody>
          <a:bodyPr/>
          <a:lstStyle/>
          <a:p>
            <a:endParaRPr lang="ja-JP" altLang="en-US"/>
          </a:p>
        </p:txBody>
      </p:sp>
      <p:sp>
        <p:nvSpPr>
          <p:cNvPr id="55" name="Shape 53"/>
          <p:cNvSpPr/>
          <p:nvPr/>
        </p:nvSpPr>
        <p:spPr>
          <a:xfrm>
            <a:off x="7132320" y="1673352"/>
            <a:ext cx="122682" cy="182880"/>
          </a:xfrm>
          <a:prstGeom prst="rect">
            <a:avLst/>
          </a:prstGeom>
          <a:solidFill>
            <a:srgbClr val="E66C64"/>
          </a:solidFill>
          <a:ln/>
        </p:spPr>
        <p:txBody>
          <a:bodyPr/>
          <a:lstStyle/>
          <a:p>
            <a:endParaRPr lang="ja-JP" altLang="en-US"/>
          </a:p>
        </p:txBody>
      </p:sp>
      <p:sp>
        <p:nvSpPr>
          <p:cNvPr id="56" name="Shape 54"/>
          <p:cNvSpPr/>
          <p:nvPr/>
        </p:nvSpPr>
        <p:spPr>
          <a:xfrm>
            <a:off x="7265670" y="1673352"/>
            <a:ext cx="122682" cy="182880"/>
          </a:xfrm>
          <a:prstGeom prst="rect">
            <a:avLst/>
          </a:prstGeom>
          <a:solidFill>
            <a:srgbClr val="E66C64"/>
          </a:solidFill>
          <a:ln/>
        </p:spPr>
        <p:txBody>
          <a:bodyPr/>
          <a:lstStyle/>
          <a:p>
            <a:endParaRPr lang="ja-JP" altLang="en-US"/>
          </a:p>
        </p:txBody>
      </p:sp>
      <p:sp>
        <p:nvSpPr>
          <p:cNvPr id="57" name="Shape 55"/>
          <p:cNvSpPr/>
          <p:nvPr/>
        </p:nvSpPr>
        <p:spPr>
          <a:xfrm>
            <a:off x="7399020" y="1673352"/>
            <a:ext cx="122682" cy="182880"/>
          </a:xfrm>
          <a:prstGeom prst="rect">
            <a:avLst/>
          </a:prstGeom>
          <a:solidFill>
            <a:srgbClr val="C9D1DB"/>
          </a:solidFill>
          <a:ln/>
        </p:spPr>
        <p:txBody>
          <a:bodyPr/>
          <a:lstStyle/>
          <a:p>
            <a:endParaRPr lang="ja-JP" altLang="en-US"/>
          </a:p>
        </p:txBody>
      </p:sp>
      <p:sp>
        <p:nvSpPr>
          <p:cNvPr id="58" name="Shape 56"/>
          <p:cNvSpPr/>
          <p:nvPr/>
        </p:nvSpPr>
        <p:spPr>
          <a:xfrm>
            <a:off x="7532370" y="1673352"/>
            <a:ext cx="122682" cy="182880"/>
          </a:xfrm>
          <a:prstGeom prst="rect">
            <a:avLst/>
          </a:prstGeom>
          <a:solidFill>
            <a:srgbClr val="C9D1DB"/>
          </a:solidFill>
          <a:ln/>
        </p:spPr>
        <p:txBody>
          <a:bodyPr/>
          <a:lstStyle/>
          <a:p>
            <a:endParaRPr lang="ja-JP" altLang="en-US"/>
          </a:p>
        </p:txBody>
      </p:sp>
      <p:sp>
        <p:nvSpPr>
          <p:cNvPr id="59" name="Shape 57"/>
          <p:cNvSpPr/>
          <p:nvPr/>
        </p:nvSpPr>
        <p:spPr>
          <a:xfrm>
            <a:off x="7665720" y="1673352"/>
            <a:ext cx="122682" cy="182880"/>
          </a:xfrm>
          <a:prstGeom prst="rect">
            <a:avLst/>
          </a:prstGeom>
          <a:solidFill>
            <a:srgbClr val="E66C64"/>
          </a:solidFill>
          <a:ln/>
        </p:spPr>
        <p:txBody>
          <a:bodyPr/>
          <a:lstStyle/>
          <a:p>
            <a:endParaRPr lang="ja-JP" altLang="en-US"/>
          </a:p>
        </p:txBody>
      </p:sp>
      <p:sp>
        <p:nvSpPr>
          <p:cNvPr id="60" name="Shape 58"/>
          <p:cNvSpPr/>
          <p:nvPr/>
        </p:nvSpPr>
        <p:spPr>
          <a:xfrm>
            <a:off x="7799070" y="1673352"/>
            <a:ext cx="122682" cy="182880"/>
          </a:xfrm>
          <a:prstGeom prst="rect">
            <a:avLst/>
          </a:prstGeom>
          <a:solidFill>
            <a:srgbClr val="E66C64"/>
          </a:solidFill>
          <a:ln/>
        </p:spPr>
        <p:txBody>
          <a:bodyPr/>
          <a:lstStyle/>
          <a:p>
            <a:endParaRPr lang="ja-JP" altLang="en-US"/>
          </a:p>
        </p:txBody>
      </p:sp>
      <p:sp>
        <p:nvSpPr>
          <p:cNvPr id="61" name="Shape 59"/>
          <p:cNvSpPr/>
          <p:nvPr/>
        </p:nvSpPr>
        <p:spPr>
          <a:xfrm>
            <a:off x="7932420" y="1673352"/>
            <a:ext cx="122682" cy="182880"/>
          </a:xfrm>
          <a:prstGeom prst="rect">
            <a:avLst/>
          </a:prstGeom>
          <a:solidFill>
            <a:srgbClr val="E66C64"/>
          </a:solidFill>
          <a:ln/>
        </p:spPr>
        <p:txBody>
          <a:bodyPr/>
          <a:lstStyle/>
          <a:p>
            <a:endParaRPr lang="ja-JP" altLang="en-US"/>
          </a:p>
        </p:txBody>
      </p:sp>
      <p:sp>
        <p:nvSpPr>
          <p:cNvPr id="62" name="Shape 60"/>
          <p:cNvSpPr/>
          <p:nvPr/>
        </p:nvSpPr>
        <p:spPr>
          <a:xfrm>
            <a:off x="8065770" y="1673352"/>
            <a:ext cx="122682" cy="182880"/>
          </a:xfrm>
          <a:prstGeom prst="rect">
            <a:avLst/>
          </a:prstGeom>
          <a:solidFill>
            <a:srgbClr val="E66C64"/>
          </a:solidFill>
          <a:ln/>
        </p:spPr>
        <p:txBody>
          <a:bodyPr/>
          <a:lstStyle/>
          <a:p>
            <a:endParaRPr lang="ja-JP" altLang="en-US"/>
          </a:p>
        </p:txBody>
      </p:sp>
      <p:sp>
        <p:nvSpPr>
          <p:cNvPr id="63" name="Shape 61"/>
          <p:cNvSpPr/>
          <p:nvPr/>
        </p:nvSpPr>
        <p:spPr>
          <a:xfrm>
            <a:off x="8199120" y="1673352"/>
            <a:ext cx="122682" cy="182880"/>
          </a:xfrm>
          <a:prstGeom prst="rect">
            <a:avLst/>
          </a:prstGeom>
          <a:solidFill>
            <a:srgbClr val="E66C64"/>
          </a:solidFill>
          <a:ln/>
        </p:spPr>
        <p:txBody>
          <a:bodyPr/>
          <a:lstStyle/>
          <a:p>
            <a:endParaRPr lang="ja-JP" altLang="en-US"/>
          </a:p>
        </p:txBody>
      </p:sp>
      <p:sp>
        <p:nvSpPr>
          <p:cNvPr id="64" name="Shape 62"/>
          <p:cNvSpPr/>
          <p:nvPr/>
        </p:nvSpPr>
        <p:spPr>
          <a:xfrm>
            <a:off x="8332470" y="1673352"/>
            <a:ext cx="122682" cy="182880"/>
          </a:xfrm>
          <a:prstGeom prst="rect">
            <a:avLst/>
          </a:prstGeom>
          <a:solidFill>
            <a:srgbClr val="C9D1DB"/>
          </a:solidFill>
          <a:ln/>
        </p:spPr>
        <p:txBody>
          <a:bodyPr/>
          <a:lstStyle/>
          <a:p>
            <a:endParaRPr lang="ja-JP" altLang="en-US"/>
          </a:p>
        </p:txBody>
      </p:sp>
      <p:sp>
        <p:nvSpPr>
          <p:cNvPr id="65" name="Shape 63"/>
          <p:cNvSpPr/>
          <p:nvPr/>
        </p:nvSpPr>
        <p:spPr>
          <a:xfrm>
            <a:off x="8465820" y="1673352"/>
            <a:ext cx="122682" cy="182880"/>
          </a:xfrm>
          <a:prstGeom prst="rect">
            <a:avLst/>
          </a:prstGeom>
          <a:solidFill>
            <a:srgbClr val="C9D1DB"/>
          </a:solidFill>
          <a:ln/>
        </p:spPr>
        <p:txBody>
          <a:bodyPr/>
          <a:lstStyle/>
          <a:p>
            <a:endParaRPr lang="ja-JP" altLang="en-US"/>
          </a:p>
        </p:txBody>
      </p:sp>
      <p:sp>
        <p:nvSpPr>
          <p:cNvPr id="66" name="Shape 64"/>
          <p:cNvSpPr/>
          <p:nvPr/>
        </p:nvSpPr>
        <p:spPr>
          <a:xfrm>
            <a:off x="8599170" y="1673352"/>
            <a:ext cx="122682" cy="182880"/>
          </a:xfrm>
          <a:prstGeom prst="rect">
            <a:avLst/>
          </a:prstGeom>
          <a:solidFill>
            <a:srgbClr val="E66C64"/>
          </a:solidFill>
          <a:ln/>
        </p:spPr>
        <p:txBody>
          <a:bodyPr/>
          <a:lstStyle/>
          <a:p>
            <a:endParaRPr lang="ja-JP" altLang="en-US"/>
          </a:p>
        </p:txBody>
      </p:sp>
      <p:sp>
        <p:nvSpPr>
          <p:cNvPr id="67" name="Text 65"/>
          <p:cNvSpPr txBox="1"/>
          <p:nvPr/>
        </p:nvSpPr>
        <p:spPr>
          <a:xfrm>
            <a:off x="365760" y="1975104"/>
            <a:ext cx="1874520" cy="274320"/>
          </a:xfrm>
          <a:prstGeom prst="rect">
            <a:avLst/>
          </a:prstGeom>
          <a:noFill/>
          <a:ln/>
        </p:spPr>
        <p:txBody>
          <a:bodyPr wrap="square" lIns="0" tIns="0" rIns="0" bIns="0" rtlCol="0" anchor="ctr"/>
          <a:lstStyle/>
          <a:p>
            <a:pPr marL="0" indent="0">
              <a:buNone/>
            </a:pPr>
            <a:r>
              <a:rPr lang="en-US" sz="1100" b="1" dirty="0">
                <a:solidFill>
                  <a:srgbClr val="22354F"/>
                </a:solidFill>
                <a:latin typeface="游ゴシック" pitchFamily="34" charset="0"/>
                <a:ea typeface="游ゴシック" pitchFamily="34" charset="-122"/>
                <a:cs typeface="游ゴシック" pitchFamily="34" charset="-120"/>
              </a:rPr>
              <a:t>吸気温度（熱電対）</a:t>
            </a:r>
            <a:endParaRPr lang="en-US" sz="1100" dirty="0"/>
          </a:p>
        </p:txBody>
      </p:sp>
      <p:sp>
        <p:nvSpPr>
          <p:cNvPr id="68" name="Shape 66"/>
          <p:cNvSpPr/>
          <p:nvPr/>
        </p:nvSpPr>
        <p:spPr>
          <a:xfrm>
            <a:off x="2421731" y="2002536"/>
            <a:ext cx="6271339" cy="219456"/>
          </a:xfrm>
          <a:prstGeom prst="rect">
            <a:avLst/>
          </a:prstGeom>
          <a:solidFill>
            <a:srgbClr val="01B8AA"/>
          </a:solidFill>
          <a:ln w="12700">
            <a:solidFill>
              <a:srgbClr val="01B8AA"/>
            </a:solidFill>
            <a:prstDash val="solid"/>
          </a:ln>
        </p:spPr>
        <p:txBody>
          <a:bodyPr/>
          <a:lstStyle/>
          <a:p>
            <a:endParaRPr lang="ja-JP" altLang="en-US"/>
          </a:p>
        </p:txBody>
      </p:sp>
      <p:sp>
        <p:nvSpPr>
          <p:cNvPr id="69" name="Text 67"/>
          <p:cNvSpPr txBox="1"/>
          <p:nvPr/>
        </p:nvSpPr>
        <p:spPr>
          <a:xfrm>
            <a:off x="2476595" y="2002536"/>
            <a:ext cx="6179899" cy="219456"/>
          </a:xfrm>
          <a:prstGeom prst="rect">
            <a:avLst/>
          </a:prstGeom>
          <a:noFill/>
          <a:ln/>
        </p:spPr>
        <p:txBody>
          <a:bodyPr wrap="square" lIns="0" tIns="0" rIns="0" bIns="0" rtlCol="0" anchor="ctr"/>
          <a:lstStyle/>
          <a:p>
            <a:pPr marL="0" indent="0">
              <a:buNone/>
            </a:pPr>
            <a:r>
              <a:rPr lang="en-US" sz="900" b="1" dirty="0">
                <a:solidFill>
                  <a:srgbClr val="FFFFFF"/>
                </a:solidFill>
                <a:latin typeface="游ゴシック" pitchFamily="34" charset="0"/>
                <a:ea typeface="游ゴシック" pitchFamily="34" charset="-122"/>
                <a:cs typeface="游ゴシック" pitchFamily="34" charset="-120"/>
              </a:rPr>
              <a:t>全期間</a:t>
            </a:r>
            <a:endParaRPr lang="en-US" sz="900" dirty="0"/>
          </a:p>
        </p:txBody>
      </p:sp>
      <p:sp>
        <p:nvSpPr>
          <p:cNvPr id="70" name="Text 68"/>
          <p:cNvSpPr txBox="1"/>
          <p:nvPr/>
        </p:nvSpPr>
        <p:spPr>
          <a:xfrm>
            <a:off x="365760" y="2322576"/>
            <a:ext cx="1874520" cy="274320"/>
          </a:xfrm>
          <a:prstGeom prst="rect">
            <a:avLst/>
          </a:prstGeom>
          <a:noFill/>
          <a:ln/>
        </p:spPr>
        <p:txBody>
          <a:bodyPr wrap="square" lIns="0" tIns="0" rIns="0" bIns="0" rtlCol="0" anchor="ctr"/>
          <a:lstStyle/>
          <a:p>
            <a:pPr marL="0" indent="0">
              <a:buNone/>
            </a:pPr>
            <a:r>
              <a:rPr lang="en-US" sz="1100" b="1" dirty="0">
                <a:solidFill>
                  <a:srgbClr val="22354F"/>
                </a:solidFill>
                <a:latin typeface="游ゴシック" pitchFamily="34" charset="0"/>
                <a:ea typeface="游ゴシック" pitchFamily="34" charset="-122"/>
                <a:cs typeface="游ゴシック" pitchFamily="34" charset="-120"/>
              </a:rPr>
              <a:t>通路内の温湿度</a:t>
            </a:r>
            <a:endParaRPr lang="en-US" sz="1100" dirty="0"/>
          </a:p>
        </p:txBody>
      </p:sp>
      <p:sp>
        <p:nvSpPr>
          <p:cNvPr id="71" name="Shape 69"/>
          <p:cNvSpPr/>
          <p:nvPr/>
        </p:nvSpPr>
        <p:spPr>
          <a:xfrm>
            <a:off x="3805237" y="2350008"/>
            <a:ext cx="4887833" cy="219456"/>
          </a:xfrm>
          <a:prstGeom prst="rect">
            <a:avLst/>
          </a:prstGeom>
          <a:solidFill>
            <a:srgbClr val="01B8AA"/>
          </a:solidFill>
          <a:ln w="12700">
            <a:solidFill>
              <a:srgbClr val="01B8AA"/>
            </a:solidFill>
            <a:prstDash val="solid"/>
          </a:ln>
        </p:spPr>
        <p:txBody>
          <a:bodyPr/>
          <a:lstStyle/>
          <a:p>
            <a:endParaRPr lang="ja-JP" altLang="en-US"/>
          </a:p>
        </p:txBody>
      </p:sp>
      <p:sp>
        <p:nvSpPr>
          <p:cNvPr id="72" name="Text 70"/>
          <p:cNvSpPr txBox="1"/>
          <p:nvPr/>
        </p:nvSpPr>
        <p:spPr>
          <a:xfrm>
            <a:off x="3860101" y="2350008"/>
            <a:ext cx="4796393" cy="219456"/>
          </a:xfrm>
          <a:prstGeom prst="rect">
            <a:avLst/>
          </a:prstGeom>
          <a:noFill/>
          <a:ln/>
        </p:spPr>
        <p:txBody>
          <a:bodyPr wrap="square" lIns="0" tIns="0" rIns="0" bIns="0" rtlCol="0" anchor="ctr"/>
          <a:lstStyle/>
          <a:p>
            <a:pPr marL="0" indent="0">
              <a:buNone/>
            </a:pPr>
            <a:r>
              <a:rPr lang="en-US" sz="900" b="1" dirty="0">
                <a:solidFill>
                  <a:srgbClr val="FFFFFF"/>
                </a:solidFill>
                <a:latin typeface="游ゴシック" pitchFamily="34" charset="0"/>
                <a:ea typeface="游ゴシック" pitchFamily="34" charset="-122"/>
                <a:cs typeface="游ゴシック" pitchFamily="34" charset="-120"/>
              </a:rPr>
              <a:t>8/9〜</a:t>
            </a:r>
            <a:endParaRPr lang="en-US" sz="900" dirty="0"/>
          </a:p>
        </p:txBody>
      </p:sp>
      <p:sp>
        <p:nvSpPr>
          <p:cNvPr id="73" name="Text 71"/>
          <p:cNvSpPr txBox="1"/>
          <p:nvPr/>
        </p:nvSpPr>
        <p:spPr>
          <a:xfrm>
            <a:off x="365760" y="2670048"/>
            <a:ext cx="1874520" cy="274320"/>
          </a:xfrm>
          <a:prstGeom prst="rect">
            <a:avLst/>
          </a:prstGeom>
          <a:noFill/>
          <a:ln/>
        </p:spPr>
        <p:txBody>
          <a:bodyPr wrap="square" lIns="0" tIns="0" rIns="0" bIns="0" rtlCol="0" anchor="ctr"/>
          <a:lstStyle/>
          <a:p>
            <a:pPr marL="0" indent="0">
              <a:buNone/>
            </a:pPr>
            <a:r>
              <a:rPr lang="en-US" sz="1100" b="1" dirty="0">
                <a:solidFill>
                  <a:srgbClr val="22354F"/>
                </a:solidFill>
                <a:latin typeface="游ゴシック" pitchFamily="34" charset="0"/>
                <a:ea typeface="游ゴシック" pitchFamily="34" charset="-122"/>
                <a:cs typeface="游ゴシック" pitchFamily="34" charset="-120"/>
              </a:rPr>
              <a:t>通路内の風速・風向</a:t>
            </a:r>
            <a:endParaRPr lang="en-US" sz="1100" dirty="0"/>
          </a:p>
        </p:txBody>
      </p:sp>
      <p:sp>
        <p:nvSpPr>
          <p:cNvPr id="74" name="Shape 72"/>
          <p:cNvSpPr/>
          <p:nvPr/>
        </p:nvSpPr>
        <p:spPr>
          <a:xfrm>
            <a:off x="4549775" y="2697480"/>
            <a:ext cx="4143296" cy="219456"/>
          </a:xfrm>
          <a:prstGeom prst="rect">
            <a:avLst/>
          </a:prstGeom>
          <a:solidFill>
            <a:srgbClr val="118DFF"/>
          </a:solidFill>
          <a:ln w="12700">
            <a:solidFill>
              <a:srgbClr val="118DFF"/>
            </a:solidFill>
            <a:prstDash val="solid"/>
          </a:ln>
        </p:spPr>
        <p:txBody>
          <a:bodyPr/>
          <a:lstStyle/>
          <a:p>
            <a:endParaRPr lang="ja-JP" altLang="en-US"/>
          </a:p>
        </p:txBody>
      </p:sp>
      <p:sp>
        <p:nvSpPr>
          <p:cNvPr id="75" name="Text 73"/>
          <p:cNvSpPr txBox="1"/>
          <p:nvPr/>
        </p:nvSpPr>
        <p:spPr>
          <a:xfrm>
            <a:off x="4604639" y="2697480"/>
            <a:ext cx="4051856" cy="219456"/>
          </a:xfrm>
          <a:prstGeom prst="rect">
            <a:avLst/>
          </a:prstGeom>
          <a:noFill/>
          <a:ln/>
        </p:spPr>
        <p:txBody>
          <a:bodyPr wrap="square" lIns="0" tIns="0" rIns="0" bIns="0" rtlCol="0" anchor="ctr"/>
          <a:lstStyle/>
          <a:p>
            <a:pPr marL="0" indent="0">
              <a:buNone/>
            </a:pPr>
            <a:r>
              <a:rPr lang="en-US" sz="900" b="1" dirty="0">
                <a:solidFill>
                  <a:srgbClr val="FFFFFF"/>
                </a:solidFill>
                <a:latin typeface="游ゴシック" pitchFamily="34" charset="0"/>
                <a:ea typeface="游ゴシック" pitchFamily="34" charset="-122"/>
                <a:cs typeface="游ゴシック" pitchFamily="34" charset="-120"/>
              </a:rPr>
              <a:t>8/14 15:10〜</a:t>
            </a:r>
            <a:endParaRPr lang="en-US" sz="900" dirty="0"/>
          </a:p>
        </p:txBody>
      </p:sp>
      <p:sp>
        <p:nvSpPr>
          <p:cNvPr id="76" name="Text 74"/>
          <p:cNvSpPr txBox="1"/>
          <p:nvPr/>
        </p:nvSpPr>
        <p:spPr>
          <a:xfrm>
            <a:off x="365760" y="3017520"/>
            <a:ext cx="1874520" cy="274320"/>
          </a:xfrm>
          <a:prstGeom prst="rect">
            <a:avLst/>
          </a:prstGeom>
          <a:noFill/>
          <a:ln/>
        </p:spPr>
        <p:txBody>
          <a:bodyPr wrap="square" lIns="0" tIns="0" rIns="0" bIns="0" rtlCol="0" anchor="ctr"/>
          <a:lstStyle/>
          <a:p>
            <a:pPr marL="0" indent="0">
              <a:buNone/>
            </a:pPr>
            <a:r>
              <a:rPr lang="en-US" sz="1100" b="1" dirty="0">
                <a:solidFill>
                  <a:srgbClr val="22354F"/>
                </a:solidFill>
                <a:latin typeface="游ゴシック" pitchFamily="34" charset="0"/>
                <a:ea typeface="游ゴシック" pitchFamily="34" charset="-122"/>
                <a:cs typeface="游ゴシック" pitchFamily="34" charset="-120"/>
              </a:rPr>
              <a:t>日射量（日向・緑陰）</a:t>
            </a:r>
            <a:endParaRPr lang="en-US" sz="1100" dirty="0"/>
          </a:p>
        </p:txBody>
      </p:sp>
      <p:sp>
        <p:nvSpPr>
          <p:cNvPr id="77" name="Shape 75"/>
          <p:cNvSpPr/>
          <p:nvPr/>
        </p:nvSpPr>
        <p:spPr>
          <a:xfrm>
            <a:off x="6465570" y="3044952"/>
            <a:ext cx="2227501" cy="219456"/>
          </a:xfrm>
          <a:prstGeom prst="rect">
            <a:avLst/>
          </a:prstGeom>
          <a:solidFill>
            <a:srgbClr val="ED7D31"/>
          </a:solidFill>
          <a:ln w="12700">
            <a:solidFill>
              <a:srgbClr val="ED7D31"/>
            </a:solidFill>
            <a:prstDash val="solid"/>
          </a:ln>
        </p:spPr>
        <p:txBody>
          <a:bodyPr/>
          <a:lstStyle/>
          <a:p>
            <a:endParaRPr lang="ja-JP" altLang="en-US"/>
          </a:p>
        </p:txBody>
      </p:sp>
      <p:sp>
        <p:nvSpPr>
          <p:cNvPr id="78" name="Text 76"/>
          <p:cNvSpPr txBox="1"/>
          <p:nvPr/>
        </p:nvSpPr>
        <p:spPr>
          <a:xfrm>
            <a:off x="6520434" y="3044952"/>
            <a:ext cx="2136061" cy="219456"/>
          </a:xfrm>
          <a:prstGeom prst="rect">
            <a:avLst/>
          </a:prstGeom>
          <a:noFill/>
          <a:ln/>
        </p:spPr>
        <p:txBody>
          <a:bodyPr wrap="square" lIns="0" tIns="0" rIns="0" bIns="0" rtlCol="0" anchor="ctr"/>
          <a:lstStyle/>
          <a:p>
            <a:pPr marL="0" indent="0">
              <a:buNone/>
            </a:pPr>
            <a:r>
              <a:rPr lang="en-US" sz="900" b="1" dirty="0">
                <a:solidFill>
                  <a:srgbClr val="FFFFFF"/>
                </a:solidFill>
                <a:latin typeface="游ゴシック" pitchFamily="34" charset="0"/>
                <a:ea typeface="游ゴシック" pitchFamily="34" charset="-122"/>
                <a:cs typeface="游ゴシック" pitchFamily="34" charset="-120"/>
              </a:rPr>
              <a:t>8/29〜（17日間）</a:t>
            </a:r>
            <a:endParaRPr lang="en-US" sz="900" dirty="0"/>
          </a:p>
        </p:txBody>
      </p:sp>
      <p:sp>
        <p:nvSpPr>
          <p:cNvPr id="79" name="Text 77"/>
          <p:cNvSpPr txBox="1"/>
          <p:nvPr/>
        </p:nvSpPr>
        <p:spPr>
          <a:xfrm>
            <a:off x="365760" y="3364992"/>
            <a:ext cx="1874520" cy="274320"/>
          </a:xfrm>
          <a:prstGeom prst="rect">
            <a:avLst/>
          </a:prstGeom>
          <a:noFill/>
          <a:ln/>
        </p:spPr>
        <p:txBody>
          <a:bodyPr wrap="square" lIns="0" tIns="0" rIns="0" bIns="0" rtlCol="0" anchor="ctr"/>
          <a:lstStyle/>
          <a:p>
            <a:pPr marL="0" indent="0">
              <a:buNone/>
            </a:pPr>
            <a:r>
              <a:rPr lang="en-US" sz="1100" b="1" dirty="0">
                <a:solidFill>
                  <a:srgbClr val="22354F"/>
                </a:solidFill>
                <a:latin typeface="游ゴシック" pitchFamily="34" charset="0"/>
                <a:ea typeface="游ゴシック" pitchFamily="34" charset="-122"/>
                <a:cs typeface="游ゴシック" pitchFamily="34" charset="-120"/>
              </a:rPr>
              <a:t>屋上の気象</a:t>
            </a:r>
            <a:endParaRPr lang="en-US" sz="1100" dirty="0"/>
          </a:p>
        </p:txBody>
      </p:sp>
      <p:sp>
        <p:nvSpPr>
          <p:cNvPr id="80" name="Shape 78"/>
          <p:cNvSpPr/>
          <p:nvPr/>
        </p:nvSpPr>
        <p:spPr>
          <a:xfrm>
            <a:off x="2421731" y="3392424"/>
            <a:ext cx="6177439" cy="219456"/>
          </a:xfrm>
          <a:prstGeom prst="rect">
            <a:avLst/>
          </a:prstGeom>
          <a:solidFill>
            <a:srgbClr val="8E5BC4"/>
          </a:solidFill>
          <a:ln w="12700">
            <a:solidFill>
              <a:srgbClr val="8E5BC4"/>
            </a:solidFill>
            <a:prstDash val="solid"/>
          </a:ln>
        </p:spPr>
        <p:txBody>
          <a:bodyPr/>
          <a:lstStyle/>
          <a:p>
            <a:endParaRPr lang="ja-JP" altLang="en-US"/>
          </a:p>
        </p:txBody>
      </p:sp>
      <p:sp>
        <p:nvSpPr>
          <p:cNvPr id="81" name="Text 79"/>
          <p:cNvSpPr txBox="1"/>
          <p:nvPr/>
        </p:nvSpPr>
        <p:spPr>
          <a:xfrm>
            <a:off x="2476595" y="3392424"/>
            <a:ext cx="6085999" cy="219456"/>
          </a:xfrm>
          <a:prstGeom prst="rect">
            <a:avLst/>
          </a:prstGeom>
          <a:noFill/>
          <a:ln/>
        </p:spPr>
        <p:txBody>
          <a:bodyPr wrap="square" lIns="0" tIns="0" rIns="0" bIns="0" rtlCol="0" anchor="ctr"/>
          <a:lstStyle/>
          <a:p>
            <a:pPr marL="0" indent="0">
              <a:buNone/>
            </a:pPr>
            <a:r>
              <a:rPr lang="en-US" sz="900" b="1" dirty="0">
                <a:solidFill>
                  <a:srgbClr val="FFFFFF"/>
                </a:solidFill>
                <a:latin typeface="游ゴシック" pitchFamily="34" charset="0"/>
                <a:ea typeface="游ゴシック" pitchFamily="34" charset="-122"/>
                <a:cs typeface="游ゴシック" pitchFamily="34" charset="-120"/>
              </a:rPr>
              <a:t>〜9/13</a:t>
            </a:r>
            <a:endParaRPr lang="en-US" sz="900" dirty="0"/>
          </a:p>
        </p:txBody>
      </p:sp>
      <p:sp>
        <p:nvSpPr>
          <p:cNvPr id="82" name="Shape 80"/>
          <p:cNvSpPr/>
          <p:nvPr/>
        </p:nvSpPr>
        <p:spPr>
          <a:xfrm>
            <a:off x="2331720" y="3767328"/>
            <a:ext cx="182880" cy="128016"/>
          </a:xfrm>
          <a:prstGeom prst="rect">
            <a:avLst/>
          </a:prstGeom>
          <a:solidFill>
            <a:srgbClr val="E66C64"/>
          </a:solidFill>
          <a:ln/>
        </p:spPr>
        <p:txBody>
          <a:bodyPr/>
          <a:lstStyle/>
          <a:p>
            <a:endParaRPr lang="ja-JP" altLang="en-US"/>
          </a:p>
        </p:txBody>
      </p:sp>
      <p:sp>
        <p:nvSpPr>
          <p:cNvPr id="83" name="Text 81"/>
          <p:cNvSpPr txBox="1"/>
          <p:nvPr/>
        </p:nvSpPr>
        <p:spPr>
          <a:xfrm>
            <a:off x="2560320" y="3721608"/>
            <a:ext cx="1280160" cy="219456"/>
          </a:xfrm>
          <a:prstGeom prst="rect">
            <a:avLst/>
          </a:prstGeom>
          <a:noFill/>
          <a:ln/>
        </p:spPr>
        <p:txBody>
          <a:bodyPr wrap="square" lIns="0" tIns="0" rIns="0" bIns="0" rtlCol="0" anchor="ctr"/>
          <a:lstStyle/>
          <a:p>
            <a:pPr marL="0" indent="0">
              <a:buNone/>
            </a:pPr>
            <a:r>
              <a:rPr lang="en-US" sz="900" dirty="0">
                <a:solidFill>
                  <a:srgbClr val="5E6B7A"/>
                </a:solidFill>
                <a:latin typeface="游ゴシック" pitchFamily="34" charset="0"/>
                <a:ea typeface="游ゴシック" pitchFamily="34" charset="-122"/>
                <a:cs typeface="游ゴシック" pitchFamily="34" charset="-120"/>
              </a:rPr>
              <a:t>勤務日（32日間）</a:t>
            </a:r>
            <a:endParaRPr lang="en-US" sz="900" dirty="0"/>
          </a:p>
        </p:txBody>
      </p:sp>
      <p:sp>
        <p:nvSpPr>
          <p:cNvPr id="84" name="Shape 82"/>
          <p:cNvSpPr/>
          <p:nvPr/>
        </p:nvSpPr>
        <p:spPr>
          <a:xfrm>
            <a:off x="3840480" y="3767328"/>
            <a:ext cx="182880" cy="128016"/>
          </a:xfrm>
          <a:prstGeom prst="rect">
            <a:avLst/>
          </a:prstGeom>
          <a:solidFill>
            <a:srgbClr val="C9D1DB"/>
          </a:solidFill>
          <a:ln/>
        </p:spPr>
        <p:txBody>
          <a:bodyPr/>
          <a:lstStyle/>
          <a:p>
            <a:endParaRPr lang="ja-JP" altLang="en-US"/>
          </a:p>
        </p:txBody>
      </p:sp>
      <p:sp>
        <p:nvSpPr>
          <p:cNvPr id="85" name="Text 83"/>
          <p:cNvSpPr txBox="1"/>
          <p:nvPr/>
        </p:nvSpPr>
        <p:spPr>
          <a:xfrm>
            <a:off x="4069080" y="3721608"/>
            <a:ext cx="2011680" cy="219456"/>
          </a:xfrm>
          <a:prstGeom prst="rect">
            <a:avLst/>
          </a:prstGeom>
          <a:noFill/>
          <a:ln/>
        </p:spPr>
        <p:txBody>
          <a:bodyPr wrap="square" lIns="0" tIns="0" rIns="0" bIns="0" rtlCol="0" anchor="ctr"/>
          <a:lstStyle/>
          <a:p>
            <a:pPr marL="0" indent="0">
              <a:buNone/>
            </a:pPr>
            <a:r>
              <a:rPr lang="en-US" sz="900" dirty="0">
                <a:solidFill>
                  <a:srgbClr val="5E6B7A"/>
                </a:solidFill>
                <a:latin typeface="游ゴシック" pitchFamily="34" charset="0"/>
                <a:ea typeface="游ゴシック" pitchFamily="34" charset="-122"/>
                <a:cs typeface="游ゴシック" pitchFamily="34" charset="-120"/>
              </a:rPr>
              <a:t>休日：土日・8/11（15日間）</a:t>
            </a:r>
            <a:endParaRPr lang="en-US" sz="900" dirty="0"/>
          </a:p>
        </p:txBody>
      </p:sp>
      <p:sp>
        <p:nvSpPr>
          <p:cNvPr id="86" name="Shape 84"/>
          <p:cNvSpPr/>
          <p:nvPr/>
        </p:nvSpPr>
        <p:spPr>
          <a:xfrm>
            <a:off x="365760" y="4005072"/>
            <a:ext cx="8412480" cy="749808"/>
          </a:xfrm>
          <a:prstGeom prst="roundRect">
            <a:avLst>
              <a:gd name="adj" fmla="val 7317"/>
            </a:avLst>
          </a:prstGeom>
          <a:solidFill>
            <a:srgbClr val="E4F7F4"/>
          </a:solidFill>
          <a:ln w="12700">
            <a:solidFill>
              <a:srgbClr val="E4F7F4"/>
            </a:solidFill>
            <a:prstDash val="solid"/>
          </a:ln>
        </p:spPr>
        <p:txBody>
          <a:bodyPr/>
          <a:lstStyle/>
          <a:p>
            <a:endParaRPr lang="ja-JP" altLang="en-US"/>
          </a:p>
        </p:txBody>
      </p:sp>
      <p:sp>
        <p:nvSpPr>
          <p:cNvPr id="87" name="Text 85"/>
          <p:cNvSpPr txBox="1"/>
          <p:nvPr/>
        </p:nvSpPr>
        <p:spPr>
          <a:xfrm>
            <a:off x="502920" y="4078224"/>
            <a:ext cx="813816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分析に使う範囲</a:t>
            </a:r>
            <a:endParaRPr lang="en-US" sz="1200" dirty="0"/>
          </a:p>
        </p:txBody>
      </p:sp>
      <p:sp>
        <p:nvSpPr>
          <p:cNvPr id="88" name="Text 86"/>
          <p:cNvSpPr txBox="1"/>
          <p:nvPr/>
        </p:nvSpPr>
        <p:spPr>
          <a:xfrm>
            <a:off x="502920" y="4370832"/>
            <a:ext cx="8138160" cy="32004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期間は7/30〜9/14（7/29は設置当日で日中のデータがない）。主分析は勤務日32日間、休日は参考。日中は9〜18時（室外機の運転時間）</a:t>
            </a:r>
            <a:endParaRPr lang="en-US" sz="1050" dirty="0"/>
          </a:p>
        </p:txBody>
      </p:sp>
      <p:sp>
        <p:nvSpPr>
          <p:cNvPr id="89"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データの欠損と除外の基準</a:t>
            </a:r>
            <a:endParaRPr lang="en-US" sz="2000" dirty="0"/>
          </a:p>
        </p:txBody>
      </p:sp>
      <p:sp>
        <p:nvSpPr>
          <p:cNvPr id="3" name="Shape 1"/>
          <p:cNvSpPr/>
          <p:nvPr/>
        </p:nvSpPr>
        <p:spPr>
          <a:xfrm>
            <a:off x="7726680" y="155448"/>
            <a:ext cx="1097280" cy="274320"/>
          </a:xfrm>
          <a:prstGeom prst="roundRect">
            <a:avLst>
              <a:gd name="adj" fmla="val 26667"/>
            </a:avLst>
          </a:prstGeom>
          <a:solidFill>
            <a:srgbClr val="5E6B7A"/>
          </a:solidFill>
          <a:ln w="12700">
            <a:solidFill>
              <a:srgbClr val="5E6B7A"/>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前提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どのデータが欠けているか、どの基準で値を除外したかを1枚で示す</a:t>
            </a:r>
            <a:endParaRPr lang="en-US" sz="1200" dirty="0"/>
          </a:p>
        </p:txBody>
      </p:sp>
      <p:sp>
        <p:nvSpPr>
          <p:cNvPr id="6" name="Text 4"/>
          <p:cNvSpPr txBox="1"/>
          <p:nvPr/>
        </p:nvSpPr>
        <p:spPr>
          <a:xfrm>
            <a:off x="365760" y="1051560"/>
            <a:ext cx="4114800" cy="237744"/>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欠けているデータ</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325880"/>
          <a:ext cx="4114800" cy="2273808"/>
        </p:xfrm>
        <a:graphic>
          <a:graphicData uri="http://schemas.openxmlformats.org/drawingml/2006/table">
            <a:tbl>
              <a:tblPr/>
              <a:tblGrid>
                <a:gridCol w="10058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292608">
                <a:tc>
                  <a:txBody>
                    <a:bodyPr/>
                    <a:lstStyle/>
                    <a:p>
                      <a:pPr marL="0" indent="0" algn="ctr">
                        <a:buNone/>
                      </a:pPr>
                      <a:r>
                        <a:rPr lang="en-US" sz="1050" b="1" dirty="0">
                          <a:solidFill>
                            <a:srgbClr val="FFFFFF"/>
                          </a:solidFill>
                          <a:latin typeface="游ゴシック" pitchFamily="34" charset="0"/>
                          <a:ea typeface="游ゴシック" pitchFamily="34" charset="-122"/>
                          <a:cs typeface="游ゴシック" pitchFamily="34" charset="-120"/>
                        </a:rPr>
                        <a:t>種類</a:t>
                      </a:r>
                      <a:endParaRPr lang="en-US" sz="10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1050" b="1" dirty="0">
                          <a:solidFill>
                            <a:srgbClr val="FFFFFF"/>
                          </a:solidFill>
                          <a:latin typeface="游ゴシック" pitchFamily="34" charset="0"/>
                          <a:ea typeface="游ゴシック" pitchFamily="34" charset="-122"/>
                          <a:cs typeface="游ゴシック" pitchFamily="34" charset="-120"/>
                        </a:rPr>
                        <a:t>対象</a:t>
                      </a:r>
                      <a:endParaRPr lang="en-US" sz="10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1050" b="1" dirty="0">
                          <a:solidFill>
                            <a:srgbClr val="FFFFFF"/>
                          </a:solidFill>
                          <a:latin typeface="游ゴシック" pitchFamily="34" charset="0"/>
                          <a:ea typeface="游ゴシック" pitchFamily="34" charset="-122"/>
                          <a:cs typeface="游ゴシック" pitchFamily="34" charset="-120"/>
                        </a:rPr>
                        <a:t>期間</a:t>
                      </a:r>
                      <a:endParaRPr lang="en-US" sz="10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extLst>
                  <a:ext uri="{0D108BD9-81ED-4DB2-BD59-A6C34878D82A}">
                    <a16:rowId xmlns:a16="http://schemas.microsoft.com/office/drawing/2014/main" val="10000"/>
                  </a:ext>
                </a:extLst>
              </a:tr>
              <a:tr h="320040">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回収時の停止</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全ロガー（数分〜77分）</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8/14・8/28・9/7</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1"/>
                  </a:ext>
                </a:extLst>
              </a:tr>
              <a:tr h="320040">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センサー未接続</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11-3北側吸気・8上層の葉</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〜8/14</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2"/>
                  </a:ext>
                </a:extLst>
              </a:tr>
              <a:tr h="320040">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センサー不良</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3-2排気</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8/30〜9/7</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3"/>
                  </a:ext>
                </a:extLst>
              </a:tr>
              <a:tr h="320040">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設置不良</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8-2排気</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8/14〜8/28</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4"/>
                  </a:ext>
                </a:extLst>
              </a:tr>
              <a:tr h="320040">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使わない期間</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日射量</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〜8/28</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5"/>
                  </a:ext>
                </a:extLst>
              </a:tr>
              <a:tr h="320040">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計測の終了</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屋上の気象</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9/14</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Text 5"/>
          <p:cNvSpPr txBox="1"/>
          <p:nvPr/>
        </p:nvSpPr>
        <p:spPr>
          <a:xfrm>
            <a:off x="4663440" y="1051560"/>
            <a:ext cx="4114800" cy="237744"/>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除外の基準</a:t>
            </a:r>
            <a:endParaRPr lang="en-US" sz="12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4663440" y="1325880"/>
          <a:ext cx="4114800" cy="2121408"/>
        </p:xfrm>
        <a:graphic>
          <a:graphicData uri="http://schemas.openxmlformats.org/drawingml/2006/table">
            <a:tbl>
              <a:tblPr/>
              <a:tblGrid>
                <a:gridCol w="105156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292608">
                <a:tc>
                  <a:txBody>
                    <a:bodyPr/>
                    <a:lstStyle/>
                    <a:p>
                      <a:pPr marL="0" indent="0" algn="ctr">
                        <a:buNone/>
                      </a:pPr>
                      <a:r>
                        <a:rPr lang="en-US" sz="1050" b="1" dirty="0">
                          <a:solidFill>
                            <a:srgbClr val="FFFFFF"/>
                          </a:solidFill>
                          <a:latin typeface="游ゴシック" pitchFamily="34" charset="0"/>
                          <a:ea typeface="游ゴシック" pitchFamily="34" charset="-122"/>
                          <a:cs typeface="游ゴシック" pitchFamily="34" charset="-120"/>
                        </a:rPr>
                        <a:t>基準</a:t>
                      </a:r>
                      <a:endParaRPr lang="en-US" sz="10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1050" b="1" dirty="0">
                          <a:solidFill>
                            <a:srgbClr val="FFFFFF"/>
                          </a:solidFill>
                          <a:latin typeface="游ゴシック" pitchFamily="34" charset="0"/>
                          <a:ea typeface="游ゴシック" pitchFamily="34" charset="-122"/>
                          <a:cs typeface="游ゴシック" pitchFamily="34" charset="-120"/>
                        </a:rPr>
                        <a:t>内容</a:t>
                      </a:r>
                      <a:endParaRPr lang="en-US" sz="10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1050" b="1" dirty="0">
                          <a:solidFill>
                            <a:srgbClr val="FFFFFF"/>
                          </a:solidFill>
                          <a:latin typeface="游ゴシック" pitchFamily="34" charset="0"/>
                          <a:ea typeface="游ゴシック" pitchFamily="34" charset="-122"/>
                          <a:cs typeface="游ゴシック" pitchFamily="34" charset="-120"/>
                        </a:rPr>
                        <a:t>件数</a:t>
                      </a:r>
                      <a:endParaRPr lang="en-US" sz="10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extLst>
                  <a:ext uri="{0D108BD9-81ED-4DB2-BD59-A6C34878D82A}">
                    <a16:rowId xmlns:a16="http://schemas.microsoft.com/office/drawing/2014/main" val="10000"/>
                  </a:ext>
                </a:extLst>
              </a:tr>
              <a:tr h="457200">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エラー値</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ロガーのエラー値（99991など）</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r">
                        <a:buNone/>
                      </a:pPr>
                      <a:r>
                        <a:rPr lang="en-US" sz="950" dirty="0">
                          <a:solidFill>
                            <a:srgbClr val="172033"/>
                          </a:solidFill>
                          <a:latin typeface="游ゴシック" pitchFamily="34" charset="0"/>
                          <a:ea typeface="游ゴシック" pitchFamily="34" charset="-122"/>
                          <a:cs typeface="游ゴシック" pitchFamily="34" charset="-120"/>
                        </a:rPr>
                        <a:t>56,200</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範囲外</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熱電対で5℃未満・70℃超</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r">
                        <a:buNone/>
                      </a:pPr>
                      <a:r>
                        <a:rPr lang="en-US" sz="950" dirty="0">
                          <a:solidFill>
                            <a:srgbClr val="172033"/>
                          </a:solidFill>
                          <a:latin typeface="游ゴシック" pitchFamily="34" charset="0"/>
                          <a:ea typeface="游ゴシック" pitchFamily="34" charset="-122"/>
                          <a:cs typeface="游ゴシック" pitchFamily="34" charset="-120"/>
                        </a:rPr>
                        <a:t>169</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スパイク</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前後5分の中央値から±4℃超</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r">
                        <a:buNone/>
                      </a:pPr>
                      <a:r>
                        <a:rPr lang="en-US" sz="950" dirty="0">
                          <a:solidFill>
                            <a:srgbClr val="172033"/>
                          </a:solidFill>
                          <a:latin typeface="游ゴシック" pitchFamily="34" charset="0"/>
                          <a:ea typeface="游ゴシック" pitchFamily="34" charset="-122"/>
                          <a:cs typeface="游ゴシック" pitchFamily="34" charset="-120"/>
                        </a:rPr>
                        <a:t>783</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日射量の期間</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8/28以前はすべて使わない</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r">
                        <a:buNone/>
                      </a:pPr>
                      <a:r>
                        <a:rPr lang="en-US" sz="950" dirty="0">
                          <a:solidFill>
                            <a:srgbClr val="172033"/>
                          </a:solidFill>
                          <a:latin typeface="游ゴシック" pitchFamily="34" charset="0"/>
                          <a:ea typeface="游ゴシック" pitchFamily="34" charset="-122"/>
                          <a:cs typeface="游ゴシック" pitchFamily="34" charset="-120"/>
                        </a:rPr>
                        <a:t>87,073</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0" name="Text 6"/>
          <p:cNvSpPr txBox="1"/>
          <p:nvPr/>
        </p:nvSpPr>
        <p:spPr>
          <a:xfrm>
            <a:off x="4663440" y="3474720"/>
            <a:ext cx="4114800" cy="182880"/>
          </a:xfrm>
          <a:prstGeom prst="rect">
            <a:avLst/>
          </a:prstGeom>
          <a:noFill/>
          <a:ln/>
        </p:spPr>
        <p:txBody>
          <a:bodyPr wrap="square" lIns="0" tIns="0" rIns="0" bIns="0" rtlCol="0" anchor="ctr"/>
          <a:lstStyle/>
          <a:p>
            <a:pPr marL="0" indent="0" algn="r">
              <a:buNone/>
            </a:pPr>
            <a:r>
              <a:rPr lang="en-US" sz="850" dirty="0">
                <a:solidFill>
                  <a:srgbClr val="5E6B7A"/>
                </a:solidFill>
                <a:latin typeface="游ゴシック" pitchFamily="34" charset="0"/>
                <a:ea typeface="游ゴシック" pitchFamily="34" charset="-122"/>
                <a:cs typeface="游ゴシック" pitchFamily="34" charset="-120"/>
              </a:rPr>
              <a:t>件数は全78列の合計（値の数）</a:t>
            </a:r>
            <a:endParaRPr lang="en-US" sz="850" dirty="0"/>
          </a:p>
        </p:txBody>
      </p:sp>
      <p:sp>
        <p:nvSpPr>
          <p:cNvPr id="11" name="Shape 7"/>
          <p:cNvSpPr/>
          <p:nvPr/>
        </p:nvSpPr>
        <p:spPr>
          <a:xfrm>
            <a:off x="365760" y="3767328"/>
            <a:ext cx="2743200" cy="969264"/>
          </a:xfrm>
          <a:prstGeom prst="roundRect">
            <a:avLst>
              <a:gd name="adj" fmla="val 5660"/>
            </a:avLst>
          </a:prstGeom>
          <a:solidFill>
            <a:srgbClr val="EAF4FF"/>
          </a:solidFill>
          <a:ln w="12700">
            <a:solidFill>
              <a:srgbClr val="EAF4FF"/>
            </a:solidFill>
            <a:prstDash val="solid"/>
          </a:ln>
        </p:spPr>
        <p:txBody>
          <a:bodyPr/>
          <a:lstStyle/>
          <a:p>
            <a:endParaRPr lang="ja-JP" altLang="en-US"/>
          </a:p>
        </p:txBody>
      </p:sp>
      <p:sp>
        <p:nvSpPr>
          <p:cNvPr id="12" name="Text 8"/>
          <p:cNvSpPr txBox="1"/>
          <p:nvPr/>
        </p:nvSpPr>
        <p:spPr>
          <a:xfrm>
            <a:off x="502920" y="3840480"/>
            <a:ext cx="246888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集計の基準</a:t>
            </a:r>
            <a:endParaRPr lang="en-US" sz="1200" dirty="0"/>
          </a:p>
        </p:txBody>
      </p:sp>
      <p:sp>
        <p:nvSpPr>
          <p:cNvPr id="9" name="Text 9"/>
          <p:cNvSpPr txBox="1"/>
          <p:nvPr/>
        </p:nvSpPr>
        <p:spPr>
          <a:xfrm>
            <a:off x="502920" y="4133088"/>
            <a:ext cx="2468880" cy="539496"/>
          </a:xfrm>
          <a:prstGeom prst="rect">
            <a:avLst/>
          </a:prstGeom>
          <a:noFill/>
          <a:ln/>
        </p:spPr>
        <p:txBody>
          <a:bodyPr wrap="square" lIns="0" tIns="0" rIns="0" bIns="0" rtlCol="0" anchor="t"/>
          <a:lstStyle/>
          <a:p>
            <a:pPr marL="152400" indent="-152400">
              <a:spcAft>
                <a:spcPts val="300"/>
              </a:spcAft>
              <a:buSzPct val="100000"/>
              <a:buChar char="•"/>
            </a:pPr>
            <a:r>
              <a:rPr lang="en-US" sz="950" dirty="0">
                <a:solidFill>
                  <a:srgbClr val="172033"/>
                </a:solidFill>
                <a:latin typeface="游ゴシック" pitchFamily="34" charset="0"/>
                <a:ea typeface="游ゴシック" pitchFamily="34" charset="-122"/>
                <a:cs typeface="游ゴシック" pitchFamily="34" charset="-120"/>
              </a:rPr>
              <a:t>1時間平均：有効48分以上</a:t>
            </a:r>
            <a:endParaRPr lang="en-US" sz="950" dirty="0"/>
          </a:p>
          <a:p>
            <a:pPr marL="152400" indent="-152400">
              <a:spcAft>
                <a:spcPts val="300"/>
              </a:spcAft>
              <a:buSzPct val="100000"/>
              <a:buChar char="•"/>
            </a:pPr>
            <a:r>
              <a:rPr lang="en-US" sz="950" dirty="0">
                <a:solidFill>
                  <a:srgbClr val="172033"/>
                </a:solidFill>
                <a:latin typeface="游ゴシック" pitchFamily="34" charset="0"/>
                <a:ea typeface="游ゴシック" pitchFamily="34" charset="-122"/>
                <a:cs typeface="游ゴシック" pitchFamily="34" charset="-120"/>
              </a:rPr>
              <a:t>日中平均：9時間中7時間以上</a:t>
            </a:r>
            <a:endParaRPr lang="en-US" sz="950" dirty="0"/>
          </a:p>
        </p:txBody>
      </p:sp>
      <p:sp>
        <p:nvSpPr>
          <p:cNvPr id="14" name="Shape 10"/>
          <p:cNvSpPr/>
          <p:nvPr/>
        </p:nvSpPr>
        <p:spPr>
          <a:xfrm>
            <a:off x="3200400" y="3767328"/>
            <a:ext cx="2743200" cy="969264"/>
          </a:xfrm>
          <a:prstGeom prst="roundRect">
            <a:avLst>
              <a:gd name="adj" fmla="val 5660"/>
            </a:avLst>
          </a:prstGeom>
          <a:solidFill>
            <a:srgbClr val="FFF7D1"/>
          </a:solidFill>
          <a:ln w="12700">
            <a:solidFill>
              <a:srgbClr val="FFF7D1"/>
            </a:solidFill>
            <a:prstDash val="solid"/>
          </a:ln>
        </p:spPr>
        <p:txBody>
          <a:bodyPr/>
          <a:lstStyle/>
          <a:p>
            <a:endParaRPr lang="ja-JP" altLang="en-US"/>
          </a:p>
        </p:txBody>
      </p:sp>
      <p:sp>
        <p:nvSpPr>
          <p:cNvPr id="15" name="Text 11"/>
          <p:cNvSpPr txBox="1"/>
          <p:nvPr/>
        </p:nvSpPr>
        <p:spPr>
          <a:xfrm>
            <a:off x="3337560" y="3840480"/>
            <a:ext cx="2468880" cy="256032"/>
          </a:xfrm>
          <a:prstGeom prst="rect">
            <a:avLst/>
          </a:prstGeom>
          <a:noFill/>
          <a:ln/>
        </p:spPr>
        <p:txBody>
          <a:bodyPr wrap="square" lIns="0" tIns="0" rIns="0" bIns="0" rtlCol="0" anchor="ctr"/>
          <a:lstStyle/>
          <a:p>
            <a:pPr marL="0" indent="0">
              <a:buNone/>
            </a:pPr>
            <a:r>
              <a:rPr lang="en-US" sz="1200" b="1" dirty="0">
                <a:solidFill>
                  <a:srgbClr val="ED7D31"/>
                </a:solidFill>
                <a:latin typeface="游ゴシック" pitchFamily="34" charset="0"/>
                <a:ea typeface="游ゴシック" pitchFamily="34" charset="-122"/>
                <a:cs typeface="游ゴシック" pitchFamily="34" charset="-120"/>
              </a:rPr>
              <a:t>除外しないもの</a:t>
            </a:r>
            <a:endParaRPr lang="en-US" sz="1200" dirty="0"/>
          </a:p>
        </p:txBody>
      </p:sp>
      <p:sp>
        <p:nvSpPr>
          <p:cNvPr id="16" name="Text 12"/>
          <p:cNvSpPr txBox="1"/>
          <p:nvPr/>
        </p:nvSpPr>
        <p:spPr>
          <a:xfrm>
            <a:off x="3337560" y="4133088"/>
            <a:ext cx="2468880" cy="539496"/>
          </a:xfrm>
          <a:prstGeom prst="rect">
            <a:avLst/>
          </a:prstGeom>
          <a:noFill/>
          <a:ln/>
        </p:spPr>
        <p:txBody>
          <a:bodyPr wrap="square" lIns="0" tIns="0" rIns="0" bIns="0" rtlCol="0" anchor="t"/>
          <a:lstStyle/>
          <a:p>
            <a:pPr marL="152400" indent="-152400">
              <a:spcAft>
                <a:spcPts val="300"/>
              </a:spcAft>
              <a:buSzPct val="100000"/>
              <a:buChar char="•"/>
            </a:pPr>
            <a:r>
              <a:rPr lang="en-US" sz="950" dirty="0">
                <a:solidFill>
                  <a:srgbClr val="172033"/>
                </a:solidFill>
                <a:latin typeface="游ゴシック" pitchFamily="34" charset="0"/>
                <a:ea typeface="游ゴシック" pitchFamily="34" charset="-122"/>
                <a:cs typeface="游ゴシック" pitchFamily="34" charset="-120"/>
              </a:rPr>
              <a:t>データ回収の日を一括では消さない</a:t>
            </a:r>
            <a:endParaRPr lang="en-US" sz="950" dirty="0"/>
          </a:p>
          <a:p>
            <a:pPr marL="152400" indent="-152400">
              <a:spcAft>
                <a:spcPts val="300"/>
              </a:spcAft>
              <a:buSzPct val="100000"/>
              <a:buChar char="•"/>
            </a:pPr>
            <a:r>
              <a:rPr lang="en-US" sz="950" dirty="0">
                <a:solidFill>
                  <a:srgbClr val="172033"/>
                </a:solidFill>
                <a:latin typeface="游ゴシック" pitchFamily="34" charset="0"/>
                <a:ea typeface="游ゴシック" pitchFamily="34" charset="-122"/>
                <a:cs typeface="游ゴシック" pitchFamily="34" charset="-120"/>
              </a:rPr>
              <a:t>11-3メンテ空間温度は保留</a:t>
            </a:r>
            <a:endParaRPr lang="en-US" sz="950" dirty="0"/>
          </a:p>
        </p:txBody>
      </p:sp>
      <p:sp>
        <p:nvSpPr>
          <p:cNvPr id="17" name="Shape 13"/>
          <p:cNvSpPr/>
          <p:nvPr/>
        </p:nvSpPr>
        <p:spPr>
          <a:xfrm>
            <a:off x="6035040" y="3767328"/>
            <a:ext cx="2743200" cy="969264"/>
          </a:xfrm>
          <a:prstGeom prst="roundRect">
            <a:avLst>
              <a:gd name="adj" fmla="val 5660"/>
            </a:avLst>
          </a:prstGeom>
          <a:solidFill>
            <a:srgbClr val="E4F7F4"/>
          </a:solidFill>
          <a:ln w="12700">
            <a:solidFill>
              <a:srgbClr val="E4F7F4"/>
            </a:solidFill>
            <a:prstDash val="solid"/>
          </a:ln>
        </p:spPr>
        <p:txBody>
          <a:bodyPr/>
          <a:lstStyle/>
          <a:p>
            <a:endParaRPr lang="ja-JP" altLang="en-US"/>
          </a:p>
        </p:txBody>
      </p:sp>
      <p:sp>
        <p:nvSpPr>
          <p:cNvPr id="18" name="Text 14"/>
          <p:cNvSpPr txBox="1"/>
          <p:nvPr/>
        </p:nvSpPr>
        <p:spPr>
          <a:xfrm>
            <a:off x="6172200" y="3840480"/>
            <a:ext cx="246888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残ったデータ</a:t>
            </a:r>
            <a:endParaRPr lang="en-US" sz="1200" dirty="0"/>
          </a:p>
        </p:txBody>
      </p:sp>
      <p:sp>
        <p:nvSpPr>
          <p:cNvPr id="19" name="Text 15"/>
          <p:cNvSpPr txBox="1"/>
          <p:nvPr/>
        </p:nvSpPr>
        <p:spPr>
          <a:xfrm>
            <a:off x="6172200" y="4133088"/>
            <a:ext cx="2468880" cy="539496"/>
          </a:xfrm>
          <a:prstGeom prst="rect">
            <a:avLst/>
          </a:prstGeom>
          <a:noFill/>
          <a:ln/>
        </p:spPr>
        <p:txBody>
          <a:bodyPr wrap="square" lIns="0" tIns="0" rIns="0" bIns="0" rtlCol="0" anchor="t"/>
          <a:lstStyle/>
          <a:p>
            <a:pPr marL="152400" indent="-152400">
              <a:spcAft>
                <a:spcPts val="300"/>
              </a:spcAft>
              <a:buSzPct val="100000"/>
              <a:buChar char="•"/>
            </a:pPr>
            <a:r>
              <a:rPr lang="en-US" sz="950" dirty="0">
                <a:solidFill>
                  <a:srgbClr val="172033"/>
                </a:solidFill>
                <a:latin typeface="游ゴシック" pitchFamily="34" charset="0"/>
                <a:ea typeface="游ゴシック" pitchFamily="34" charset="-122"/>
                <a:cs typeface="游ゴシック" pitchFamily="34" charset="-120"/>
              </a:rPr>
              <a:t>吸気温度は元の値の97〜99％</a:t>
            </a:r>
            <a:endParaRPr lang="en-US" sz="950" dirty="0"/>
          </a:p>
          <a:p>
            <a:pPr marL="152400" indent="-152400">
              <a:spcAft>
                <a:spcPts val="300"/>
              </a:spcAft>
              <a:buSzPct val="100000"/>
              <a:buChar char="•"/>
            </a:pPr>
            <a:r>
              <a:rPr lang="en-US" sz="950" dirty="0">
                <a:solidFill>
                  <a:srgbClr val="172033"/>
                </a:solidFill>
                <a:latin typeface="游ゴシック" pitchFamily="34" charset="0"/>
                <a:ea typeface="游ゴシック" pitchFamily="34" charset="-122"/>
                <a:cs typeface="游ゴシック" pitchFamily="34" charset="-120"/>
              </a:rPr>
              <a:t>不備は空欄のまま（埋めない）</a:t>
            </a:r>
            <a:endParaRPr lang="en-US" sz="9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熱電対ごとの誤差の確認</a:t>
            </a:r>
            <a:endParaRPr lang="en-US" sz="2000" dirty="0"/>
          </a:p>
        </p:txBody>
      </p:sp>
      <p:sp>
        <p:nvSpPr>
          <p:cNvPr id="3" name="Shape 1"/>
          <p:cNvSpPr/>
          <p:nvPr/>
        </p:nvSpPr>
        <p:spPr>
          <a:xfrm>
            <a:off x="7726680" y="155448"/>
            <a:ext cx="1097280" cy="274320"/>
          </a:xfrm>
          <a:prstGeom prst="roundRect">
            <a:avLst>
              <a:gd name="adj" fmla="val 26667"/>
            </a:avLst>
          </a:prstGeom>
          <a:solidFill>
            <a:srgbClr val="5E6B7A"/>
          </a:solidFill>
          <a:ln w="12700">
            <a:solidFill>
              <a:srgbClr val="5E6B7A"/>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前提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熱電対ごとの誤差が小さく、吸気温度差に対して十分小さいかを確かめる</a:t>
            </a:r>
            <a:endParaRPr lang="en-US" sz="1200" dirty="0"/>
          </a:p>
        </p:txBody>
      </p:sp>
      <p:sp>
        <p:nvSpPr>
          <p:cNvPr id="6" name="Text 4"/>
          <p:cNvSpPr txBox="1"/>
          <p:nvPr/>
        </p:nvSpPr>
        <p:spPr>
          <a:xfrm>
            <a:off x="365760" y="987552"/>
            <a:ext cx="8412480" cy="292608"/>
          </a:xfrm>
          <a:prstGeom prst="rect">
            <a:avLst/>
          </a:prstGeom>
          <a:noFill/>
          <a:ln/>
        </p:spPr>
        <p:txBody>
          <a:bodyPr wrap="square" lIns="0" tIns="0" rIns="0" bIns="0" rtlCol="0" anchor="ctr"/>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方法　</a:t>
            </a:r>
            <a:r>
              <a:rPr lang="en-US" sz="1050" dirty="0">
                <a:solidFill>
                  <a:srgbClr val="5E6B7A"/>
                </a:solidFill>
                <a:latin typeface="游ゴシック" pitchFamily="34" charset="0"/>
                <a:ea typeface="游ゴシック" pitchFamily="34" charset="-122"/>
                <a:cs typeface="游ゴシック" pitchFamily="34" charset="-120"/>
              </a:rPr>
              <a:t>9台の室外機がすべて停止している夜間（1〜5時、計31時間）に、各熱電対と吸気温度27点の中央値との差（偏差）を計算</a:t>
            </a:r>
            <a:endParaRPr lang="en-US" sz="1050" dirty="0"/>
          </a:p>
        </p:txBody>
      </p:sp>
      <p:sp>
        <p:nvSpPr>
          <p:cNvPr id="8" name="Text 6"/>
          <p:cNvSpPr txBox="1"/>
          <p:nvPr/>
        </p:nvSpPr>
        <p:spPr>
          <a:xfrm>
            <a:off x="365760" y="4572000"/>
            <a:ext cx="5074920" cy="201168"/>
          </a:xfrm>
          <a:prstGeom prst="rect">
            <a:avLst/>
          </a:prstGeom>
          <a:noFill/>
          <a:ln/>
        </p:spPr>
        <p:txBody>
          <a:bodyPr wrap="square" lIns="0" tIns="0" rIns="0" bIns="0" rtlCol="0" anchor="ctr"/>
          <a:lstStyle/>
          <a:p>
            <a:pPr marL="0" indent="0">
              <a:buNone/>
            </a:pPr>
            <a:r>
              <a:rPr lang="en-US" sz="850" dirty="0">
                <a:solidFill>
                  <a:srgbClr val="5E6B7A"/>
                </a:solidFill>
                <a:latin typeface="游ゴシック" pitchFamily="34" charset="0"/>
                <a:ea typeface="游ゴシック" pitchFamily="34" charset="-122"/>
                <a:cs typeface="游ゴシック" pitchFamily="34" charset="-120"/>
              </a:rPr>
              <a:t>点：偏差の平均、ひげ：95％の範囲（2.5〜97.5％）、破線：±0.3℃</a:t>
            </a:r>
            <a:endParaRPr lang="en-US" sz="850" dirty="0"/>
          </a:p>
        </p:txBody>
      </p:sp>
      <p:sp>
        <p:nvSpPr>
          <p:cNvPr id="9" name="Shape 7"/>
          <p:cNvSpPr/>
          <p:nvPr/>
        </p:nvSpPr>
        <p:spPr>
          <a:xfrm>
            <a:off x="5577840" y="1325880"/>
            <a:ext cx="3200400" cy="2057400"/>
          </a:xfrm>
          <a:prstGeom prst="roundRect">
            <a:avLst>
              <a:gd name="adj" fmla="val 2667"/>
            </a:avLst>
          </a:prstGeom>
          <a:solidFill>
            <a:srgbClr val="EAF4FF"/>
          </a:solidFill>
          <a:ln w="12700">
            <a:solidFill>
              <a:srgbClr val="EAF4FF"/>
            </a:solidFill>
            <a:prstDash val="solid"/>
          </a:ln>
        </p:spPr>
        <p:txBody>
          <a:bodyPr/>
          <a:lstStyle/>
          <a:p>
            <a:endParaRPr lang="ja-JP" altLang="en-US"/>
          </a:p>
        </p:txBody>
      </p:sp>
      <p:sp>
        <p:nvSpPr>
          <p:cNvPr id="10" name="Text 8"/>
          <p:cNvSpPr txBox="1"/>
          <p:nvPr/>
        </p:nvSpPr>
        <p:spPr>
          <a:xfrm>
            <a:off x="5715000" y="1399032"/>
            <a:ext cx="292608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結果</a:t>
            </a:r>
            <a:endParaRPr lang="en-US" sz="1200" dirty="0"/>
          </a:p>
        </p:txBody>
      </p:sp>
      <p:sp>
        <p:nvSpPr>
          <p:cNvPr id="11" name="Text 9"/>
          <p:cNvSpPr txBox="1"/>
          <p:nvPr/>
        </p:nvSpPr>
        <p:spPr>
          <a:xfrm>
            <a:off x="5715000" y="1691640"/>
            <a:ext cx="2926080" cy="1627632"/>
          </a:xfrm>
          <a:prstGeom prst="rect">
            <a:avLst/>
          </a:prstGeom>
          <a:noFill/>
          <a:ln/>
        </p:spPr>
        <p:txBody>
          <a:bodyPr wrap="square" lIns="0" tIns="0" rIns="0" bIns="0" rtlCol="0" anchor="t"/>
          <a:lstStyle/>
          <a:p>
            <a:pPr marL="152400" indent="-152400">
              <a:spcAft>
                <a:spcPts val="300"/>
              </a:spcAft>
              <a:buSzPct val="100000"/>
              <a:buChar char="•"/>
            </a:pPr>
            <a:r>
              <a:rPr lang="ja-JP" altLang="en-US" sz="1050" dirty="0">
                <a:solidFill>
                  <a:srgbClr val="172033"/>
                </a:solidFill>
                <a:latin typeface="游ゴシック" pitchFamily="34" charset="0"/>
                <a:ea typeface="游ゴシック" pitchFamily="34" charset="-122"/>
                <a:cs typeface="游ゴシック" pitchFamily="34" charset="-120"/>
              </a:rPr>
              <a:t>熱電対ごとのずれ（偏差の平均）は−0.21〜＋0.29℃の範囲</a:t>
            </a:r>
            <a:endParaRPr lang="ja-JP" altLang="en-US" sz="1050" dirty="0"/>
          </a:p>
          <a:p>
            <a:pPr marL="152400" indent="-152400">
              <a:spcAft>
                <a:spcPts val="300"/>
              </a:spcAft>
              <a:buSzPct val="100000"/>
              <a:buChar char="•"/>
            </a:pPr>
            <a:r>
              <a:rPr lang="ja-JP" altLang="en-US" sz="1050" dirty="0">
                <a:solidFill>
                  <a:srgbClr val="172033"/>
                </a:solidFill>
                <a:latin typeface="游ゴシック" pitchFamily="34" charset="0"/>
                <a:ea typeface="游ゴシック" pitchFamily="34" charset="-122"/>
                <a:cs typeface="游ゴシック" pitchFamily="34" charset="-120"/>
              </a:rPr>
              <a:t>列3の9点はそろって高め。平均＋0.17℃（列8は−0.05℃、列11は−0.07℃）</a:t>
            </a:r>
            <a:endParaRPr lang="ja-JP" altLang="en-US" sz="1050" dirty="0"/>
          </a:p>
          <a:p>
            <a:pPr marL="152400" indent="-152400">
              <a:spcAft>
                <a:spcPts val="300"/>
              </a:spcAft>
              <a:buSzPct val="100000"/>
              <a:buChar char="•"/>
            </a:pPr>
            <a:r>
              <a:rPr lang="ja-JP" altLang="en-US" sz="1050" dirty="0">
                <a:solidFill>
                  <a:srgbClr val="172033"/>
                </a:solidFill>
                <a:latin typeface="游ゴシック" pitchFamily="34" charset="0"/>
                <a:ea typeface="游ゴシック" pitchFamily="34" charset="-122"/>
                <a:cs typeface="游ゴシック" pitchFamily="34" charset="-120"/>
              </a:rPr>
              <a:t>室外機の運転状態は、排気温度−吸気温度が1.0℃以上で運転中と推定した</a:t>
            </a:r>
            <a:endParaRPr lang="ja-JP" altLang="en-US" sz="1050" dirty="0"/>
          </a:p>
        </p:txBody>
      </p:sp>
      <p:sp>
        <p:nvSpPr>
          <p:cNvPr id="12" name="Shape 10"/>
          <p:cNvSpPr/>
          <p:nvPr/>
        </p:nvSpPr>
        <p:spPr>
          <a:xfrm>
            <a:off x="5577840" y="3474720"/>
            <a:ext cx="3200400" cy="1252728"/>
          </a:xfrm>
          <a:prstGeom prst="roundRect">
            <a:avLst>
              <a:gd name="adj" fmla="val 4380"/>
            </a:avLst>
          </a:prstGeom>
          <a:solidFill>
            <a:srgbClr val="FFF7D1"/>
          </a:solidFill>
          <a:ln w="12700">
            <a:solidFill>
              <a:srgbClr val="FFF7D1"/>
            </a:solidFill>
            <a:prstDash val="solid"/>
          </a:ln>
        </p:spPr>
        <p:txBody>
          <a:bodyPr/>
          <a:lstStyle/>
          <a:p>
            <a:endParaRPr lang="ja-JP" altLang="en-US"/>
          </a:p>
        </p:txBody>
      </p:sp>
      <p:sp>
        <p:nvSpPr>
          <p:cNvPr id="13" name="Text 11"/>
          <p:cNvSpPr txBox="1"/>
          <p:nvPr/>
        </p:nvSpPr>
        <p:spPr>
          <a:xfrm>
            <a:off x="5715000" y="3520440"/>
            <a:ext cx="2926080" cy="1161288"/>
          </a:xfrm>
          <a:prstGeom prst="rect">
            <a:avLst/>
          </a:prstGeom>
          <a:noFill/>
          <a:ln/>
        </p:spPr>
        <p:txBody>
          <a:bodyPr wrap="square" lIns="0" tIns="0" rIns="0" bIns="0" rtlCol="0" anchor="t"/>
          <a:lstStyle/>
          <a:p>
            <a:pPr marL="0" indent="0">
              <a:spcAft>
                <a:spcPts val="0"/>
              </a:spcAft>
              <a:buNone/>
            </a:pPr>
            <a:r>
              <a:rPr lang="ja-JP" altLang="en-US" sz="1050" b="1" dirty="0">
                <a:solidFill>
                  <a:srgbClr val="ED7D31"/>
                </a:solidFill>
                <a:latin typeface="游ゴシック" pitchFamily="34" charset="0"/>
                <a:ea typeface="游ゴシック" pitchFamily="34" charset="-122"/>
                <a:cs typeface="游ゴシック" pitchFamily="34" charset="-120"/>
              </a:rPr>
              <a:t>読み取り</a:t>
            </a:r>
            <a:endParaRPr lang="ja-JP" altLang="en-US" sz="1050" dirty="0"/>
          </a:p>
          <a:p>
            <a:pPr marL="0" indent="0">
              <a:spcAft>
                <a:spcPts val="0"/>
              </a:spcAft>
              <a:buNone/>
            </a:pPr>
            <a:r>
              <a:rPr lang="ja-JP" altLang="en-US" sz="1050" dirty="0">
                <a:solidFill>
                  <a:srgbClr val="172033"/>
                </a:solidFill>
                <a:latin typeface="游ゴシック" pitchFamily="34" charset="0"/>
                <a:ea typeface="游ゴシック" pitchFamily="34" charset="-122"/>
                <a:cs typeface="游ゴシック" pitchFamily="34" charset="-120"/>
              </a:rPr>
              <a:t>熱電対1本ごとのずれは±0.3℃以内で小さい。ただし列3は全体に約0.2℃高く、熱電対の違いか場所の違いかは区別できない。この夜間の差は差し引かずに結果を見る</a:t>
            </a:r>
            <a:endParaRPr lang="ja-JP" altLang="en-US" sz="10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7</a:t>
            </a:fld>
            <a:endParaRPr lang="en-US"/>
          </a:p>
        </p:txBody>
      </p:sp>
      <p:graphicFrame>
        <p:nvGraphicFramePr>
          <p:cNvPr id="26" name="グラフ sensor"/>
          <p:cNvGraphicFramePr>
            <a:graphicFrameLocks noGrp="1"/>
          </p:cNvGraphicFramePr>
          <p:nvPr/>
        </p:nvGraphicFramePr>
        <p:xfrm>
          <a:off x="365760" y="1325880"/>
          <a:ext cx="5074920" cy="324612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吸気温度差の定義</a:t>
            </a:r>
            <a:endParaRPr lang="en-US" sz="2000" dirty="0"/>
          </a:p>
        </p:txBody>
      </p:sp>
      <p:sp>
        <p:nvSpPr>
          <p:cNvPr id="3" name="Shape 1"/>
          <p:cNvSpPr/>
          <p:nvPr/>
        </p:nvSpPr>
        <p:spPr>
          <a:xfrm>
            <a:off x="7726680" y="155448"/>
            <a:ext cx="1097280" cy="274320"/>
          </a:xfrm>
          <a:prstGeom prst="roundRect">
            <a:avLst>
              <a:gd name="adj" fmla="val 26667"/>
            </a:avLst>
          </a:prstGeom>
          <a:solidFill>
            <a:srgbClr val="5E6B7A"/>
          </a:solidFill>
          <a:ln w="12700">
            <a:solidFill>
              <a:srgbClr val="5E6B7A"/>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前提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何と何の差を取るかを、1枚で説明できるようにする</a:t>
            </a:r>
            <a:endParaRPr lang="en-US" sz="1200" dirty="0"/>
          </a:p>
        </p:txBody>
      </p:sp>
      <p:sp>
        <p:nvSpPr>
          <p:cNvPr id="6" name="Shape 4"/>
          <p:cNvSpPr/>
          <p:nvPr/>
        </p:nvSpPr>
        <p:spPr>
          <a:xfrm>
            <a:off x="365760" y="1115568"/>
            <a:ext cx="8412480" cy="868680"/>
          </a:xfrm>
          <a:prstGeom prst="roundRect">
            <a:avLst>
              <a:gd name="adj" fmla="val 6316"/>
            </a:avLst>
          </a:prstGeom>
          <a:solidFill>
            <a:srgbClr val="E4F7F4"/>
          </a:solidFill>
          <a:ln w="12700">
            <a:solidFill>
              <a:srgbClr val="E4F7F4"/>
            </a:solidFill>
            <a:prstDash val="solid"/>
          </a:ln>
        </p:spPr>
        <p:txBody>
          <a:bodyPr/>
          <a:lstStyle/>
          <a:p>
            <a:endParaRPr lang="ja-JP" altLang="en-US"/>
          </a:p>
        </p:txBody>
      </p:sp>
      <p:sp>
        <p:nvSpPr>
          <p:cNvPr id="7" name="Text 5"/>
          <p:cNvSpPr txBox="1"/>
          <p:nvPr/>
        </p:nvSpPr>
        <p:spPr>
          <a:xfrm>
            <a:off x="548640" y="1143000"/>
            <a:ext cx="8046720" cy="822960"/>
          </a:xfrm>
          <a:prstGeom prst="rect">
            <a:avLst/>
          </a:prstGeom>
          <a:noFill/>
          <a:ln/>
        </p:spPr>
        <p:txBody>
          <a:bodyPr wrap="square" lIns="0" tIns="0" rIns="0" bIns="0" rtlCol="0" anchor="ctr"/>
          <a:lstStyle/>
          <a:p>
            <a:pPr marL="0" indent="0">
              <a:buNone/>
            </a:pPr>
            <a:r>
              <a:rPr lang="en-US" sz="1600" b="1" dirty="0">
                <a:solidFill>
                  <a:srgbClr val="22354F"/>
                </a:solidFill>
                <a:latin typeface="游ゴシック" pitchFamily="34" charset="0"/>
                <a:ea typeface="游ゴシック" pitchFamily="34" charset="-122"/>
                <a:cs typeface="游ゴシック" pitchFamily="34" charset="-120"/>
              </a:rPr>
              <a:t>吸気温度差 ＝ 芋緑化ありの列の吸気温度 − 芋緑化なしの列の吸気温度</a:t>
            </a:r>
            <a:endParaRPr lang="en-US" sz="1600" dirty="0"/>
          </a:p>
          <a:p>
            <a:pPr marL="0" indent="0">
              <a:buNone/>
            </a:pPr>
            <a:r>
              <a:rPr lang="en-US" sz="1200" dirty="0">
                <a:solidFill>
                  <a:srgbClr val="172033"/>
                </a:solidFill>
                <a:latin typeface="游ゴシック" pitchFamily="34" charset="0"/>
                <a:ea typeface="游ゴシック" pitchFamily="34" charset="-122"/>
                <a:cs typeface="游ゴシック" pitchFamily="34" charset="-120"/>
              </a:rPr>
              <a:t>ありはOACP-8・11、なしはOACP-3。同じ時刻・同じ区画・同じ方位どうしで計算する。</a:t>
            </a:r>
            <a:r>
              <a:rPr lang="en-US" sz="1200" b="1" dirty="0">
                <a:solidFill>
                  <a:srgbClr val="E66C64"/>
                </a:solidFill>
                <a:latin typeface="游ゴシック" pitchFamily="34" charset="0"/>
                <a:ea typeface="游ゴシック" pitchFamily="34" charset="-122"/>
                <a:cs typeface="游ゴシック" pitchFamily="34" charset="-120"/>
              </a:rPr>
              <a:t>負の値＝芋緑化ありの列のほうが低い</a:t>
            </a:r>
            <a:endParaRPr lang="en-US" sz="1600" dirty="0"/>
          </a:p>
        </p:txBody>
      </p:sp>
      <p:sp>
        <p:nvSpPr>
          <p:cNvPr id="8" name="Shape 6"/>
          <p:cNvSpPr/>
          <p:nvPr/>
        </p:nvSpPr>
        <p:spPr>
          <a:xfrm>
            <a:off x="365760" y="2148840"/>
            <a:ext cx="2103120" cy="502920"/>
          </a:xfrm>
          <a:prstGeom prst="roundRect">
            <a:avLst>
              <a:gd name="adj" fmla="val 10909"/>
            </a:avLst>
          </a:prstGeom>
          <a:solidFill>
            <a:srgbClr val="01B8AA"/>
          </a:solidFill>
          <a:ln w="12700">
            <a:solidFill>
              <a:srgbClr val="01B8AA"/>
            </a:solidFill>
            <a:prstDash val="solid"/>
          </a:ln>
        </p:spPr>
        <p:txBody>
          <a:bodyPr/>
          <a:lstStyle/>
          <a:p>
            <a:endParaRPr lang="ja-JP" altLang="en-US"/>
          </a:p>
        </p:txBody>
      </p:sp>
      <p:sp>
        <p:nvSpPr>
          <p:cNvPr id="9" name="Text 7"/>
          <p:cNvSpPr txBox="1"/>
          <p:nvPr/>
        </p:nvSpPr>
        <p:spPr>
          <a:xfrm>
            <a:off x="365760" y="2148840"/>
            <a:ext cx="210312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游ゴシック" pitchFamily="34" charset="0"/>
                <a:ea typeface="游ゴシック" pitchFamily="34" charset="-122"/>
                <a:cs typeface="游ゴシック" pitchFamily="34" charset="-120"/>
              </a:rPr>
              <a:t>OACP-8 区画1 正面</a:t>
            </a:r>
            <a:endParaRPr lang="en-US" sz="1200" dirty="0"/>
          </a:p>
        </p:txBody>
      </p:sp>
      <p:sp>
        <p:nvSpPr>
          <p:cNvPr id="10" name="Text 8"/>
          <p:cNvSpPr txBox="1"/>
          <p:nvPr/>
        </p:nvSpPr>
        <p:spPr>
          <a:xfrm>
            <a:off x="2468880" y="2148840"/>
            <a:ext cx="411480" cy="502920"/>
          </a:xfrm>
          <a:prstGeom prst="rect">
            <a:avLst/>
          </a:prstGeom>
          <a:noFill/>
          <a:ln/>
        </p:spPr>
        <p:txBody>
          <a:bodyPr wrap="square" lIns="0" tIns="0" rIns="0" bIns="0" rtlCol="0" anchor="ctr"/>
          <a:lstStyle/>
          <a:p>
            <a:pPr marL="0" indent="0" algn="ctr">
              <a:buNone/>
            </a:pPr>
            <a:r>
              <a:rPr lang="en-US" sz="2200" b="1" dirty="0">
                <a:solidFill>
                  <a:srgbClr val="22354F"/>
                </a:solidFill>
                <a:latin typeface="游ゴシック" pitchFamily="34" charset="0"/>
                <a:ea typeface="游ゴシック" pitchFamily="34" charset="-122"/>
                <a:cs typeface="游ゴシック" pitchFamily="34" charset="-120"/>
              </a:rPr>
              <a:t>−</a:t>
            </a:r>
            <a:endParaRPr lang="en-US" sz="2200" dirty="0"/>
          </a:p>
        </p:txBody>
      </p:sp>
      <p:sp>
        <p:nvSpPr>
          <p:cNvPr id="11" name="Shape 9"/>
          <p:cNvSpPr/>
          <p:nvPr/>
        </p:nvSpPr>
        <p:spPr>
          <a:xfrm>
            <a:off x="2880360" y="2148840"/>
            <a:ext cx="2103120" cy="502920"/>
          </a:xfrm>
          <a:prstGeom prst="roundRect">
            <a:avLst>
              <a:gd name="adj" fmla="val 10909"/>
            </a:avLst>
          </a:prstGeom>
          <a:solidFill>
            <a:srgbClr val="5E6B7A"/>
          </a:solidFill>
          <a:ln w="12700">
            <a:solidFill>
              <a:srgbClr val="5E6B7A"/>
            </a:solidFill>
            <a:prstDash val="solid"/>
          </a:ln>
        </p:spPr>
        <p:txBody>
          <a:bodyPr/>
          <a:lstStyle/>
          <a:p>
            <a:endParaRPr lang="ja-JP" altLang="en-US"/>
          </a:p>
        </p:txBody>
      </p:sp>
      <p:sp>
        <p:nvSpPr>
          <p:cNvPr id="12" name="Text 10"/>
          <p:cNvSpPr txBox="1"/>
          <p:nvPr/>
        </p:nvSpPr>
        <p:spPr>
          <a:xfrm>
            <a:off x="2880360" y="2148840"/>
            <a:ext cx="210312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游ゴシック" pitchFamily="34" charset="0"/>
                <a:ea typeface="游ゴシック" pitchFamily="34" charset="-122"/>
                <a:cs typeface="游ゴシック" pitchFamily="34" charset="-120"/>
              </a:rPr>
              <a:t>OACP-3 区画1 正面</a:t>
            </a:r>
            <a:endParaRPr lang="en-US" sz="1200" dirty="0"/>
          </a:p>
        </p:txBody>
      </p:sp>
      <p:sp>
        <p:nvSpPr>
          <p:cNvPr id="13" name="Text 11"/>
          <p:cNvSpPr txBox="1"/>
          <p:nvPr/>
        </p:nvSpPr>
        <p:spPr>
          <a:xfrm>
            <a:off x="4983480" y="2148840"/>
            <a:ext cx="411480" cy="502920"/>
          </a:xfrm>
          <a:prstGeom prst="rect">
            <a:avLst/>
          </a:prstGeom>
          <a:noFill/>
          <a:ln/>
        </p:spPr>
        <p:txBody>
          <a:bodyPr wrap="square" lIns="0" tIns="0" rIns="0" bIns="0" rtlCol="0" anchor="ctr"/>
          <a:lstStyle/>
          <a:p>
            <a:pPr marL="0" indent="0" algn="ctr">
              <a:buNone/>
            </a:pPr>
            <a:r>
              <a:rPr lang="en-US" sz="2200" b="1" dirty="0">
                <a:solidFill>
                  <a:srgbClr val="22354F"/>
                </a:solidFill>
                <a:latin typeface="游ゴシック" pitchFamily="34" charset="0"/>
                <a:ea typeface="游ゴシック" pitchFamily="34" charset="-122"/>
                <a:cs typeface="游ゴシック" pitchFamily="34" charset="-120"/>
              </a:rPr>
              <a:t>＝</a:t>
            </a:r>
            <a:endParaRPr lang="en-US" sz="2200" dirty="0"/>
          </a:p>
        </p:txBody>
      </p:sp>
      <p:sp>
        <p:nvSpPr>
          <p:cNvPr id="14" name="Shape 12"/>
          <p:cNvSpPr/>
          <p:nvPr/>
        </p:nvSpPr>
        <p:spPr>
          <a:xfrm>
            <a:off x="5394960" y="2148840"/>
            <a:ext cx="2103120" cy="502920"/>
          </a:xfrm>
          <a:prstGeom prst="roundRect">
            <a:avLst>
              <a:gd name="adj" fmla="val 10909"/>
            </a:avLst>
          </a:prstGeom>
          <a:solidFill>
            <a:srgbClr val="E66C64"/>
          </a:solidFill>
          <a:ln w="12700">
            <a:solidFill>
              <a:srgbClr val="E66C64"/>
            </a:solidFill>
            <a:prstDash val="solid"/>
          </a:ln>
        </p:spPr>
        <p:txBody>
          <a:bodyPr/>
          <a:lstStyle/>
          <a:p>
            <a:endParaRPr lang="ja-JP" altLang="en-US"/>
          </a:p>
        </p:txBody>
      </p:sp>
      <p:sp>
        <p:nvSpPr>
          <p:cNvPr id="15" name="Text 13"/>
          <p:cNvSpPr txBox="1"/>
          <p:nvPr/>
        </p:nvSpPr>
        <p:spPr>
          <a:xfrm>
            <a:off x="5394960" y="2148840"/>
            <a:ext cx="210312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游ゴシック" pitchFamily="34" charset="0"/>
                <a:ea typeface="游ゴシック" pitchFamily="34" charset="-122"/>
                <a:cs typeface="游ゴシック" pitchFamily="34" charset="-120"/>
              </a:rPr>
              <a:t>吸気温度差（列8）</a:t>
            </a:r>
            <a:endParaRPr lang="en-US" sz="1200" dirty="0"/>
          </a:p>
        </p:txBody>
      </p:sp>
      <p:sp>
        <p:nvSpPr>
          <p:cNvPr id="16" name="Shape 14"/>
          <p:cNvSpPr/>
          <p:nvPr/>
        </p:nvSpPr>
        <p:spPr>
          <a:xfrm>
            <a:off x="365760" y="2834640"/>
            <a:ext cx="2697480" cy="1874520"/>
          </a:xfrm>
          <a:prstGeom prst="roundRect">
            <a:avLst>
              <a:gd name="adj" fmla="val 2927"/>
            </a:avLst>
          </a:prstGeom>
          <a:solidFill>
            <a:srgbClr val="EAF4FF"/>
          </a:solidFill>
          <a:ln w="12700">
            <a:solidFill>
              <a:srgbClr val="EAF4FF"/>
            </a:solidFill>
            <a:prstDash val="solid"/>
          </a:ln>
        </p:spPr>
        <p:txBody>
          <a:bodyPr/>
          <a:lstStyle/>
          <a:p>
            <a:endParaRPr lang="ja-JP" altLang="en-US"/>
          </a:p>
        </p:txBody>
      </p:sp>
      <p:sp>
        <p:nvSpPr>
          <p:cNvPr id="17" name="Text 15"/>
          <p:cNvSpPr txBox="1"/>
          <p:nvPr/>
        </p:nvSpPr>
        <p:spPr>
          <a:xfrm>
            <a:off x="502920" y="2907792"/>
            <a:ext cx="242316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組み合わせ</a:t>
            </a:r>
            <a:endParaRPr lang="en-US" sz="1200" dirty="0"/>
          </a:p>
        </p:txBody>
      </p:sp>
      <p:sp>
        <p:nvSpPr>
          <p:cNvPr id="18" name="Text 16"/>
          <p:cNvSpPr txBox="1"/>
          <p:nvPr/>
        </p:nvSpPr>
        <p:spPr>
          <a:xfrm>
            <a:off x="502920" y="3200400"/>
            <a:ext cx="2423160" cy="1444752"/>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172033"/>
                </a:solidFill>
                <a:latin typeface="游ゴシック" pitchFamily="34" charset="0"/>
                <a:ea typeface="游ゴシック" pitchFamily="34" charset="-122"/>
                <a:cs typeface="游ゴシック" pitchFamily="34" charset="-120"/>
              </a:rPr>
              <a:t>列8・列11 × 3区画 × 3方位（計17組）</a:t>
            </a:r>
            <a:endParaRPr lang="en-US" sz="1100" dirty="0"/>
          </a:p>
          <a:p>
            <a:pPr marL="152400" indent="-152400">
              <a:spcAft>
                <a:spcPts val="300"/>
              </a:spcAft>
              <a:buSzPct val="100000"/>
              <a:buChar char="•"/>
            </a:pPr>
            <a:r>
              <a:rPr lang="en-US" sz="1100" dirty="0">
                <a:solidFill>
                  <a:srgbClr val="172033"/>
                </a:solidFill>
                <a:latin typeface="游ゴシック" pitchFamily="34" charset="0"/>
                <a:ea typeface="游ゴシック" pitchFamily="34" charset="-122"/>
                <a:cs typeface="游ゴシック" pitchFamily="34" charset="-120"/>
              </a:rPr>
              <a:t>列の代表値：列8は9組、列11は8組の平均（OACP-11-3北側は8/14まで未接続のため全期間で除く）</a:t>
            </a:r>
            <a:endParaRPr lang="en-US" sz="1100" dirty="0"/>
          </a:p>
          <a:p>
            <a:pPr marL="152400" indent="-152400">
              <a:spcAft>
                <a:spcPts val="300"/>
              </a:spcAft>
              <a:buSzPct val="100000"/>
              <a:buChar char="•"/>
            </a:pPr>
            <a:r>
              <a:rPr lang="en-US" sz="1100" dirty="0">
                <a:solidFill>
                  <a:srgbClr val="172033"/>
                </a:solidFill>
                <a:latin typeface="游ゴシック" pitchFamily="34" charset="0"/>
                <a:ea typeface="游ゴシック" pitchFamily="34" charset="-122"/>
                <a:cs typeface="游ゴシック" pitchFamily="34" charset="-120"/>
              </a:rPr>
              <a:t>区画ごとの値も残す（分析3）</a:t>
            </a:r>
            <a:endParaRPr lang="en-US" sz="1100" dirty="0"/>
          </a:p>
        </p:txBody>
      </p:sp>
      <p:sp>
        <p:nvSpPr>
          <p:cNvPr id="19" name="Shape 17"/>
          <p:cNvSpPr/>
          <p:nvPr/>
        </p:nvSpPr>
        <p:spPr>
          <a:xfrm>
            <a:off x="3223260" y="2834640"/>
            <a:ext cx="2697480" cy="1874520"/>
          </a:xfrm>
          <a:prstGeom prst="roundRect">
            <a:avLst>
              <a:gd name="adj" fmla="val 2927"/>
            </a:avLst>
          </a:prstGeom>
          <a:solidFill>
            <a:srgbClr val="EAF4FF"/>
          </a:solidFill>
          <a:ln w="12700">
            <a:solidFill>
              <a:srgbClr val="EAF4FF"/>
            </a:solidFill>
            <a:prstDash val="solid"/>
          </a:ln>
        </p:spPr>
        <p:txBody>
          <a:bodyPr/>
          <a:lstStyle/>
          <a:p>
            <a:endParaRPr lang="ja-JP" altLang="en-US"/>
          </a:p>
        </p:txBody>
      </p:sp>
      <p:sp>
        <p:nvSpPr>
          <p:cNvPr id="20" name="Text 18"/>
          <p:cNvSpPr txBox="1"/>
          <p:nvPr/>
        </p:nvSpPr>
        <p:spPr>
          <a:xfrm>
            <a:off x="3360420" y="2907792"/>
            <a:ext cx="242316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集計の順番</a:t>
            </a:r>
            <a:endParaRPr lang="en-US" sz="1200" dirty="0"/>
          </a:p>
        </p:txBody>
      </p:sp>
      <p:sp>
        <p:nvSpPr>
          <p:cNvPr id="21" name="Text 19"/>
          <p:cNvSpPr txBox="1"/>
          <p:nvPr/>
        </p:nvSpPr>
        <p:spPr>
          <a:xfrm>
            <a:off x="3360420" y="3200400"/>
            <a:ext cx="2423160" cy="1444752"/>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172033"/>
                </a:solidFill>
                <a:latin typeface="游ゴシック" pitchFamily="34" charset="0"/>
                <a:ea typeface="游ゴシック" pitchFamily="34" charset="-122"/>
                <a:cs typeface="游ゴシック" pitchFamily="34" charset="-120"/>
              </a:rPr>
              <a:t>1分値 → 1時間平均 → 日中平均（9〜18時）</a:t>
            </a:r>
            <a:endParaRPr lang="en-US" sz="1100" dirty="0"/>
          </a:p>
          <a:p>
            <a:pPr marL="152400" indent="-152400">
              <a:spcAft>
                <a:spcPts val="300"/>
              </a:spcAft>
              <a:buSzPct val="100000"/>
              <a:buChar char="•"/>
            </a:pPr>
            <a:r>
              <a:rPr lang="en-US" sz="1100" dirty="0">
                <a:solidFill>
                  <a:srgbClr val="172033"/>
                </a:solidFill>
                <a:latin typeface="游ゴシック" pitchFamily="34" charset="0"/>
                <a:ea typeface="游ゴシック" pitchFamily="34" charset="-122"/>
                <a:cs typeface="游ゴシック" pitchFamily="34" charset="-120"/>
              </a:rPr>
              <a:t>分析ごとの単位：日（分析1・4・7）と1時間（分析2・3・5）</a:t>
            </a:r>
            <a:endParaRPr lang="en-US" sz="1100" dirty="0"/>
          </a:p>
        </p:txBody>
      </p:sp>
      <p:sp>
        <p:nvSpPr>
          <p:cNvPr id="22" name="Shape 20"/>
          <p:cNvSpPr/>
          <p:nvPr/>
        </p:nvSpPr>
        <p:spPr>
          <a:xfrm>
            <a:off x="6080760" y="2834640"/>
            <a:ext cx="2697480" cy="1874520"/>
          </a:xfrm>
          <a:prstGeom prst="roundRect">
            <a:avLst>
              <a:gd name="adj" fmla="val 2927"/>
            </a:avLst>
          </a:prstGeom>
          <a:solidFill>
            <a:srgbClr val="FFF7D1"/>
          </a:solidFill>
          <a:ln w="12700">
            <a:solidFill>
              <a:srgbClr val="FFF7D1"/>
            </a:solidFill>
            <a:prstDash val="solid"/>
          </a:ln>
        </p:spPr>
        <p:txBody>
          <a:bodyPr/>
          <a:lstStyle/>
          <a:p>
            <a:endParaRPr lang="ja-JP" altLang="en-US"/>
          </a:p>
        </p:txBody>
      </p:sp>
      <p:sp>
        <p:nvSpPr>
          <p:cNvPr id="23" name="Text 21"/>
          <p:cNvSpPr txBox="1"/>
          <p:nvPr/>
        </p:nvSpPr>
        <p:spPr>
          <a:xfrm>
            <a:off x="6217920" y="2907792"/>
            <a:ext cx="2423160" cy="256032"/>
          </a:xfrm>
          <a:prstGeom prst="rect">
            <a:avLst/>
          </a:prstGeom>
          <a:noFill/>
          <a:ln/>
        </p:spPr>
        <p:txBody>
          <a:bodyPr wrap="square" lIns="0" tIns="0" rIns="0" bIns="0" rtlCol="0" anchor="ctr"/>
          <a:lstStyle/>
          <a:p>
            <a:pPr marL="0" indent="0">
              <a:buNone/>
            </a:pPr>
            <a:r>
              <a:rPr lang="en-US" sz="1200" b="1" dirty="0">
                <a:solidFill>
                  <a:srgbClr val="ED7D31"/>
                </a:solidFill>
                <a:latin typeface="游ゴシック" pitchFamily="34" charset="0"/>
                <a:ea typeface="游ゴシック" pitchFamily="34" charset="-122"/>
                <a:cs typeface="游ゴシック" pitchFamily="34" charset="-120"/>
              </a:rPr>
              <a:t>言葉の使い方</a:t>
            </a:r>
            <a:endParaRPr lang="en-US" sz="1200" dirty="0"/>
          </a:p>
        </p:txBody>
      </p:sp>
      <p:sp>
        <p:nvSpPr>
          <p:cNvPr id="24" name="Text 22"/>
          <p:cNvSpPr txBox="1"/>
          <p:nvPr/>
        </p:nvSpPr>
        <p:spPr>
          <a:xfrm>
            <a:off x="6217920" y="3200400"/>
            <a:ext cx="2423160" cy="1444752"/>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172033"/>
                </a:solidFill>
                <a:latin typeface="游ゴシック" pitchFamily="34" charset="0"/>
                <a:ea typeface="游ゴシック" pitchFamily="34" charset="-122"/>
                <a:cs typeface="游ゴシック" pitchFamily="34" charset="-120"/>
              </a:rPr>
              <a:t>吸気温度差が負に大きいほど「吸気温度の低減効果が大きい」と書く</a:t>
            </a:r>
            <a:endParaRPr lang="en-US" sz="1100" dirty="0"/>
          </a:p>
          <a:p>
            <a:pPr marL="152400" indent="-152400">
              <a:spcAft>
                <a:spcPts val="300"/>
              </a:spcAft>
              <a:buSzPct val="100000"/>
              <a:buChar char="•"/>
            </a:pPr>
            <a:r>
              <a:rPr lang="en-US" sz="1100" dirty="0">
                <a:solidFill>
                  <a:srgbClr val="172033"/>
                </a:solidFill>
                <a:latin typeface="游ゴシック" pitchFamily="34" charset="0"/>
                <a:ea typeface="游ゴシック" pitchFamily="34" charset="-122"/>
                <a:cs typeface="游ゴシック" pitchFamily="34" charset="-120"/>
              </a:rPr>
              <a:t>グラフは吸気温度差で描き、0℃の線より下が低減効果あり</a:t>
            </a:r>
            <a:endParaRPr lang="en-US" sz="11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分析1：期間全体の吸気温度の比較</a:t>
            </a:r>
            <a:endParaRPr lang="en-US" sz="2000" dirty="0"/>
          </a:p>
        </p:txBody>
      </p:sp>
      <p:sp>
        <p:nvSpPr>
          <p:cNvPr id="3" name="Shape 1"/>
          <p:cNvSpPr/>
          <p:nvPr/>
        </p:nvSpPr>
        <p:spPr>
          <a:xfrm>
            <a:off x="7726680" y="155448"/>
            <a:ext cx="1097280" cy="274320"/>
          </a:xfrm>
          <a:prstGeom prst="roundRect">
            <a:avLst>
              <a:gd name="adj" fmla="val 26667"/>
            </a:avLst>
          </a:prstGeom>
          <a:solidFill>
            <a:srgbClr val="E66C64"/>
          </a:solidFill>
          <a:ln w="12700">
            <a:solidFill>
              <a:srgbClr val="E66C6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主分析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芋緑化による吸気温度の低減が、そもそも存在するかを確かめる</a:t>
            </a:r>
            <a:endParaRPr lang="en-US" sz="1200" dirty="0"/>
          </a:p>
        </p:txBody>
      </p:sp>
      <p:sp>
        <p:nvSpPr>
          <p:cNvPr id="6" name="Text 4"/>
          <p:cNvSpPr txBox="1"/>
          <p:nvPr/>
        </p:nvSpPr>
        <p:spPr>
          <a:xfrm>
            <a:off x="365760" y="987552"/>
            <a:ext cx="8412480" cy="292608"/>
          </a:xfrm>
          <a:prstGeom prst="rect">
            <a:avLst/>
          </a:prstGeom>
          <a:noFill/>
          <a:ln/>
        </p:spPr>
        <p:txBody>
          <a:bodyPr wrap="square" lIns="0" tIns="0" rIns="0" bIns="0" rtlCol="0" anchor="ctr"/>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方法　</a:t>
            </a:r>
            <a:r>
              <a:rPr lang="en-US" sz="1050" dirty="0">
                <a:solidFill>
                  <a:srgbClr val="5E6B7A"/>
                </a:solidFill>
                <a:latin typeface="游ゴシック" pitchFamily="34" charset="0"/>
                <a:ea typeface="游ゴシック" pitchFamily="34" charset="-122"/>
                <a:cs typeface="游ゴシック" pitchFamily="34" charset="-120"/>
              </a:rPr>
              <a:t>全点平均（列8は9組、列11は8組）の日中平均。上段：吸気温度、下段：吸気温度差（緑・青：低い日、赤：高い日、灰：休日）</a:t>
            </a:r>
            <a:endParaRPr lang="en-US" sz="1050" dirty="0"/>
          </a:p>
        </p:txBody>
      </p:sp>
      <p:sp>
        <p:nvSpPr>
          <p:cNvPr id="11" name="Text 9"/>
          <p:cNvSpPr txBox="1"/>
          <p:nvPr/>
        </p:nvSpPr>
        <p:spPr>
          <a:xfrm>
            <a:off x="365760" y="3904488"/>
            <a:ext cx="4114800" cy="201168"/>
          </a:xfrm>
          <a:prstGeom prst="rect">
            <a:avLst/>
          </a:prstGeom>
          <a:noFill/>
          <a:ln/>
        </p:spPr>
        <p:txBody>
          <a:bodyPr wrap="square" lIns="0" tIns="0" rIns="0" bIns="0" rtlCol="0" anchor="ctr"/>
          <a:lstStyle/>
          <a:p>
            <a:pPr marL="0" indent="0" algn="ctr">
              <a:buNone/>
            </a:pPr>
            <a:r>
              <a:rPr lang="en-US" sz="950" b="1" dirty="0">
                <a:solidFill>
                  <a:srgbClr val="01B8AA"/>
                </a:solidFill>
                <a:latin typeface="游ゴシック" pitchFamily="34" charset="0"/>
                <a:ea typeface="游ゴシック" pitchFamily="34" charset="-122"/>
                <a:cs typeface="游ゴシック" pitchFamily="34" charset="-120"/>
              </a:rPr>
              <a:t>Fig. 1　列8と列3</a:t>
            </a:r>
            <a:endParaRPr lang="en-US" sz="950" dirty="0"/>
          </a:p>
        </p:txBody>
      </p:sp>
      <p:sp>
        <p:nvSpPr>
          <p:cNvPr id="12" name="Text 10"/>
          <p:cNvSpPr txBox="1"/>
          <p:nvPr/>
        </p:nvSpPr>
        <p:spPr>
          <a:xfrm>
            <a:off x="4663440" y="3904488"/>
            <a:ext cx="4114800" cy="201168"/>
          </a:xfrm>
          <a:prstGeom prst="rect">
            <a:avLst/>
          </a:prstGeom>
          <a:noFill/>
          <a:ln/>
        </p:spPr>
        <p:txBody>
          <a:bodyPr wrap="square" lIns="0" tIns="0" rIns="0" bIns="0" rtlCol="0" anchor="ctr"/>
          <a:lstStyle/>
          <a:p>
            <a:pPr marL="0" indent="0" algn="ctr">
              <a:buNone/>
            </a:pPr>
            <a:r>
              <a:rPr lang="en-US" sz="950" b="1" dirty="0">
                <a:solidFill>
                  <a:srgbClr val="118DFF"/>
                </a:solidFill>
                <a:latin typeface="游ゴシック" pitchFamily="34" charset="0"/>
                <a:ea typeface="游ゴシック" pitchFamily="34" charset="-122"/>
                <a:cs typeface="游ゴシック" pitchFamily="34" charset="-120"/>
              </a:rPr>
              <a:t>Fig. 2　列11と列3</a:t>
            </a:r>
            <a:endParaRPr lang="en-US" sz="950" dirty="0"/>
          </a:p>
        </p:txBody>
      </p:sp>
      <p:sp>
        <p:nvSpPr>
          <p:cNvPr id="13" name="Shape 11"/>
          <p:cNvSpPr/>
          <p:nvPr/>
        </p:nvSpPr>
        <p:spPr>
          <a:xfrm>
            <a:off x="365760" y="4114800"/>
            <a:ext cx="4114800" cy="566928"/>
          </a:xfrm>
          <a:prstGeom prst="roundRect">
            <a:avLst>
              <a:gd name="adj" fmla="val 9677"/>
            </a:avLst>
          </a:prstGeom>
          <a:solidFill>
            <a:srgbClr val="E4F7F4"/>
          </a:solidFill>
          <a:ln w="12700">
            <a:solidFill>
              <a:srgbClr val="E4F7F4"/>
            </a:solidFill>
            <a:prstDash val="solid"/>
          </a:ln>
        </p:spPr>
        <p:txBody>
          <a:bodyPr/>
          <a:lstStyle/>
          <a:p>
            <a:endParaRPr lang="ja-JP" altLang="en-US"/>
          </a:p>
        </p:txBody>
      </p:sp>
      <p:sp>
        <p:nvSpPr>
          <p:cNvPr id="14" name="Text 12"/>
          <p:cNvSpPr txBox="1"/>
          <p:nvPr/>
        </p:nvSpPr>
        <p:spPr>
          <a:xfrm>
            <a:off x="502920" y="4114800"/>
            <a:ext cx="3840480" cy="566928"/>
          </a:xfrm>
          <a:prstGeom prst="rect">
            <a:avLst/>
          </a:prstGeom>
          <a:noFill/>
          <a:ln/>
        </p:spPr>
        <p:txBody>
          <a:bodyPr wrap="square" lIns="0" tIns="0" rIns="0" bIns="0" rtlCol="0" anchor="ctr"/>
          <a:lstStyle/>
          <a:p>
            <a:pPr marL="0" indent="0">
              <a:spcAft>
                <a:spcPts val="0"/>
              </a:spcAft>
              <a:buNone/>
            </a:pPr>
            <a:r>
              <a:rPr lang="ja-JP" altLang="en-US" sz="1100" b="1" dirty="0">
                <a:solidFill>
                  <a:srgbClr val="01B8AA"/>
                </a:solidFill>
                <a:latin typeface="游ゴシック" pitchFamily="34" charset="0"/>
                <a:ea typeface="游ゴシック" pitchFamily="34" charset="-122"/>
                <a:cs typeface="游ゴシック" pitchFamily="34" charset="-120"/>
              </a:rPr>
              <a:t>列8　</a:t>
            </a:r>
            <a:r>
              <a:rPr lang="ja-JP" altLang="en-US" sz="1100" dirty="0">
                <a:solidFill>
                  <a:srgbClr val="172033"/>
                </a:solidFill>
                <a:latin typeface="游ゴシック" pitchFamily="34" charset="0"/>
                <a:ea typeface="游ゴシック" pitchFamily="34" charset="-122"/>
                <a:cs typeface="游ゴシック" pitchFamily="34" charset="-120"/>
              </a:rPr>
              <a:t>列3より低い日は32日中18日。平均−0.06℃で、差があるとは言えない（95％区間−0.28〜＋0.13℃）</a:t>
            </a:r>
            <a:endParaRPr lang="ja-JP" altLang="en-US" sz="1100" dirty="0"/>
          </a:p>
        </p:txBody>
      </p:sp>
      <p:sp>
        <p:nvSpPr>
          <p:cNvPr id="15" name="Shape 13"/>
          <p:cNvSpPr/>
          <p:nvPr/>
        </p:nvSpPr>
        <p:spPr>
          <a:xfrm>
            <a:off x="4663440" y="4114800"/>
            <a:ext cx="4114800" cy="566928"/>
          </a:xfrm>
          <a:prstGeom prst="roundRect">
            <a:avLst>
              <a:gd name="adj" fmla="val 9677"/>
            </a:avLst>
          </a:prstGeom>
          <a:solidFill>
            <a:srgbClr val="EAF4FF"/>
          </a:solidFill>
          <a:ln w="12700">
            <a:solidFill>
              <a:srgbClr val="EAF4FF"/>
            </a:solidFill>
            <a:prstDash val="solid"/>
          </a:ln>
        </p:spPr>
        <p:txBody>
          <a:bodyPr/>
          <a:lstStyle/>
          <a:p>
            <a:endParaRPr lang="ja-JP" altLang="en-US"/>
          </a:p>
        </p:txBody>
      </p:sp>
      <p:sp>
        <p:nvSpPr>
          <p:cNvPr id="16" name="Text 14"/>
          <p:cNvSpPr txBox="1"/>
          <p:nvPr/>
        </p:nvSpPr>
        <p:spPr>
          <a:xfrm>
            <a:off x="4800600" y="4114800"/>
            <a:ext cx="3840480" cy="566928"/>
          </a:xfrm>
          <a:prstGeom prst="rect">
            <a:avLst/>
          </a:prstGeom>
          <a:noFill/>
          <a:ln/>
        </p:spPr>
        <p:txBody>
          <a:bodyPr wrap="square" lIns="0" tIns="0" rIns="0" bIns="0" rtlCol="0" anchor="ctr"/>
          <a:lstStyle/>
          <a:p>
            <a:pPr marL="0" indent="0">
              <a:spcAft>
                <a:spcPts val="0"/>
              </a:spcAft>
              <a:buNone/>
            </a:pPr>
            <a:r>
              <a:rPr lang="ja-JP" altLang="en-US" sz="1100" b="1" dirty="0">
                <a:solidFill>
                  <a:srgbClr val="118DFF"/>
                </a:solidFill>
                <a:latin typeface="游ゴシック" pitchFamily="34" charset="0"/>
                <a:ea typeface="游ゴシック" pitchFamily="34" charset="-122"/>
                <a:cs typeface="游ゴシック" pitchFamily="34" charset="-120"/>
              </a:rPr>
              <a:t>列11　</a:t>
            </a:r>
            <a:r>
              <a:rPr lang="ja-JP" altLang="en-US" sz="1100" dirty="0">
                <a:solidFill>
                  <a:srgbClr val="172033"/>
                </a:solidFill>
                <a:latin typeface="游ゴシック" pitchFamily="34" charset="0"/>
                <a:ea typeface="游ゴシック" pitchFamily="34" charset="-122"/>
                <a:cs typeface="游ゴシック" pitchFamily="34" charset="-120"/>
              </a:rPr>
              <a:t>列3より低い日は32日中28日。平均0.26℃低い（95％区間−0.39〜−0.15℃）</a:t>
            </a:r>
            <a:endParaRPr lang="ja-JP" altLang="en-US" sz="1100" dirty="0"/>
          </a:p>
        </p:txBody>
      </p:sp>
      <p:sp>
        <p:nvSpPr>
          <p:cNvPr id="17" name="Text 15"/>
          <p:cNvSpPr txBox="1"/>
          <p:nvPr/>
        </p:nvSpPr>
        <p:spPr>
          <a:xfrm>
            <a:off x="365760" y="4690872"/>
            <a:ext cx="8412480" cy="146304"/>
          </a:xfrm>
          <a:prstGeom prst="rect">
            <a:avLst/>
          </a:prstGeom>
          <a:noFill/>
          <a:ln/>
        </p:spPr>
        <p:txBody>
          <a:bodyPr wrap="square" lIns="0" tIns="0" rIns="0" bIns="0" rtlCol="0" anchor="ctr"/>
          <a:lstStyle/>
          <a:p>
            <a:pPr marL="0" indent="0">
              <a:buNone/>
            </a:pPr>
            <a:r>
              <a:rPr lang="en-US" sz="800" dirty="0">
                <a:solidFill>
                  <a:srgbClr val="5E6B7A"/>
                </a:solidFill>
                <a:latin typeface="游ゴシック" pitchFamily="34" charset="0"/>
                <a:ea typeface="游ゴシック" pitchFamily="34" charset="-122"/>
                <a:cs typeface="游ゴシック" pitchFamily="34" charset="-120"/>
              </a:rPr>
              <a:t>8/28・9/7はデータ回収でロガーが止まった時間を除き、残っている7時間で日中平均を計算</a:t>
            </a:r>
            <a:endParaRPr lang="en-US" sz="8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9</a:t>
            </a:fld>
            <a:endParaRPr lang="en-US"/>
          </a:p>
        </p:txBody>
      </p:sp>
      <p:graphicFrame>
        <p:nvGraphicFramePr>
          <p:cNvPr id="26" name="グラフ a1_8_t"/>
          <p:cNvGraphicFramePr>
            <a:graphicFrameLocks noGrp="1"/>
          </p:cNvGraphicFramePr>
          <p:nvPr/>
        </p:nvGraphicFramePr>
        <p:xfrm>
          <a:off x="365760" y="1261872"/>
          <a:ext cx="4114800" cy="148132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7" name="グラフ a1_8_b"/>
          <p:cNvGraphicFramePr>
            <a:graphicFrameLocks noGrp="1"/>
          </p:cNvGraphicFramePr>
          <p:nvPr/>
        </p:nvGraphicFramePr>
        <p:xfrm>
          <a:off x="365760" y="2743200"/>
          <a:ext cx="4114800" cy="116128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8" name="グラフ a1_11_t"/>
          <p:cNvGraphicFramePr>
            <a:graphicFrameLocks noGrp="1"/>
          </p:cNvGraphicFramePr>
          <p:nvPr/>
        </p:nvGraphicFramePr>
        <p:xfrm>
          <a:off x="4663440" y="1261872"/>
          <a:ext cx="4114800" cy="1481328"/>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9" name="グラフ a1_11_b"/>
          <p:cNvGraphicFramePr>
            <a:graphicFrameLocks noGrp="1"/>
          </p:cNvGraphicFramePr>
          <p:nvPr/>
        </p:nvGraphicFramePr>
        <p:xfrm>
          <a:off x="4663440" y="2743200"/>
          <a:ext cx="4114800" cy="1161288"/>
        </p:xfrm>
        <a:graphic>
          <a:graphicData uri="http://schemas.openxmlformats.org/drawingml/2006/chart">
            <c:chart xmlns:c="http://schemas.openxmlformats.org/drawingml/2006/chart" xmlns:r="http://schemas.openxmlformats.org/officeDocument/2006/relationships" r:id="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10">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分析1（参考）：運転状態をそろえた比較と判定基準の影響</a:t>
            </a:r>
            <a:endParaRPr lang="en-US" sz="2000" dirty="0"/>
          </a:p>
        </p:txBody>
      </p:sp>
      <p:sp>
        <p:nvSpPr>
          <p:cNvPr id="3" name="Shape 1"/>
          <p:cNvSpPr/>
          <p:nvPr/>
        </p:nvSpPr>
        <p:spPr>
          <a:xfrm>
            <a:off x="7726680" y="155448"/>
            <a:ext cx="1097280" cy="274320"/>
          </a:xfrm>
          <a:prstGeom prst="roundRect">
            <a:avLst>
              <a:gd name="adj" fmla="val 26667"/>
            </a:avLst>
          </a:prstGeom>
          <a:solidFill>
            <a:srgbClr val="E66C64"/>
          </a:solidFill>
          <a:ln w="12700">
            <a:solidFill>
              <a:srgbClr val="E66C6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主分析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運転状態の違いを除いても芋緑化側が低いかを、判定基準を変えて確かめる（非表示・参考）</a:t>
            </a:r>
            <a:endParaRPr lang="en-US" sz="1200" dirty="0"/>
          </a:p>
        </p:txBody>
      </p:sp>
      <p:sp>
        <p:nvSpPr>
          <p:cNvPr id="7" name="Text 5"/>
          <p:cNvSpPr txBox="1"/>
          <p:nvPr/>
        </p:nvSpPr>
        <p:spPr>
          <a:xfrm>
            <a:off x="365760" y="3200400"/>
            <a:ext cx="4206240" cy="182880"/>
          </a:xfrm>
          <a:prstGeom prst="rect">
            <a:avLst/>
          </a:prstGeom>
          <a:noFill/>
          <a:ln/>
        </p:spPr>
        <p:txBody>
          <a:bodyPr wrap="square" lIns="0" tIns="0" rIns="0" bIns="0" rtlCol="0" anchor="ctr"/>
          <a:lstStyle/>
          <a:p>
            <a:pPr marL="0" indent="0">
              <a:buNone/>
            </a:pPr>
            <a:r>
              <a:rPr lang="en-US" sz="850" dirty="0">
                <a:solidFill>
                  <a:srgbClr val="5E6B7A"/>
                </a:solidFill>
                <a:latin typeface="游ゴシック" pitchFamily="34" charset="0"/>
                <a:ea typeface="游ゴシック" pitchFamily="34" charset="-122"/>
                <a:cs typeface="游ゴシック" pitchFamily="34" charset="-120"/>
              </a:rPr>
              <a:t>ひげ：95％区間</a:t>
            </a:r>
            <a:endParaRPr lang="en-US" sz="850" dirty="0"/>
          </a:p>
        </p:txBody>
      </p:sp>
      <p:sp>
        <p:nvSpPr>
          <p:cNvPr id="8" name="Shape 6"/>
          <p:cNvSpPr/>
          <p:nvPr/>
        </p:nvSpPr>
        <p:spPr>
          <a:xfrm>
            <a:off x="365760" y="3401568"/>
            <a:ext cx="4206240" cy="1325880"/>
          </a:xfrm>
          <a:prstGeom prst="roundRect">
            <a:avLst>
              <a:gd name="adj" fmla="val 4138"/>
            </a:avLst>
          </a:prstGeom>
          <a:solidFill>
            <a:srgbClr val="EAF4FF"/>
          </a:solidFill>
          <a:ln w="12700">
            <a:solidFill>
              <a:srgbClr val="EAF4FF"/>
            </a:solidFill>
            <a:prstDash val="solid"/>
          </a:ln>
        </p:spPr>
        <p:txBody>
          <a:bodyPr/>
          <a:lstStyle/>
          <a:p>
            <a:endParaRPr lang="ja-JP" altLang="en-US"/>
          </a:p>
        </p:txBody>
      </p:sp>
      <p:sp>
        <p:nvSpPr>
          <p:cNvPr id="9" name="Text 7"/>
          <p:cNvSpPr txBox="1"/>
          <p:nvPr/>
        </p:nvSpPr>
        <p:spPr>
          <a:xfrm>
            <a:off x="502920" y="3474720"/>
            <a:ext cx="393192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結果</a:t>
            </a:r>
            <a:endParaRPr lang="en-US" sz="1200" dirty="0"/>
          </a:p>
        </p:txBody>
      </p:sp>
      <p:sp>
        <p:nvSpPr>
          <p:cNvPr id="10" name="Text 8"/>
          <p:cNvSpPr txBox="1"/>
          <p:nvPr/>
        </p:nvSpPr>
        <p:spPr>
          <a:xfrm>
            <a:off x="502920" y="3767328"/>
            <a:ext cx="3931920" cy="896112"/>
          </a:xfrm>
          <a:prstGeom prst="rect">
            <a:avLst/>
          </a:prstGeom>
          <a:noFill/>
          <a:ln/>
        </p:spPr>
        <p:txBody>
          <a:bodyPr wrap="square" lIns="0" tIns="0" rIns="0" bIns="0" rtlCol="0" anchor="t"/>
          <a:lstStyle/>
          <a:p>
            <a:pPr marL="152400" indent="-152400">
              <a:spcAft>
                <a:spcPts val="300"/>
              </a:spcAft>
              <a:buSzPct val="100000"/>
              <a:buChar char="•"/>
            </a:pPr>
            <a:r>
              <a:rPr lang="ja-JP" altLang="en-US" sz="1000" dirty="0">
                <a:solidFill>
                  <a:srgbClr val="172033"/>
                </a:solidFill>
                <a:latin typeface="游ゴシック" pitchFamily="34" charset="0"/>
                <a:ea typeface="游ゴシック" pitchFamily="34" charset="-122"/>
                <a:cs typeface="游ゴシック" pitchFamily="34" charset="-120"/>
              </a:rPr>
              <a:t>基準1.0℃：両方が運転している時間の差は、列8 −0.01℃、列11 −0.29℃</a:t>
            </a:r>
            <a:endParaRPr lang="ja-JP" altLang="en-US" sz="1000" dirty="0"/>
          </a:p>
          <a:p>
            <a:pPr marL="152400" indent="-152400">
              <a:spcAft>
                <a:spcPts val="300"/>
              </a:spcAft>
              <a:buSzPct val="100000"/>
              <a:buChar char="•"/>
            </a:pPr>
            <a:r>
              <a:rPr lang="ja-JP" altLang="en-US" sz="1000" dirty="0">
                <a:solidFill>
                  <a:srgbClr val="172033"/>
                </a:solidFill>
                <a:latin typeface="游ゴシック" pitchFamily="34" charset="0"/>
                <a:ea typeface="游ゴシック" pitchFamily="34" charset="-122"/>
                <a:cs typeface="游ゴシック" pitchFamily="34" charset="-120"/>
              </a:rPr>
              <a:t>基準を0.5〜2.0℃に変えると、列8は−0.02〜＋0.20℃で正負が変わる。列11は−0.24〜−0.29℃で低いまま</a:t>
            </a:r>
            <a:endParaRPr lang="ja-JP" altLang="en-US" sz="1000" dirty="0"/>
          </a:p>
          <a:p>
            <a:pPr marL="152400" indent="-152400">
              <a:spcAft>
                <a:spcPts val="300"/>
              </a:spcAft>
              <a:buSzPct val="100000"/>
              <a:buChar char="•"/>
            </a:pPr>
            <a:r>
              <a:rPr lang="ja-JP" altLang="en-US" sz="1000" dirty="0">
                <a:solidFill>
                  <a:srgbClr val="172033"/>
                </a:solidFill>
                <a:latin typeface="游ゴシック" pitchFamily="34" charset="0"/>
                <a:ea typeface="游ゴシック" pitchFamily="34" charset="-122"/>
                <a:cs typeface="游ゴシック" pitchFamily="34" charset="-120"/>
              </a:rPr>
              <a:t>夜間（両方停止）の差：列8 −0.09℃、列11 −0.13℃（参考）</a:t>
            </a:r>
            <a:endParaRPr lang="ja-JP" altLang="en-US" sz="1000" dirty="0"/>
          </a:p>
        </p:txBody>
      </p:sp>
      <p:sp>
        <p:nvSpPr>
          <p:cNvPr id="11" name="Shape 9"/>
          <p:cNvSpPr/>
          <p:nvPr/>
        </p:nvSpPr>
        <p:spPr>
          <a:xfrm>
            <a:off x="4709160" y="1024128"/>
            <a:ext cx="4069080" cy="2606040"/>
          </a:xfrm>
          <a:prstGeom prst="roundRect">
            <a:avLst>
              <a:gd name="adj" fmla="val 2105"/>
            </a:avLst>
          </a:prstGeom>
          <a:solidFill>
            <a:srgbClr val="E4F7F4"/>
          </a:solidFill>
          <a:ln w="12700">
            <a:solidFill>
              <a:srgbClr val="E4F7F4"/>
            </a:solidFill>
            <a:prstDash val="solid"/>
          </a:ln>
        </p:spPr>
        <p:txBody>
          <a:bodyPr/>
          <a:lstStyle/>
          <a:p>
            <a:endParaRPr lang="ja-JP" altLang="en-US"/>
          </a:p>
        </p:txBody>
      </p:sp>
      <p:sp>
        <p:nvSpPr>
          <p:cNvPr id="12" name="Text 10"/>
          <p:cNvSpPr txBox="1"/>
          <p:nvPr/>
        </p:nvSpPr>
        <p:spPr>
          <a:xfrm>
            <a:off x="4846320" y="1078992"/>
            <a:ext cx="3840480" cy="237744"/>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確かめ方</a:t>
            </a:r>
            <a:endParaRPr lang="en-US" sz="1200" dirty="0"/>
          </a:p>
        </p:txBody>
      </p:sp>
      <p:sp>
        <p:nvSpPr>
          <p:cNvPr id="13" name="Shape 11"/>
          <p:cNvSpPr/>
          <p:nvPr/>
        </p:nvSpPr>
        <p:spPr>
          <a:xfrm>
            <a:off x="4846320" y="1399032"/>
            <a:ext cx="237744" cy="237744"/>
          </a:xfrm>
          <a:prstGeom prst="ellipse">
            <a:avLst/>
          </a:prstGeom>
          <a:solidFill>
            <a:srgbClr val="01B8AA"/>
          </a:solidFill>
          <a:ln w="12700">
            <a:solidFill>
              <a:srgbClr val="01B8AA"/>
            </a:solidFill>
            <a:prstDash val="solid"/>
          </a:ln>
        </p:spPr>
        <p:txBody>
          <a:bodyPr/>
          <a:lstStyle/>
          <a:p>
            <a:endParaRPr lang="ja-JP" altLang="en-US"/>
          </a:p>
        </p:txBody>
      </p:sp>
      <p:sp>
        <p:nvSpPr>
          <p:cNvPr id="14" name="Text 12"/>
          <p:cNvSpPr txBox="1"/>
          <p:nvPr/>
        </p:nvSpPr>
        <p:spPr>
          <a:xfrm>
            <a:off x="4846320" y="139903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游ゴシック" pitchFamily="34" charset="0"/>
                <a:ea typeface="游ゴシック" pitchFamily="34" charset="-122"/>
                <a:cs typeface="游ゴシック" pitchFamily="34" charset="-120"/>
              </a:rPr>
              <a:t>1</a:t>
            </a:r>
            <a:endParaRPr lang="en-US" sz="1000" dirty="0"/>
          </a:p>
        </p:txBody>
      </p:sp>
      <p:sp>
        <p:nvSpPr>
          <p:cNvPr id="15" name="Text 13"/>
          <p:cNvSpPr txBox="1"/>
          <p:nvPr/>
        </p:nvSpPr>
        <p:spPr>
          <a:xfrm>
            <a:off x="5166360" y="1371600"/>
            <a:ext cx="3520440" cy="530352"/>
          </a:xfrm>
          <a:prstGeom prst="rect">
            <a:avLst/>
          </a:prstGeom>
          <a:noFill/>
          <a:ln/>
        </p:spPr>
        <p:txBody>
          <a:bodyPr wrap="square" lIns="0" tIns="0" rIns="0" bIns="0" rtlCol="0" anchor="t"/>
          <a:lstStyle/>
          <a:p>
            <a:pPr marL="0" indent="0">
              <a:buNone/>
            </a:pPr>
            <a:r>
              <a:rPr lang="en-US" sz="900" b="1" dirty="0">
                <a:solidFill>
                  <a:srgbClr val="22354F"/>
                </a:solidFill>
                <a:latin typeface="游ゴシック" pitchFamily="34" charset="0"/>
                <a:ea typeface="游ゴシック" pitchFamily="34" charset="-122"/>
                <a:cs typeface="游ゴシック" pitchFamily="34" charset="-120"/>
              </a:rPr>
              <a:t>運転状態を判定　</a:t>
            </a:r>
            <a:r>
              <a:rPr lang="en-US" sz="900" dirty="0">
                <a:solidFill>
                  <a:srgbClr val="172033"/>
                </a:solidFill>
                <a:latin typeface="游ゴシック" pitchFamily="34" charset="0"/>
                <a:ea typeface="游ゴシック" pitchFamily="34" charset="-122"/>
                <a:cs typeface="游ゴシック" pitchFamily="34" charset="-120"/>
              </a:rPr>
              <a:t>排気温度−吸気温度（10分の移動中央値）が基準以上なら運転中。1時間の8割以上で運転、2割以下で停止</a:t>
            </a:r>
            <a:endParaRPr lang="en-US" sz="900" dirty="0"/>
          </a:p>
        </p:txBody>
      </p:sp>
      <p:sp>
        <p:nvSpPr>
          <p:cNvPr id="16" name="Shape 14"/>
          <p:cNvSpPr/>
          <p:nvPr/>
        </p:nvSpPr>
        <p:spPr>
          <a:xfrm>
            <a:off x="4846320" y="1947672"/>
            <a:ext cx="237744" cy="237744"/>
          </a:xfrm>
          <a:prstGeom prst="ellipse">
            <a:avLst/>
          </a:prstGeom>
          <a:solidFill>
            <a:srgbClr val="01B8AA"/>
          </a:solidFill>
          <a:ln w="12700">
            <a:solidFill>
              <a:srgbClr val="01B8AA"/>
            </a:solidFill>
            <a:prstDash val="solid"/>
          </a:ln>
        </p:spPr>
        <p:txBody>
          <a:bodyPr/>
          <a:lstStyle/>
          <a:p>
            <a:endParaRPr lang="ja-JP" altLang="en-US"/>
          </a:p>
        </p:txBody>
      </p:sp>
      <p:sp>
        <p:nvSpPr>
          <p:cNvPr id="17" name="Text 15"/>
          <p:cNvSpPr txBox="1"/>
          <p:nvPr/>
        </p:nvSpPr>
        <p:spPr>
          <a:xfrm>
            <a:off x="4846320" y="194767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游ゴシック" pitchFamily="34" charset="0"/>
                <a:ea typeface="游ゴシック" pitchFamily="34" charset="-122"/>
                <a:cs typeface="游ゴシック" pitchFamily="34" charset="-120"/>
              </a:rPr>
              <a:t>2</a:t>
            </a:r>
            <a:endParaRPr lang="en-US" sz="1000" dirty="0"/>
          </a:p>
        </p:txBody>
      </p:sp>
      <p:sp>
        <p:nvSpPr>
          <p:cNvPr id="18" name="Text 16"/>
          <p:cNvSpPr txBox="1"/>
          <p:nvPr/>
        </p:nvSpPr>
        <p:spPr>
          <a:xfrm>
            <a:off x="5166360" y="1920240"/>
            <a:ext cx="3520440" cy="530352"/>
          </a:xfrm>
          <a:prstGeom prst="rect">
            <a:avLst/>
          </a:prstGeom>
          <a:noFill/>
          <a:ln/>
        </p:spPr>
        <p:txBody>
          <a:bodyPr wrap="square" lIns="0" tIns="0" rIns="0" bIns="0" rtlCol="0" anchor="t"/>
          <a:lstStyle/>
          <a:p>
            <a:pPr marL="0" indent="0">
              <a:buNone/>
            </a:pPr>
            <a:r>
              <a:rPr lang="en-US" sz="900" b="1" dirty="0">
                <a:solidFill>
                  <a:srgbClr val="22354F"/>
                </a:solidFill>
                <a:latin typeface="游ゴシック" pitchFamily="34" charset="0"/>
                <a:ea typeface="游ゴシック" pitchFamily="34" charset="-122"/>
                <a:cs typeface="游ゴシック" pitchFamily="34" charset="-120"/>
              </a:rPr>
              <a:t>運転状態をそろえる　</a:t>
            </a:r>
            <a:r>
              <a:rPr lang="en-US" sz="900" dirty="0">
                <a:solidFill>
                  <a:srgbClr val="172033"/>
                </a:solidFill>
                <a:latin typeface="游ゴシック" pitchFamily="34" charset="0"/>
                <a:ea typeface="游ゴシック" pitchFamily="34" charset="-122"/>
                <a:cs typeface="游ゴシック" pitchFamily="34" charset="-120"/>
              </a:rPr>
              <a:t>同じ区画の2台（例：8-1と3-1）がともに運転している日中の1時間だけで、吸気温度差を平均する</a:t>
            </a:r>
            <a:endParaRPr lang="en-US" sz="900" dirty="0"/>
          </a:p>
        </p:txBody>
      </p:sp>
      <p:sp>
        <p:nvSpPr>
          <p:cNvPr id="19" name="Shape 17"/>
          <p:cNvSpPr/>
          <p:nvPr/>
        </p:nvSpPr>
        <p:spPr>
          <a:xfrm>
            <a:off x="4846320" y="2496312"/>
            <a:ext cx="237744" cy="237744"/>
          </a:xfrm>
          <a:prstGeom prst="ellipse">
            <a:avLst/>
          </a:prstGeom>
          <a:solidFill>
            <a:srgbClr val="01B8AA"/>
          </a:solidFill>
          <a:ln w="12700">
            <a:solidFill>
              <a:srgbClr val="01B8AA"/>
            </a:solidFill>
            <a:prstDash val="solid"/>
          </a:ln>
        </p:spPr>
        <p:txBody>
          <a:bodyPr/>
          <a:lstStyle/>
          <a:p>
            <a:endParaRPr lang="ja-JP" altLang="en-US"/>
          </a:p>
        </p:txBody>
      </p:sp>
      <p:sp>
        <p:nvSpPr>
          <p:cNvPr id="20" name="Text 18"/>
          <p:cNvSpPr txBox="1"/>
          <p:nvPr/>
        </p:nvSpPr>
        <p:spPr>
          <a:xfrm>
            <a:off x="4846320" y="249631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游ゴシック" pitchFamily="34" charset="0"/>
                <a:ea typeface="游ゴシック" pitchFamily="34" charset="-122"/>
                <a:cs typeface="游ゴシック" pitchFamily="34" charset="-120"/>
              </a:rPr>
              <a:t>3</a:t>
            </a:r>
            <a:endParaRPr lang="en-US" sz="1000" dirty="0"/>
          </a:p>
        </p:txBody>
      </p:sp>
      <p:sp>
        <p:nvSpPr>
          <p:cNvPr id="21" name="Text 19"/>
          <p:cNvSpPr txBox="1"/>
          <p:nvPr/>
        </p:nvSpPr>
        <p:spPr>
          <a:xfrm>
            <a:off x="5166360" y="2468880"/>
            <a:ext cx="3520440" cy="530352"/>
          </a:xfrm>
          <a:prstGeom prst="rect">
            <a:avLst/>
          </a:prstGeom>
          <a:noFill/>
          <a:ln/>
        </p:spPr>
        <p:txBody>
          <a:bodyPr wrap="square" lIns="0" tIns="0" rIns="0" bIns="0" rtlCol="0" anchor="t"/>
          <a:lstStyle/>
          <a:p>
            <a:pPr marL="0" indent="0">
              <a:buNone/>
            </a:pPr>
            <a:r>
              <a:rPr lang="en-US" sz="900" b="1" dirty="0">
                <a:solidFill>
                  <a:srgbClr val="22354F"/>
                </a:solidFill>
                <a:latin typeface="游ゴシック" pitchFamily="34" charset="0"/>
                <a:ea typeface="游ゴシック" pitchFamily="34" charset="-122"/>
                <a:cs typeface="游ゴシック" pitchFamily="34" charset="-120"/>
              </a:rPr>
              <a:t>判定の基準を変える　</a:t>
            </a:r>
            <a:r>
              <a:rPr lang="en-US" sz="900" dirty="0">
                <a:solidFill>
                  <a:srgbClr val="172033"/>
                </a:solidFill>
                <a:latin typeface="游ゴシック" pitchFamily="34" charset="0"/>
                <a:ea typeface="游ゴシック" pitchFamily="34" charset="-122"/>
                <a:cs typeface="游ゴシック" pitchFamily="34" charset="-120"/>
              </a:rPr>
              <a:t>基準を0.5・1.0・2.0℃に変えて、結果が変わらないかを確かめる</a:t>
            </a:r>
            <a:endParaRPr lang="en-US" sz="900" dirty="0"/>
          </a:p>
        </p:txBody>
      </p:sp>
      <p:sp>
        <p:nvSpPr>
          <p:cNvPr id="22" name="Shape 20"/>
          <p:cNvSpPr/>
          <p:nvPr/>
        </p:nvSpPr>
        <p:spPr>
          <a:xfrm>
            <a:off x="4846320" y="3044952"/>
            <a:ext cx="237744" cy="237744"/>
          </a:xfrm>
          <a:prstGeom prst="ellipse">
            <a:avLst/>
          </a:prstGeom>
          <a:solidFill>
            <a:srgbClr val="01B8AA"/>
          </a:solidFill>
          <a:ln w="12700">
            <a:solidFill>
              <a:srgbClr val="01B8AA"/>
            </a:solidFill>
            <a:prstDash val="solid"/>
          </a:ln>
        </p:spPr>
        <p:txBody>
          <a:bodyPr/>
          <a:lstStyle/>
          <a:p>
            <a:endParaRPr lang="ja-JP" altLang="en-US"/>
          </a:p>
        </p:txBody>
      </p:sp>
      <p:sp>
        <p:nvSpPr>
          <p:cNvPr id="23" name="Text 21"/>
          <p:cNvSpPr txBox="1"/>
          <p:nvPr/>
        </p:nvSpPr>
        <p:spPr>
          <a:xfrm>
            <a:off x="4846320" y="304495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游ゴシック" pitchFamily="34" charset="0"/>
                <a:ea typeface="游ゴシック" pitchFamily="34" charset="-122"/>
                <a:cs typeface="游ゴシック" pitchFamily="34" charset="-120"/>
              </a:rPr>
              <a:t>4</a:t>
            </a:r>
            <a:endParaRPr lang="en-US" sz="1000" dirty="0"/>
          </a:p>
        </p:txBody>
      </p:sp>
      <p:sp>
        <p:nvSpPr>
          <p:cNvPr id="24" name="Text 22"/>
          <p:cNvSpPr txBox="1"/>
          <p:nvPr/>
        </p:nvSpPr>
        <p:spPr>
          <a:xfrm>
            <a:off x="5166360" y="3017520"/>
            <a:ext cx="3520440" cy="530352"/>
          </a:xfrm>
          <a:prstGeom prst="rect">
            <a:avLst/>
          </a:prstGeom>
          <a:noFill/>
          <a:ln/>
        </p:spPr>
        <p:txBody>
          <a:bodyPr wrap="square" lIns="0" tIns="0" rIns="0" bIns="0" rtlCol="0" anchor="t"/>
          <a:lstStyle/>
          <a:p>
            <a:pPr marL="0" indent="0">
              <a:buNone/>
            </a:pPr>
            <a:r>
              <a:rPr lang="en-US" sz="900" b="1" dirty="0">
                <a:solidFill>
                  <a:srgbClr val="22354F"/>
                </a:solidFill>
                <a:latin typeface="游ゴシック" pitchFamily="34" charset="0"/>
                <a:ea typeface="游ゴシック" pitchFamily="34" charset="-122"/>
                <a:cs typeface="游ゴシック" pitchFamily="34" charset="-120"/>
              </a:rPr>
              <a:t>夜間の差は引かない　</a:t>
            </a:r>
            <a:r>
              <a:rPr lang="en-US" sz="900" dirty="0">
                <a:solidFill>
                  <a:srgbClr val="172033"/>
                </a:solidFill>
                <a:latin typeface="游ゴシック" pitchFamily="34" charset="0"/>
                <a:ea typeface="游ゴシック" pitchFamily="34" charset="-122"/>
                <a:cs typeface="游ゴシック" pitchFamily="34" charset="-120"/>
              </a:rPr>
              <a:t>夜間（両方停止）の差には芋緑化の影響も含まれうるため、補正には使わず参考として示す</a:t>
            </a:r>
            <a:endParaRPr lang="en-US" sz="900" dirty="0"/>
          </a:p>
        </p:txBody>
      </p:sp>
      <p:sp>
        <p:nvSpPr>
          <p:cNvPr id="25" name="Shape 23"/>
          <p:cNvSpPr/>
          <p:nvPr/>
        </p:nvSpPr>
        <p:spPr>
          <a:xfrm>
            <a:off x="4709160" y="3703320"/>
            <a:ext cx="4069080" cy="1024128"/>
          </a:xfrm>
          <a:prstGeom prst="roundRect">
            <a:avLst>
              <a:gd name="adj" fmla="val 5357"/>
            </a:avLst>
          </a:prstGeom>
          <a:solidFill>
            <a:srgbClr val="FFF7D1"/>
          </a:solidFill>
          <a:ln w="12700">
            <a:solidFill>
              <a:srgbClr val="FFF7D1"/>
            </a:solidFill>
            <a:prstDash val="solid"/>
          </a:ln>
        </p:spPr>
        <p:txBody>
          <a:bodyPr/>
          <a:lstStyle/>
          <a:p>
            <a:endParaRPr lang="ja-JP" altLang="en-US"/>
          </a:p>
        </p:txBody>
      </p:sp>
      <p:sp>
        <p:nvSpPr>
          <p:cNvPr id="26" name="Text 24"/>
          <p:cNvSpPr txBox="1"/>
          <p:nvPr/>
        </p:nvSpPr>
        <p:spPr>
          <a:xfrm>
            <a:off x="4846320" y="3749040"/>
            <a:ext cx="3840480" cy="932688"/>
          </a:xfrm>
          <a:prstGeom prst="rect">
            <a:avLst/>
          </a:prstGeom>
          <a:noFill/>
          <a:ln/>
        </p:spPr>
        <p:txBody>
          <a:bodyPr wrap="square" lIns="0" tIns="0" rIns="0" bIns="0" rtlCol="0" anchor="t"/>
          <a:lstStyle/>
          <a:p>
            <a:pPr marL="0" indent="0">
              <a:spcAft>
                <a:spcPts val="0"/>
              </a:spcAft>
              <a:buNone/>
            </a:pPr>
            <a:r>
              <a:rPr lang="ja-JP" altLang="en-US" sz="1000" b="1" dirty="0">
                <a:solidFill>
                  <a:srgbClr val="ED7D31"/>
                </a:solidFill>
                <a:latin typeface="游ゴシック" pitchFamily="34" charset="0"/>
                <a:ea typeface="游ゴシック" pitchFamily="34" charset="-122"/>
                <a:cs typeface="游ゴシック" pitchFamily="34" charset="-120"/>
              </a:rPr>
              <a:t>読み取り</a:t>
            </a:r>
            <a:endParaRPr lang="ja-JP" altLang="en-US" sz="1000" dirty="0"/>
          </a:p>
          <a:p>
            <a:pPr marL="0" indent="0">
              <a:spcAft>
                <a:spcPts val="0"/>
              </a:spcAft>
              <a:buNone/>
            </a:pPr>
            <a:r>
              <a:rPr lang="ja-JP" altLang="en-US" sz="1000" dirty="0">
                <a:solidFill>
                  <a:srgbClr val="172033"/>
                </a:solidFill>
                <a:latin typeface="游ゴシック" pitchFamily="34" charset="0"/>
                <a:ea typeface="游ゴシック" pitchFamily="34" charset="-122"/>
                <a:cs typeface="游ゴシック" pitchFamily="34" charset="-120"/>
              </a:rPr>
              <a:t>列11は運転状態をそろえても、基準を変えても低い。列8は基準しだいで正負が変わるため、補正後の値は決められない。運転データ（エアネット）での確認が必要</a:t>
            </a:r>
            <a:endParaRPr lang="ja-JP" altLang="en-US" sz="1000" dirty="0"/>
          </a:p>
        </p:txBody>
      </p:sp>
      <p:sp>
        <p:nvSpPr>
          <p:cNvPr id="6"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10</a:t>
            </a:fld>
            <a:endParaRPr lang="en-US"/>
          </a:p>
        </p:txBody>
      </p:sp>
      <p:graphicFrame>
        <p:nvGraphicFramePr>
          <p:cNvPr id="27" name="グラフ corr"/>
          <p:cNvGraphicFramePr>
            <a:graphicFrameLocks noGrp="1"/>
          </p:cNvGraphicFramePr>
          <p:nvPr>
            <p:extLst>
              <p:ext uri="{D42A27DB-BD31-4B8C-83A1-F6EECF244321}">
                <p14:modId xmlns:p14="http://schemas.microsoft.com/office/powerpoint/2010/main" val="403730938"/>
              </p:ext>
            </p:extLst>
          </p:nvPr>
        </p:nvGraphicFramePr>
        <p:xfrm>
          <a:off x="365760" y="1024128"/>
          <a:ext cx="4206240" cy="219456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分析2：時刻別の吸気温度差</a:t>
            </a:r>
            <a:endParaRPr lang="en-US" sz="2000" dirty="0"/>
          </a:p>
        </p:txBody>
      </p:sp>
      <p:sp>
        <p:nvSpPr>
          <p:cNvPr id="3" name="Shape 1"/>
          <p:cNvSpPr/>
          <p:nvPr/>
        </p:nvSpPr>
        <p:spPr>
          <a:xfrm>
            <a:off x="7726680" y="155448"/>
            <a:ext cx="1097280" cy="274320"/>
          </a:xfrm>
          <a:prstGeom prst="roundRect">
            <a:avLst>
              <a:gd name="adj" fmla="val 26667"/>
            </a:avLst>
          </a:prstGeom>
          <a:solidFill>
            <a:srgbClr val="E66C64"/>
          </a:solidFill>
          <a:ln w="12700">
            <a:solidFill>
              <a:srgbClr val="E66C6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主分析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どの時間帯で吸気温度の低減効果が大きいかを特定する</a:t>
            </a:r>
            <a:endParaRPr lang="en-US" sz="1200" dirty="0"/>
          </a:p>
        </p:txBody>
      </p:sp>
      <p:sp>
        <p:nvSpPr>
          <p:cNvPr id="6" name="Text 4"/>
          <p:cNvSpPr txBox="1"/>
          <p:nvPr/>
        </p:nvSpPr>
        <p:spPr>
          <a:xfrm>
            <a:off x="365760" y="987552"/>
            <a:ext cx="8412480" cy="292608"/>
          </a:xfrm>
          <a:prstGeom prst="rect">
            <a:avLst/>
          </a:prstGeom>
          <a:noFill/>
          <a:ln/>
        </p:spPr>
        <p:txBody>
          <a:bodyPr wrap="square" lIns="0" tIns="0" rIns="0" bIns="0" rtlCol="0" anchor="ctr"/>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方法　</a:t>
            </a:r>
            <a:r>
              <a:rPr lang="en-US" sz="1050" dirty="0">
                <a:solidFill>
                  <a:srgbClr val="5E6B7A"/>
                </a:solidFill>
                <a:latin typeface="游ゴシック" pitchFamily="34" charset="0"/>
                <a:ea typeface="游ゴシック" pitchFamily="34" charset="-122"/>
                <a:cs typeface="游ゴシック" pitchFamily="34" charset="-120"/>
              </a:rPr>
              <a:t>勤務日32日間の1時間平均の吸気温度差を、時刻ごとに箱ひげ図にした（箱：四分位、白線：中央値、線：ひげ）</a:t>
            </a:r>
            <a:endParaRPr lang="en-US" sz="1050" dirty="0"/>
          </a:p>
        </p:txBody>
      </p:sp>
      <p:sp>
        <p:nvSpPr>
          <p:cNvPr id="7" name="Text 5"/>
          <p:cNvSpPr txBox="1"/>
          <p:nvPr/>
        </p:nvSpPr>
        <p:spPr>
          <a:xfrm>
            <a:off x="365760" y="1600200"/>
            <a:ext cx="5074920" cy="184945"/>
          </a:xfrm>
          <a:prstGeom prst="rect">
            <a:avLst/>
          </a:prstGeom>
          <a:noFill/>
          <a:ln/>
        </p:spPr>
        <p:txBody>
          <a:bodyPr wrap="square" lIns="0" tIns="0" rIns="0" bIns="0" rtlCol="0" anchor="ctr"/>
          <a:lstStyle/>
          <a:p>
            <a:pPr marL="0" indent="0">
              <a:buNone/>
            </a:pPr>
            <a:r>
              <a:rPr lang="en-US" sz="950" b="1" dirty="0">
                <a:solidFill>
                  <a:srgbClr val="01B8AA"/>
                </a:solidFill>
                <a:latin typeface="游ゴシック" pitchFamily="34" charset="0"/>
                <a:ea typeface="游ゴシック" pitchFamily="34" charset="-122"/>
                <a:cs typeface="游ゴシック" pitchFamily="34" charset="-120"/>
              </a:rPr>
              <a:t>列8</a:t>
            </a:r>
            <a:endParaRPr lang="en-US" sz="950" dirty="0"/>
          </a:p>
        </p:txBody>
      </p:sp>
      <p:sp>
        <p:nvSpPr>
          <p:cNvPr id="9" name="Text 7"/>
          <p:cNvSpPr txBox="1"/>
          <p:nvPr/>
        </p:nvSpPr>
        <p:spPr>
          <a:xfrm>
            <a:off x="365760" y="3189044"/>
            <a:ext cx="5074920" cy="184945"/>
          </a:xfrm>
          <a:prstGeom prst="rect">
            <a:avLst/>
          </a:prstGeom>
          <a:noFill/>
          <a:ln/>
        </p:spPr>
        <p:txBody>
          <a:bodyPr wrap="square" lIns="0" tIns="0" rIns="0" bIns="0" rtlCol="0" anchor="ctr"/>
          <a:lstStyle/>
          <a:p>
            <a:pPr marL="0" indent="0">
              <a:buNone/>
            </a:pPr>
            <a:r>
              <a:rPr lang="en-US" sz="950" b="1" dirty="0">
                <a:solidFill>
                  <a:srgbClr val="118DFF"/>
                </a:solidFill>
                <a:latin typeface="游ゴシック" pitchFamily="34" charset="0"/>
                <a:ea typeface="游ゴシック" pitchFamily="34" charset="-122"/>
                <a:cs typeface="游ゴシック" pitchFamily="34" charset="-120"/>
              </a:rPr>
              <a:t>列11</a:t>
            </a:r>
            <a:endParaRPr lang="en-US" sz="950" dirty="0"/>
          </a:p>
        </p:txBody>
      </p:sp>
      <p:sp>
        <p:nvSpPr>
          <p:cNvPr id="11" name="Shape 9"/>
          <p:cNvSpPr/>
          <p:nvPr/>
        </p:nvSpPr>
        <p:spPr>
          <a:xfrm>
            <a:off x="5577840" y="1600200"/>
            <a:ext cx="3200400" cy="2185711"/>
          </a:xfrm>
          <a:prstGeom prst="roundRect">
            <a:avLst>
              <a:gd name="adj" fmla="val 2308"/>
            </a:avLst>
          </a:prstGeom>
          <a:solidFill>
            <a:srgbClr val="EAF4FF"/>
          </a:solidFill>
          <a:ln w="12700">
            <a:solidFill>
              <a:srgbClr val="EAF4FF"/>
            </a:solidFill>
            <a:prstDash val="solid"/>
          </a:ln>
        </p:spPr>
        <p:txBody>
          <a:bodyPr/>
          <a:lstStyle/>
          <a:p>
            <a:endParaRPr lang="ja-JP" altLang="en-US"/>
          </a:p>
        </p:txBody>
      </p:sp>
      <p:sp>
        <p:nvSpPr>
          <p:cNvPr id="12" name="Text 10"/>
          <p:cNvSpPr txBox="1"/>
          <p:nvPr/>
        </p:nvSpPr>
        <p:spPr>
          <a:xfrm>
            <a:off x="5715000" y="1667453"/>
            <a:ext cx="2926080" cy="235384"/>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結果</a:t>
            </a:r>
            <a:endParaRPr lang="en-US" sz="1200" dirty="0"/>
          </a:p>
        </p:txBody>
      </p:sp>
      <p:sp>
        <p:nvSpPr>
          <p:cNvPr id="13" name="Text 11"/>
          <p:cNvSpPr txBox="1"/>
          <p:nvPr/>
        </p:nvSpPr>
        <p:spPr>
          <a:xfrm>
            <a:off x="5715000" y="1936463"/>
            <a:ext cx="2926080" cy="1790602"/>
          </a:xfrm>
          <a:prstGeom prst="rect">
            <a:avLst/>
          </a:prstGeom>
          <a:noFill/>
          <a:ln/>
        </p:spPr>
        <p:txBody>
          <a:bodyPr wrap="square" lIns="0" tIns="0" rIns="0" bIns="0" rtlCol="0" anchor="t"/>
          <a:lstStyle/>
          <a:p>
            <a:pPr marL="152400" indent="-152400">
              <a:spcAft>
                <a:spcPts val="300"/>
              </a:spcAft>
              <a:buSzPct val="100000"/>
              <a:buChar char="•"/>
            </a:pPr>
            <a:r>
              <a:rPr lang="ja-JP" altLang="en-US" sz="1050" dirty="0">
                <a:solidFill>
                  <a:srgbClr val="172033"/>
                </a:solidFill>
                <a:latin typeface="游ゴシック" pitchFamily="34" charset="0"/>
                <a:ea typeface="游ゴシック" pitchFamily="34" charset="-122"/>
                <a:cs typeface="游ゴシック" pitchFamily="34" charset="-120"/>
              </a:rPr>
              <a:t>列11：どの時刻も列3より低い（中央値−0.15〜−0.34℃）。低い日は66〜93％</a:t>
            </a:r>
            <a:endParaRPr lang="ja-JP" altLang="en-US" sz="1050" dirty="0"/>
          </a:p>
          <a:p>
            <a:pPr marL="152400" indent="-152400">
              <a:spcAft>
                <a:spcPts val="300"/>
              </a:spcAft>
              <a:buSzPct val="100000"/>
              <a:buChar char="•"/>
            </a:pPr>
            <a:r>
              <a:rPr lang="ja-JP" altLang="en-US" sz="1050" dirty="0">
                <a:solidFill>
                  <a:srgbClr val="172033"/>
                </a:solidFill>
                <a:latin typeface="游ゴシック" pitchFamily="34" charset="0"/>
                <a:ea typeface="游ゴシック" pitchFamily="34" charset="-122"/>
                <a:cs typeface="游ゴシック" pitchFamily="34" charset="-120"/>
              </a:rPr>
              <a:t>列11で差が大きいのは17時台（−0.34℃）・9時台（−0.33℃）・13時台（−0.30℃）</a:t>
            </a:r>
            <a:endParaRPr lang="ja-JP" altLang="en-US" sz="1050" dirty="0"/>
          </a:p>
          <a:p>
            <a:pPr marL="152400" indent="-152400">
              <a:spcAft>
                <a:spcPts val="300"/>
              </a:spcAft>
              <a:buSzPct val="100000"/>
              <a:buChar char="•"/>
            </a:pPr>
            <a:r>
              <a:rPr lang="ja-JP" altLang="en-US" sz="1050" dirty="0">
                <a:solidFill>
                  <a:srgbClr val="172033"/>
                </a:solidFill>
                <a:latin typeface="游ゴシック" pitchFamily="34" charset="0"/>
                <a:ea typeface="游ゴシック" pitchFamily="34" charset="-122"/>
                <a:cs typeface="游ゴシック" pitchFamily="34" charset="-120"/>
              </a:rPr>
              <a:t>列8：中央値は−0.25〜＋0.07℃で、ほぼ差がない。14時台だけ列3より高い</a:t>
            </a:r>
            <a:endParaRPr lang="ja-JP" altLang="en-US" sz="1050" dirty="0"/>
          </a:p>
        </p:txBody>
      </p:sp>
      <p:sp>
        <p:nvSpPr>
          <p:cNvPr id="14" name="Shape 12"/>
          <p:cNvSpPr/>
          <p:nvPr/>
        </p:nvSpPr>
        <p:spPr>
          <a:xfrm>
            <a:off x="5577840" y="3869977"/>
            <a:ext cx="3200400" cy="857471"/>
          </a:xfrm>
          <a:prstGeom prst="roundRect">
            <a:avLst>
              <a:gd name="adj" fmla="val 5882"/>
            </a:avLst>
          </a:prstGeom>
          <a:solidFill>
            <a:srgbClr val="FFF7D1"/>
          </a:solidFill>
          <a:ln w="12700">
            <a:solidFill>
              <a:srgbClr val="FFF7D1"/>
            </a:solidFill>
            <a:prstDash val="solid"/>
          </a:ln>
        </p:spPr>
        <p:txBody>
          <a:bodyPr/>
          <a:lstStyle/>
          <a:p>
            <a:endParaRPr lang="ja-JP" altLang="en-US"/>
          </a:p>
        </p:txBody>
      </p:sp>
      <p:sp>
        <p:nvSpPr>
          <p:cNvPr id="15" name="Text 13"/>
          <p:cNvSpPr txBox="1"/>
          <p:nvPr/>
        </p:nvSpPr>
        <p:spPr>
          <a:xfrm>
            <a:off x="5715000" y="3912010"/>
            <a:ext cx="2926080" cy="773405"/>
          </a:xfrm>
          <a:prstGeom prst="rect">
            <a:avLst/>
          </a:prstGeom>
          <a:noFill/>
          <a:ln/>
        </p:spPr>
        <p:txBody>
          <a:bodyPr wrap="square" lIns="0" tIns="0" rIns="0" bIns="0" rtlCol="0" anchor="t"/>
          <a:lstStyle/>
          <a:p>
            <a:pPr marL="0" indent="0">
              <a:spcAft>
                <a:spcPts val="0"/>
              </a:spcAft>
              <a:buNone/>
            </a:pPr>
            <a:r>
              <a:rPr lang="ja-JP" altLang="en-US" sz="1050" b="1" dirty="0">
                <a:solidFill>
                  <a:srgbClr val="ED7D31"/>
                </a:solidFill>
                <a:latin typeface="游ゴシック" pitchFamily="34" charset="0"/>
                <a:ea typeface="游ゴシック" pitchFamily="34" charset="-122"/>
                <a:cs typeface="游ゴシック" pitchFamily="34" charset="-120"/>
              </a:rPr>
              <a:t>読み取り</a:t>
            </a:r>
            <a:endParaRPr lang="ja-JP" altLang="en-US" sz="1050" dirty="0"/>
          </a:p>
          <a:p>
            <a:pPr marL="0" indent="0">
              <a:spcAft>
                <a:spcPts val="0"/>
              </a:spcAft>
              <a:buNone/>
            </a:pPr>
            <a:r>
              <a:rPr lang="ja-JP" altLang="en-US" sz="1050" dirty="0">
                <a:solidFill>
                  <a:srgbClr val="172033"/>
                </a:solidFill>
                <a:latin typeface="游ゴシック" pitchFamily="34" charset="0"/>
                <a:ea typeface="游ゴシック" pitchFamily="34" charset="-122"/>
                <a:cs typeface="游ゴシック" pitchFamily="34" charset="-120"/>
              </a:rPr>
              <a:t>時刻による違いは小さく、エアネット分析で見られた14時のピークはない。9時台・17時台にやや差が大きいのは、運転の開始・終了時刻のずれのため（運転状態は排気温度から判定）</a:t>
            </a:r>
            <a:endParaRPr lang="ja-JP" altLang="en-US" sz="10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11</a:t>
            </a:fld>
            <a:endParaRPr lang="en-US"/>
          </a:p>
        </p:txBody>
      </p:sp>
      <p:graphicFrame>
        <p:nvGraphicFramePr>
          <p:cNvPr id="26" name="グラフ a2_8"/>
          <p:cNvGraphicFramePr>
            <a:graphicFrameLocks noGrp="1"/>
          </p:cNvGraphicFramePr>
          <p:nvPr/>
        </p:nvGraphicFramePr>
        <p:xfrm>
          <a:off x="365760" y="1785145"/>
          <a:ext cx="5074920" cy="135345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7" name="グラフ a2_11"/>
          <p:cNvGraphicFramePr>
            <a:graphicFrameLocks noGrp="1"/>
          </p:cNvGraphicFramePr>
          <p:nvPr/>
        </p:nvGraphicFramePr>
        <p:xfrm>
          <a:off x="365760" y="3373989"/>
          <a:ext cx="5074920" cy="1353459"/>
        </p:xfrm>
        <a:graphic>
          <a:graphicData uri="http://schemas.openxmlformats.org/drawingml/2006/chart">
            <c:chart xmlns:c="http://schemas.openxmlformats.org/drawingml/2006/chart" xmlns:r="http://schemas.openxmlformats.org/officeDocument/2006/relationships" r:id="rId4"/>
          </a:graphicData>
        </a:graphic>
      </p:graphicFrame>
      <p:sp>
        <p:nvSpPr>
          <p:cNvPr id="28" name="求め方 背景"/>
          <p:cNvSpPr/>
          <p:nvPr/>
        </p:nvSpPr>
        <p:spPr>
          <a:xfrm>
            <a:off x="365760" y="1298448"/>
            <a:ext cx="8412480" cy="246888"/>
          </a:xfrm>
          <a:prstGeom prst="roundRect">
            <a:avLst>
              <a:gd name="adj" fmla="val 2532"/>
            </a:avLst>
          </a:prstGeom>
          <a:solidFill>
            <a:srgbClr val="F3F5F8"/>
          </a:solidFill>
          <a:ln w="12700">
            <a:solidFill>
              <a:srgbClr val="F3F5F8"/>
            </a:solidFill>
          </a:ln>
        </p:spPr>
        <p:txBody>
          <a:bodyPr/>
          <a:lstStyle/>
          <a:p>
            <a:endParaRPr lang="ja-JP" altLang="en-US"/>
          </a:p>
        </p:txBody>
      </p:sp>
      <p:sp>
        <p:nvSpPr>
          <p:cNvPr id="29" name="求め方"/>
          <p:cNvSpPr txBox="1"/>
          <p:nvPr/>
        </p:nvSpPr>
        <p:spPr>
          <a:xfrm>
            <a:off x="457200" y="1298448"/>
            <a:ext cx="8229600" cy="246888"/>
          </a:xfrm>
          <a:prstGeom prst="rect">
            <a:avLst/>
          </a:prstGeom>
          <a:noFill/>
          <a:ln/>
        </p:spPr>
        <p:txBody>
          <a:bodyPr wrap="square" lIns="0" tIns="0" rIns="0" bIns="0" rtlCol="0" anchor="ctr"/>
          <a:lstStyle/>
          <a:p>
            <a:pPr marL="0" indent="0">
              <a:spcAft>
                <a:spcPts val="0"/>
              </a:spcAft>
              <a:buNone/>
            </a:pPr>
            <a:r>
              <a:rPr lang="ja-JP" altLang="en-US" sz="1000" b="1" dirty="0">
                <a:solidFill>
                  <a:srgbClr val="118DFF"/>
                </a:solidFill>
                <a:latin typeface="游ゴシック" pitchFamily="34" charset="0"/>
                <a:ea typeface="游ゴシック" pitchFamily="34" charset="-122"/>
                <a:cs typeface="游ゴシック" pitchFamily="34" charset="-120"/>
              </a:rPr>
              <a:t>求め方　</a:t>
            </a:r>
            <a:r>
              <a:rPr lang="ja-JP" altLang="en-US" sz="1000" dirty="0">
                <a:solidFill>
                  <a:srgbClr val="172033"/>
                </a:solidFill>
                <a:latin typeface="游ゴシック" pitchFamily="34" charset="0"/>
                <a:ea typeface="游ゴシック" pitchFamily="34" charset="-122"/>
                <a:cs typeface="游ゴシック" pitchFamily="34" charset="-120"/>
              </a:rPr>
              <a:t>同じ区画・方位の熱電対どうしの差を、列8は9組、列11は8組すべて平均（1点の代表値ではない）</a:t>
            </a:r>
            <a:endParaRPr lang="ja-JP" alt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分析3：列8の区画ごとの吸気温度</a:t>
            </a:r>
            <a:endParaRPr lang="en-US" sz="2000" dirty="0"/>
          </a:p>
        </p:txBody>
      </p:sp>
      <p:sp>
        <p:nvSpPr>
          <p:cNvPr id="3" name="Shape 1"/>
          <p:cNvSpPr/>
          <p:nvPr/>
        </p:nvSpPr>
        <p:spPr>
          <a:xfrm>
            <a:off x="7726680" y="155448"/>
            <a:ext cx="1097280" cy="274320"/>
          </a:xfrm>
          <a:prstGeom prst="roundRect">
            <a:avLst>
              <a:gd name="adj" fmla="val 26667"/>
            </a:avLst>
          </a:prstGeom>
          <a:solidFill>
            <a:srgbClr val="E66C64"/>
          </a:solidFill>
          <a:ln w="12700">
            <a:solidFill>
              <a:srgbClr val="E66C6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主分析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同じ列8の中で、どの区画の吸気温度が列3より下がっているかを見る</a:t>
            </a:r>
            <a:endParaRPr lang="en-US" sz="1200" dirty="0"/>
          </a:p>
        </p:txBody>
      </p:sp>
      <p:sp>
        <p:nvSpPr>
          <p:cNvPr id="6" name="Text 4"/>
          <p:cNvSpPr txBox="1"/>
          <p:nvPr/>
        </p:nvSpPr>
        <p:spPr>
          <a:xfrm>
            <a:off x="365760" y="987552"/>
            <a:ext cx="8412480" cy="292608"/>
          </a:xfrm>
          <a:prstGeom prst="rect">
            <a:avLst/>
          </a:prstGeom>
          <a:noFill/>
          <a:ln/>
        </p:spPr>
        <p:txBody>
          <a:bodyPr wrap="square" lIns="0" tIns="0" rIns="0" bIns="0" rtlCol="0" anchor="ctr"/>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方法　</a:t>
            </a:r>
            <a:r>
              <a:rPr lang="en-US" sz="1050" dirty="0">
                <a:solidFill>
                  <a:srgbClr val="5E6B7A"/>
                </a:solidFill>
                <a:latin typeface="游ゴシック" pitchFamily="34" charset="0"/>
                <a:ea typeface="游ゴシック" pitchFamily="34" charset="-122"/>
                <a:cs typeface="游ゴシック" pitchFamily="34" charset="-120"/>
              </a:rPr>
              <a:t>列8と列3の同じ区画どうしを比べる。3方位平均の日中平均。上段：吸気温度、下段：吸気温度差</a:t>
            </a:r>
            <a:endParaRPr lang="en-US" sz="1050" dirty="0"/>
          </a:p>
        </p:txBody>
      </p:sp>
      <p:sp>
        <p:nvSpPr>
          <p:cNvPr id="7" name="Text 5"/>
          <p:cNvSpPr txBox="1"/>
          <p:nvPr/>
        </p:nvSpPr>
        <p:spPr>
          <a:xfrm>
            <a:off x="365760" y="1298448"/>
            <a:ext cx="2715768" cy="201168"/>
          </a:xfrm>
          <a:prstGeom prst="rect">
            <a:avLst/>
          </a:prstGeom>
          <a:noFill/>
          <a:ln/>
        </p:spPr>
        <p:txBody>
          <a:bodyPr wrap="square" lIns="0" tIns="0" rIns="0" bIns="0" rtlCol="0" anchor="ctr"/>
          <a:lstStyle/>
          <a:p>
            <a:pPr marL="0" indent="0">
              <a:buNone/>
            </a:pPr>
            <a:r>
              <a:rPr lang="en-US" sz="950" b="1" dirty="0">
                <a:solidFill>
                  <a:srgbClr val="01B8AA"/>
                </a:solidFill>
                <a:latin typeface="游ゴシック" pitchFamily="34" charset="0"/>
                <a:ea typeface="游ゴシック" pitchFamily="34" charset="-122"/>
                <a:cs typeface="游ゴシック" pitchFamily="34" charset="-120"/>
              </a:rPr>
              <a:t>8-1 と 3-1　区画1（左）</a:t>
            </a:r>
            <a:endParaRPr lang="en-US" sz="950" dirty="0"/>
          </a:p>
        </p:txBody>
      </p:sp>
      <p:sp>
        <p:nvSpPr>
          <p:cNvPr id="10" name="Shape 8"/>
          <p:cNvSpPr/>
          <p:nvPr/>
        </p:nvSpPr>
        <p:spPr>
          <a:xfrm>
            <a:off x="365760" y="3986784"/>
            <a:ext cx="2715768" cy="731520"/>
          </a:xfrm>
          <a:prstGeom prst="roundRect">
            <a:avLst>
              <a:gd name="adj" fmla="val 7500"/>
            </a:avLst>
          </a:prstGeom>
          <a:solidFill>
            <a:srgbClr val="FDE8E6"/>
          </a:solidFill>
          <a:ln w="12700">
            <a:solidFill>
              <a:srgbClr val="FDE8E6"/>
            </a:solidFill>
            <a:prstDash val="solid"/>
          </a:ln>
        </p:spPr>
        <p:txBody>
          <a:bodyPr/>
          <a:lstStyle/>
          <a:p>
            <a:endParaRPr lang="ja-JP" altLang="en-US"/>
          </a:p>
        </p:txBody>
      </p:sp>
      <p:sp>
        <p:nvSpPr>
          <p:cNvPr id="11" name="Text 9"/>
          <p:cNvSpPr txBox="1"/>
          <p:nvPr/>
        </p:nvSpPr>
        <p:spPr>
          <a:xfrm>
            <a:off x="502920" y="3986784"/>
            <a:ext cx="2441448" cy="731520"/>
          </a:xfrm>
          <a:prstGeom prst="rect">
            <a:avLst/>
          </a:prstGeom>
          <a:noFill/>
          <a:ln/>
        </p:spPr>
        <p:txBody>
          <a:bodyPr wrap="square" lIns="0" tIns="0" rIns="0" bIns="0" rtlCol="0" anchor="ctr"/>
          <a:lstStyle/>
          <a:p>
            <a:pPr marL="0" indent="0">
              <a:spcAft>
                <a:spcPts val="0"/>
              </a:spcAft>
              <a:buNone/>
            </a:pPr>
            <a:r>
              <a:rPr lang="ja-JP" altLang="en-US" sz="1100" b="1" dirty="0">
                <a:solidFill>
                  <a:srgbClr val="E66C64"/>
                </a:solidFill>
                <a:latin typeface="游ゴシック" pitchFamily="34" charset="0"/>
                <a:ea typeface="游ゴシック" pitchFamily="34" charset="-122"/>
                <a:cs typeface="游ゴシック" pitchFamily="34" charset="-120"/>
              </a:rPr>
              <a:t>高い　</a:t>
            </a:r>
            <a:r>
              <a:rPr lang="ja-JP" altLang="en-US" sz="1100" dirty="0">
                <a:solidFill>
                  <a:srgbClr val="172033"/>
                </a:solidFill>
                <a:latin typeface="游ゴシック" pitchFamily="34" charset="0"/>
                <a:ea typeface="游ゴシック" pitchFamily="34" charset="-122"/>
                <a:cs typeface="游ゴシック" pitchFamily="34" charset="-120"/>
              </a:rPr>
              <a:t>低い日は32日中3日。平均0.63℃高い（95％区間＋0.39〜＋0.85℃）</a:t>
            </a:r>
            <a:endParaRPr lang="ja-JP" altLang="en-US" sz="1100" dirty="0"/>
          </a:p>
        </p:txBody>
      </p:sp>
      <p:sp>
        <p:nvSpPr>
          <p:cNvPr id="12" name="Text 10"/>
          <p:cNvSpPr txBox="1"/>
          <p:nvPr/>
        </p:nvSpPr>
        <p:spPr>
          <a:xfrm>
            <a:off x="3214116" y="1298448"/>
            <a:ext cx="2715768" cy="201168"/>
          </a:xfrm>
          <a:prstGeom prst="rect">
            <a:avLst/>
          </a:prstGeom>
          <a:noFill/>
          <a:ln/>
        </p:spPr>
        <p:txBody>
          <a:bodyPr wrap="square" lIns="0" tIns="0" rIns="0" bIns="0" rtlCol="0" anchor="ctr"/>
          <a:lstStyle/>
          <a:p>
            <a:pPr marL="0" indent="0">
              <a:buNone/>
            </a:pPr>
            <a:r>
              <a:rPr lang="en-US" sz="950" b="1" dirty="0">
                <a:solidFill>
                  <a:srgbClr val="01B8AA"/>
                </a:solidFill>
                <a:latin typeface="游ゴシック" pitchFamily="34" charset="0"/>
                <a:ea typeface="游ゴシック" pitchFamily="34" charset="-122"/>
                <a:cs typeface="游ゴシック" pitchFamily="34" charset="-120"/>
              </a:rPr>
              <a:t>8-2 と 3-2　区画2（中央）</a:t>
            </a:r>
            <a:endParaRPr lang="en-US" sz="950" dirty="0"/>
          </a:p>
        </p:txBody>
      </p:sp>
      <p:sp>
        <p:nvSpPr>
          <p:cNvPr id="15" name="Shape 13"/>
          <p:cNvSpPr/>
          <p:nvPr/>
        </p:nvSpPr>
        <p:spPr>
          <a:xfrm>
            <a:off x="3214116" y="3986784"/>
            <a:ext cx="2715768" cy="731520"/>
          </a:xfrm>
          <a:prstGeom prst="roundRect">
            <a:avLst>
              <a:gd name="adj" fmla="val 7500"/>
            </a:avLst>
          </a:prstGeom>
          <a:solidFill>
            <a:srgbClr val="E4F7F4"/>
          </a:solidFill>
          <a:ln w="12700">
            <a:solidFill>
              <a:srgbClr val="E4F7F4"/>
            </a:solidFill>
            <a:prstDash val="solid"/>
          </a:ln>
        </p:spPr>
        <p:txBody>
          <a:bodyPr/>
          <a:lstStyle/>
          <a:p>
            <a:endParaRPr lang="ja-JP" altLang="en-US"/>
          </a:p>
        </p:txBody>
      </p:sp>
      <p:sp>
        <p:nvSpPr>
          <p:cNvPr id="16" name="Text 14"/>
          <p:cNvSpPr txBox="1"/>
          <p:nvPr/>
        </p:nvSpPr>
        <p:spPr>
          <a:xfrm>
            <a:off x="3351276" y="3986784"/>
            <a:ext cx="2441448" cy="731520"/>
          </a:xfrm>
          <a:prstGeom prst="rect">
            <a:avLst/>
          </a:prstGeom>
          <a:noFill/>
          <a:ln/>
        </p:spPr>
        <p:txBody>
          <a:bodyPr wrap="square" lIns="0" tIns="0" rIns="0" bIns="0" rtlCol="0" anchor="ctr"/>
          <a:lstStyle/>
          <a:p>
            <a:pPr marL="0" indent="0">
              <a:spcAft>
                <a:spcPts val="0"/>
              </a:spcAft>
              <a:buNone/>
            </a:pPr>
            <a:r>
              <a:rPr lang="ja-JP" altLang="en-US" sz="1100" b="1" dirty="0">
                <a:solidFill>
                  <a:srgbClr val="01B8AA"/>
                </a:solidFill>
                <a:latin typeface="游ゴシック" pitchFamily="34" charset="0"/>
                <a:ea typeface="游ゴシック" pitchFamily="34" charset="-122"/>
                <a:cs typeface="游ゴシック" pitchFamily="34" charset="-120"/>
              </a:rPr>
              <a:t>低い　</a:t>
            </a:r>
            <a:r>
              <a:rPr lang="ja-JP" altLang="en-US" sz="1100" dirty="0">
                <a:solidFill>
                  <a:srgbClr val="172033"/>
                </a:solidFill>
                <a:latin typeface="游ゴシック" pitchFamily="34" charset="0"/>
                <a:ea typeface="游ゴシック" pitchFamily="34" charset="-122"/>
                <a:cs typeface="游ゴシック" pitchFamily="34" charset="-120"/>
              </a:rPr>
              <a:t>低い日は32日中26日。平均0.38℃低い（95％区間−0.60〜−0.19℃）</a:t>
            </a:r>
            <a:endParaRPr lang="ja-JP" altLang="en-US" sz="1100" dirty="0"/>
          </a:p>
        </p:txBody>
      </p:sp>
      <p:sp>
        <p:nvSpPr>
          <p:cNvPr id="17" name="Text 15"/>
          <p:cNvSpPr txBox="1"/>
          <p:nvPr/>
        </p:nvSpPr>
        <p:spPr>
          <a:xfrm>
            <a:off x="6062472" y="1298448"/>
            <a:ext cx="2715768" cy="201168"/>
          </a:xfrm>
          <a:prstGeom prst="rect">
            <a:avLst/>
          </a:prstGeom>
          <a:noFill/>
          <a:ln/>
        </p:spPr>
        <p:txBody>
          <a:bodyPr wrap="square" lIns="0" tIns="0" rIns="0" bIns="0" rtlCol="0" anchor="ctr"/>
          <a:lstStyle/>
          <a:p>
            <a:pPr marL="0" indent="0">
              <a:buNone/>
            </a:pPr>
            <a:r>
              <a:rPr lang="en-US" sz="950" b="1" dirty="0">
                <a:solidFill>
                  <a:srgbClr val="01B8AA"/>
                </a:solidFill>
                <a:latin typeface="游ゴシック" pitchFamily="34" charset="0"/>
                <a:ea typeface="游ゴシック" pitchFamily="34" charset="-122"/>
                <a:cs typeface="游ゴシック" pitchFamily="34" charset="-120"/>
              </a:rPr>
              <a:t>8-3 と 3-3　区画3（右）</a:t>
            </a:r>
            <a:endParaRPr lang="en-US" sz="950" dirty="0"/>
          </a:p>
        </p:txBody>
      </p:sp>
      <p:sp>
        <p:nvSpPr>
          <p:cNvPr id="20" name="Shape 18"/>
          <p:cNvSpPr/>
          <p:nvPr/>
        </p:nvSpPr>
        <p:spPr>
          <a:xfrm>
            <a:off x="6062472" y="3986784"/>
            <a:ext cx="2715768" cy="731520"/>
          </a:xfrm>
          <a:prstGeom prst="roundRect">
            <a:avLst>
              <a:gd name="adj" fmla="val 7500"/>
            </a:avLst>
          </a:prstGeom>
          <a:solidFill>
            <a:srgbClr val="E4F7F4"/>
          </a:solidFill>
          <a:ln w="12700">
            <a:solidFill>
              <a:srgbClr val="E4F7F4"/>
            </a:solidFill>
            <a:prstDash val="solid"/>
          </a:ln>
        </p:spPr>
        <p:txBody>
          <a:bodyPr/>
          <a:lstStyle/>
          <a:p>
            <a:endParaRPr lang="ja-JP" altLang="en-US"/>
          </a:p>
        </p:txBody>
      </p:sp>
      <p:sp>
        <p:nvSpPr>
          <p:cNvPr id="21" name="Text 19"/>
          <p:cNvSpPr txBox="1"/>
          <p:nvPr/>
        </p:nvSpPr>
        <p:spPr>
          <a:xfrm>
            <a:off x="6199632" y="3986784"/>
            <a:ext cx="2441448" cy="731520"/>
          </a:xfrm>
          <a:prstGeom prst="rect">
            <a:avLst/>
          </a:prstGeom>
          <a:noFill/>
          <a:ln/>
        </p:spPr>
        <p:txBody>
          <a:bodyPr wrap="square" lIns="0" tIns="0" rIns="0" bIns="0" rtlCol="0" anchor="ctr"/>
          <a:lstStyle/>
          <a:p>
            <a:pPr marL="0" indent="0">
              <a:spcAft>
                <a:spcPts val="0"/>
              </a:spcAft>
              <a:buNone/>
            </a:pPr>
            <a:r>
              <a:rPr lang="ja-JP" altLang="en-US" sz="1100" b="1" dirty="0">
                <a:solidFill>
                  <a:srgbClr val="01B8AA"/>
                </a:solidFill>
                <a:latin typeface="游ゴシック" pitchFamily="34" charset="0"/>
                <a:ea typeface="游ゴシック" pitchFamily="34" charset="-122"/>
                <a:cs typeface="游ゴシック" pitchFamily="34" charset="-120"/>
              </a:rPr>
              <a:t>低い　</a:t>
            </a:r>
            <a:r>
              <a:rPr lang="ja-JP" altLang="en-US" sz="1100" dirty="0">
                <a:solidFill>
                  <a:srgbClr val="172033"/>
                </a:solidFill>
                <a:latin typeface="游ゴシック" pitchFamily="34" charset="0"/>
                <a:ea typeface="游ゴシック" pitchFamily="34" charset="-122"/>
                <a:cs typeface="游ゴシック" pitchFamily="34" charset="-120"/>
              </a:rPr>
              <a:t>低い日は32日中28日。平均0.42℃低い（95％区間−0.63〜−0.24℃）</a:t>
            </a:r>
            <a:endParaRPr lang="ja-JP" altLang="en-US" sz="11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12</a:t>
            </a:fld>
            <a:endParaRPr lang="en-US"/>
          </a:p>
        </p:txBody>
      </p:sp>
      <p:graphicFrame>
        <p:nvGraphicFramePr>
          <p:cNvPr id="26" name="グラフ k8_1_t"/>
          <p:cNvGraphicFramePr>
            <a:graphicFrameLocks noGrp="1"/>
          </p:cNvGraphicFramePr>
          <p:nvPr/>
        </p:nvGraphicFramePr>
        <p:xfrm>
          <a:off x="365760" y="1499616"/>
          <a:ext cx="2715768" cy="12801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7" name="グラフ k8_1_b"/>
          <p:cNvGraphicFramePr>
            <a:graphicFrameLocks noGrp="1"/>
          </p:cNvGraphicFramePr>
          <p:nvPr/>
        </p:nvGraphicFramePr>
        <p:xfrm>
          <a:off x="365760" y="2779776"/>
          <a:ext cx="2715768" cy="1143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8" name="グラフ k8_2_t"/>
          <p:cNvGraphicFramePr>
            <a:graphicFrameLocks noGrp="1"/>
          </p:cNvGraphicFramePr>
          <p:nvPr/>
        </p:nvGraphicFramePr>
        <p:xfrm>
          <a:off x="3214116" y="1499616"/>
          <a:ext cx="2715768" cy="128016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9" name="グラフ k8_2_b"/>
          <p:cNvGraphicFramePr>
            <a:graphicFrameLocks noGrp="1"/>
          </p:cNvGraphicFramePr>
          <p:nvPr/>
        </p:nvGraphicFramePr>
        <p:xfrm>
          <a:off x="3214116" y="2779776"/>
          <a:ext cx="2715768" cy="114300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30" name="グラフ k8_3_t"/>
          <p:cNvGraphicFramePr>
            <a:graphicFrameLocks noGrp="1"/>
          </p:cNvGraphicFramePr>
          <p:nvPr/>
        </p:nvGraphicFramePr>
        <p:xfrm>
          <a:off x="6062472" y="1499616"/>
          <a:ext cx="2715768" cy="128016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31" name="グラフ k8_3_b"/>
          <p:cNvGraphicFramePr>
            <a:graphicFrameLocks noGrp="1"/>
          </p:cNvGraphicFramePr>
          <p:nvPr/>
        </p:nvGraphicFramePr>
        <p:xfrm>
          <a:off x="6062472" y="2779776"/>
          <a:ext cx="2715768" cy="1143000"/>
        </p:xfrm>
        <a:graphic>
          <a:graphicData uri="http://schemas.openxmlformats.org/drawingml/2006/chart">
            <c:chart xmlns:c="http://schemas.openxmlformats.org/drawingml/2006/chart" xmlns:r="http://schemas.openxmlformats.org/officeDocument/2006/relationships" r:id="rId8"/>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分析3：列11の区画ごとの吸気温度</a:t>
            </a:r>
            <a:endParaRPr lang="en-US" sz="2000" dirty="0"/>
          </a:p>
        </p:txBody>
      </p:sp>
      <p:sp>
        <p:nvSpPr>
          <p:cNvPr id="3" name="Shape 1"/>
          <p:cNvSpPr/>
          <p:nvPr/>
        </p:nvSpPr>
        <p:spPr>
          <a:xfrm>
            <a:off x="7726680" y="155448"/>
            <a:ext cx="1097280" cy="274320"/>
          </a:xfrm>
          <a:prstGeom prst="roundRect">
            <a:avLst>
              <a:gd name="adj" fmla="val 26667"/>
            </a:avLst>
          </a:prstGeom>
          <a:solidFill>
            <a:srgbClr val="E66C64"/>
          </a:solidFill>
          <a:ln w="12700">
            <a:solidFill>
              <a:srgbClr val="E66C6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主分析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同じ列11の中で、どの区画の吸気温度が列3より下がっているかを見る</a:t>
            </a:r>
            <a:endParaRPr lang="en-US" sz="1200" dirty="0"/>
          </a:p>
        </p:txBody>
      </p:sp>
      <p:sp>
        <p:nvSpPr>
          <p:cNvPr id="6" name="Text 4"/>
          <p:cNvSpPr txBox="1"/>
          <p:nvPr/>
        </p:nvSpPr>
        <p:spPr>
          <a:xfrm>
            <a:off x="365760" y="987552"/>
            <a:ext cx="8412480" cy="292608"/>
          </a:xfrm>
          <a:prstGeom prst="rect">
            <a:avLst/>
          </a:prstGeom>
          <a:noFill/>
          <a:ln/>
        </p:spPr>
        <p:txBody>
          <a:bodyPr wrap="square" lIns="0" tIns="0" rIns="0" bIns="0" rtlCol="0" anchor="ctr"/>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方法　</a:t>
            </a:r>
            <a:r>
              <a:rPr lang="en-US" sz="1050" dirty="0">
                <a:solidFill>
                  <a:srgbClr val="5E6B7A"/>
                </a:solidFill>
                <a:latin typeface="游ゴシック" pitchFamily="34" charset="0"/>
                <a:ea typeface="游ゴシック" pitchFamily="34" charset="-122"/>
                <a:cs typeface="游ゴシック" pitchFamily="34" charset="-120"/>
              </a:rPr>
              <a:t>列11と列3の同じ区画どうしを比べる。3方位（区画3は2方位）平均の日中平均。上段：吸気温度、下段：吸気温度差</a:t>
            </a:r>
            <a:endParaRPr lang="en-US" sz="1050" dirty="0"/>
          </a:p>
        </p:txBody>
      </p:sp>
      <p:sp>
        <p:nvSpPr>
          <p:cNvPr id="7" name="Text 5"/>
          <p:cNvSpPr txBox="1"/>
          <p:nvPr/>
        </p:nvSpPr>
        <p:spPr>
          <a:xfrm>
            <a:off x="365760" y="1298448"/>
            <a:ext cx="2715768" cy="201168"/>
          </a:xfrm>
          <a:prstGeom prst="rect">
            <a:avLst/>
          </a:prstGeom>
          <a:noFill/>
          <a:ln/>
        </p:spPr>
        <p:txBody>
          <a:bodyPr wrap="square" lIns="0" tIns="0" rIns="0" bIns="0" rtlCol="0" anchor="ctr"/>
          <a:lstStyle/>
          <a:p>
            <a:pPr marL="0" indent="0">
              <a:buNone/>
            </a:pPr>
            <a:r>
              <a:rPr lang="en-US" sz="950" b="1" dirty="0">
                <a:solidFill>
                  <a:srgbClr val="118DFF"/>
                </a:solidFill>
                <a:latin typeface="游ゴシック" pitchFamily="34" charset="0"/>
                <a:ea typeface="游ゴシック" pitchFamily="34" charset="-122"/>
                <a:cs typeface="游ゴシック" pitchFamily="34" charset="-120"/>
              </a:rPr>
              <a:t>11-1 と 3-1　区画1（左）</a:t>
            </a:r>
            <a:endParaRPr lang="en-US" sz="950" dirty="0"/>
          </a:p>
        </p:txBody>
      </p:sp>
      <p:sp>
        <p:nvSpPr>
          <p:cNvPr id="10" name="Shape 8"/>
          <p:cNvSpPr/>
          <p:nvPr/>
        </p:nvSpPr>
        <p:spPr>
          <a:xfrm>
            <a:off x="365760" y="3986784"/>
            <a:ext cx="2715768" cy="731520"/>
          </a:xfrm>
          <a:prstGeom prst="roundRect">
            <a:avLst>
              <a:gd name="adj" fmla="val 7500"/>
            </a:avLst>
          </a:prstGeom>
          <a:solidFill>
            <a:srgbClr val="FDE8E6"/>
          </a:solidFill>
          <a:ln w="12700">
            <a:solidFill>
              <a:srgbClr val="FDE8E6"/>
            </a:solidFill>
            <a:prstDash val="solid"/>
          </a:ln>
        </p:spPr>
        <p:txBody>
          <a:bodyPr/>
          <a:lstStyle/>
          <a:p>
            <a:endParaRPr lang="ja-JP" altLang="en-US"/>
          </a:p>
        </p:txBody>
      </p:sp>
      <p:sp>
        <p:nvSpPr>
          <p:cNvPr id="11" name="Text 9"/>
          <p:cNvSpPr txBox="1"/>
          <p:nvPr/>
        </p:nvSpPr>
        <p:spPr>
          <a:xfrm>
            <a:off x="502920" y="3986784"/>
            <a:ext cx="2441448" cy="731520"/>
          </a:xfrm>
          <a:prstGeom prst="rect">
            <a:avLst/>
          </a:prstGeom>
          <a:noFill/>
          <a:ln/>
        </p:spPr>
        <p:txBody>
          <a:bodyPr wrap="square" lIns="0" tIns="0" rIns="0" bIns="0" rtlCol="0" anchor="ctr"/>
          <a:lstStyle/>
          <a:p>
            <a:pPr marL="0" indent="0">
              <a:spcAft>
                <a:spcPts val="0"/>
              </a:spcAft>
              <a:buNone/>
            </a:pPr>
            <a:r>
              <a:rPr lang="ja-JP" altLang="en-US" sz="1100" b="1" dirty="0">
                <a:solidFill>
                  <a:srgbClr val="E66C64"/>
                </a:solidFill>
                <a:latin typeface="游ゴシック" pitchFamily="34" charset="0"/>
                <a:ea typeface="游ゴシック" pitchFamily="34" charset="-122"/>
                <a:cs typeface="游ゴシック" pitchFamily="34" charset="-120"/>
              </a:rPr>
              <a:t>やや高い　</a:t>
            </a:r>
            <a:r>
              <a:rPr lang="ja-JP" altLang="en-US" sz="1100" dirty="0">
                <a:solidFill>
                  <a:srgbClr val="172033"/>
                </a:solidFill>
                <a:latin typeface="游ゴシック" pitchFamily="34" charset="0"/>
                <a:ea typeface="游ゴシック" pitchFamily="34" charset="-122"/>
                <a:cs typeface="游ゴシック" pitchFamily="34" charset="-120"/>
              </a:rPr>
              <a:t>低い日は32日中9日。平均0.13℃高いが、差は確かでない（区間−0.08〜＋0.29℃）</a:t>
            </a:r>
            <a:endParaRPr lang="ja-JP" altLang="en-US" sz="1100" dirty="0"/>
          </a:p>
        </p:txBody>
      </p:sp>
      <p:sp>
        <p:nvSpPr>
          <p:cNvPr id="12" name="Text 10"/>
          <p:cNvSpPr txBox="1"/>
          <p:nvPr/>
        </p:nvSpPr>
        <p:spPr>
          <a:xfrm>
            <a:off x="3214116" y="1298448"/>
            <a:ext cx="2715768" cy="201168"/>
          </a:xfrm>
          <a:prstGeom prst="rect">
            <a:avLst/>
          </a:prstGeom>
          <a:noFill/>
          <a:ln/>
        </p:spPr>
        <p:txBody>
          <a:bodyPr wrap="square" lIns="0" tIns="0" rIns="0" bIns="0" rtlCol="0" anchor="ctr"/>
          <a:lstStyle/>
          <a:p>
            <a:pPr marL="0" indent="0">
              <a:buNone/>
            </a:pPr>
            <a:r>
              <a:rPr lang="en-US" sz="950" b="1" dirty="0">
                <a:solidFill>
                  <a:srgbClr val="118DFF"/>
                </a:solidFill>
                <a:latin typeface="游ゴシック" pitchFamily="34" charset="0"/>
                <a:ea typeface="游ゴシック" pitchFamily="34" charset="-122"/>
                <a:cs typeface="游ゴシック" pitchFamily="34" charset="-120"/>
              </a:rPr>
              <a:t>11-2 と 3-2　区画2（中央）</a:t>
            </a:r>
            <a:endParaRPr lang="en-US" sz="950" dirty="0"/>
          </a:p>
        </p:txBody>
      </p:sp>
      <p:sp>
        <p:nvSpPr>
          <p:cNvPr id="15" name="Shape 13"/>
          <p:cNvSpPr/>
          <p:nvPr/>
        </p:nvSpPr>
        <p:spPr>
          <a:xfrm>
            <a:off x="3214116" y="3986784"/>
            <a:ext cx="2715768" cy="731520"/>
          </a:xfrm>
          <a:prstGeom prst="roundRect">
            <a:avLst>
              <a:gd name="adj" fmla="val 7500"/>
            </a:avLst>
          </a:prstGeom>
          <a:solidFill>
            <a:srgbClr val="EAF4FF"/>
          </a:solidFill>
          <a:ln w="12700">
            <a:solidFill>
              <a:srgbClr val="EAF4FF"/>
            </a:solidFill>
            <a:prstDash val="solid"/>
          </a:ln>
        </p:spPr>
        <p:txBody>
          <a:bodyPr/>
          <a:lstStyle/>
          <a:p>
            <a:endParaRPr lang="ja-JP" altLang="en-US"/>
          </a:p>
        </p:txBody>
      </p:sp>
      <p:sp>
        <p:nvSpPr>
          <p:cNvPr id="16" name="Text 14"/>
          <p:cNvSpPr txBox="1"/>
          <p:nvPr/>
        </p:nvSpPr>
        <p:spPr>
          <a:xfrm>
            <a:off x="3351276" y="3986784"/>
            <a:ext cx="2441448" cy="731520"/>
          </a:xfrm>
          <a:prstGeom prst="rect">
            <a:avLst/>
          </a:prstGeom>
          <a:noFill/>
          <a:ln/>
        </p:spPr>
        <p:txBody>
          <a:bodyPr wrap="square" lIns="0" tIns="0" rIns="0" bIns="0" rtlCol="0" anchor="ctr"/>
          <a:lstStyle/>
          <a:p>
            <a:pPr marL="0" indent="0">
              <a:spcAft>
                <a:spcPts val="0"/>
              </a:spcAft>
              <a:buNone/>
            </a:pPr>
            <a:r>
              <a:rPr lang="ja-JP" altLang="en-US" sz="1100" b="1" dirty="0">
                <a:solidFill>
                  <a:srgbClr val="118DFF"/>
                </a:solidFill>
                <a:latin typeface="游ゴシック" pitchFamily="34" charset="0"/>
                <a:ea typeface="游ゴシック" pitchFamily="34" charset="-122"/>
                <a:cs typeface="游ゴシック" pitchFamily="34" charset="-120"/>
              </a:rPr>
              <a:t>低い　</a:t>
            </a:r>
            <a:r>
              <a:rPr lang="ja-JP" altLang="en-US" sz="1100" dirty="0">
                <a:solidFill>
                  <a:srgbClr val="172033"/>
                </a:solidFill>
                <a:latin typeface="游ゴシック" pitchFamily="34" charset="0"/>
                <a:ea typeface="游ゴシック" pitchFamily="34" charset="-122"/>
                <a:cs typeface="游ゴシック" pitchFamily="34" charset="-120"/>
              </a:rPr>
              <a:t>32日すべてで低い。平均0.59℃低い（95％区間−0.68〜−0.49℃）</a:t>
            </a:r>
            <a:endParaRPr lang="ja-JP" altLang="en-US" sz="1100" dirty="0"/>
          </a:p>
        </p:txBody>
      </p:sp>
      <p:sp>
        <p:nvSpPr>
          <p:cNvPr id="17" name="Text 15"/>
          <p:cNvSpPr txBox="1"/>
          <p:nvPr/>
        </p:nvSpPr>
        <p:spPr>
          <a:xfrm>
            <a:off x="6062472" y="1298448"/>
            <a:ext cx="2715768" cy="201168"/>
          </a:xfrm>
          <a:prstGeom prst="rect">
            <a:avLst/>
          </a:prstGeom>
          <a:noFill/>
          <a:ln/>
        </p:spPr>
        <p:txBody>
          <a:bodyPr wrap="square" lIns="0" tIns="0" rIns="0" bIns="0" rtlCol="0" anchor="ctr"/>
          <a:lstStyle/>
          <a:p>
            <a:pPr marL="0" indent="0">
              <a:buNone/>
            </a:pPr>
            <a:r>
              <a:rPr lang="en-US" sz="950" b="1" dirty="0">
                <a:solidFill>
                  <a:srgbClr val="118DFF"/>
                </a:solidFill>
                <a:latin typeface="游ゴシック" pitchFamily="34" charset="0"/>
                <a:ea typeface="游ゴシック" pitchFamily="34" charset="-122"/>
                <a:cs typeface="游ゴシック" pitchFamily="34" charset="-120"/>
              </a:rPr>
              <a:t>11-3 と 3-3　区画3（右）</a:t>
            </a:r>
            <a:endParaRPr lang="en-US" sz="950" dirty="0"/>
          </a:p>
        </p:txBody>
      </p:sp>
      <p:sp>
        <p:nvSpPr>
          <p:cNvPr id="20" name="Shape 18"/>
          <p:cNvSpPr/>
          <p:nvPr/>
        </p:nvSpPr>
        <p:spPr>
          <a:xfrm>
            <a:off x="6062472" y="3986784"/>
            <a:ext cx="2715768" cy="731520"/>
          </a:xfrm>
          <a:prstGeom prst="roundRect">
            <a:avLst>
              <a:gd name="adj" fmla="val 7500"/>
            </a:avLst>
          </a:prstGeom>
          <a:solidFill>
            <a:srgbClr val="EAF4FF"/>
          </a:solidFill>
          <a:ln w="12700">
            <a:solidFill>
              <a:srgbClr val="EAF4FF"/>
            </a:solidFill>
            <a:prstDash val="solid"/>
          </a:ln>
        </p:spPr>
        <p:txBody>
          <a:bodyPr/>
          <a:lstStyle/>
          <a:p>
            <a:endParaRPr lang="ja-JP" altLang="en-US"/>
          </a:p>
        </p:txBody>
      </p:sp>
      <p:sp>
        <p:nvSpPr>
          <p:cNvPr id="21" name="Text 19"/>
          <p:cNvSpPr txBox="1"/>
          <p:nvPr/>
        </p:nvSpPr>
        <p:spPr>
          <a:xfrm>
            <a:off x="6199632" y="3986784"/>
            <a:ext cx="2441448" cy="731520"/>
          </a:xfrm>
          <a:prstGeom prst="rect">
            <a:avLst/>
          </a:prstGeom>
          <a:noFill/>
          <a:ln/>
        </p:spPr>
        <p:txBody>
          <a:bodyPr wrap="square" lIns="0" tIns="0" rIns="0" bIns="0" rtlCol="0" anchor="ctr"/>
          <a:lstStyle/>
          <a:p>
            <a:pPr marL="0" indent="0">
              <a:spcAft>
                <a:spcPts val="0"/>
              </a:spcAft>
              <a:buNone/>
            </a:pPr>
            <a:r>
              <a:rPr lang="ja-JP" altLang="en-US" sz="1100" b="1" dirty="0">
                <a:solidFill>
                  <a:srgbClr val="118DFF"/>
                </a:solidFill>
                <a:latin typeface="游ゴシック" pitchFamily="34" charset="0"/>
                <a:ea typeface="游ゴシック" pitchFamily="34" charset="-122"/>
                <a:cs typeface="游ゴシック" pitchFamily="34" charset="-120"/>
              </a:rPr>
              <a:t>低い　</a:t>
            </a:r>
            <a:r>
              <a:rPr lang="ja-JP" altLang="en-US" sz="1100" dirty="0">
                <a:solidFill>
                  <a:srgbClr val="172033"/>
                </a:solidFill>
                <a:latin typeface="游ゴシック" pitchFamily="34" charset="0"/>
                <a:ea typeface="游ゴシック" pitchFamily="34" charset="-122"/>
                <a:cs typeface="游ゴシック" pitchFamily="34" charset="-120"/>
              </a:rPr>
              <a:t>低い日は32日中28日。平均0.36℃低い（95％区間−0.50〜−0.24℃）</a:t>
            </a:r>
            <a:endParaRPr lang="ja-JP" altLang="en-US" sz="11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13</a:t>
            </a:fld>
            <a:endParaRPr lang="en-US"/>
          </a:p>
        </p:txBody>
      </p:sp>
      <p:graphicFrame>
        <p:nvGraphicFramePr>
          <p:cNvPr id="26" name="グラフ k11_1_t"/>
          <p:cNvGraphicFramePr>
            <a:graphicFrameLocks noGrp="1"/>
          </p:cNvGraphicFramePr>
          <p:nvPr/>
        </p:nvGraphicFramePr>
        <p:xfrm>
          <a:off x="365760" y="1499616"/>
          <a:ext cx="2715768" cy="128016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7" name="グラフ k11_1_b"/>
          <p:cNvGraphicFramePr>
            <a:graphicFrameLocks noGrp="1"/>
          </p:cNvGraphicFramePr>
          <p:nvPr/>
        </p:nvGraphicFramePr>
        <p:xfrm>
          <a:off x="365760" y="2779776"/>
          <a:ext cx="2715768" cy="11430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8" name="グラフ k11_2_t"/>
          <p:cNvGraphicFramePr>
            <a:graphicFrameLocks noGrp="1"/>
          </p:cNvGraphicFramePr>
          <p:nvPr/>
        </p:nvGraphicFramePr>
        <p:xfrm>
          <a:off x="3214116" y="1499616"/>
          <a:ext cx="2715768" cy="128016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9" name="グラフ k11_2_b"/>
          <p:cNvGraphicFramePr>
            <a:graphicFrameLocks noGrp="1"/>
          </p:cNvGraphicFramePr>
          <p:nvPr/>
        </p:nvGraphicFramePr>
        <p:xfrm>
          <a:off x="3214116" y="2779776"/>
          <a:ext cx="2715768" cy="11430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30" name="グラフ k11_3_t"/>
          <p:cNvGraphicFramePr>
            <a:graphicFrameLocks noGrp="1"/>
          </p:cNvGraphicFramePr>
          <p:nvPr/>
        </p:nvGraphicFramePr>
        <p:xfrm>
          <a:off x="6062472" y="1499616"/>
          <a:ext cx="2715768" cy="1280160"/>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31" name="グラフ k11_3_b"/>
          <p:cNvGraphicFramePr>
            <a:graphicFrameLocks noGrp="1"/>
          </p:cNvGraphicFramePr>
          <p:nvPr/>
        </p:nvGraphicFramePr>
        <p:xfrm>
          <a:off x="6062472" y="2779776"/>
          <a:ext cx="2715768" cy="1143000"/>
        </p:xfrm>
        <a:graphic>
          <a:graphicData uri="http://schemas.openxmlformats.org/drawingml/2006/chart">
            <c:chart xmlns:c="http://schemas.openxmlformats.org/drawingml/2006/chart" xmlns:r="http://schemas.openxmlformats.org/officeDocument/2006/relationships" r:id="rId9"/>
          </a:graphicData>
        </a:graphic>
      </p:graphicFrame>
    </p:spTree>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分析3（要因）：区画1で吸気温度差が正になる理由</a:t>
            </a:r>
            <a:endParaRPr lang="en-US" sz="2000" dirty="0"/>
          </a:p>
        </p:txBody>
      </p:sp>
      <p:sp>
        <p:nvSpPr>
          <p:cNvPr id="3" name="Shape 1"/>
          <p:cNvSpPr/>
          <p:nvPr/>
        </p:nvSpPr>
        <p:spPr>
          <a:xfrm>
            <a:off x="7726680" y="155448"/>
            <a:ext cx="1097280" cy="274320"/>
          </a:xfrm>
          <a:prstGeom prst="roundRect">
            <a:avLst>
              <a:gd name="adj" fmla="val 26667"/>
            </a:avLst>
          </a:prstGeom>
          <a:solidFill>
            <a:srgbClr val="E66C64"/>
          </a:solidFill>
          <a:ln w="12700">
            <a:solidFill>
              <a:srgbClr val="E66C6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主分析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11-1・8-1（区画1）だけ吸気温度が列3より高くなる理由を、気温・天気・風速・運転状態に分けて確かめる</a:t>
            </a:r>
            <a:endParaRPr lang="en-US" sz="1200" dirty="0"/>
          </a:p>
        </p:txBody>
      </p:sp>
      <p:sp>
        <p:nvSpPr>
          <p:cNvPr id="6" name="Shape 4"/>
          <p:cNvSpPr/>
          <p:nvPr/>
        </p:nvSpPr>
        <p:spPr>
          <a:xfrm>
            <a:off x="365760" y="1005840"/>
            <a:ext cx="8412480" cy="804672"/>
          </a:xfrm>
          <a:prstGeom prst="roundRect">
            <a:avLst>
              <a:gd name="adj" fmla="val 6818"/>
            </a:avLst>
          </a:prstGeom>
          <a:solidFill>
            <a:srgbClr val="E4F7F4"/>
          </a:solidFill>
          <a:ln w="12700">
            <a:solidFill>
              <a:srgbClr val="E4F7F4"/>
            </a:solidFill>
            <a:prstDash val="solid"/>
          </a:ln>
        </p:spPr>
        <p:txBody>
          <a:bodyPr/>
          <a:lstStyle/>
          <a:p>
            <a:endParaRPr lang="ja-JP" altLang="en-US"/>
          </a:p>
        </p:txBody>
      </p:sp>
      <p:sp>
        <p:nvSpPr>
          <p:cNvPr id="7" name="Text 5"/>
          <p:cNvSpPr txBox="1"/>
          <p:nvPr/>
        </p:nvSpPr>
        <p:spPr>
          <a:xfrm>
            <a:off x="502920" y="1033272"/>
            <a:ext cx="8138160" cy="749808"/>
          </a:xfrm>
          <a:prstGeom prst="rect">
            <a:avLst/>
          </a:prstGeom>
          <a:noFill/>
          <a:ln/>
        </p:spPr>
        <p:txBody>
          <a:bodyPr wrap="square" lIns="0" tIns="0" rIns="0" bIns="0" rtlCol="0" anchor="ctr"/>
          <a:lstStyle/>
          <a:p>
            <a:pPr marL="0" indent="0">
              <a:buNone/>
            </a:pPr>
            <a:r>
              <a:rPr lang="en-US" sz="950" b="1" dirty="0">
                <a:solidFill>
                  <a:srgbClr val="22354F"/>
                </a:solidFill>
                <a:latin typeface="游ゴシック" pitchFamily="34" charset="0"/>
                <a:ea typeface="游ゴシック" pitchFamily="34" charset="-122"/>
                <a:cs typeface="游ゴシック" pitchFamily="34" charset="-120"/>
              </a:rPr>
              <a:t>条件別に区画1の吸気温度差を比べる　＋　区画ごとの吸気温度の偏りを分ける</a:t>
            </a:r>
            <a:endParaRPr lang="en-US" sz="950" dirty="0"/>
          </a:p>
          <a:p>
            <a:pPr marL="0" indent="0">
              <a:buNone/>
            </a:pPr>
            <a:r>
              <a:rPr lang="en-US" sz="950" dirty="0">
                <a:solidFill>
                  <a:srgbClr val="172033"/>
                </a:solidFill>
                <a:latin typeface="游ゴシック" pitchFamily="34" charset="0"/>
                <a:ea typeface="游ゴシック" pitchFamily="34" charset="-122"/>
                <a:cs typeface="游ゴシック" pitchFamily="34" charset="-120"/>
              </a:rPr>
              <a:t>1時間平均の吸気温度差（区画1は3方位平均）。条件：屋上の気温3区分、天気（定義はp.17）、屋上の風速区分（p.21）、休日の日中、夜間1〜5時（全台停止）。偏り＝各室外機の吸気温度 − その列の3区画平均（勤務日の日中、282時間）。繁茂率は保留</a:t>
            </a:r>
            <a:endParaRPr lang="en-US" sz="950" dirty="0"/>
          </a:p>
        </p:txBody>
      </p:sp>
      <p:sp>
        <p:nvSpPr>
          <p:cNvPr id="9" name="Text 7"/>
          <p:cNvSpPr txBox="1"/>
          <p:nvPr/>
        </p:nvSpPr>
        <p:spPr>
          <a:xfrm>
            <a:off x="365760" y="4425696"/>
            <a:ext cx="3657600" cy="347472"/>
          </a:xfrm>
          <a:prstGeom prst="rect">
            <a:avLst/>
          </a:prstGeom>
          <a:noFill/>
          <a:ln/>
        </p:spPr>
        <p:txBody>
          <a:bodyPr wrap="square" lIns="0" tIns="0" rIns="0" bIns="0" rtlCol="0" anchor="ctr"/>
          <a:lstStyle/>
          <a:p>
            <a:pPr marL="0" indent="0">
              <a:buNone/>
            </a:pPr>
            <a:r>
              <a:rPr lang="en-US" sz="800" dirty="0">
                <a:solidFill>
                  <a:srgbClr val="5E6B7A"/>
                </a:solidFill>
                <a:latin typeface="游ゴシック" pitchFamily="34" charset="0"/>
                <a:ea typeface="游ゴシック" pitchFamily="34" charset="-122"/>
                <a:cs typeface="游ゴシック" pitchFamily="34" charset="-120"/>
              </a:rPr>
              <a:t>8-1はどの条件でも正（＋0.23〜＋1.00℃）。8-1が止まり3-1だけ運転している時間は−0.39℃（31時間）</a:t>
            </a:r>
            <a:endParaRPr lang="en-US" sz="800" dirty="0"/>
          </a:p>
        </p:txBody>
      </p:sp>
      <p:graphicFrame>
        <p:nvGraphicFramePr>
          <p:cNvPr id="19" name="Table 0"/>
          <p:cNvGraphicFramePr>
            <a:graphicFrameLocks noGrp="1"/>
          </p:cNvGraphicFramePr>
          <p:nvPr>
            <p:extLst>
              <p:ext uri="{D42A27DB-BD31-4B8C-83A1-F6EECF244321}">
                <p14:modId xmlns:p14="http://schemas.microsoft.com/office/powerpoint/2010/main" val="3588576364"/>
              </p:ext>
            </p:extLst>
          </p:nvPr>
        </p:nvGraphicFramePr>
        <p:xfrm>
          <a:off x="4114800" y="1874520"/>
          <a:ext cx="4663440" cy="1316736"/>
        </p:xfrm>
        <a:graphic>
          <a:graphicData uri="http://schemas.openxmlformats.org/drawingml/2006/table">
            <a:tbl>
              <a:tblPr/>
              <a:tblGrid>
                <a:gridCol w="1508760">
                  <a:extLst>
                    <a:ext uri="{9D8B030D-6E8A-4147-A177-3AD203B41FA5}">
                      <a16:colId xmlns:a16="http://schemas.microsoft.com/office/drawing/2014/main" val="30000"/>
                    </a:ext>
                  </a:extLst>
                </a:gridCol>
                <a:gridCol w="1051560">
                  <a:extLst>
                    <a:ext uri="{9D8B030D-6E8A-4147-A177-3AD203B41FA5}">
                      <a16:colId xmlns:a16="http://schemas.microsoft.com/office/drawing/2014/main" val="30001"/>
                    </a:ext>
                  </a:extLst>
                </a:gridCol>
                <a:gridCol w="1051560">
                  <a:extLst>
                    <a:ext uri="{9D8B030D-6E8A-4147-A177-3AD203B41FA5}">
                      <a16:colId xmlns:a16="http://schemas.microsoft.com/office/drawing/2014/main" val="30002"/>
                    </a:ext>
                  </a:extLst>
                </a:gridCol>
                <a:gridCol w="1051560">
                  <a:extLst>
                    <a:ext uri="{9D8B030D-6E8A-4147-A177-3AD203B41FA5}">
                      <a16:colId xmlns:a16="http://schemas.microsoft.com/office/drawing/2014/main" val="30003"/>
                    </a:ext>
                  </a:extLst>
                </a:gridCol>
              </a:tblGrid>
              <a:tr h="329184">
                <a:tc>
                  <a:txBody>
                    <a:bodyPr/>
                    <a:lstStyle/>
                    <a:p>
                      <a:pPr marL="0" indent="0" algn="ctr">
                        <a:buNone/>
                      </a:pPr>
                      <a:r>
                        <a:rPr lang="en-US" sz="950" b="1" dirty="0">
                          <a:solidFill>
                            <a:srgbClr val="FFFFFF"/>
                          </a:solidFill>
                          <a:latin typeface="游ゴシック" pitchFamily="34" charset="0"/>
                          <a:ea typeface="游ゴシック" pitchFamily="34" charset="-122"/>
                          <a:cs typeface="游ゴシック" pitchFamily="34" charset="-120"/>
                        </a:rPr>
                        <a:t>日中の偏り［℃］</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950" b="1" dirty="0">
                          <a:solidFill>
                            <a:srgbClr val="FFFFFF"/>
                          </a:solidFill>
                          <a:latin typeface="游ゴシック" pitchFamily="34" charset="0"/>
                          <a:ea typeface="游ゴシック" pitchFamily="34" charset="-122"/>
                          <a:cs typeface="游ゴシック" pitchFamily="34" charset="-120"/>
                        </a:rPr>
                        <a:t>区画1（左）</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950" b="1" dirty="0">
                          <a:solidFill>
                            <a:srgbClr val="FFFFFF"/>
                          </a:solidFill>
                          <a:latin typeface="游ゴシック" pitchFamily="34" charset="0"/>
                          <a:ea typeface="游ゴシック" pitchFamily="34" charset="-122"/>
                          <a:cs typeface="游ゴシック" pitchFamily="34" charset="-120"/>
                        </a:rPr>
                        <a:t>区画2（中央）</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950" b="1" dirty="0">
                          <a:solidFill>
                            <a:srgbClr val="FFFFFF"/>
                          </a:solidFill>
                          <a:latin typeface="游ゴシック" pitchFamily="34" charset="0"/>
                          <a:ea typeface="游ゴシック" pitchFamily="34" charset="-122"/>
                          <a:cs typeface="游ゴシック" pitchFamily="34" charset="-120"/>
                        </a:rPr>
                        <a:t>区画3（右）</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extLst>
                  <a:ext uri="{0D108BD9-81ED-4DB2-BD59-A6C34878D82A}">
                    <a16:rowId xmlns:a16="http://schemas.microsoft.com/office/drawing/2014/main" val="40000"/>
                  </a:ext>
                </a:extLst>
              </a:tr>
              <a:tr h="329184">
                <a:tc>
                  <a:txBody>
                    <a:bodyPr/>
                    <a:lstStyle/>
                    <a:p>
                      <a:pPr marL="0" indent="0" algn="ctr">
                        <a:buNone/>
                      </a:pPr>
                      <a:r>
                        <a:rPr lang="en-US" sz="850" b="1" dirty="0">
                          <a:solidFill>
                            <a:srgbClr val="172033"/>
                          </a:solidFill>
                          <a:latin typeface="游ゴシック" pitchFamily="34" charset="0"/>
                          <a:ea typeface="游ゴシック" pitchFamily="34" charset="-122"/>
                          <a:cs typeface="游ゴシック" pitchFamily="34" charset="-120"/>
                        </a:rPr>
                        <a:t>列3（なし）</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b="1" dirty="0">
                          <a:solidFill>
                            <a:srgbClr val="118DFF"/>
                          </a:solidFill>
                          <a:latin typeface="游ゴシック" pitchFamily="34" charset="0"/>
                          <a:ea typeface="游ゴシック" pitchFamily="34" charset="-122"/>
                          <a:cs typeface="游ゴシック" pitchFamily="34" charset="-120"/>
                        </a:rPr>
                        <a:t>−0.39</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b="0" dirty="0">
                          <a:solidFill>
                            <a:srgbClr val="172033"/>
                          </a:solidFill>
                          <a:latin typeface="游ゴシック" pitchFamily="34" charset="0"/>
                          <a:ea typeface="游ゴシック" pitchFamily="34" charset="-122"/>
                          <a:cs typeface="游ゴシック" pitchFamily="34" charset="-120"/>
                        </a:rPr>
                        <a:t>＋0.25</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b="0" dirty="0">
                          <a:solidFill>
                            <a:srgbClr val="172033"/>
                          </a:solidFill>
                          <a:latin typeface="游ゴシック" pitchFamily="34" charset="0"/>
                          <a:ea typeface="游ゴシック" pitchFamily="34" charset="-122"/>
                          <a:cs typeface="游ゴシック" pitchFamily="34" charset="-120"/>
                        </a:rPr>
                        <a:t>＋0.14</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40001"/>
                  </a:ext>
                </a:extLst>
              </a:tr>
              <a:tr h="329184">
                <a:tc>
                  <a:txBody>
                    <a:bodyPr/>
                    <a:lstStyle/>
                    <a:p>
                      <a:pPr marL="0" indent="0" algn="ctr">
                        <a:buNone/>
                      </a:pPr>
                      <a:r>
                        <a:rPr lang="en-US" sz="850" b="1" dirty="0">
                          <a:solidFill>
                            <a:srgbClr val="172033"/>
                          </a:solidFill>
                          <a:latin typeface="游ゴシック" pitchFamily="34" charset="0"/>
                          <a:ea typeface="游ゴシック" pitchFamily="34" charset="-122"/>
                          <a:cs typeface="游ゴシック" pitchFamily="34" charset="-120"/>
                        </a:rPr>
                        <a:t>列8（あり）</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b="1" dirty="0">
                          <a:solidFill>
                            <a:srgbClr val="E66C64"/>
                          </a:solidFill>
                          <a:latin typeface="游ゴシック" pitchFamily="34" charset="0"/>
                          <a:ea typeface="游ゴシック" pitchFamily="34" charset="-122"/>
                          <a:cs typeface="游ゴシック" pitchFamily="34" charset="-120"/>
                        </a:rPr>
                        <a:t>＋0.30</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b="0" dirty="0">
                          <a:solidFill>
                            <a:srgbClr val="172033"/>
                          </a:solidFill>
                          <a:latin typeface="游ゴシック" pitchFamily="34" charset="0"/>
                          <a:ea typeface="游ゴシック" pitchFamily="34" charset="-122"/>
                          <a:cs typeface="游ゴシック" pitchFamily="34" charset="-120"/>
                        </a:rPr>
                        <a:t>−0.07</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b="0" dirty="0">
                          <a:solidFill>
                            <a:srgbClr val="172033"/>
                          </a:solidFill>
                          <a:latin typeface="游ゴシック" pitchFamily="34" charset="0"/>
                          <a:ea typeface="游ゴシック" pitchFamily="34" charset="-122"/>
                          <a:cs typeface="游ゴシック" pitchFamily="34" charset="-120"/>
                        </a:rPr>
                        <a:t>−0.23</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40002"/>
                  </a:ext>
                </a:extLst>
              </a:tr>
              <a:tr h="329184">
                <a:tc>
                  <a:txBody>
                    <a:bodyPr/>
                    <a:lstStyle/>
                    <a:p>
                      <a:pPr marL="0" indent="0" algn="ctr">
                        <a:buNone/>
                      </a:pPr>
                      <a:r>
                        <a:rPr lang="en-US" sz="850" b="1" dirty="0">
                          <a:solidFill>
                            <a:srgbClr val="172033"/>
                          </a:solidFill>
                          <a:latin typeface="游ゴシック" pitchFamily="34" charset="0"/>
                          <a:ea typeface="游ゴシック" pitchFamily="34" charset="-122"/>
                          <a:cs typeface="游ゴシック" pitchFamily="34" charset="-120"/>
                        </a:rPr>
                        <a:t>列11（あり）</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b="1" dirty="0">
                          <a:solidFill>
                            <a:srgbClr val="E66C64"/>
                          </a:solidFill>
                          <a:latin typeface="游ゴシック" pitchFamily="34" charset="0"/>
                          <a:ea typeface="游ゴシック" pitchFamily="34" charset="-122"/>
                          <a:cs typeface="游ゴシック" pitchFamily="34" charset="-120"/>
                        </a:rPr>
                        <a:t>＋0.13</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b="0" dirty="0">
                          <a:solidFill>
                            <a:srgbClr val="172033"/>
                          </a:solidFill>
                          <a:latin typeface="游ゴシック" pitchFamily="34" charset="0"/>
                          <a:ea typeface="游ゴシック" pitchFamily="34" charset="-122"/>
                          <a:cs typeface="游ゴシック" pitchFamily="34" charset="-120"/>
                        </a:rPr>
                        <a:t>＋0.06</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b="0" dirty="0">
                          <a:solidFill>
                            <a:srgbClr val="172033"/>
                          </a:solidFill>
                          <a:latin typeface="游ゴシック" pitchFamily="34" charset="0"/>
                          <a:ea typeface="游ゴシック" pitchFamily="34" charset="-122"/>
                          <a:cs typeface="游ゴシック" pitchFamily="34" charset="-120"/>
                        </a:rPr>
                        <a:t>−0.19</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40003"/>
                  </a:ext>
                </a:extLst>
              </a:tr>
            </a:tbl>
          </a:graphicData>
        </a:graphic>
      </p:graphicFrame>
      <p:sp>
        <p:nvSpPr>
          <p:cNvPr id="11" name="Text 8"/>
          <p:cNvSpPr txBox="1"/>
          <p:nvPr/>
        </p:nvSpPr>
        <p:spPr>
          <a:xfrm>
            <a:off x="4160520" y="3767328"/>
            <a:ext cx="4617720" cy="384048"/>
          </a:xfrm>
          <a:prstGeom prst="rect">
            <a:avLst/>
          </a:prstGeom>
          <a:noFill/>
          <a:ln/>
        </p:spPr>
        <p:txBody>
          <a:bodyPr wrap="square" lIns="0" tIns="0" rIns="0" bIns="0" rtlCol="0" anchor="ctr"/>
          <a:lstStyle/>
          <a:p>
            <a:pPr marL="0" indent="0">
              <a:spcAft>
                <a:spcPts val="0"/>
              </a:spcAft>
              <a:buNone/>
            </a:pPr>
            <a:r>
              <a:rPr lang="ja-JP" altLang="en-US" sz="800" dirty="0">
                <a:solidFill>
                  <a:srgbClr val="5E6B7A"/>
                </a:solidFill>
                <a:latin typeface="游ゴシック" pitchFamily="34" charset="0"/>
                <a:ea typeface="游ゴシック" pitchFamily="34" charset="-122"/>
                <a:cs typeface="游ゴシック" pitchFamily="34" charset="-120"/>
              </a:rPr>
              <a:t>8-1の＋0.63℃ ＝ 3-1が列3で低い分（0.39）＋ 8-1が列8で高い分（0.30）− 列どうしの差（0.06）。夜間はどの区画も偏りが0.1℃以内</a:t>
            </a:r>
            <a:endParaRPr lang="ja-JP" altLang="en-US" sz="800" dirty="0"/>
          </a:p>
        </p:txBody>
      </p:sp>
      <p:sp>
        <p:nvSpPr>
          <p:cNvPr id="12" name="Shape 9"/>
          <p:cNvSpPr/>
          <p:nvPr/>
        </p:nvSpPr>
        <p:spPr>
          <a:xfrm>
            <a:off x="4160520" y="4160520"/>
            <a:ext cx="4617720" cy="603504"/>
          </a:xfrm>
          <a:prstGeom prst="roundRect">
            <a:avLst>
              <a:gd name="adj" fmla="val 8219"/>
            </a:avLst>
          </a:prstGeom>
          <a:solidFill>
            <a:srgbClr val="FFF7D1"/>
          </a:solidFill>
          <a:ln w="12700">
            <a:solidFill>
              <a:srgbClr val="FFF7D1"/>
            </a:solidFill>
            <a:prstDash val="solid"/>
          </a:ln>
        </p:spPr>
        <p:txBody>
          <a:bodyPr/>
          <a:lstStyle/>
          <a:p>
            <a:endParaRPr lang="ja-JP" altLang="en-US"/>
          </a:p>
        </p:txBody>
      </p:sp>
      <p:sp>
        <p:nvSpPr>
          <p:cNvPr id="13" name="Text 10"/>
          <p:cNvSpPr txBox="1"/>
          <p:nvPr/>
        </p:nvSpPr>
        <p:spPr>
          <a:xfrm>
            <a:off x="4251960" y="4206240"/>
            <a:ext cx="4434840" cy="548640"/>
          </a:xfrm>
          <a:prstGeom prst="rect">
            <a:avLst/>
          </a:prstGeom>
          <a:noFill/>
          <a:ln/>
        </p:spPr>
        <p:txBody>
          <a:bodyPr wrap="square" lIns="0" tIns="0" rIns="0" bIns="0" rtlCol="0" anchor="ctr"/>
          <a:lstStyle/>
          <a:p>
            <a:pPr marL="0" indent="0">
              <a:spcAft>
                <a:spcPts val="0"/>
              </a:spcAft>
              <a:buNone/>
            </a:pPr>
            <a:r>
              <a:rPr lang="ja-JP" altLang="en-US" sz="950" b="1" dirty="0">
                <a:solidFill>
                  <a:srgbClr val="ED7D31"/>
                </a:solidFill>
                <a:latin typeface="游ゴシック" pitchFamily="34" charset="0"/>
                <a:ea typeface="游ゴシック" pitchFamily="34" charset="-122"/>
                <a:cs typeface="游ゴシック" pitchFamily="34" charset="-120"/>
              </a:rPr>
              <a:t>読み取り　</a:t>
            </a:r>
            <a:r>
              <a:rPr lang="ja-JP" altLang="en-US" sz="950" dirty="0">
                <a:solidFill>
                  <a:srgbClr val="172033"/>
                </a:solidFill>
                <a:latin typeface="游ゴシック" pitchFamily="34" charset="0"/>
                <a:ea typeface="游ゴシック" pitchFamily="34" charset="-122"/>
                <a:cs typeface="游ゴシック" pitchFamily="34" charset="-120"/>
              </a:rPr>
              <a:t>区画1が高いのは、芋緑化側が運転している時間だけに出る位置の差。気温・日射で大きさは変わるが、涼しい時間や雨でも正のまま。区画1まわりの排気の流れ（再吸込み）が候補で、配置図と現地で確かめる</a:t>
            </a:r>
            <a:endParaRPr lang="ja-JP" altLang="en-US" sz="9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14</a:t>
            </a:fld>
            <a:endParaRPr lang="en-US"/>
          </a:p>
        </p:txBody>
      </p:sp>
      <p:graphicFrame>
        <p:nvGraphicFramePr>
          <p:cNvPr id="26" name="グラフ reg"/>
          <p:cNvGraphicFramePr>
            <a:graphicFrameLocks noGrp="1"/>
          </p:cNvGraphicFramePr>
          <p:nvPr/>
        </p:nvGraphicFramePr>
        <p:xfrm>
          <a:off x="365760" y="1810512"/>
          <a:ext cx="3657600" cy="2615184"/>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分析3：区画ごとの吸気温度差の分布と結論</a:t>
            </a:r>
            <a:endParaRPr lang="en-US" sz="2000" dirty="0"/>
          </a:p>
        </p:txBody>
      </p:sp>
      <p:sp>
        <p:nvSpPr>
          <p:cNvPr id="3" name="Shape 1"/>
          <p:cNvSpPr/>
          <p:nvPr/>
        </p:nvSpPr>
        <p:spPr>
          <a:xfrm>
            <a:off x="7726680" y="155448"/>
            <a:ext cx="1097280" cy="274320"/>
          </a:xfrm>
          <a:prstGeom prst="roundRect">
            <a:avLst>
              <a:gd name="adj" fmla="val 26667"/>
            </a:avLst>
          </a:prstGeom>
          <a:solidFill>
            <a:srgbClr val="E66C64"/>
          </a:solidFill>
          <a:ln w="12700">
            <a:solidFill>
              <a:srgbClr val="E66C6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主分析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同じ列の中で、どの区画の吸気温度の低減効果が最も大きいかを確かめる</a:t>
            </a:r>
            <a:endParaRPr lang="en-US" sz="1200" dirty="0"/>
          </a:p>
        </p:txBody>
      </p:sp>
      <p:sp>
        <p:nvSpPr>
          <p:cNvPr id="6" name="Text 4"/>
          <p:cNvSpPr txBox="1"/>
          <p:nvPr/>
        </p:nvSpPr>
        <p:spPr>
          <a:xfrm>
            <a:off x="365760" y="987552"/>
            <a:ext cx="8412480" cy="292608"/>
          </a:xfrm>
          <a:prstGeom prst="rect">
            <a:avLst/>
          </a:prstGeom>
          <a:noFill/>
          <a:ln/>
        </p:spPr>
        <p:txBody>
          <a:bodyPr wrap="square" lIns="0" tIns="0" rIns="0" bIns="0" rtlCol="0" anchor="ctr"/>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方法　</a:t>
            </a:r>
            <a:r>
              <a:rPr lang="en-US" sz="1050" dirty="0">
                <a:solidFill>
                  <a:srgbClr val="5E6B7A"/>
                </a:solidFill>
                <a:latin typeface="游ゴシック" pitchFamily="34" charset="0"/>
                <a:ea typeface="游ゴシック" pitchFamily="34" charset="-122"/>
                <a:cs typeface="游ゴシック" pitchFamily="34" charset="-120"/>
              </a:rPr>
              <a:t>勤務日の日中（9〜17時台）の1時間平均の吸気温度差を、区画ごとに箱ひげ図にした（1つの箱＝約280時間）</a:t>
            </a:r>
            <a:endParaRPr lang="en-US" sz="1050" dirty="0"/>
          </a:p>
        </p:txBody>
      </p:sp>
      <p:sp>
        <p:nvSpPr>
          <p:cNvPr id="7" name="Text 5"/>
          <p:cNvSpPr txBox="1"/>
          <p:nvPr/>
        </p:nvSpPr>
        <p:spPr>
          <a:xfrm>
            <a:off x="365760" y="1600200"/>
            <a:ext cx="5074920" cy="184945"/>
          </a:xfrm>
          <a:prstGeom prst="rect">
            <a:avLst/>
          </a:prstGeom>
          <a:noFill/>
          <a:ln/>
        </p:spPr>
        <p:txBody>
          <a:bodyPr wrap="square" lIns="0" tIns="0" rIns="0" bIns="0" rtlCol="0" anchor="ctr"/>
          <a:lstStyle/>
          <a:p>
            <a:pPr marL="0" indent="0">
              <a:buNone/>
            </a:pPr>
            <a:r>
              <a:rPr lang="en-US" sz="950" b="1" dirty="0">
                <a:solidFill>
                  <a:srgbClr val="01B8AA"/>
                </a:solidFill>
                <a:latin typeface="游ゴシック" pitchFamily="34" charset="0"/>
                <a:ea typeface="游ゴシック" pitchFamily="34" charset="-122"/>
                <a:cs typeface="游ゴシック" pitchFamily="34" charset="-120"/>
              </a:rPr>
              <a:t>列8</a:t>
            </a:r>
            <a:endParaRPr lang="en-US" sz="950" dirty="0"/>
          </a:p>
        </p:txBody>
      </p:sp>
      <p:sp>
        <p:nvSpPr>
          <p:cNvPr id="9" name="Text 7"/>
          <p:cNvSpPr txBox="1"/>
          <p:nvPr/>
        </p:nvSpPr>
        <p:spPr>
          <a:xfrm>
            <a:off x="365760" y="3189044"/>
            <a:ext cx="5074920" cy="184945"/>
          </a:xfrm>
          <a:prstGeom prst="rect">
            <a:avLst/>
          </a:prstGeom>
          <a:noFill/>
          <a:ln/>
        </p:spPr>
        <p:txBody>
          <a:bodyPr wrap="square" lIns="0" tIns="0" rIns="0" bIns="0" rtlCol="0" anchor="ctr"/>
          <a:lstStyle/>
          <a:p>
            <a:pPr marL="0" indent="0">
              <a:buNone/>
            </a:pPr>
            <a:r>
              <a:rPr lang="en-US" sz="950" b="1" dirty="0">
                <a:solidFill>
                  <a:srgbClr val="118DFF"/>
                </a:solidFill>
                <a:latin typeface="游ゴシック" pitchFamily="34" charset="0"/>
                <a:ea typeface="游ゴシック" pitchFamily="34" charset="-122"/>
                <a:cs typeface="游ゴシック" pitchFamily="34" charset="-120"/>
              </a:rPr>
              <a:t>列11</a:t>
            </a:r>
            <a:endParaRPr lang="en-US" sz="950" dirty="0"/>
          </a:p>
        </p:txBody>
      </p:sp>
      <p:sp>
        <p:nvSpPr>
          <p:cNvPr id="11" name="Shape 9"/>
          <p:cNvSpPr/>
          <p:nvPr/>
        </p:nvSpPr>
        <p:spPr>
          <a:xfrm>
            <a:off x="5577840" y="1600200"/>
            <a:ext cx="3200400" cy="2160491"/>
          </a:xfrm>
          <a:prstGeom prst="roundRect">
            <a:avLst>
              <a:gd name="adj" fmla="val 2335"/>
            </a:avLst>
          </a:prstGeom>
          <a:solidFill>
            <a:srgbClr val="EAF4FF"/>
          </a:solidFill>
          <a:ln w="12700">
            <a:solidFill>
              <a:srgbClr val="EAF4FF"/>
            </a:solidFill>
            <a:prstDash val="solid"/>
          </a:ln>
        </p:spPr>
        <p:txBody>
          <a:bodyPr/>
          <a:lstStyle/>
          <a:p>
            <a:endParaRPr lang="ja-JP" altLang="en-US"/>
          </a:p>
        </p:txBody>
      </p:sp>
      <p:sp>
        <p:nvSpPr>
          <p:cNvPr id="12" name="Text 10"/>
          <p:cNvSpPr txBox="1"/>
          <p:nvPr/>
        </p:nvSpPr>
        <p:spPr>
          <a:xfrm>
            <a:off x="5715000" y="1667453"/>
            <a:ext cx="2926080" cy="235384"/>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結果</a:t>
            </a:r>
            <a:endParaRPr lang="en-US" sz="1200" dirty="0"/>
          </a:p>
        </p:txBody>
      </p:sp>
      <p:sp>
        <p:nvSpPr>
          <p:cNvPr id="13" name="Text 11"/>
          <p:cNvSpPr txBox="1"/>
          <p:nvPr/>
        </p:nvSpPr>
        <p:spPr>
          <a:xfrm>
            <a:off x="5715000" y="1936463"/>
            <a:ext cx="2926080" cy="1765382"/>
          </a:xfrm>
          <a:prstGeom prst="rect">
            <a:avLst/>
          </a:prstGeom>
          <a:noFill/>
          <a:ln/>
        </p:spPr>
        <p:txBody>
          <a:bodyPr wrap="square" lIns="0" tIns="0" rIns="0" bIns="0" rtlCol="0" anchor="t"/>
          <a:lstStyle/>
          <a:p>
            <a:pPr marL="152400" indent="-152400">
              <a:spcAft>
                <a:spcPts val="200"/>
              </a:spcAft>
              <a:buSzPct val="100000"/>
              <a:buChar char="•"/>
            </a:pPr>
            <a:r>
              <a:rPr lang="ja-JP" altLang="en-US" sz="1000" dirty="0">
                <a:solidFill>
                  <a:srgbClr val="172033"/>
                </a:solidFill>
                <a:latin typeface="游ゴシック" pitchFamily="34" charset="0"/>
                <a:ea typeface="游ゴシック" pitchFamily="34" charset="-122"/>
                <a:cs typeface="游ゴシック" pitchFamily="34" charset="-120"/>
              </a:rPr>
              <a:t>列8：左の区画1は列3より高い（中央値＋0.62℃、90％の時間で高い）。区画2・3は低い（−0.35・−0.39℃）</a:t>
            </a:r>
            <a:endParaRPr lang="ja-JP" altLang="en-US" sz="1000" dirty="0"/>
          </a:p>
          <a:p>
            <a:pPr marL="152400" indent="-152400">
              <a:spcAft>
                <a:spcPts val="200"/>
              </a:spcAft>
              <a:buSzPct val="100000"/>
              <a:buChar char="•"/>
            </a:pPr>
            <a:r>
              <a:rPr lang="ja-JP" altLang="en-US" sz="1000" dirty="0">
                <a:solidFill>
                  <a:srgbClr val="172033"/>
                </a:solidFill>
                <a:latin typeface="游ゴシック" pitchFamily="34" charset="0"/>
                <a:ea typeface="游ゴシック" pitchFamily="34" charset="-122"/>
                <a:cs typeface="游ゴシック" pitchFamily="34" charset="-120"/>
              </a:rPr>
              <a:t>列11：中央の区画2が最も低い（−0.55℃、92％の時間で低い）。区画3は−0.40℃、区画1は＋0.17℃</a:t>
            </a:r>
            <a:endParaRPr lang="ja-JP" altLang="en-US" sz="1000" dirty="0"/>
          </a:p>
          <a:p>
            <a:pPr marL="152400" indent="-152400">
              <a:spcAft>
                <a:spcPts val="200"/>
              </a:spcAft>
              <a:buSzPct val="100000"/>
              <a:buChar char="•"/>
            </a:pPr>
            <a:r>
              <a:rPr lang="ja-JP" altLang="en-US" sz="1000" dirty="0">
                <a:solidFill>
                  <a:srgbClr val="172033"/>
                </a:solidFill>
                <a:latin typeface="游ゴシック" pitchFamily="34" charset="0"/>
                <a:ea typeface="游ゴシック" pitchFamily="34" charset="-122"/>
                <a:cs typeface="游ゴシック" pitchFamily="34" charset="-120"/>
              </a:rPr>
              <a:t>列11の区画2は区画3より0.22℃低い（区間−0.33〜−0.11）。列8の区画2と3には差がない</a:t>
            </a:r>
            <a:endParaRPr lang="ja-JP" altLang="en-US" sz="1000" dirty="0"/>
          </a:p>
          <a:p>
            <a:pPr marL="152400" indent="-152400">
              <a:spcAft>
                <a:spcPts val="200"/>
              </a:spcAft>
              <a:buSzPct val="100000"/>
              <a:buChar char="•"/>
            </a:pPr>
            <a:r>
              <a:rPr lang="ja-JP" altLang="en-US" sz="1000" dirty="0">
                <a:solidFill>
                  <a:srgbClr val="172033"/>
                </a:solidFill>
                <a:latin typeface="游ゴシック" pitchFamily="34" charset="0"/>
                <a:ea typeface="游ゴシック" pitchFamily="34" charset="-122"/>
                <a:cs typeface="游ゴシック" pitchFamily="34" charset="-120"/>
              </a:rPr>
              <a:t>同じ区画で比べると、どの区画も列8が列11より高い（＋0.12〜＋0.50℃）</a:t>
            </a:r>
            <a:endParaRPr lang="ja-JP" altLang="en-US" sz="1000" dirty="0"/>
          </a:p>
        </p:txBody>
      </p:sp>
      <p:sp>
        <p:nvSpPr>
          <p:cNvPr id="14" name="Shape 12"/>
          <p:cNvSpPr/>
          <p:nvPr/>
        </p:nvSpPr>
        <p:spPr>
          <a:xfrm>
            <a:off x="5577840" y="3844757"/>
            <a:ext cx="3200400" cy="882691"/>
          </a:xfrm>
          <a:prstGeom prst="roundRect">
            <a:avLst>
              <a:gd name="adj" fmla="val 5714"/>
            </a:avLst>
          </a:prstGeom>
          <a:solidFill>
            <a:srgbClr val="FFF7D1"/>
          </a:solidFill>
          <a:ln w="12700">
            <a:solidFill>
              <a:srgbClr val="FFF7D1"/>
            </a:solidFill>
            <a:prstDash val="solid"/>
          </a:ln>
        </p:spPr>
        <p:txBody>
          <a:bodyPr/>
          <a:lstStyle/>
          <a:p>
            <a:endParaRPr lang="ja-JP" altLang="en-US"/>
          </a:p>
        </p:txBody>
      </p:sp>
      <p:sp>
        <p:nvSpPr>
          <p:cNvPr id="15" name="Text 13"/>
          <p:cNvSpPr txBox="1"/>
          <p:nvPr/>
        </p:nvSpPr>
        <p:spPr>
          <a:xfrm>
            <a:off x="5715000" y="3886790"/>
            <a:ext cx="2926080" cy="798625"/>
          </a:xfrm>
          <a:prstGeom prst="rect">
            <a:avLst/>
          </a:prstGeom>
          <a:noFill/>
          <a:ln/>
        </p:spPr>
        <p:txBody>
          <a:bodyPr wrap="square" lIns="0" tIns="0" rIns="0" bIns="0" rtlCol="0" anchor="t"/>
          <a:lstStyle/>
          <a:p>
            <a:pPr marL="0" indent="0">
              <a:spcAft>
                <a:spcPts val="0"/>
              </a:spcAft>
              <a:buNone/>
            </a:pPr>
            <a:r>
              <a:rPr lang="ja-JP" altLang="en-US" sz="950" b="1" dirty="0">
                <a:solidFill>
                  <a:srgbClr val="ED7D31"/>
                </a:solidFill>
                <a:latin typeface="游ゴシック" pitchFamily="34" charset="0"/>
                <a:ea typeface="游ゴシック" pitchFamily="34" charset="-122"/>
                <a:cs typeface="游ゴシック" pitchFamily="34" charset="-120"/>
              </a:rPr>
              <a:t>読み取り</a:t>
            </a:r>
            <a:endParaRPr lang="ja-JP" altLang="en-US" sz="950" dirty="0"/>
          </a:p>
          <a:p>
            <a:pPr marL="0" indent="0">
              <a:spcAft>
                <a:spcPts val="0"/>
              </a:spcAft>
              <a:buNone/>
            </a:pPr>
            <a:r>
              <a:rPr lang="ja-JP" altLang="en-US" sz="950" dirty="0">
                <a:solidFill>
                  <a:srgbClr val="172033"/>
                </a:solidFill>
                <a:latin typeface="游ゴシック" pitchFamily="34" charset="0"/>
                <a:ea typeface="游ゴシック" pitchFamily="34" charset="-122"/>
                <a:cs typeface="游ゴシック" pitchFamily="34" charset="-120"/>
              </a:rPr>
              <a:t>最も低くなるのは、列11は中央の区画2、列8は中央・右の区画2・3。左の区画1は両列とも列3より高い。「中央の列ほど低い」という仮説は支持されない</a:t>
            </a:r>
            <a:endParaRPr lang="ja-JP" altLang="en-US" sz="9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15</a:t>
            </a:fld>
            <a:endParaRPr lang="en-US"/>
          </a:p>
        </p:txBody>
      </p:sp>
      <p:graphicFrame>
        <p:nvGraphicFramePr>
          <p:cNvPr id="26" name="グラフ kbox_8"/>
          <p:cNvGraphicFramePr>
            <a:graphicFrameLocks noGrp="1"/>
          </p:cNvGraphicFramePr>
          <p:nvPr/>
        </p:nvGraphicFramePr>
        <p:xfrm>
          <a:off x="365760" y="1785145"/>
          <a:ext cx="5074920" cy="135345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7" name="グラフ kbox_11"/>
          <p:cNvGraphicFramePr>
            <a:graphicFrameLocks noGrp="1"/>
          </p:cNvGraphicFramePr>
          <p:nvPr/>
        </p:nvGraphicFramePr>
        <p:xfrm>
          <a:off x="365760" y="3373989"/>
          <a:ext cx="5074920" cy="1353459"/>
        </p:xfrm>
        <a:graphic>
          <a:graphicData uri="http://schemas.openxmlformats.org/drawingml/2006/chart">
            <c:chart xmlns:c="http://schemas.openxmlformats.org/drawingml/2006/chart" xmlns:r="http://schemas.openxmlformats.org/officeDocument/2006/relationships" r:id="rId4"/>
          </a:graphicData>
        </a:graphic>
      </p:graphicFrame>
      <p:sp>
        <p:nvSpPr>
          <p:cNvPr id="28" name="求め方 背景"/>
          <p:cNvSpPr/>
          <p:nvPr/>
        </p:nvSpPr>
        <p:spPr>
          <a:xfrm>
            <a:off x="365760" y="1298448"/>
            <a:ext cx="8412480" cy="246888"/>
          </a:xfrm>
          <a:prstGeom prst="roundRect">
            <a:avLst>
              <a:gd name="adj" fmla="val 2532"/>
            </a:avLst>
          </a:prstGeom>
          <a:solidFill>
            <a:srgbClr val="F3F5F8"/>
          </a:solidFill>
          <a:ln w="12700">
            <a:solidFill>
              <a:srgbClr val="F3F5F8"/>
            </a:solidFill>
          </a:ln>
        </p:spPr>
        <p:txBody>
          <a:bodyPr/>
          <a:lstStyle/>
          <a:p>
            <a:endParaRPr lang="ja-JP" altLang="en-US"/>
          </a:p>
        </p:txBody>
      </p:sp>
      <p:sp>
        <p:nvSpPr>
          <p:cNvPr id="29" name="求め方"/>
          <p:cNvSpPr txBox="1"/>
          <p:nvPr/>
        </p:nvSpPr>
        <p:spPr>
          <a:xfrm>
            <a:off x="457200" y="1298448"/>
            <a:ext cx="8229600" cy="246888"/>
          </a:xfrm>
          <a:prstGeom prst="rect">
            <a:avLst/>
          </a:prstGeom>
          <a:noFill/>
          <a:ln/>
        </p:spPr>
        <p:txBody>
          <a:bodyPr wrap="square" lIns="0" tIns="0" rIns="0" bIns="0" rtlCol="0" anchor="ctr"/>
          <a:lstStyle/>
          <a:p>
            <a:pPr marL="0" indent="0">
              <a:spcAft>
                <a:spcPts val="0"/>
              </a:spcAft>
              <a:buNone/>
            </a:pPr>
            <a:r>
              <a:rPr lang="ja-JP" altLang="en-US" sz="1000" b="1" dirty="0">
                <a:solidFill>
                  <a:srgbClr val="118DFF"/>
                </a:solidFill>
                <a:latin typeface="游ゴシック" pitchFamily="34" charset="0"/>
                <a:ea typeface="游ゴシック" pitchFamily="34" charset="-122"/>
                <a:cs typeface="游ゴシック" pitchFamily="34" charset="-120"/>
              </a:rPr>
              <a:t>求め方　</a:t>
            </a:r>
            <a:r>
              <a:rPr lang="ja-JP" altLang="en-US" sz="1000" dirty="0">
                <a:solidFill>
                  <a:srgbClr val="172033"/>
                </a:solidFill>
                <a:latin typeface="游ゴシック" pitchFamily="34" charset="0"/>
                <a:ea typeface="游ゴシック" pitchFamily="34" charset="-122"/>
                <a:cs typeface="游ゴシック" pitchFamily="34" charset="-120"/>
              </a:rPr>
              <a:t>同じ方位の熱電対どうしの差を、区画ごとに3方位（11-3は2方位）平均（1点の代表値ではない）</a:t>
            </a:r>
            <a:endParaRPr lang="ja-JP" alt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分析3（要因）：列11のほうが低減効果が大きい理由</a:t>
            </a:r>
            <a:endParaRPr lang="en-US" sz="2000" dirty="0"/>
          </a:p>
        </p:txBody>
      </p:sp>
      <p:sp>
        <p:nvSpPr>
          <p:cNvPr id="3" name="Shape 1"/>
          <p:cNvSpPr/>
          <p:nvPr/>
        </p:nvSpPr>
        <p:spPr>
          <a:xfrm>
            <a:off x="7726680" y="155448"/>
            <a:ext cx="1097280" cy="274320"/>
          </a:xfrm>
          <a:prstGeom prst="roundRect">
            <a:avLst>
              <a:gd name="adj" fmla="val 26667"/>
            </a:avLst>
          </a:prstGeom>
          <a:solidFill>
            <a:srgbClr val="E66C64"/>
          </a:solidFill>
          <a:ln w="12700">
            <a:solidFill>
              <a:srgbClr val="E66C6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主分析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列8と列11の吸気温度差の違いが、どの区画で、どんな条件のときに生まれるかを調べ、その流れを整理する</a:t>
            </a:r>
            <a:endParaRPr lang="en-US" sz="1200" dirty="0"/>
          </a:p>
        </p:txBody>
      </p:sp>
      <p:sp>
        <p:nvSpPr>
          <p:cNvPr id="6" name="Text 4"/>
          <p:cNvSpPr txBox="1"/>
          <p:nvPr/>
        </p:nvSpPr>
        <p:spPr>
          <a:xfrm>
            <a:off x="365760" y="987552"/>
            <a:ext cx="8412480" cy="292608"/>
          </a:xfrm>
          <a:prstGeom prst="rect">
            <a:avLst/>
          </a:prstGeom>
          <a:noFill/>
          <a:ln/>
        </p:spPr>
        <p:txBody>
          <a:bodyPr wrap="square" lIns="0" tIns="0" rIns="0" bIns="0" rtlCol="0" anchor="ctr"/>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方法　</a:t>
            </a:r>
            <a:r>
              <a:rPr lang="en-US" sz="1050" dirty="0">
                <a:solidFill>
                  <a:srgbClr val="5E6B7A"/>
                </a:solidFill>
                <a:latin typeface="游ゴシック" pitchFamily="34" charset="0"/>
                <a:ea typeface="游ゴシック" pitchFamily="34" charset="-122"/>
                <a:cs typeface="游ゴシック" pitchFamily="34" charset="-120"/>
              </a:rPr>
              <a:t>列8−列11＝同じ区画・方位の熱電対どうしの差（区画3は北側を除く）。勤務日の日中の1時間値。正＝列8が高い</a:t>
            </a:r>
            <a:endParaRPr lang="en-US" sz="1050" dirty="0"/>
          </a:p>
        </p:txBody>
      </p:sp>
      <p:sp>
        <p:nvSpPr>
          <p:cNvPr id="7" name="Text 5"/>
          <p:cNvSpPr txBox="1"/>
          <p:nvPr/>
        </p:nvSpPr>
        <p:spPr>
          <a:xfrm>
            <a:off x="365760" y="1600200"/>
            <a:ext cx="5074920" cy="184945"/>
          </a:xfrm>
          <a:prstGeom prst="rect">
            <a:avLst/>
          </a:prstGeom>
          <a:noFill/>
          <a:ln/>
        </p:spPr>
        <p:txBody>
          <a:bodyPr wrap="square" lIns="0" tIns="0" rIns="0" bIns="0" rtlCol="0" anchor="ctr"/>
          <a:lstStyle/>
          <a:p>
            <a:pPr marL="0" indent="0">
              <a:buNone/>
            </a:pPr>
            <a:r>
              <a:rPr lang="en-US" sz="950" b="1" dirty="0">
                <a:solidFill>
                  <a:srgbClr val="01B8AA"/>
                </a:solidFill>
                <a:latin typeface="游ゴシック" pitchFamily="34" charset="0"/>
                <a:ea typeface="游ゴシック" pitchFamily="34" charset="-122"/>
                <a:cs typeface="游ゴシック" pitchFamily="34" charset="-120"/>
              </a:rPr>
              <a:t>区画ごとの差（列8−列11）</a:t>
            </a:r>
            <a:endParaRPr lang="en-US" sz="950" dirty="0"/>
          </a:p>
        </p:txBody>
      </p:sp>
      <p:sp>
        <p:nvSpPr>
          <p:cNvPr id="9" name="Text 7"/>
          <p:cNvSpPr txBox="1"/>
          <p:nvPr/>
        </p:nvSpPr>
        <p:spPr>
          <a:xfrm>
            <a:off x="365760" y="3189044"/>
            <a:ext cx="5074920" cy="184945"/>
          </a:xfrm>
          <a:prstGeom prst="rect">
            <a:avLst/>
          </a:prstGeom>
          <a:noFill/>
          <a:ln/>
        </p:spPr>
        <p:txBody>
          <a:bodyPr wrap="square" lIns="0" tIns="0" rIns="0" bIns="0" rtlCol="0" anchor="ctr"/>
          <a:lstStyle/>
          <a:p>
            <a:pPr marL="0" indent="0">
              <a:buNone/>
            </a:pPr>
            <a:r>
              <a:rPr lang="en-US" sz="950" b="1" dirty="0">
                <a:solidFill>
                  <a:srgbClr val="118DFF"/>
                </a:solidFill>
                <a:latin typeface="游ゴシック" pitchFamily="34" charset="0"/>
                <a:ea typeface="游ゴシック" pitchFamily="34" charset="-122"/>
                <a:cs typeface="游ゴシック" pitchFamily="34" charset="-120"/>
              </a:rPr>
              <a:t>照度ごとの差（列8−列11、全体）</a:t>
            </a:r>
            <a:endParaRPr lang="en-US" sz="950" dirty="0"/>
          </a:p>
        </p:txBody>
      </p:sp>
      <p:sp>
        <p:nvSpPr>
          <p:cNvPr id="11" name="Shape 9"/>
          <p:cNvSpPr/>
          <p:nvPr/>
        </p:nvSpPr>
        <p:spPr>
          <a:xfrm>
            <a:off x="5577840" y="1600200"/>
            <a:ext cx="3200400" cy="2118458"/>
          </a:xfrm>
          <a:prstGeom prst="roundRect">
            <a:avLst>
              <a:gd name="adj" fmla="val 2381"/>
            </a:avLst>
          </a:prstGeom>
          <a:solidFill>
            <a:srgbClr val="EAF4FF"/>
          </a:solidFill>
          <a:ln w="12700">
            <a:solidFill>
              <a:srgbClr val="EAF4FF"/>
            </a:solidFill>
            <a:prstDash val="solid"/>
          </a:ln>
        </p:spPr>
        <p:txBody>
          <a:bodyPr/>
          <a:lstStyle/>
          <a:p>
            <a:endParaRPr lang="ja-JP" altLang="en-US"/>
          </a:p>
        </p:txBody>
      </p:sp>
      <p:sp>
        <p:nvSpPr>
          <p:cNvPr id="12" name="Text 10"/>
          <p:cNvSpPr txBox="1"/>
          <p:nvPr/>
        </p:nvSpPr>
        <p:spPr>
          <a:xfrm>
            <a:off x="5715000" y="1667453"/>
            <a:ext cx="2926080" cy="235384"/>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結果</a:t>
            </a:r>
            <a:endParaRPr lang="en-US" sz="1200" dirty="0"/>
          </a:p>
        </p:txBody>
      </p:sp>
      <p:sp>
        <p:nvSpPr>
          <p:cNvPr id="13" name="Text 11"/>
          <p:cNvSpPr txBox="1"/>
          <p:nvPr/>
        </p:nvSpPr>
        <p:spPr>
          <a:xfrm>
            <a:off x="5715000" y="1936463"/>
            <a:ext cx="2926080" cy="1723349"/>
          </a:xfrm>
          <a:prstGeom prst="rect">
            <a:avLst/>
          </a:prstGeom>
          <a:noFill/>
          <a:ln/>
        </p:spPr>
        <p:txBody>
          <a:bodyPr wrap="square" lIns="0" tIns="0" rIns="0" bIns="0" rtlCol="0" anchor="t"/>
          <a:lstStyle/>
          <a:p>
            <a:pPr marL="152400" indent="-152400">
              <a:spcAft>
                <a:spcPts val="300"/>
              </a:spcAft>
              <a:buSzPct val="100000"/>
              <a:buChar char="•"/>
            </a:pPr>
            <a:r>
              <a:rPr lang="ja-JP" altLang="en-US" sz="1050" dirty="0">
                <a:solidFill>
                  <a:srgbClr val="172033"/>
                </a:solidFill>
                <a:latin typeface="游ゴシック" pitchFamily="34" charset="0"/>
                <a:ea typeface="游ゴシック" pitchFamily="34" charset="-122"/>
                <a:cs typeface="游ゴシック" pitchFamily="34" charset="-120"/>
              </a:rPr>
              <a:t>差は平均0.20℃（95％区間0.09〜0.30）。区画1が0.50℃で最も大きく、全体の約6割</a:t>
            </a:r>
            <a:endParaRPr lang="ja-JP" altLang="en-US" sz="1050" dirty="0"/>
          </a:p>
          <a:p>
            <a:pPr marL="152400" indent="-152400">
              <a:spcAft>
                <a:spcPts val="300"/>
              </a:spcAft>
              <a:buSzPct val="100000"/>
              <a:buChar char="•"/>
            </a:pPr>
            <a:r>
              <a:rPr lang="ja-JP" altLang="en-US" sz="1050" dirty="0">
                <a:solidFill>
                  <a:srgbClr val="172033"/>
                </a:solidFill>
                <a:latin typeface="游ゴシック" pitchFamily="34" charset="0"/>
                <a:ea typeface="游ゴシック" pitchFamily="34" charset="-122"/>
                <a:cs typeface="游ゴシック" pitchFamily="34" charset="-120"/>
              </a:rPr>
              <a:t>照度2万lx未満では0.06℃、8万lx以上では0.48℃。日射が強いほど差が開く</a:t>
            </a:r>
            <a:endParaRPr lang="ja-JP" altLang="en-US" sz="1050" dirty="0"/>
          </a:p>
          <a:p>
            <a:pPr marL="152400" indent="-152400">
              <a:spcAft>
                <a:spcPts val="300"/>
              </a:spcAft>
              <a:buSzPct val="100000"/>
              <a:buChar char="•"/>
            </a:pPr>
            <a:r>
              <a:rPr lang="ja-JP" altLang="en-US" sz="1050" dirty="0">
                <a:solidFill>
                  <a:srgbClr val="172033"/>
                </a:solidFill>
                <a:latin typeface="游ゴシック" pitchFamily="34" charset="0"/>
                <a:ea typeface="游ゴシック" pitchFamily="34" charset="-122"/>
                <a:cs typeface="游ゴシック" pitchFamily="34" charset="-120"/>
              </a:rPr>
              <a:t>回帰でも照度（1万lxで＋0.03℃）と気温が効き、風速・雨は効かない</a:t>
            </a:r>
            <a:endParaRPr lang="ja-JP" altLang="en-US" sz="1050" dirty="0"/>
          </a:p>
          <a:p>
            <a:pPr marL="152400" indent="-152400">
              <a:spcAft>
                <a:spcPts val="300"/>
              </a:spcAft>
              <a:buSzPct val="100000"/>
              <a:buChar char="•"/>
            </a:pPr>
            <a:r>
              <a:rPr lang="ja-JP" altLang="en-US" sz="1050" dirty="0">
                <a:solidFill>
                  <a:srgbClr val="172033"/>
                </a:solidFill>
                <a:latin typeface="游ゴシック" pitchFamily="34" charset="0"/>
                <a:ea typeface="游ゴシック" pitchFamily="34" charset="-122"/>
                <a:cs typeface="游ゴシック" pitchFamily="34" charset="-120"/>
              </a:rPr>
              <a:t>通路の風速は列8側が列3側の約6割。下層の葉の温度は列8が列11より0.4℃高く、日射が強いほど差が開く</a:t>
            </a:r>
            <a:endParaRPr lang="ja-JP" altLang="en-US" sz="1050" dirty="0"/>
          </a:p>
        </p:txBody>
      </p:sp>
      <p:sp>
        <p:nvSpPr>
          <p:cNvPr id="14" name="Shape 12"/>
          <p:cNvSpPr/>
          <p:nvPr/>
        </p:nvSpPr>
        <p:spPr>
          <a:xfrm>
            <a:off x="5577840" y="3802724"/>
            <a:ext cx="3200400" cy="924724"/>
          </a:xfrm>
          <a:prstGeom prst="roundRect">
            <a:avLst>
              <a:gd name="adj" fmla="val 5455"/>
            </a:avLst>
          </a:prstGeom>
          <a:solidFill>
            <a:srgbClr val="FFF7D1"/>
          </a:solidFill>
          <a:ln w="12700">
            <a:solidFill>
              <a:srgbClr val="FFF7D1"/>
            </a:solidFill>
            <a:prstDash val="solid"/>
          </a:ln>
        </p:spPr>
        <p:txBody>
          <a:bodyPr/>
          <a:lstStyle/>
          <a:p>
            <a:endParaRPr lang="ja-JP" altLang="en-US"/>
          </a:p>
        </p:txBody>
      </p:sp>
      <p:sp>
        <p:nvSpPr>
          <p:cNvPr id="15" name="Text 13"/>
          <p:cNvSpPr txBox="1"/>
          <p:nvPr/>
        </p:nvSpPr>
        <p:spPr>
          <a:xfrm>
            <a:off x="5715000" y="3844757"/>
            <a:ext cx="2926080" cy="840658"/>
          </a:xfrm>
          <a:prstGeom prst="rect">
            <a:avLst/>
          </a:prstGeom>
          <a:noFill/>
          <a:ln/>
        </p:spPr>
        <p:txBody>
          <a:bodyPr wrap="square" lIns="0" tIns="0" rIns="0" bIns="0" rtlCol="0" anchor="t"/>
          <a:lstStyle/>
          <a:p>
            <a:pPr marL="0" indent="0">
              <a:spcAft>
                <a:spcPts val="0"/>
              </a:spcAft>
              <a:buNone/>
            </a:pPr>
            <a:r>
              <a:rPr lang="ja-JP" altLang="en-US" sz="1050" b="1" dirty="0">
                <a:solidFill>
                  <a:srgbClr val="ED7D31"/>
                </a:solidFill>
                <a:latin typeface="游ゴシック" pitchFamily="34" charset="0"/>
                <a:ea typeface="游ゴシック" pitchFamily="34" charset="-122"/>
                <a:cs typeface="游ゴシック" pitchFamily="34" charset="-120"/>
              </a:rPr>
              <a:t>考えられる流れ</a:t>
            </a:r>
            <a:endParaRPr lang="ja-JP" altLang="en-US" sz="1050" dirty="0"/>
          </a:p>
          <a:p>
            <a:pPr marL="0" indent="0">
              <a:spcAft>
                <a:spcPts val="0"/>
              </a:spcAft>
              <a:buNone/>
            </a:pPr>
            <a:r>
              <a:rPr lang="ja-JP" altLang="en-US" sz="1050" dirty="0">
                <a:solidFill>
                  <a:srgbClr val="172033"/>
                </a:solidFill>
                <a:latin typeface="游ゴシック" pitchFamily="34" charset="0"/>
                <a:ea typeface="游ゴシック" pitchFamily="34" charset="-122"/>
                <a:cs typeface="游ゴシック" pitchFamily="34" charset="-120"/>
              </a:rPr>
              <a:t>日射が強い → 中央の列8は通路の風が弱く、温まった空気や排熱が抜けにくい → 吸気温度が上がり、晴れた時間に低減効果が消える。外側の列11は日射が強くても列3より低い（列11の風は未計測）</a:t>
            </a:r>
            <a:endParaRPr lang="ja-JP" altLang="en-US" sz="10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16</a:t>
            </a:fld>
            <a:endParaRPr lang="en-US"/>
          </a:p>
        </p:txBody>
      </p:sp>
      <p:graphicFrame>
        <p:nvGraphicFramePr>
          <p:cNvPr id="26" name="グラフ tcls_8"/>
          <p:cNvGraphicFramePr>
            <a:graphicFrameLocks noGrp="1"/>
          </p:cNvGraphicFramePr>
          <p:nvPr/>
        </p:nvGraphicFramePr>
        <p:xfrm>
          <a:off x="365760" y="1785145"/>
          <a:ext cx="5074920" cy="135345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7" name="グラフ tcls_11"/>
          <p:cNvGraphicFramePr>
            <a:graphicFrameLocks noGrp="1"/>
          </p:cNvGraphicFramePr>
          <p:nvPr/>
        </p:nvGraphicFramePr>
        <p:xfrm>
          <a:off x="365760" y="3373989"/>
          <a:ext cx="5074920" cy="1353459"/>
        </p:xfrm>
        <a:graphic>
          <a:graphicData uri="http://schemas.openxmlformats.org/drawingml/2006/chart">
            <c:chart xmlns:c="http://schemas.openxmlformats.org/drawingml/2006/chart" xmlns:r="http://schemas.openxmlformats.org/officeDocument/2006/relationships" r:id="rId5"/>
          </a:graphicData>
        </a:graphic>
      </p:graphicFrame>
      <p:sp>
        <p:nvSpPr>
          <p:cNvPr id="28" name="求め方 背景"/>
          <p:cNvSpPr/>
          <p:nvPr/>
        </p:nvSpPr>
        <p:spPr>
          <a:xfrm>
            <a:off x="365760" y="1298448"/>
            <a:ext cx="8412480" cy="246888"/>
          </a:xfrm>
          <a:prstGeom prst="roundRect">
            <a:avLst>
              <a:gd name="adj" fmla="val 2532"/>
            </a:avLst>
          </a:prstGeom>
          <a:solidFill>
            <a:srgbClr val="F3F5F8"/>
          </a:solidFill>
          <a:ln w="12700">
            <a:solidFill>
              <a:srgbClr val="F3F5F8"/>
            </a:solidFill>
          </a:ln>
        </p:spPr>
        <p:txBody>
          <a:bodyPr/>
          <a:lstStyle/>
          <a:p>
            <a:endParaRPr lang="ja-JP" altLang="en-US"/>
          </a:p>
        </p:txBody>
      </p:sp>
      <p:sp>
        <p:nvSpPr>
          <p:cNvPr id="29" name="求め方"/>
          <p:cNvSpPr txBox="1"/>
          <p:nvPr/>
        </p:nvSpPr>
        <p:spPr>
          <a:xfrm>
            <a:off x="457200" y="1298448"/>
            <a:ext cx="8229600" cy="246888"/>
          </a:xfrm>
          <a:prstGeom prst="rect">
            <a:avLst/>
          </a:prstGeom>
          <a:noFill/>
          <a:ln/>
        </p:spPr>
        <p:txBody>
          <a:bodyPr wrap="square" lIns="0" tIns="0" rIns="0" bIns="0" rtlCol="0" anchor="ctr"/>
          <a:lstStyle/>
          <a:p>
            <a:pPr marL="0" indent="0">
              <a:spcAft>
                <a:spcPts val="0"/>
              </a:spcAft>
              <a:buNone/>
            </a:pPr>
            <a:r>
              <a:rPr lang="ja-JP" altLang="en-US" sz="1000" b="1" dirty="0">
                <a:solidFill>
                  <a:srgbClr val="118DFF"/>
                </a:solidFill>
                <a:latin typeface="游ゴシック" pitchFamily="34" charset="0"/>
                <a:ea typeface="游ゴシック" pitchFamily="34" charset="-122"/>
                <a:cs typeface="游ゴシック" pitchFamily="34" charset="-120"/>
              </a:rPr>
              <a:t>求め方　</a:t>
            </a:r>
            <a:r>
              <a:rPr lang="ja-JP" altLang="en-US" sz="1000" dirty="0">
                <a:solidFill>
                  <a:srgbClr val="172033"/>
                </a:solidFill>
                <a:latin typeface="游ゴシック" pitchFamily="34" charset="0"/>
                <a:ea typeface="游ゴシック" pitchFamily="34" charset="-122"/>
                <a:cs typeface="游ゴシック" pitchFamily="34" charset="-120"/>
              </a:rPr>
              <a:t>上段：区画ごと、下段：屋上の照度（日射の強さ）ごと。箱：四分位、白線：中央値。照度と日射量の相関は0.99（8/29以降）</a:t>
            </a:r>
            <a:endParaRPr lang="ja-JP" altLang="en-US" sz="1000" dirty="0"/>
          </a:p>
        </p:txBody>
      </p:sp>
    </p:spTree>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分析4：天気と吸気温度差の関係（日ごとの推移）</a:t>
            </a:r>
            <a:endParaRPr lang="en-US" sz="2000" dirty="0"/>
          </a:p>
        </p:txBody>
      </p:sp>
      <p:sp>
        <p:nvSpPr>
          <p:cNvPr id="3" name="Shape 1"/>
          <p:cNvSpPr/>
          <p:nvPr/>
        </p:nvSpPr>
        <p:spPr>
          <a:xfrm>
            <a:off x="7726680" y="155448"/>
            <a:ext cx="1097280" cy="274320"/>
          </a:xfrm>
          <a:prstGeom prst="roundRect">
            <a:avLst>
              <a:gd name="adj" fmla="val 26667"/>
            </a:avLst>
          </a:prstGeom>
          <a:solidFill>
            <a:srgbClr val="8E5BC4"/>
          </a:solidFill>
          <a:ln w="12700">
            <a:solidFill>
              <a:srgbClr val="8E5BC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補足分析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天気によって吸気温度差がどう違うかを、日ごとの推移で一目で見る</a:t>
            </a:r>
            <a:endParaRPr lang="en-US" sz="1200" dirty="0"/>
          </a:p>
        </p:txBody>
      </p:sp>
      <p:sp>
        <p:nvSpPr>
          <p:cNvPr id="6" name="Text 4"/>
          <p:cNvSpPr txBox="1"/>
          <p:nvPr/>
        </p:nvSpPr>
        <p:spPr>
          <a:xfrm>
            <a:off x="365760" y="987552"/>
            <a:ext cx="8412480" cy="292608"/>
          </a:xfrm>
          <a:prstGeom prst="rect">
            <a:avLst/>
          </a:prstGeom>
          <a:noFill/>
          <a:ln/>
        </p:spPr>
        <p:txBody>
          <a:bodyPr wrap="square" lIns="0" tIns="0" rIns="0" bIns="0" rtlCol="0" anchor="ctr"/>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方法　</a:t>
            </a:r>
            <a:r>
              <a:rPr lang="en-US" sz="1050" dirty="0">
                <a:solidFill>
                  <a:srgbClr val="5E6B7A"/>
                </a:solidFill>
                <a:latin typeface="游ゴシック" pitchFamily="34" charset="0"/>
                <a:ea typeface="游ゴシック" pitchFamily="34" charset="-122"/>
                <a:cs typeface="游ゴシック" pitchFamily="34" charset="-120"/>
              </a:rPr>
              <a:t>上段：日中平均の吸気温度、中段：吸気温度差、下段：その日の天気。横軸の日付は3段で共通</a:t>
            </a:r>
            <a:endParaRPr lang="en-US" sz="1050" dirty="0"/>
          </a:p>
        </p:txBody>
      </p:sp>
      <p:sp>
        <p:nvSpPr>
          <p:cNvPr id="18" name="Shape 16"/>
          <p:cNvSpPr/>
          <p:nvPr/>
        </p:nvSpPr>
        <p:spPr>
          <a:xfrm>
            <a:off x="5989320" y="1298448"/>
            <a:ext cx="2788920" cy="1298448"/>
          </a:xfrm>
          <a:prstGeom prst="roundRect">
            <a:avLst>
              <a:gd name="adj" fmla="val 4225"/>
            </a:avLst>
          </a:prstGeom>
          <a:solidFill>
            <a:srgbClr val="E4F7F4"/>
          </a:solidFill>
          <a:ln w="12700">
            <a:solidFill>
              <a:srgbClr val="E4F7F4"/>
            </a:solidFill>
            <a:prstDash val="solid"/>
          </a:ln>
        </p:spPr>
        <p:txBody>
          <a:bodyPr/>
          <a:lstStyle/>
          <a:p>
            <a:endParaRPr lang="ja-JP" altLang="en-US"/>
          </a:p>
        </p:txBody>
      </p:sp>
      <p:sp>
        <p:nvSpPr>
          <p:cNvPr id="19" name="Text 17"/>
          <p:cNvSpPr txBox="1"/>
          <p:nvPr/>
        </p:nvSpPr>
        <p:spPr>
          <a:xfrm>
            <a:off x="6126480" y="1371600"/>
            <a:ext cx="251460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天気の判定（日中9〜18時）</a:t>
            </a:r>
            <a:endParaRPr lang="en-US" sz="1200" dirty="0"/>
          </a:p>
        </p:txBody>
      </p:sp>
      <p:sp>
        <p:nvSpPr>
          <p:cNvPr id="20" name="Text 18"/>
          <p:cNvSpPr txBox="1"/>
          <p:nvPr/>
        </p:nvSpPr>
        <p:spPr>
          <a:xfrm>
            <a:off x="6126480" y="1664208"/>
            <a:ext cx="2514600" cy="868680"/>
          </a:xfrm>
          <a:prstGeom prst="rect">
            <a:avLst/>
          </a:prstGeom>
          <a:noFill/>
          <a:ln/>
        </p:spPr>
        <p:txBody>
          <a:bodyPr wrap="square" lIns="0" tIns="0" rIns="0" bIns="0" rtlCol="0" anchor="t"/>
          <a:lstStyle/>
          <a:p>
            <a:pPr marL="152400" indent="-152400">
              <a:spcAft>
                <a:spcPts val="300"/>
              </a:spcAft>
              <a:buSzPct val="100000"/>
              <a:buChar char="•"/>
            </a:pPr>
            <a:r>
              <a:rPr lang="en-US" sz="850" dirty="0">
                <a:solidFill>
                  <a:srgbClr val="172033"/>
                </a:solidFill>
                <a:latin typeface="游ゴシック" pitchFamily="34" charset="0"/>
                <a:ea typeface="游ゴシック" pitchFamily="34" charset="-122"/>
                <a:cs typeface="游ゴシック" pitchFamily="34" charset="-120"/>
              </a:rPr>
              <a:t>雨：雨量1mm以上</a:t>
            </a:r>
            <a:endParaRPr lang="en-US" sz="850" dirty="0"/>
          </a:p>
          <a:p>
            <a:pPr marL="152400" indent="-152400">
              <a:spcAft>
                <a:spcPts val="300"/>
              </a:spcAft>
              <a:buSzPct val="100000"/>
              <a:buChar char="•"/>
            </a:pPr>
            <a:r>
              <a:rPr lang="en-US" sz="850" dirty="0">
                <a:solidFill>
                  <a:srgbClr val="172033"/>
                </a:solidFill>
                <a:latin typeface="游ゴシック" pitchFamily="34" charset="0"/>
                <a:ea typeface="游ゴシック" pitchFamily="34" charset="-122"/>
                <a:cs typeface="游ゴシック" pitchFamily="34" charset="-120"/>
              </a:rPr>
              <a:t>晴れ：照度比0.7以上、曇り：0.7未満</a:t>
            </a:r>
            <a:endParaRPr lang="en-US" sz="850" dirty="0"/>
          </a:p>
          <a:p>
            <a:pPr marL="152400" indent="-152400">
              <a:spcAft>
                <a:spcPts val="300"/>
              </a:spcAft>
              <a:buSzPct val="100000"/>
              <a:buChar char="•"/>
            </a:pPr>
            <a:r>
              <a:rPr lang="en-US" sz="850" dirty="0">
                <a:solidFill>
                  <a:srgbClr val="172033"/>
                </a:solidFill>
                <a:latin typeface="游ゴシック" pitchFamily="34" charset="0"/>
                <a:ea typeface="游ゴシック" pitchFamily="34" charset="-122"/>
                <a:cs typeface="游ゴシック" pitchFamily="34" charset="-120"/>
              </a:rPr>
              <a:t>照度比＝その日の平均照度÷勤務日で平均照度が最も高い3日間の平均（屋上の照度計）</a:t>
            </a:r>
            <a:endParaRPr lang="en-US" sz="850" dirty="0"/>
          </a:p>
        </p:txBody>
      </p:sp>
      <p:sp>
        <p:nvSpPr>
          <p:cNvPr id="21" name="Shape 19"/>
          <p:cNvSpPr/>
          <p:nvPr/>
        </p:nvSpPr>
        <p:spPr>
          <a:xfrm>
            <a:off x="5989320" y="2670048"/>
            <a:ext cx="2788920" cy="1234440"/>
          </a:xfrm>
          <a:prstGeom prst="roundRect">
            <a:avLst>
              <a:gd name="adj" fmla="val 4444"/>
            </a:avLst>
          </a:prstGeom>
          <a:solidFill>
            <a:srgbClr val="EAF4FF"/>
          </a:solidFill>
          <a:ln w="12700">
            <a:solidFill>
              <a:srgbClr val="EAF4FF"/>
            </a:solidFill>
            <a:prstDash val="solid"/>
          </a:ln>
        </p:spPr>
        <p:txBody>
          <a:bodyPr/>
          <a:lstStyle/>
          <a:p>
            <a:endParaRPr lang="ja-JP" altLang="en-US"/>
          </a:p>
        </p:txBody>
      </p:sp>
      <p:sp>
        <p:nvSpPr>
          <p:cNvPr id="22" name="Text 20"/>
          <p:cNvSpPr txBox="1"/>
          <p:nvPr/>
        </p:nvSpPr>
        <p:spPr>
          <a:xfrm>
            <a:off x="6126480" y="2743200"/>
            <a:ext cx="251460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結果（勤務日）</a:t>
            </a:r>
            <a:endParaRPr lang="en-US" sz="1200" dirty="0"/>
          </a:p>
        </p:txBody>
      </p:sp>
      <p:sp>
        <p:nvSpPr>
          <p:cNvPr id="23" name="Text 21"/>
          <p:cNvSpPr txBox="1"/>
          <p:nvPr/>
        </p:nvSpPr>
        <p:spPr>
          <a:xfrm>
            <a:off x="6126480" y="3035808"/>
            <a:ext cx="2514600" cy="804672"/>
          </a:xfrm>
          <a:prstGeom prst="rect">
            <a:avLst/>
          </a:prstGeom>
          <a:noFill/>
          <a:ln/>
        </p:spPr>
        <p:txBody>
          <a:bodyPr wrap="square" lIns="0" tIns="0" rIns="0" bIns="0" rtlCol="0" anchor="t"/>
          <a:lstStyle/>
          <a:p>
            <a:pPr marL="152400" indent="-152400">
              <a:spcAft>
                <a:spcPts val="200"/>
              </a:spcAft>
              <a:buSzPct val="100000"/>
              <a:buChar char="•"/>
            </a:pPr>
            <a:r>
              <a:rPr lang="ja-JP" altLang="en-US" sz="850" dirty="0">
                <a:solidFill>
                  <a:srgbClr val="172033"/>
                </a:solidFill>
                <a:latin typeface="游ゴシック" pitchFamily="34" charset="0"/>
                <a:ea typeface="游ゴシック" pitchFamily="34" charset="-122"/>
                <a:cs typeface="游ゴシック" pitchFamily="34" charset="-120"/>
              </a:rPr>
              <a:t>晴れ（15日）：列8＋0.22℃、列11−0.13℃</a:t>
            </a:r>
            <a:endParaRPr lang="ja-JP" altLang="en-US" sz="850" dirty="0"/>
          </a:p>
          <a:p>
            <a:pPr marL="152400" indent="-152400">
              <a:spcAft>
                <a:spcPts val="200"/>
              </a:spcAft>
              <a:buSzPct val="100000"/>
              <a:buChar char="•"/>
            </a:pPr>
            <a:r>
              <a:rPr lang="ja-JP" altLang="en-US" sz="850" dirty="0">
                <a:solidFill>
                  <a:srgbClr val="172033"/>
                </a:solidFill>
                <a:latin typeface="游ゴシック" pitchFamily="34" charset="0"/>
                <a:ea typeface="游ゴシック" pitchFamily="34" charset="-122"/>
                <a:cs typeface="游ゴシック" pitchFamily="34" charset="-120"/>
              </a:rPr>
              <a:t>曇り（8日）：列8−0.28℃、列11−0.30℃</a:t>
            </a:r>
            <a:endParaRPr lang="ja-JP" altLang="en-US" sz="850" dirty="0"/>
          </a:p>
          <a:p>
            <a:pPr marL="152400" indent="-152400">
              <a:spcAft>
                <a:spcPts val="200"/>
              </a:spcAft>
              <a:buSzPct val="100000"/>
              <a:buChar char="•"/>
            </a:pPr>
            <a:r>
              <a:rPr lang="ja-JP" altLang="en-US" sz="850" dirty="0">
                <a:solidFill>
                  <a:srgbClr val="172033"/>
                </a:solidFill>
                <a:latin typeface="游ゴシック" pitchFamily="34" charset="0"/>
                <a:ea typeface="游ゴシック" pitchFamily="34" charset="-122"/>
                <a:cs typeface="游ゴシック" pitchFamily="34" charset="-120"/>
              </a:rPr>
              <a:t>雨（8日）：列8−0.37℃、列11−0.46℃</a:t>
            </a:r>
            <a:endParaRPr lang="ja-JP" altLang="en-US" sz="850" dirty="0"/>
          </a:p>
        </p:txBody>
      </p:sp>
      <p:sp>
        <p:nvSpPr>
          <p:cNvPr id="24" name="Shape 22"/>
          <p:cNvSpPr/>
          <p:nvPr/>
        </p:nvSpPr>
        <p:spPr>
          <a:xfrm>
            <a:off x="5989320" y="3977640"/>
            <a:ext cx="2788920" cy="749808"/>
          </a:xfrm>
          <a:prstGeom prst="roundRect">
            <a:avLst>
              <a:gd name="adj" fmla="val 7317"/>
            </a:avLst>
          </a:prstGeom>
          <a:solidFill>
            <a:srgbClr val="FFF7D1"/>
          </a:solidFill>
          <a:ln w="12700">
            <a:solidFill>
              <a:srgbClr val="FFF7D1"/>
            </a:solidFill>
            <a:prstDash val="solid"/>
          </a:ln>
        </p:spPr>
        <p:txBody>
          <a:bodyPr/>
          <a:lstStyle/>
          <a:p>
            <a:endParaRPr lang="ja-JP" altLang="en-US"/>
          </a:p>
        </p:txBody>
      </p:sp>
      <p:sp>
        <p:nvSpPr>
          <p:cNvPr id="25" name="Text 23"/>
          <p:cNvSpPr txBox="1"/>
          <p:nvPr/>
        </p:nvSpPr>
        <p:spPr>
          <a:xfrm>
            <a:off x="6080760" y="3995928"/>
            <a:ext cx="2606040" cy="713232"/>
          </a:xfrm>
          <a:prstGeom prst="rect">
            <a:avLst/>
          </a:prstGeom>
          <a:noFill/>
          <a:ln/>
        </p:spPr>
        <p:txBody>
          <a:bodyPr wrap="square" lIns="0" tIns="0" rIns="0" bIns="0" rtlCol="0" anchor="ctr"/>
          <a:lstStyle/>
          <a:p>
            <a:pPr marL="0" indent="0">
              <a:spcAft>
                <a:spcPts val="0"/>
              </a:spcAft>
              <a:buNone/>
            </a:pPr>
            <a:r>
              <a:rPr lang="ja-JP" altLang="en-US" sz="900" b="1" dirty="0">
                <a:solidFill>
                  <a:srgbClr val="ED7D31"/>
                </a:solidFill>
                <a:latin typeface="游ゴシック" pitchFamily="34" charset="0"/>
                <a:ea typeface="游ゴシック" pitchFamily="34" charset="-122"/>
                <a:cs typeface="游ゴシック" pitchFamily="34" charset="-120"/>
              </a:rPr>
              <a:t>読み取り　</a:t>
            </a:r>
            <a:r>
              <a:rPr lang="ja-JP" altLang="en-US" sz="900" dirty="0">
                <a:solidFill>
                  <a:srgbClr val="172033"/>
                </a:solidFill>
                <a:latin typeface="游ゴシック" pitchFamily="34" charset="0"/>
                <a:ea typeface="游ゴシック" pitchFamily="34" charset="-122"/>
                <a:cs typeface="游ゴシック" pitchFamily="34" charset="-120"/>
              </a:rPr>
              <a:t>晴れが続いた8月中旬〜下旬は、列8が列3より高い。曇り・雨が多い9月は、両列とも列3より低い</a:t>
            </a:r>
            <a:endParaRPr lang="ja-JP" altLang="en-US" sz="900" dirty="0"/>
          </a:p>
        </p:txBody>
      </p:sp>
      <p:sp>
        <p:nvSpPr>
          <p:cNvPr id="7"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17</a:t>
            </a:fld>
            <a:endParaRPr lang="en-US"/>
          </a:p>
        </p:txBody>
      </p:sp>
      <p:graphicFrame>
        <p:nvGraphicFramePr>
          <p:cNvPr id="26" name="グラフ wx_t"/>
          <p:cNvGraphicFramePr>
            <a:graphicFrameLocks noGrp="1"/>
          </p:cNvGraphicFramePr>
          <p:nvPr/>
        </p:nvGraphicFramePr>
        <p:xfrm>
          <a:off x="365760" y="1298448"/>
          <a:ext cx="5486400" cy="129844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7" name="グラフ wx_m"/>
          <p:cNvGraphicFramePr>
            <a:graphicFrameLocks noGrp="1"/>
          </p:cNvGraphicFramePr>
          <p:nvPr/>
        </p:nvGraphicFramePr>
        <p:xfrm>
          <a:off x="365760" y="2596896"/>
          <a:ext cx="5486400" cy="117043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8" name="グラフ wx_b"/>
          <p:cNvGraphicFramePr>
            <a:graphicFrameLocks noGrp="1"/>
          </p:cNvGraphicFramePr>
          <p:nvPr/>
        </p:nvGraphicFramePr>
        <p:xfrm>
          <a:off x="365760" y="3767328"/>
          <a:ext cx="5486400" cy="749808"/>
        </p:xfrm>
        <a:graphic>
          <a:graphicData uri="http://schemas.openxmlformats.org/drawingml/2006/chart">
            <c:chart xmlns:c="http://schemas.openxmlformats.org/drawingml/2006/chart" xmlns:r="http://schemas.openxmlformats.org/officeDocument/2006/relationships" r:id="rId5"/>
          </a:graphicData>
        </a:graphic>
      </p:graphicFrame>
      <p:sp>
        <p:nvSpPr>
          <p:cNvPr id="29" name="凡例 晴れ"/>
          <p:cNvSpPr/>
          <p:nvPr/>
        </p:nvSpPr>
        <p:spPr>
          <a:xfrm>
            <a:off x="685800" y="4572000"/>
            <a:ext cx="146304" cy="128016"/>
          </a:xfrm>
          <a:prstGeom prst="rect">
            <a:avLst/>
          </a:prstGeom>
          <a:solidFill>
            <a:srgbClr val="E66C64"/>
          </a:solidFill>
          <a:ln w="12700">
            <a:solidFill>
              <a:srgbClr val="E66C64"/>
            </a:solidFill>
          </a:ln>
        </p:spPr>
        <p:txBody>
          <a:bodyPr/>
          <a:lstStyle/>
          <a:p>
            <a:endParaRPr lang="ja-JP" altLang="en-US"/>
          </a:p>
        </p:txBody>
      </p:sp>
      <p:sp>
        <p:nvSpPr>
          <p:cNvPr id="30" name="凡例文字 晴れ"/>
          <p:cNvSpPr txBox="1"/>
          <p:nvPr/>
        </p:nvSpPr>
        <p:spPr>
          <a:xfrm>
            <a:off x="877824" y="4535424"/>
            <a:ext cx="356616" cy="201168"/>
          </a:xfrm>
          <a:prstGeom prst="rect">
            <a:avLst/>
          </a:prstGeom>
          <a:noFill/>
          <a:ln/>
        </p:spPr>
        <p:txBody>
          <a:bodyPr wrap="square" lIns="0" tIns="0" rIns="0" bIns="0" rtlCol="0" anchor="ctr"/>
          <a:lstStyle/>
          <a:p>
            <a:pPr marL="0" indent="0">
              <a:spcAft>
                <a:spcPts val="0"/>
              </a:spcAft>
              <a:buNone/>
            </a:pPr>
            <a:r>
              <a:rPr lang="ja-JP" altLang="en-US" sz="900" dirty="0">
                <a:solidFill>
                  <a:srgbClr val="5E6B7A"/>
                </a:solidFill>
                <a:latin typeface="游ゴシック" pitchFamily="34" charset="0"/>
                <a:ea typeface="游ゴシック" pitchFamily="34" charset="-122"/>
                <a:cs typeface="游ゴシック" pitchFamily="34" charset="-120"/>
              </a:rPr>
              <a:t>晴れ</a:t>
            </a:r>
            <a:endParaRPr lang="ja-JP" altLang="en-US" sz="900" dirty="0"/>
          </a:p>
        </p:txBody>
      </p:sp>
      <p:sp>
        <p:nvSpPr>
          <p:cNvPr id="31" name="凡例 晴れ（休日）"/>
          <p:cNvSpPr/>
          <p:nvPr/>
        </p:nvSpPr>
        <p:spPr>
          <a:xfrm>
            <a:off x="1243584" y="4572000"/>
            <a:ext cx="146304" cy="128016"/>
          </a:xfrm>
          <a:prstGeom prst="rect">
            <a:avLst/>
          </a:prstGeom>
          <a:solidFill>
            <a:srgbClr val="F6C3BF"/>
          </a:solidFill>
          <a:ln w="12700">
            <a:solidFill>
              <a:srgbClr val="F6C3BF"/>
            </a:solidFill>
          </a:ln>
        </p:spPr>
        <p:txBody>
          <a:bodyPr/>
          <a:lstStyle/>
          <a:p>
            <a:endParaRPr lang="ja-JP" altLang="en-US"/>
          </a:p>
        </p:txBody>
      </p:sp>
      <p:sp>
        <p:nvSpPr>
          <p:cNvPr id="32" name="凡例文字 晴れ（休日）"/>
          <p:cNvSpPr txBox="1"/>
          <p:nvPr/>
        </p:nvSpPr>
        <p:spPr>
          <a:xfrm>
            <a:off x="1435608" y="4535424"/>
            <a:ext cx="850392" cy="201168"/>
          </a:xfrm>
          <a:prstGeom prst="rect">
            <a:avLst/>
          </a:prstGeom>
          <a:noFill/>
          <a:ln/>
        </p:spPr>
        <p:txBody>
          <a:bodyPr wrap="square" lIns="0" tIns="0" rIns="0" bIns="0" rtlCol="0" anchor="ctr"/>
          <a:lstStyle/>
          <a:p>
            <a:pPr marL="0" indent="0">
              <a:spcAft>
                <a:spcPts val="0"/>
              </a:spcAft>
              <a:buNone/>
            </a:pPr>
            <a:r>
              <a:rPr lang="ja-JP" altLang="en-US" sz="900" dirty="0">
                <a:solidFill>
                  <a:srgbClr val="5E6B7A"/>
                </a:solidFill>
                <a:latin typeface="游ゴシック" pitchFamily="34" charset="0"/>
                <a:ea typeface="游ゴシック" pitchFamily="34" charset="-122"/>
                <a:cs typeface="游ゴシック" pitchFamily="34" charset="-120"/>
              </a:rPr>
              <a:t>晴れ（休日）</a:t>
            </a:r>
            <a:endParaRPr lang="ja-JP" altLang="en-US" sz="900" dirty="0"/>
          </a:p>
        </p:txBody>
      </p:sp>
      <p:sp>
        <p:nvSpPr>
          <p:cNvPr id="33" name="凡例 曇り"/>
          <p:cNvSpPr/>
          <p:nvPr/>
        </p:nvSpPr>
        <p:spPr>
          <a:xfrm>
            <a:off x="2295144" y="4572000"/>
            <a:ext cx="146304" cy="128016"/>
          </a:xfrm>
          <a:prstGeom prst="rect">
            <a:avLst/>
          </a:prstGeom>
          <a:solidFill>
            <a:srgbClr val="8A949E"/>
          </a:solidFill>
          <a:ln w="12700">
            <a:solidFill>
              <a:srgbClr val="8A949E"/>
            </a:solidFill>
          </a:ln>
        </p:spPr>
        <p:txBody>
          <a:bodyPr/>
          <a:lstStyle/>
          <a:p>
            <a:endParaRPr lang="ja-JP" altLang="en-US"/>
          </a:p>
        </p:txBody>
      </p:sp>
      <p:sp>
        <p:nvSpPr>
          <p:cNvPr id="34" name="凡例文字 曇り"/>
          <p:cNvSpPr txBox="1"/>
          <p:nvPr/>
        </p:nvSpPr>
        <p:spPr>
          <a:xfrm>
            <a:off x="2487168" y="4535424"/>
            <a:ext cx="356616" cy="201168"/>
          </a:xfrm>
          <a:prstGeom prst="rect">
            <a:avLst/>
          </a:prstGeom>
          <a:noFill/>
          <a:ln/>
        </p:spPr>
        <p:txBody>
          <a:bodyPr wrap="square" lIns="0" tIns="0" rIns="0" bIns="0" rtlCol="0" anchor="ctr"/>
          <a:lstStyle/>
          <a:p>
            <a:pPr marL="0" indent="0">
              <a:spcAft>
                <a:spcPts val="0"/>
              </a:spcAft>
              <a:buNone/>
            </a:pPr>
            <a:r>
              <a:rPr lang="ja-JP" altLang="en-US" sz="900" dirty="0">
                <a:solidFill>
                  <a:srgbClr val="5E6B7A"/>
                </a:solidFill>
                <a:latin typeface="游ゴシック" pitchFamily="34" charset="0"/>
                <a:ea typeface="游ゴシック" pitchFamily="34" charset="-122"/>
                <a:cs typeface="游ゴシック" pitchFamily="34" charset="-120"/>
              </a:rPr>
              <a:t>曇り</a:t>
            </a:r>
            <a:endParaRPr lang="ja-JP" altLang="en-US" sz="900" dirty="0"/>
          </a:p>
        </p:txBody>
      </p:sp>
      <p:sp>
        <p:nvSpPr>
          <p:cNvPr id="35" name="凡例 曇り（休日）"/>
          <p:cNvSpPr/>
          <p:nvPr/>
        </p:nvSpPr>
        <p:spPr>
          <a:xfrm>
            <a:off x="2852928" y="4572000"/>
            <a:ext cx="146304" cy="128016"/>
          </a:xfrm>
          <a:prstGeom prst="rect">
            <a:avLst/>
          </a:prstGeom>
          <a:solidFill>
            <a:srgbClr val="D3D8DD"/>
          </a:solidFill>
          <a:ln w="12700">
            <a:solidFill>
              <a:srgbClr val="D3D8DD"/>
            </a:solidFill>
          </a:ln>
        </p:spPr>
        <p:txBody>
          <a:bodyPr/>
          <a:lstStyle/>
          <a:p>
            <a:endParaRPr lang="ja-JP" altLang="en-US"/>
          </a:p>
        </p:txBody>
      </p:sp>
      <p:sp>
        <p:nvSpPr>
          <p:cNvPr id="36" name="凡例文字 曇り（休日）"/>
          <p:cNvSpPr txBox="1"/>
          <p:nvPr/>
        </p:nvSpPr>
        <p:spPr>
          <a:xfrm>
            <a:off x="3044952" y="4535424"/>
            <a:ext cx="850392" cy="201168"/>
          </a:xfrm>
          <a:prstGeom prst="rect">
            <a:avLst/>
          </a:prstGeom>
          <a:noFill/>
          <a:ln/>
        </p:spPr>
        <p:txBody>
          <a:bodyPr wrap="square" lIns="0" tIns="0" rIns="0" bIns="0" rtlCol="0" anchor="ctr"/>
          <a:lstStyle/>
          <a:p>
            <a:pPr marL="0" indent="0">
              <a:spcAft>
                <a:spcPts val="0"/>
              </a:spcAft>
              <a:buNone/>
            </a:pPr>
            <a:r>
              <a:rPr lang="ja-JP" altLang="en-US" sz="900" dirty="0">
                <a:solidFill>
                  <a:srgbClr val="5E6B7A"/>
                </a:solidFill>
                <a:latin typeface="游ゴシック" pitchFamily="34" charset="0"/>
                <a:ea typeface="游ゴシック" pitchFamily="34" charset="-122"/>
                <a:cs typeface="游ゴシック" pitchFamily="34" charset="-120"/>
              </a:rPr>
              <a:t>曇り（休日）</a:t>
            </a:r>
            <a:endParaRPr lang="ja-JP" altLang="en-US" sz="900" dirty="0"/>
          </a:p>
        </p:txBody>
      </p:sp>
      <p:sp>
        <p:nvSpPr>
          <p:cNvPr id="37" name="凡例 雨"/>
          <p:cNvSpPr/>
          <p:nvPr/>
        </p:nvSpPr>
        <p:spPr>
          <a:xfrm>
            <a:off x="3904488" y="4572000"/>
            <a:ext cx="146304" cy="128016"/>
          </a:xfrm>
          <a:prstGeom prst="rect">
            <a:avLst/>
          </a:prstGeom>
          <a:solidFill>
            <a:srgbClr val="118DFF"/>
          </a:solidFill>
          <a:ln w="12700">
            <a:solidFill>
              <a:srgbClr val="118DFF"/>
            </a:solidFill>
          </a:ln>
        </p:spPr>
        <p:txBody>
          <a:bodyPr/>
          <a:lstStyle/>
          <a:p>
            <a:endParaRPr lang="ja-JP" altLang="en-US"/>
          </a:p>
        </p:txBody>
      </p:sp>
      <p:sp>
        <p:nvSpPr>
          <p:cNvPr id="38" name="凡例文字 雨"/>
          <p:cNvSpPr txBox="1"/>
          <p:nvPr/>
        </p:nvSpPr>
        <p:spPr>
          <a:xfrm>
            <a:off x="4096512" y="4535424"/>
            <a:ext cx="233172" cy="201168"/>
          </a:xfrm>
          <a:prstGeom prst="rect">
            <a:avLst/>
          </a:prstGeom>
          <a:noFill/>
          <a:ln/>
        </p:spPr>
        <p:txBody>
          <a:bodyPr wrap="square" lIns="0" tIns="0" rIns="0" bIns="0" rtlCol="0" anchor="ctr"/>
          <a:lstStyle/>
          <a:p>
            <a:pPr marL="0" indent="0">
              <a:spcAft>
                <a:spcPts val="0"/>
              </a:spcAft>
              <a:buNone/>
            </a:pPr>
            <a:r>
              <a:rPr lang="ja-JP" altLang="en-US" sz="900" dirty="0">
                <a:solidFill>
                  <a:srgbClr val="5E6B7A"/>
                </a:solidFill>
                <a:latin typeface="游ゴシック" pitchFamily="34" charset="0"/>
                <a:ea typeface="游ゴシック" pitchFamily="34" charset="-122"/>
                <a:cs typeface="游ゴシック" pitchFamily="34" charset="-120"/>
              </a:rPr>
              <a:t>雨</a:t>
            </a:r>
            <a:endParaRPr lang="ja-JP" altLang="en-US" sz="900" dirty="0"/>
          </a:p>
        </p:txBody>
      </p:sp>
      <p:sp>
        <p:nvSpPr>
          <p:cNvPr id="39" name="凡例 雨（休日）"/>
          <p:cNvSpPr/>
          <p:nvPr/>
        </p:nvSpPr>
        <p:spPr>
          <a:xfrm>
            <a:off x="4338828" y="4572000"/>
            <a:ext cx="146304" cy="128016"/>
          </a:xfrm>
          <a:prstGeom prst="rect">
            <a:avLst/>
          </a:prstGeom>
          <a:solidFill>
            <a:srgbClr val="A8D3FF"/>
          </a:solidFill>
          <a:ln w="12700">
            <a:solidFill>
              <a:srgbClr val="A8D3FF"/>
            </a:solidFill>
          </a:ln>
        </p:spPr>
        <p:txBody>
          <a:bodyPr/>
          <a:lstStyle/>
          <a:p>
            <a:endParaRPr lang="ja-JP" altLang="en-US"/>
          </a:p>
        </p:txBody>
      </p:sp>
      <p:sp>
        <p:nvSpPr>
          <p:cNvPr id="40" name="凡例文字 雨（休日）"/>
          <p:cNvSpPr txBox="1"/>
          <p:nvPr/>
        </p:nvSpPr>
        <p:spPr>
          <a:xfrm>
            <a:off x="4530852" y="4535424"/>
            <a:ext cx="726948" cy="201168"/>
          </a:xfrm>
          <a:prstGeom prst="rect">
            <a:avLst/>
          </a:prstGeom>
          <a:noFill/>
          <a:ln/>
        </p:spPr>
        <p:txBody>
          <a:bodyPr wrap="square" lIns="0" tIns="0" rIns="0" bIns="0" rtlCol="0" anchor="ctr"/>
          <a:lstStyle/>
          <a:p>
            <a:pPr marL="0" indent="0">
              <a:spcAft>
                <a:spcPts val="0"/>
              </a:spcAft>
              <a:buNone/>
            </a:pPr>
            <a:r>
              <a:rPr lang="ja-JP" altLang="en-US" sz="900" dirty="0">
                <a:solidFill>
                  <a:srgbClr val="5E6B7A"/>
                </a:solidFill>
                <a:latin typeface="游ゴシック" pitchFamily="34" charset="0"/>
                <a:ea typeface="游ゴシック" pitchFamily="34" charset="-122"/>
                <a:cs typeface="游ゴシック" pitchFamily="34" charset="-120"/>
              </a:rPr>
              <a:t>雨（休日）</a:t>
            </a:r>
            <a:endParaRPr lang="ja-JP" altLang="en-US" sz="900" dirty="0"/>
          </a:p>
        </p:txBody>
      </p:sp>
      <p:sp>
        <p:nvSpPr>
          <p:cNvPr id="41" name="凡例の注記"/>
          <p:cNvSpPr txBox="1"/>
          <p:nvPr/>
        </p:nvSpPr>
        <p:spPr>
          <a:xfrm>
            <a:off x="685800" y="4727448"/>
            <a:ext cx="4937760" cy="164592"/>
          </a:xfrm>
          <a:prstGeom prst="rect">
            <a:avLst/>
          </a:prstGeom>
          <a:noFill/>
          <a:ln/>
        </p:spPr>
        <p:txBody>
          <a:bodyPr wrap="square" lIns="0" tIns="0" rIns="0" bIns="0" rtlCol="0" anchor="t"/>
          <a:lstStyle/>
          <a:p>
            <a:pPr marL="0" indent="0">
              <a:spcAft>
                <a:spcPts val="0"/>
              </a:spcAft>
              <a:buNone/>
            </a:pPr>
            <a:r>
              <a:rPr lang="ja-JP" altLang="en-US" sz="800" dirty="0">
                <a:solidFill>
                  <a:srgbClr val="5E6B7A"/>
                </a:solidFill>
                <a:latin typeface="游ゴシック" pitchFamily="34" charset="0"/>
                <a:ea typeface="游ゴシック" pitchFamily="34" charset="-122"/>
                <a:cs typeface="游ゴシック" pitchFamily="34" charset="-120"/>
              </a:rPr>
              <a:t>下段の淡い色は休日（土日・8/11）。濃い色は勤務日</a:t>
            </a:r>
            <a:endParaRPr lang="ja-JP" alt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分析4：天気別の吸気温度差</a:t>
            </a:r>
            <a:endParaRPr lang="en-US" sz="2000" dirty="0"/>
          </a:p>
        </p:txBody>
      </p:sp>
      <p:sp>
        <p:nvSpPr>
          <p:cNvPr id="3" name="Shape 1"/>
          <p:cNvSpPr/>
          <p:nvPr/>
        </p:nvSpPr>
        <p:spPr>
          <a:xfrm>
            <a:off x="7726680" y="155448"/>
            <a:ext cx="1097280" cy="274320"/>
          </a:xfrm>
          <a:prstGeom prst="roundRect">
            <a:avLst>
              <a:gd name="adj" fmla="val 26667"/>
            </a:avLst>
          </a:prstGeom>
          <a:solidFill>
            <a:srgbClr val="8E5BC4"/>
          </a:solidFill>
          <a:ln w="12700">
            <a:solidFill>
              <a:srgbClr val="8E5BC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補足分析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晴れ・曇り・雨で、吸気温度の低減効果の傾向が違うかを確かめる</a:t>
            </a:r>
            <a:endParaRPr lang="en-US" sz="1200" dirty="0"/>
          </a:p>
        </p:txBody>
      </p:sp>
      <p:sp>
        <p:nvSpPr>
          <p:cNvPr id="6" name="Text 4"/>
          <p:cNvSpPr txBox="1"/>
          <p:nvPr/>
        </p:nvSpPr>
        <p:spPr>
          <a:xfrm>
            <a:off x="365760" y="987552"/>
            <a:ext cx="8412480" cy="292608"/>
          </a:xfrm>
          <a:prstGeom prst="rect">
            <a:avLst/>
          </a:prstGeom>
          <a:noFill/>
          <a:ln/>
        </p:spPr>
        <p:txBody>
          <a:bodyPr wrap="square" lIns="0" tIns="0" rIns="0" bIns="0" rtlCol="0" anchor="ctr"/>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方法　雨：雨量1mm以上／晴れ：照度比0.7以上／曇り：0.7未満（定義はp.17）。勤務日（晴れ15、曇り8、雨8日間）</a:t>
            </a:r>
            <a:endParaRPr lang="en-US" sz="1050" dirty="0"/>
          </a:p>
        </p:txBody>
      </p:sp>
      <p:sp>
        <p:nvSpPr>
          <p:cNvPr id="7" name="Text 5"/>
          <p:cNvSpPr txBox="1"/>
          <p:nvPr/>
        </p:nvSpPr>
        <p:spPr>
          <a:xfrm>
            <a:off x="365760" y="1600200"/>
            <a:ext cx="5074920" cy="184945"/>
          </a:xfrm>
          <a:prstGeom prst="rect">
            <a:avLst/>
          </a:prstGeom>
          <a:noFill/>
          <a:ln/>
        </p:spPr>
        <p:txBody>
          <a:bodyPr wrap="square" lIns="0" tIns="0" rIns="0" bIns="0" rtlCol="0" anchor="ctr"/>
          <a:lstStyle/>
          <a:p>
            <a:pPr marL="0" indent="0">
              <a:buNone/>
            </a:pPr>
            <a:r>
              <a:rPr lang="en-US" sz="950" b="1" dirty="0">
                <a:solidFill>
                  <a:srgbClr val="01B8AA"/>
                </a:solidFill>
                <a:latin typeface="游ゴシック" pitchFamily="34" charset="0"/>
                <a:ea typeface="游ゴシック" pitchFamily="34" charset="-122"/>
                <a:cs typeface="游ゴシック" pitchFamily="34" charset="-120"/>
              </a:rPr>
              <a:t>列8</a:t>
            </a:r>
            <a:endParaRPr lang="en-US" sz="950" dirty="0"/>
          </a:p>
        </p:txBody>
      </p:sp>
      <p:sp>
        <p:nvSpPr>
          <p:cNvPr id="9" name="Text 7"/>
          <p:cNvSpPr txBox="1"/>
          <p:nvPr/>
        </p:nvSpPr>
        <p:spPr>
          <a:xfrm>
            <a:off x="365760" y="3189044"/>
            <a:ext cx="5074920" cy="184945"/>
          </a:xfrm>
          <a:prstGeom prst="rect">
            <a:avLst/>
          </a:prstGeom>
          <a:noFill/>
          <a:ln/>
        </p:spPr>
        <p:txBody>
          <a:bodyPr wrap="square" lIns="0" tIns="0" rIns="0" bIns="0" rtlCol="0" anchor="ctr"/>
          <a:lstStyle/>
          <a:p>
            <a:pPr marL="0" indent="0">
              <a:buNone/>
            </a:pPr>
            <a:r>
              <a:rPr lang="en-US" sz="950" b="1" dirty="0">
                <a:solidFill>
                  <a:srgbClr val="118DFF"/>
                </a:solidFill>
                <a:latin typeface="游ゴシック" pitchFamily="34" charset="0"/>
                <a:ea typeface="游ゴシック" pitchFamily="34" charset="-122"/>
                <a:cs typeface="游ゴシック" pitchFamily="34" charset="-120"/>
              </a:rPr>
              <a:t>列11</a:t>
            </a:r>
            <a:endParaRPr lang="en-US" sz="950" dirty="0"/>
          </a:p>
        </p:txBody>
      </p:sp>
      <p:sp>
        <p:nvSpPr>
          <p:cNvPr id="11" name="Shape 9"/>
          <p:cNvSpPr/>
          <p:nvPr/>
        </p:nvSpPr>
        <p:spPr>
          <a:xfrm>
            <a:off x="5577840" y="1600200"/>
            <a:ext cx="3200400" cy="2185711"/>
          </a:xfrm>
          <a:prstGeom prst="roundRect">
            <a:avLst>
              <a:gd name="adj" fmla="val 2308"/>
            </a:avLst>
          </a:prstGeom>
          <a:solidFill>
            <a:srgbClr val="EAF4FF"/>
          </a:solidFill>
          <a:ln w="12700">
            <a:solidFill>
              <a:srgbClr val="EAF4FF"/>
            </a:solidFill>
            <a:prstDash val="solid"/>
          </a:ln>
        </p:spPr>
        <p:txBody>
          <a:bodyPr/>
          <a:lstStyle/>
          <a:p>
            <a:endParaRPr lang="ja-JP" altLang="en-US"/>
          </a:p>
        </p:txBody>
      </p:sp>
      <p:sp>
        <p:nvSpPr>
          <p:cNvPr id="12" name="Text 10"/>
          <p:cNvSpPr txBox="1"/>
          <p:nvPr/>
        </p:nvSpPr>
        <p:spPr>
          <a:xfrm>
            <a:off x="5715000" y="1667453"/>
            <a:ext cx="2926080" cy="235384"/>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結果</a:t>
            </a:r>
            <a:endParaRPr lang="en-US" sz="1200" dirty="0"/>
          </a:p>
        </p:txBody>
      </p:sp>
      <p:sp>
        <p:nvSpPr>
          <p:cNvPr id="13" name="Text 11"/>
          <p:cNvSpPr txBox="1"/>
          <p:nvPr/>
        </p:nvSpPr>
        <p:spPr>
          <a:xfrm>
            <a:off x="5715000" y="1936463"/>
            <a:ext cx="2926080" cy="1790602"/>
          </a:xfrm>
          <a:prstGeom prst="rect">
            <a:avLst/>
          </a:prstGeom>
          <a:noFill/>
          <a:ln/>
        </p:spPr>
        <p:txBody>
          <a:bodyPr wrap="square" lIns="0" tIns="0" rIns="0" bIns="0" rtlCol="0" anchor="t"/>
          <a:lstStyle/>
          <a:p>
            <a:pPr marL="152400" indent="-152400">
              <a:spcAft>
                <a:spcPts val="300"/>
              </a:spcAft>
              <a:buSzPct val="100000"/>
              <a:buChar char="•"/>
            </a:pPr>
            <a:r>
              <a:rPr lang="ja-JP" altLang="en-US" sz="1050" dirty="0">
                <a:solidFill>
                  <a:srgbClr val="172033"/>
                </a:solidFill>
                <a:latin typeface="游ゴシック" pitchFamily="34" charset="0"/>
                <a:ea typeface="游ゴシック" pitchFamily="34" charset="-122"/>
                <a:cs typeface="游ゴシック" pitchFamily="34" charset="-120"/>
              </a:rPr>
              <a:t>曇り・雨の日：両列ともほぼ毎日、列3より低い（列8 −0.28・−0.37℃、列11 −0.30・−0.46℃）</a:t>
            </a:r>
            <a:endParaRPr lang="ja-JP" altLang="en-US" sz="1050" dirty="0"/>
          </a:p>
          <a:p>
            <a:pPr marL="152400" indent="-152400">
              <a:spcAft>
                <a:spcPts val="300"/>
              </a:spcAft>
              <a:buSzPct val="100000"/>
              <a:buChar char="•"/>
            </a:pPr>
            <a:r>
              <a:rPr lang="ja-JP" altLang="en-US" sz="1050" dirty="0">
                <a:solidFill>
                  <a:srgbClr val="172033"/>
                </a:solidFill>
                <a:latin typeface="游ゴシック" pitchFamily="34" charset="0"/>
                <a:ea typeface="游ゴシック" pitchFamily="34" charset="-122"/>
                <a:cs typeface="游ゴシック" pitchFamily="34" charset="-120"/>
              </a:rPr>
              <a:t>晴れの日：列11は15日中11日で低いが、差は−0.13℃と小さい</a:t>
            </a:r>
            <a:endParaRPr lang="ja-JP" altLang="en-US" sz="1050" dirty="0"/>
          </a:p>
          <a:p>
            <a:pPr marL="152400" indent="-152400">
              <a:spcAft>
                <a:spcPts val="300"/>
              </a:spcAft>
              <a:buSzPct val="100000"/>
              <a:buChar char="•"/>
            </a:pPr>
            <a:r>
              <a:rPr lang="ja-JP" altLang="en-US" sz="1050" dirty="0">
                <a:solidFill>
                  <a:srgbClr val="172033"/>
                </a:solidFill>
                <a:latin typeface="游ゴシック" pitchFamily="34" charset="0"/>
                <a:ea typeface="游ゴシック" pitchFamily="34" charset="-122"/>
                <a:cs typeface="游ゴシック" pitchFamily="34" charset="-120"/>
              </a:rPr>
              <a:t>晴れの日：列8は15日中13日で列3より高い（＋0.22℃）</a:t>
            </a:r>
            <a:endParaRPr lang="ja-JP" altLang="en-US" sz="1050" dirty="0"/>
          </a:p>
        </p:txBody>
      </p:sp>
      <p:sp>
        <p:nvSpPr>
          <p:cNvPr id="14" name="Shape 12"/>
          <p:cNvSpPr/>
          <p:nvPr/>
        </p:nvSpPr>
        <p:spPr>
          <a:xfrm>
            <a:off x="5577840" y="3869977"/>
            <a:ext cx="3200400" cy="857471"/>
          </a:xfrm>
          <a:prstGeom prst="roundRect">
            <a:avLst>
              <a:gd name="adj" fmla="val 5882"/>
            </a:avLst>
          </a:prstGeom>
          <a:solidFill>
            <a:srgbClr val="FFF7D1"/>
          </a:solidFill>
          <a:ln w="12700">
            <a:solidFill>
              <a:srgbClr val="FFF7D1"/>
            </a:solidFill>
            <a:prstDash val="solid"/>
          </a:ln>
        </p:spPr>
        <p:txBody>
          <a:bodyPr/>
          <a:lstStyle/>
          <a:p>
            <a:endParaRPr lang="ja-JP" altLang="en-US"/>
          </a:p>
        </p:txBody>
      </p:sp>
      <p:sp>
        <p:nvSpPr>
          <p:cNvPr id="15" name="Text 13"/>
          <p:cNvSpPr txBox="1"/>
          <p:nvPr/>
        </p:nvSpPr>
        <p:spPr>
          <a:xfrm>
            <a:off x="5715000" y="3912010"/>
            <a:ext cx="2926080" cy="773405"/>
          </a:xfrm>
          <a:prstGeom prst="rect">
            <a:avLst/>
          </a:prstGeom>
          <a:noFill/>
          <a:ln/>
        </p:spPr>
        <p:txBody>
          <a:bodyPr wrap="square" lIns="0" tIns="0" rIns="0" bIns="0" rtlCol="0" anchor="t"/>
          <a:lstStyle/>
          <a:p>
            <a:pPr marL="0" indent="0">
              <a:spcAft>
                <a:spcPts val="0"/>
              </a:spcAft>
              <a:buNone/>
            </a:pPr>
            <a:r>
              <a:rPr lang="ja-JP" altLang="en-US" sz="1050" b="1" dirty="0">
                <a:solidFill>
                  <a:srgbClr val="ED7D31"/>
                </a:solidFill>
                <a:latin typeface="游ゴシック" pitchFamily="34" charset="0"/>
                <a:ea typeface="游ゴシック" pitchFamily="34" charset="-122"/>
                <a:cs typeface="游ゴシック" pitchFamily="34" charset="-120"/>
              </a:rPr>
              <a:t>読み取り</a:t>
            </a:r>
            <a:endParaRPr lang="ja-JP" altLang="en-US" sz="1050" dirty="0"/>
          </a:p>
          <a:p>
            <a:pPr marL="0" indent="0">
              <a:spcAft>
                <a:spcPts val="0"/>
              </a:spcAft>
              <a:buNone/>
            </a:pPr>
            <a:r>
              <a:rPr lang="ja-JP" altLang="en-US" sz="1050" dirty="0">
                <a:solidFill>
                  <a:srgbClr val="172033"/>
                </a:solidFill>
                <a:latin typeface="游ゴシック" pitchFamily="34" charset="0"/>
                <a:ea typeface="游ゴシック" pitchFamily="34" charset="-122"/>
                <a:cs typeface="游ゴシック" pitchFamily="34" charset="-120"/>
              </a:rPr>
              <a:t>晴れの日は差が小さく、列8では逆に高くなる。ただし晴れの日は暑い日でもあるため、次の2枚で気温の影響と分けて確かめる</a:t>
            </a:r>
            <a:endParaRPr lang="ja-JP" altLang="en-US" sz="10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18</a:t>
            </a:fld>
            <a:endParaRPr lang="en-US"/>
          </a:p>
        </p:txBody>
      </p:sp>
      <p:graphicFrame>
        <p:nvGraphicFramePr>
          <p:cNvPr id="26" name="グラフ a4_8"/>
          <p:cNvGraphicFramePr>
            <a:graphicFrameLocks noGrp="1"/>
          </p:cNvGraphicFramePr>
          <p:nvPr/>
        </p:nvGraphicFramePr>
        <p:xfrm>
          <a:off x="365760" y="1785145"/>
          <a:ext cx="5074920" cy="135345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7" name="グラフ a4_11"/>
          <p:cNvGraphicFramePr>
            <a:graphicFrameLocks noGrp="1"/>
          </p:cNvGraphicFramePr>
          <p:nvPr/>
        </p:nvGraphicFramePr>
        <p:xfrm>
          <a:off x="365760" y="3373989"/>
          <a:ext cx="5074920" cy="1353459"/>
        </p:xfrm>
        <a:graphic>
          <a:graphicData uri="http://schemas.openxmlformats.org/drawingml/2006/chart">
            <c:chart xmlns:c="http://schemas.openxmlformats.org/drawingml/2006/chart" xmlns:r="http://schemas.openxmlformats.org/officeDocument/2006/relationships" r:id="rId4"/>
          </a:graphicData>
        </a:graphic>
      </p:graphicFrame>
      <p:sp>
        <p:nvSpPr>
          <p:cNvPr id="28" name="求め方 背景"/>
          <p:cNvSpPr/>
          <p:nvPr/>
        </p:nvSpPr>
        <p:spPr>
          <a:xfrm>
            <a:off x="365760" y="1298448"/>
            <a:ext cx="8412480" cy="246888"/>
          </a:xfrm>
          <a:prstGeom prst="roundRect">
            <a:avLst>
              <a:gd name="adj" fmla="val 2532"/>
            </a:avLst>
          </a:prstGeom>
          <a:solidFill>
            <a:srgbClr val="F3F5F8"/>
          </a:solidFill>
          <a:ln w="12700">
            <a:solidFill>
              <a:srgbClr val="F3F5F8"/>
            </a:solidFill>
          </a:ln>
        </p:spPr>
        <p:txBody>
          <a:bodyPr/>
          <a:lstStyle/>
          <a:p>
            <a:endParaRPr lang="ja-JP" altLang="en-US"/>
          </a:p>
        </p:txBody>
      </p:sp>
      <p:sp>
        <p:nvSpPr>
          <p:cNvPr id="29" name="求め方"/>
          <p:cNvSpPr txBox="1"/>
          <p:nvPr/>
        </p:nvSpPr>
        <p:spPr>
          <a:xfrm>
            <a:off x="457200" y="1298448"/>
            <a:ext cx="8229600" cy="246888"/>
          </a:xfrm>
          <a:prstGeom prst="rect">
            <a:avLst/>
          </a:prstGeom>
          <a:noFill/>
          <a:ln/>
        </p:spPr>
        <p:txBody>
          <a:bodyPr wrap="square" lIns="0" tIns="0" rIns="0" bIns="0" rtlCol="0" anchor="ctr"/>
          <a:lstStyle/>
          <a:p>
            <a:pPr marL="0" indent="0">
              <a:spcAft>
                <a:spcPts val="0"/>
              </a:spcAft>
              <a:buNone/>
            </a:pPr>
            <a:r>
              <a:rPr lang="ja-JP" altLang="en-US" sz="1000" b="1" dirty="0">
                <a:solidFill>
                  <a:srgbClr val="118DFF"/>
                </a:solidFill>
                <a:latin typeface="游ゴシック" pitchFamily="34" charset="0"/>
                <a:ea typeface="游ゴシック" pitchFamily="34" charset="-122"/>
                <a:cs typeface="游ゴシック" pitchFamily="34" charset="-120"/>
              </a:rPr>
              <a:t>求め方　</a:t>
            </a:r>
            <a:r>
              <a:rPr lang="ja-JP" altLang="en-US" sz="1000" dirty="0">
                <a:solidFill>
                  <a:srgbClr val="172033"/>
                </a:solidFill>
                <a:latin typeface="游ゴシック" pitchFamily="34" charset="0"/>
                <a:ea typeface="游ゴシック" pitchFamily="34" charset="-122"/>
                <a:cs typeface="游ゴシック" pitchFamily="34" charset="-120"/>
              </a:rPr>
              <a:t>同じ区画・方位の熱電対どうしの差を、列8は9組、列11は8組すべて平均（1点の代表値ではない）</a:t>
            </a:r>
            <a:endParaRPr lang="ja-JP" alt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分析4（補足）：気温区分別の吸気温度差</a:t>
            </a:r>
            <a:endParaRPr lang="en-US" sz="2000" dirty="0"/>
          </a:p>
        </p:txBody>
      </p:sp>
      <p:sp>
        <p:nvSpPr>
          <p:cNvPr id="3" name="Shape 1"/>
          <p:cNvSpPr/>
          <p:nvPr/>
        </p:nvSpPr>
        <p:spPr>
          <a:xfrm>
            <a:off x="7726680" y="155448"/>
            <a:ext cx="1097280" cy="274320"/>
          </a:xfrm>
          <a:prstGeom prst="roundRect">
            <a:avLst>
              <a:gd name="adj" fmla="val 26667"/>
            </a:avLst>
          </a:prstGeom>
          <a:solidFill>
            <a:srgbClr val="8E5BC4"/>
          </a:solidFill>
          <a:ln w="12700">
            <a:solidFill>
              <a:srgbClr val="8E5BC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補足分析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暑い日と涼しい日で、吸気温度の低減効果が違うかを確かめる</a:t>
            </a:r>
            <a:endParaRPr lang="en-US" sz="1200" dirty="0"/>
          </a:p>
        </p:txBody>
      </p:sp>
      <p:sp>
        <p:nvSpPr>
          <p:cNvPr id="6" name="Text 4"/>
          <p:cNvSpPr txBox="1"/>
          <p:nvPr/>
        </p:nvSpPr>
        <p:spPr>
          <a:xfrm>
            <a:off x="365760" y="987552"/>
            <a:ext cx="8412480" cy="292608"/>
          </a:xfrm>
          <a:prstGeom prst="rect">
            <a:avLst/>
          </a:prstGeom>
          <a:noFill/>
          <a:ln/>
        </p:spPr>
        <p:txBody>
          <a:bodyPr wrap="square" lIns="0" tIns="0" rIns="0" bIns="0" rtlCol="0" anchor="ctr"/>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方法　</a:t>
            </a:r>
            <a:r>
              <a:rPr lang="en-US" sz="1050" dirty="0">
                <a:solidFill>
                  <a:srgbClr val="5E6B7A"/>
                </a:solidFill>
                <a:latin typeface="游ゴシック" pitchFamily="34" charset="0"/>
                <a:ea typeface="游ゴシック" pitchFamily="34" charset="-122"/>
                <a:cs typeface="游ゴシック" pitchFamily="34" charset="-120"/>
              </a:rPr>
              <a:t>勤務日の日中平均気温（屋上）で3区分（28.0℃未満9日間、28.0〜31.0℃11日間、31.0℃以上11日間）</a:t>
            </a:r>
            <a:endParaRPr lang="en-US" sz="1050" dirty="0"/>
          </a:p>
        </p:txBody>
      </p:sp>
      <p:sp>
        <p:nvSpPr>
          <p:cNvPr id="7" name="Text 5"/>
          <p:cNvSpPr txBox="1"/>
          <p:nvPr/>
        </p:nvSpPr>
        <p:spPr>
          <a:xfrm>
            <a:off x="365760" y="1600200"/>
            <a:ext cx="5074920" cy="184945"/>
          </a:xfrm>
          <a:prstGeom prst="rect">
            <a:avLst/>
          </a:prstGeom>
          <a:noFill/>
          <a:ln/>
        </p:spPr>
        <p:txBody>
          <a:bodyPr wrap="square" lIns="0" tIns="0" rIns="0" bIns="0" rtlCol="0" anchor="ctr"/>
          <a:lstStyle/>
          <a:p>
            <a:pPr marL="0" indent="0">
              <a:buNone/>
            </a:pPr>
            <a:r>
              <a:rPr lang="en-US" sz="950" b="1" dirty="0">
                <a:solidFill>
                  <a:srgbClr val="01B8AA"/>
                </a:solidFill>
                <a:latin typeface="游ゴシック" pitchFamily="34" charset="0"/>
                <a:ea typeface="游ゴシック" pitchFamily="34" charset="-122"/>
                <a:cs typeface="游ゴシック" pitchFamily="34" charset="-120"/>
              </a:rPr>
              <a:t>列8</a:t>
            </a:r>
            <a:endParaRPr lang="en-US" sz="950" dirty="0"/>
          </a:p>
        </p:txBody>
      </p:sp>
      <p:sp>
        <p:nvSpPr>
          <p:cNvPr id="9" name="Text 7"/>
          <p:cNvSpPr txBox="1"/>
          <p:nvPr/>
        </p:nvSpPr>
        <p:spPr>
          <a:xfrm>
            <a:off x="365760" y="3189044"/>
            <a:ext cx="5074920" cy="184945"/>
          </a:xfrm>
          <a:prstGeom prst="rect">
            <a:avLst/>
          </a:prstGeom>
          <a:noFill/>
          <a:ln/>
        </p:spPr>
        <p:txBody>
          <a:bodyPr wrap="square" lIns="0" tIns="0" rIns="0" bIns="0" rtlCol="0" anchor="ctr"/>
          <a:lstStyle/>
          <a:p>
            <a:pPr marL="0" indent="0">
              <a:buNone/>
            </a:pPr>
            <a:r>
              <a:rPr lang="en-US" sz="950" b="1" dirty="0">
                <a:solidFill>
                  <a:srgbClr val="118DFF"/>
                </a:solidFill>
                <a:latin typeface="游ゴシック" pitchFamily="34" charset="0"/>
                <a:ea typeface="游ゴシック" pitchFamily="34" charset="-122"/>
                <a:cs typeface="游ゴシック" pitchFamily="34" charset="-120"/>
              </a:rPr>
              <a:t>列11</a:t>
            </a:r>
            <a:endParaRPr lang="en-US" sz="950" dirty="0"/>
          </a:p>
        </p:txBody>
      </p:sp>
      <p:sp>
        <p:nvSpPr>
          <p:cNvPr id="11" name="Shape 9"/>
          <p:cNvSpPr/>
          <p:nvPr/>
        </p:nvSpPr>
        <p:spPr>
          <a:xfrm>
            <a:off x="5577840" y="1600200"/>
            <a:ext cx="3200400" cy="2118458"/>
          </a:xfrm>
          <a:prstGeom prst="roundRect">
            <a:avLst>
              <a:gd name="adj" fmla="val 2381"/>
            </a:avLst>
          </a:prstGeom>
          <a:solidFill>
            <a:srgbClr val="EAF4FF"/>
          </a:solidFill>
          <a:ln w="12700">
            <a:solidFill>
              <a:srgbClr val="EAF4FF"/>
            </a:solidFill>
            <a:prstDash val="solid"/>
          </a:ln>
        </p:spPr>
        <p:txBody>
          <a:bodyPr/>
          <a:lstStyle/>
          <a:p>
            <a:endParaRPr lang="ja-JP" altLang="en-US"/>
          </a:p>
        </p:txBody>
      </p:sp>
      <p:sp>
        <p:nvSpPr>
          <p:cNvPr id="12" name="Text 10"/>
          <p:cNvSpPr txBox="1"/>
          <p:nvPr/>
        </p:nvSpPr>
        <p:spPr>
          <a:xfrm>
            <a:off x="5715000" y="1667453"/>
            <a:ext cx="2926080" cy="235384"/>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結果</a:t>
            </a:r>
            <a:endParaRPr lang="en-US" sz="1200" dirty="0"/>
          </a:p>
        </p:txBody>
      </p:sp>
      <p:sp>
        <p:nvSpPr>
          <p:cNvPr id="13" name="Text 11"/>
          <p:cNvSpPr txBox="1"/>
          <p:nvPr/>
        </p:nvSpPr>
        <p:spPr>
          <a:xfrm>
            <a:off x="5715000" y="1936463"/>
            <a:ext cx="2926080" cy="1723349"/>
          </a:xfrm>
          <a:prstGeom prst="rect">
            <a:avLst/>
          </a:prstGeom>
          <a:noFill/>
          <a:ln/>
        </p:spPr>
        <p:txBody>
          <a:bodyPr wrap="square" lIns="0" tIns="0" rIns="0" bIns="0" rtlCol="0" anchor="t"/>
          <a:lstStyle/>
          <a:p>
            <a:pPr marL="152400" indent="-152400">
              <a:spcAft>
                <a:spcPts val="300"/>
              </a:spcAft>
              <a:buSzPct val="100000"/>
              <a:buChar char="•"/>
            </a:pPr>
            <a:r>
              <a:rPr lang="ja-JP" altLang="en-US" sz="1050" dirty="0">
                <a:solidFill>
                  <a:srgbClr val="172033"/>
                </a:solidFill>
                <a:latin typeface="游ゴシック" pitchFamily="34" charset="0"/>
                <a:ea typeface="游ゴシック" pitchFamily="34" charset="-122"/>
                <a:cs typeface="游ゴシック" pitchFamily="34" charset="-120"/>
              </a:rPr>
              <a:t>28℃未満の日：列8は9日中8日、列11は9日すべてで低い（−0.34・−0.41℃）</a:t>
            </a:r>
            <a:endParaRPr lang="ja-JP" altLang="en-US" sz="1050" dirty="0"/>
          </a:p>
          <a:p>
            <a:pPr marL="152400" indent="-152400">
              <a:spcAft>
                <a:spcPts val="300"/>
              </a:spcAft>
              <a:buSzPct val="100000"/>
              <a:buChar char="•"/>
            </a:pPr>
            <a:r>
              <a:rPr lang="ja-JP" altLang="en-US" sz="1050" dirty="0">
                <a:solidFill>
                  <a:srgbClr val="172033"/>
                </a:solidFill>
                <a:latin typeface="游ゴシック" pitchFamily="34" charset="0"/>
                <a:ea typeface="游ゴシック" pitchFamily="34" charset="-122"/>
                <a:cs typeface="游ゴシック" pitchFamily="34" charset="-120"/>
              </a:rPr>
              <a:t>31℃以上の日：列8は11日中10日で列3より高い（＋0.27℃）。列11も差が小さい（−0.12℃）</a:t>
            </a:r>
            <a:endParaRPr lang="ja-JP" altLang="en-US" sz="1050" dirty="0"/>
          </a:p>
          <a:p>
            <a:pPr marL="152400" indent="-152400">
              <a:spcAft>
                <a:spcPts val="300"/>
              </a:spcAft>
              <a:buSzPct val="100000"/>
              <a:buChar char="•"/>
            </a:pPr>
            <a:r>
              <a:rPr lang="ja-JP" altLang="en-US" sz="1050" dirty="0">
                <a:solidFill>
                  <a:srgbClr val="172033"/>
                </a:solidFill>
                <a:latin typeface="游ゴシック" pitchFamily="34" charset="0"/>
                <a:ea typeface="游ゴシック" pitchFamily="34" charset="-122"/>
                <a:cs typeface="游ゴシック" pitchFamily="34" charset="-120"/>
              </a:rPr>
              <a:t>暑い日ほど、両列とも差が小さくなる（列3に近づく）</a:t>
            </a:r>
            <a:endParaRPr lang="ja-JP" altLang="en-US" sz="1050" dirty="0"/>
          </a:p>
        </p:txBody>
      </p:sp>
      <p:sp>
        <p:nvSpPr>
          <p:cNvPr id="14" name="Shape 12"/>
          <p:cNvSpPr/>
          <p:nvPr/>
        </p:nvSpPr>
        <p:spPr>
          <a:xfrm>
            <a:off x="5577840" y="3802724"/>
            <a:ext cx="3200400" cy="924724"/>
          </a:xfrm>
          <a:prstGeom prst="roundRect">
            <a:avLst>
              <a:gd name="adj" fmla="val 5455"/>
            </a:avLst>
          </a:prstGeom>
          <a:solidFill>
            <a:srgbClr val="FFF7D1"/>
          </a:solidFill>
          <a:ln w="12700">
            <a:solidFill>
              <a:srgbClr val="FFF7D1"/>
            </a:solidFill>
            <a:prstDash val="solid"/>
          </a:ln>
        </p:spPr>
        <p:txBody>
          <a:bodyPr/>
          <a:lstStyle/>
          <a:p>
            <a:endParaRPr lang="ja-JP" altLang="en-US"/>
          </a:p>
        </p:txBody>
      </p:sp>
      <p:sp>
        <p:nvSpPr>
          <p:cNvPr id="15" name="Text 13"/>
          <p:cNvSpPr txBox="1"/>
          <p:nvPr/>
        </p:nvSpPr>
        <p:spPr>
          <a:xfrm>
            <a:off x="5715000" y="3844757"/>
            <a:ext cx="2926080" cy="840658"/>
          </a:xfrm>
          <a:prstGeom prst="rect">
            <a:avLst/>
          </a:prstGeom>
          <a:noFill/>
          <a:ln/>
        </p:spPr>
        <p:txBody>
          <a:bodyPr wrap="square" lIns="0" tIns="0" rIns="0" bIns="0" rtlCol="0" anchor="t"/>
          <a:lstStyle/>
          <a:p>
            <a:pPr marL="0" indent="0">
              <a:spcAft>
                <a:spcPts val="0"/>
              </a:spcAft>
              <a:buNone/>
            </a:pPr>
            <a:r>
              <a:rPr lang="ja-JP" altLang="en-US" sz="1050" b="1" dirty="0">
                <a:solidFill>
                  <a:srgbClr val="ED7D31"/>
                </a:solidFill>
                <a:latin typeface="游ゴシック" pitchFamily="34" charset="0"/>
                <a:ea typeface="游ゴシック" pitchFamily="34" charset="-122"/>
                <a:cs typeface="游ゴシック" pitchFamily="34" charset="-120"/>
              </a:rPr>
              <a:t>読み取り</a:t>
            </a:r>
            <a:endParaRPr lang="ja-JP" altLang="en-US" sz="1050" dirty="0"/>
          </a:p>
          <a:p>
            <a:pPr marL="0" indent="0">
              <a:spcAft>
                <a:spcPts val="0"/>
              </a:spcAft>
              <a:buNone/>
            </a:pPr>
            <a:r>
              <a:rPr lang="ja-JP" altLang="en-US" sz="1050" dirty="0">
                <a:solidFill>
                  <a:srgbClr val="172033"/>
                </a:solidFill>
                <a:latin typeface="游ゴシック" pitchFamily="34" charset="0"/>
                <a:ea typeface="游ゴシック" pitchFamily="34" charset="-122"/>
                <a:cs typeface="游ゴシック" pitchFamily="34" charset="-120"/>
              </a:rPr>
              <a:t>暑い日ほど低減効果が小さい。冷房の負荷が大きく排熱が多い日に、芋緑化側が高くなりやすいと考えられる</a:t>
            </a:r>
            <a:endParaRPr lang="ja-JP" altLang="en-US" sz="10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19</a:t>
            </a:fld>
            <a:endParaRPr lang="en-US"/>
          </a:p>
        </p:txBody>
      </p:sp>
      <p:graphicFrame>
        <p:nvGraphicFramePr>
          <p:cNvPr id="26" name="グラフ tcls_8"/>
          <p:cNvGraphicFramePr>
            <a:graphicFrameLocks noGrp="1"/>
          </p:cNvGraphicFramePr>
          <p:nvPr/>
        </p:nvGraphicFramePr>
        <p:xfrm>
          <a:off x="365760" y="1785145"/>
          <a:ext cx="5074920" cy="135345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7" name="グラフ tcls_11"/>
          <p:cNvGraphicFramePr>
            <a:graphicFrameLocks noGrp="1"/>
          </p:cNvGraphicFramePr>
          <p:nvPr/>
        </p:nvGraphicFramePr>
        <p:xfrm>
          <a:off x="365760" y="3373989"/>
          <a:ext cx="5074920" cy="1353459"/>
        </p:xfrm>
        <a:graphic>
          <a:graphicData uri="http://schemas.openxmlformats.org/drawingml/2006/chart">
            <c:chart xmlns:c="http://schemas.openxmlformats.org/drawingml/2006/chart" xmlns:r="http://schemas.openxmlformats.org/officeDocument/2006/relationships" r:id="rId4"/>
          </a:graphicData>
        </a:graphic>
      </p:graphicFrame>
      <p:sp>
        <p:nvSpPr>
          <p:cNvPr id="28" name="求め方 背景"/>
          <p:cNvSpPr/>
          <p:nvPr/>
        </p:nvSpPr>
        <p:spPr>
          <a:xfrm>
            <a:off x="365760" y="1298448"/>
            <a:ext cx="8412480" cy="246888"/>
          </a:xfrm>
          <a:prstGeom prst="roundRect">
            <a:avLst>
              <a:gd name="adj" fmla="val 2532"/>
            </a:avLst>
          </a:prstGeom>
          <a:solidFill>
            <a:srgbClr val="F3F5F8"/>
          </a:solidFill>
          <a:ln w="12700">
            <a:solidFill>
              <a:srgbClr val="F3F5F8"/>
            </a:solidFill>
          </a:ln>
        </p:spPr>
        <p:txBody>
          <a:bodyPr/>
          <a:lstStyle/>
          <a:p>
            <a:endParaRPr lang="ja-JP" altLang="en-US"/>
          </a:p>
        </p:txBody>
      </p:sp>
      <p:sp>
        <p:nvSpPr>
          <p:cNvPr id="29" name="求め方"/>
          <p:cNvSpPr txBox="1"/>
          <p:nvPr/>
        </p:nvSpPr>
        <p:spPr>
          <a:xfrm>
            <a:off x="457200" y="1298448"/>
            <a:ext cx="8229600" cy="246888"/>
          </a:xfrm>
          <a:prstGeom prst="rect">
            <a:avLst/>
          </a:prstGeom>
          <a:noFill/>
          <a:ln/>
        </p:spPr>
        <p:txBody>
          <a:bodyPr wrap="square" lIns="0" tIns="0" rIns="0" bIns="0" rtlCol="0" anchor="ctr"/>
          <a:lstStyle/>
          <a:p>
            <a:pPr marL="0" indent="0">
              <a:spcAft>
                <a:spcPts val="0"/>
              </a:spcAft>
              <a:buNone/>
            </a:pPr>
            <a:r>
              <a:rPr lang="ja-JP" altLang="en-US" sz="1000" b="1" dirty="0">
                <a:solidFill>
                  <a:srgbClr val="118DFF"/>
                </a:solidFill>
                <a:latin typeface="游ゴシック" pitchFamily="34" charset="0"/>
                <a:ea typeface="游ゴシック" pitchFamily="34" charset="-122"/>
                <a:cs typeface="游ゴシック" pitchFamily="34" charset="-120"/>
              </a:rPr>
              <a:t>求め方　</a:t>
            </a:r>
            <a:r>
              <a:rPr lang="ja-JP" altLang="en-US" sz="1000" dirty="0">
                <a:solidFill>
                  <a:srgbClr val="172033"/>
                </a:solidFill>
                <a:latin typeface="游ゴシック" pitchFamily="34" charset="0"/>
                <a:ea typeface="游ゴシック" pitchFamily="34" charset="-122"/>
                <a:cs typeface="游ゴシック" pitchFamily="34" charset="-120"/>
              </a:rPr>
              <a:t>同じ区画・方位の熱電対どうしの差を、列8は9組、列11は8組すべて平均（1点の代表値ではない）</a:t>
            </a:r>
            <a:endParaRPr lang="ja-JP" alt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分析4（補足）：条件をまとめて見た回帰（1時間値）</a:t>
            </a:r>
            <a:endParaRPr lang="en-US" sz="2000" dirty="0"/>
          </a:p>
        </p:txBody>
      </p:sp>
      <p:sp>
        <p:nvSpPr>
          <p:cNvPr id="3" name="Shape 1"/>
          <p:cNvSpPr/>
          <p:nvPr/>
        </p:nvSpPr>
        <p:spPr>
          <a:xfrm>
            <a:off x="7726680" y="155448"/>
            <a:ext cx="1097280" cy="274320"/>
          </a:xfrm>
          <a:prstGeom prst="roundRect">
            <a:avLst>
              <a:gd name="adj" fmla="val 26667"/>
            </a:avLst>
          </a:prstGeom>
          <a:solidFill>
            <a:srgbClr val="8E5BC4"/>
          </a:solidFill>
          <a:ln w="12700">
            <a:solidFill>
              <a:srgbClr val="8E5BC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補足分析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気温・天気・日射・風速のうち、吸気温度差を説明できる条件とその大きさを確かめる</a:t>
            </a:r>
            <a:endParaRPr lang="en-US" sz="1200" dirty="0"/>
          </a:p>
        </p:txBody>
      </p:sp>
      <p:sp>
        <p:nvSpPr>
          <p:cNvPr id="6" name="Shape 4"/>
          <p:cNvSpPr/>
          <p:nvPr/>
        </p:nvSpPr>
        <p:spPr>
          <a:xfrm>
            <a:off x="365760" y="1005840"/>
            <a:ext cx="8412480" cy="804672"/>
          </a:xfrm>
          <a:prstGeom prst="roundRect">
            <a:avLst>
              <a:gd name="adj" fmla="val 6818"/>
            </a:avLst>
          </a:prstGeom>
          <a:solidFill>
            <a:srgbClr val="E4F7F4"/>
          </a:solidFill>
          <a:ln w="12700">
            <a:solidFill>
              <a:srgbClr val="E4F7F4"/>
            </a:solidFill>
            <a:prstDash val="solid"/>
          </a:ln>
        </p:spPr>
        <p:txBody>
          <a:bodyPr/>
          <a:lstStyle/>
          <a:p>
            <a:endParaRPr lang="ja-JP" altLang="en-US"/>
          </a:p>
        </p:txBody>
      </p:sp>
      <p:sp>
        <p:nvSpPr>
          <p:cNvPr id="7" name="Text 5"/>
          <p:cNvSpPr txBox="1"/>
          <p:nvPr/>
        </p:nvSpPr>
        <p:spPr>
          <a:xfrm>
            <a:off x="502920" y="1033272"/>
            <a:ext cx="8138160" cy="749808"/>
          </a:xfrm>
          <a:prstGeom prst="rect">
            <a:avLst/>
          </a:prstGeom>
          <a:noFill/>
          <a:ln/>
        </p:spPr>
        <p:txBody>
          <a:bodyPr wrap="square" lIns="0" tIns="0" rIns="0" bIns="0" rtlCol="0" anchor="ctr"/>
          <a:lstStyle/>
          <a:p>
            <a:pPr marL="0" indent="0">
              <a:buNone/>
            </a:pPr>
            <a:r>
              <a:rPr lang="en-US" sz="950" b="1" dirty="0">
                <a:solidFill>
                  <a:srgbClr val="22354F"/>
                </a:solidFill>
                <a:latin typeface="游ゴシック" pitchFamily="34" charset="0"/>
                <a:ea typeface="游ゴシック" pitchFamily="34" charset="-122"/>
                <a:cs typeface="游ゴシック" pitchFamily="34" charset="-120"/>
              </a:rPr>
              <a:t>重回帰（最小二乗法）　吸気温度差 ＝ a ＋ b1×気温 ＋ b2×雨（あり＝1）　※検証で最も当てはまる組み合わせを採用</a:t>
            </a:r>
            <a:endParaRPr lang="en-US" sz="950" dirty="0"/>
          </a:p>
          <a:p>
            <a:pPr marL="0" indent="0">
              <a:buNone/>
            </a:pPr>
            <a:r>
              <a:rPr lang="en-US" sz="950" dirty="0">
                <a:solidFill>
                  <a:srgbClr val="172033"/>
                </a:solidFill>
                <a:latin typeface="游ゴシック" pitchFamily="34" charset="0"/>
                <a:ea typeface="游ゴシック" pitchFamily="34" charset="-122"/>
                <a:cs typeface="游ゴシック" pitchFamily="34" charset="-120"/>
              </a:rPr>
              <a:t>目的変数：勤務日の日中の1時間平均の吸気温度差［℃］（列8・列11で別々）。候補：屋上の気温［℃］、雨（1時間に0.5mm以上）、照度［万lx］（日射量の代わり、相関0.99）、屋上の風速［m/s］。274時間・31日間。検証：日を8つに分け、学習に使わない日で当てはまりを確かめる。繁茂率は保留</a:t>
            </a:r>
            <a:endParaRPr lang="en-US" sz="950" dirty="0"/>
          </a:p>
        </p:txBody>
      </p:sp>
      <p:sp>
        <p:nvSpPr>
          <p:cNvPr id="9" name="Text 7"/>
          <p:cNvSpPr txBox="1"/>
          <p:nvPr/>
        </p:nvSpPr>
        <p:spPr>
          <a:xfrm>
            <a:off x="365760" y="4389120"/>
            <a:ext cx="3657600" cy="347472"/>
          </a:xfrm>
          <a:prstGeom prst="rect">
            <a:avLst/>
          </a:prstGeom>
          <a:noFill/>
          <a:ln/>
        </p:spPr>
        <p:txBody>
          <a:bodyPr wrap="square" lIns="0" tIns="0" rIns="0" bIns="0" rtlCol="0" anchor="ctr"/>
          <a:lstStyle/>
          <a:p>
            <a:pPr marL="0" indent="0">
              <a:buNone/>
            </a:pPr>
            <a:r>
              <a:rPr lang="en-US" sz="800" dirty="0">
                <a:solidFill>
                  <a:srgbClr val="5E6B7A"/>
                </a:solidFill>
                <a:latin typeface="游ゴシック" pitchFamily="34" charset="0"/>
                <a:ea typeface="游ゴシック" pitchFamily="34" charset="-122"/>
                <a:cs typeface="游ゴシック" pitchFamily="34" charset="-120"/>
              </a:rPr>
              <a:t>棒：学習に使わなかった日での当てはまり（1に近いほど説明できる）。照度・風速を加えても上がらない</a:t>
            </a:r>
            <a:endParaRPr lang="en-US" sz="800" dirty="0"/>
          </a:p>
        </p:txBody>
      </p:sp>
      <p:graphicFrame>
        <p:nvGraphicFramePr>
          <p:cNvPr id="19" name="Table 0"/>
          <p:cNvGraphicFramePr>
            <a:graphicFrameLocks noGrp="1"/>
          </p:cNvGraphicFramePr>
          <p:nvPr>
            <p:extLst>
              <p:ext uri="{D42A27DB-BD31-4B8C-83A1-F6EECF244321}">
                <p14:modId xmlns:p14="http://schemas.microsoft.com/office/powerpoint/2010/main" val="3588576364"/>
              </p:ext>
            </p:extLst>
          </p:nvPr>
        </p:nvGraphicFramePr>
        <p:xfrm>
          <a:off x="4114800" y="1874520"/>
          <a:ext cx="4663440" cy="1883664"/>
        </p:xfrm>
        <a:graphic>
          <a:graphicData uri="http://schemas.openxmlformats.org/drawingml/2006/table">
            <a:tbl>
              <a:tblPr/>
              <a:tblGrid>
                <a:gridCol w="64008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tblGrid>
              <a:tr h="274320">
                <a:tc>
                  <a:txBody>
                    <a:bodyPr/>
                    <a:lstStyle/>
                    <a:p>
                      <a:pPr marL="0" indent="0" algn="ctr">
                        <a:buNone/>
                      </a:pPr>
                      <a:r>
                        <a:rPr lang="en-US" sz="950" b="1" dirty="0">
                          <a:solidFill>
                            <a:srgbClr val="FFFFFF"/>
                          </a:solidFill>
                          <a:latin typeface="游ゴシック" pitchFamily="34" charset="0"/>
                          <a:ea typeface="游ゴシック" pitchFamily="34" charset="-122"/>
                          <a:cs typeface="游ゴシック" pitchFamily="34" charset="-120"/>
                        </a:rPr>
                        <a:t>条件</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950" b="1" dirty="0">
                          <a:solidFill>
                            <a:srgbClr val="FFFFFF"/>
                          </a:solidFill>
                          <a:latin typeface="游ゴシック" pitchFamily="34" charset="0"/>
                          <a:ea typeface="游ゴシック" pitchFamily="34" charset="-122"/>
                          <a:cs typeface="游ゴシック" pitchFamily="34" charset="-120"/>
                        </a:rPr>
                        <a:t>変化</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950" b="1" dirty="0">
                          <a:solidFill>
                            <a:srgbClr val="FFFFFF"/>
                          </a:solidFill>
                          <a:latin typeface="游ゴシック" pitchFamily="34" charset="0"/>
                          <a:ea typeface="游ゴシック" pitchFamily="34" charset="-122"/>
                          <a:cs typeface="游ゴシック" pitchFamily="34" charset="-120"/>
                        </a:rPr>
                        <a:t>列8［℃］</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950" b="1" dirty="0">
                          <a:solidFill>
                            <a:srgbClr val="FFFFFF"/>
                          </a:solidFill>
                          <a:latin typeface="游ゴシック" pitchFamily="34" charset="0"/>
                          <a:ea typeface="游ゴシック" pitchFamily="34" charset="-122"/>
                          <a:cs typeface="游ゴシック" pitchFamily="34" charset="-120"/>
                        </a:rPr>
                        <a:t>列11［℃］</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950" b="1" dirty="0">
                          <a:solidFill>
                            <a:srgbClr val="FFFFFF"/>
                          </a:solidFill>
                          <a:latin typeface="游ゴシック" pitchFamily="34" charset="0"/>
                          <a:ea typeface="游ゴシック" pitchFamily="34" charset="-122"/>
                          <a:cs typeface="游ゴシック" pitchFamily="34" charset="-120"/>
                        </a:rPr>
                        <a:t>扱い</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extLst>
                  <a:ext uri="{0D108BD9-81ED-4DB2-BD59-A6C34878D82A}">
                    <a16:rowId xmlns:a16="http://schemas.microsoft.com/office/drawing/2014/main" val="40000"/>
                  </a:ext>
                </a:extLst>
              </a:tr>
              <a:tr h="402336">
                <a:tc>
                  <a:txBody>
                    <a:bodyPr/>
                    <a:lstStyle/>
                    <a:p>
                      <a:pPr marL="0" indent="0" algn="ctr">
                        <a:buNone/>
                      </a:pPr>
                      <a:r>
                        <a:rPr lang="en-US" sz="850" b="1" dirty="0">
                          <a:solidFill>
                            <a:srgbClr val="172033"/>
                          </a:solidFill>
                          <a:latin typeface="游ゴシック" pitchFamily="34" charset="0"/>
                          <a:ea typeface="游ゴシック" pitchFamily="34" charset="-122"/>
                          <a:cs typeface="游ゴシック" pitchFamily="34" charset="-120"/>
                        </a:rPr>
                        <a:t>気温</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＋1℃</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＋0.07</a:t>
                      </a:r>
                    </a:p>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＋0.05〜＋0.11</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＋0.03</a:t>
                      </a:r>
                    </a:p>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0.00〜＋0.05</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b="1" dirty="0">
                          <a:solidFill>
                            <a:srgbClr val="E66C64"/>
                          </a:solidFill>
                          <a:latin typeface="游ゴシック" pitchFamily="34" charset="0"/>
                          <a:ea typeface="游ゴシック" pitchFamily="34" charset="-122"/>
                          <a:cs typeface="游ゴシック" pitchFamily="34" charset="-120"/>
                        </a:rPr>
                        <a:t>採用</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40001"/>
                  </a:ext>
                </a:extLst>
              </a:tr>
              <a:tr h="402336">
                <a:tc>
                  <a:txBody>
                    <a:bodyPr/>
                    <a:lstStyle/>
                    <a:p>
                      <a:pPr marL="0" indent="0" algn="ctr">
                        <a:buNone/>
                      </a:pPr>
                      <a:r>
                        <a:rPr lang="en-US" sz="850" b="1" dirty="0">
                          <a:solidFill>
                            <a:srgbClr val="172033"/>
                          </a:solidFill>
                          <a:latin typeface="游ゴシック" pitchFamily="34" charset="0"/>
                          <a:ea typeface="游ゴシック" pitchFamily="34" charset="-122"/>
                          <a:cs typeface="游ゴシック" pitchFamily="34" charset="-120"/>
                        </a:rPr>
                        <a:t>雨</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あり</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−0.31</a:t>
                      </a:r>
                    </a:p>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−0.44〜＋0.04</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−0.27</a:t>
                      </a:r>
                    </a:p>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−0.42〜−0.04</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b="1" dirty="0">
                          <a:solidFill>
                            <a:srgbClr val="E66C64"/>
                          </a:solidFill>
                          <a:latin typeface="游ゴシック" pitchFamily="34" charset="0"/>
                          <a:ea typeface="游ゴシック" pitchFamily="34" charset="-122"/>
                          <a:cs typeface="游ゴシック" pitchFamily="34" charset="-120"/>
                        </a:rPr>
                        <a:t>採用</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40002"/>
                  </a:ext>
                </a:extLst>
              </a:tr>
              <a:tr h="402336">
                <a:tc>
                  <a:txBody>
                    <a:bodyPr/>
                    <a:lstStyle/>
                    <a:p>
                      <a:pPr marL="0" indent="0" algn="ctr">
                        <a:buNone/>
                      </a:pPr>
                      <a:r>
                        <a:rPr lang="en-US" sz="850" b="1" dirty="0">
                          <a:solidFill>
                            <a:srgbClr val="172033"/>
                          </a:solidFill>
                          <a:latin typeface="游ゴシック" pitchFamily="34" charset="0"/>
                          <a:ea typeface="游ゴシック" pitchFamily="34" charset="-122"/>
                          <a:cs typeface="游ゴシック" pitchFamily="34" charset="-120"/>
                        </a:rPr>
                        <a:t>照度</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＋1万lx</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＋0.02</a:t>
                      </a:r>
                    </a:p>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−0.02〜＋0.05</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−0.01</a:t>
                      </a:r>
                    </a:p>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−0.04〜＋0.01</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b="0" dirty="0">
                          <a:solidFill>
                            <a:srgbClr val="172033"/>
                          </a:solidFill>
                          <a:latin typeface="游ゴシック" pitchFamily="34" charset="0"/>
                          <a:ea typeface="游ゴシック" pitchFamily="34" charset="-122"/>
                          <a:cs typeface="游ゴシック" pitchFamily="34" charset="-120"/>
                        </a:rPr>
                        <a:t>改善せず</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40003"/>
                  </a:ext>
                </a:extLst>
              </a:tr>
              <a:tr h="402336">
                <a:tc>
                  <a:txBody>
                    <a:bodyPr/>
                    <a:lstStyle/>
                    <a:p>
                      <a:pPr marL="0" indent="0" algn="ctr">
                        <a:buNone/>
                      </a:pPr>
                      <a:r>
                        <a:rPr lang="en-US" sz="850" b="1" dirty="0">
                          <a:solidFill>
                            <a:srgbClr val="172033"/>
                          </a:solidFill>
                          <a:latin typeface="游ゴシック" pitchFamily="34" charset="0"/>
                          <a:ea typeface="游ゴシック" pitchFamily="34" charset="-122"/>
                          <a:cs typeface="游ゴシック" pitchFamily="34" charset="-120"/>
                        </a:rPr>
                        <a:t>風速</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＋1m/s</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−0.04</a:t>
                      </a:r>
                    </a:p>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−0.11〜＋0.03</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−0.07</a:t>
                      </a:r>
                    </a:p>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−0.13〜0.00</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b="0" dirty="0">
                          <a:solidFill>
                            <a:srgbClr val="172033"/>
                          </a:solidFill>
                          <a:latin typeface="游ゴシック" pitchFamily="34" charset="0"/>
                          <a:ea typeface="游ゴシック" pitchFamily="34" charset="-122"/>
                          <a:cs typeface="游ゴシック" pitchFamily="34" charset="-120"/>
                        </a:rPr>
                        <a:t>改善せず</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40004"/>
                  </a:ext>
                </a:extLst>
              </a:tr>
            </a:tbl>
          </a:graphicData>
        </a:graphic>
      </p:graphicFrame>
      <p:sp>
        <p:nvSpPr>
          <p:cNvPr id="11" name="Text 8"/>
          <p:cNvSpPr txBox="1"/>
          <p:nvPr/>
        </p:nvSpPr>
        <p:spPr>
          <a:xfrm>
            <a:off x="4160520" y="3767328"/>
            <a:ext cx="4617720" cy="384048"/>
          </a:xfrm>
          <a:prstGeom prst="rect">
            <a:avLst/>
          </a:prstGeom>
          <a:noFill/>
          <a:ln/>
        </p:spPr>
        <p:txBody>
          <a:bodyPr wrap="square" lIns="0" tIns="0" rIns="0" bIns="0" rtlCol="0" anchor="ctr"/>
          <a:lstStyle/>
          <a:p>
            <a:pPr marL="0" indent="0">
              <a:spcAft>
                <a:spcPts val="0"/>
              </a:spcAft>
              <a:buNone/>
            </a:pPr>
            <a:r>
              <a:rPr lang="ja-JP" altLang="en-US" sz="800" dirty="0">
                <a:solidFill>
                  <a:srgbClr val="5E6B7A"/>
                </a:solidFill>
                <a:latin typeface="游ゴシック" pitchFamily="34" charset="0"/>
                <a:ea typeface="游ゴシック" pitchFamily="34" charset="-122"/>
                <a:cs typeface="游ゴシック" pitchFamily="34" charset="-120"/>
              </a:rPr>
              <a:t>上段：係数、下段：95％区間（連続5日間の再標本化）。気温・雨は採用した式の係数。照度・風速は、採用した式に1つずつ加えたときの係数</a:t>
            </a:r>
            <a:endParaRPr lang="ja-JP" altLang="en-US" sz="800" dirty="0"/>
          </a:p>
        </p:txBody>
      </p:sp>
      <p:sp>
        <p:nvSpPr>
          <p:cNvPr id="12" name="Shape 9"/>
          <p:cNvSpPr/>
          <p:nvPr/>
        </p:nvSpPr>
        <p:spPr>
          <a:xfrm>
            <a:off x="4160520" y="4160520"/>
            <a:ext cx="4617720" cy="603504"/>
          </a:xfrm>
          <a:prstGeom prst="roundRect">
            <a:avLst>
              <a:gd name="adj" fmla="val 8219"/>
            </a:avLst>
          </a:prstGeom>
          <a:solidFill>
            <a:srgbClr val="FFF7D1"/>
          </a:solidFill>
          <a:ln w="12700">
            <a:solidFill>
              <a:srgbClr val="FFF7D1"/>
            </a:solidFill>
            <a:prstDash val="solid"/>
          </a:ln>
        </p:spPr>
        <p:txBody>
          <a:bodyPr/>
          <a:lstStyle/>
          <a:p>
            <a:endParaRPr lang="ja-JP" altLang="en-US"/>
          </a:p>
        </p:txBody>
      </p:sp>
      <p:sp>
        <p:nvSpPr>
          <p:cNvPr id="13" name="Text 10"/>
          <p:cNvSpPr txBox="1"/>
          <p:nvPr/>
        </p:nvSpPr>
        <p:spPr>
          <a:xfrm>
            <a:off x="4251960" y="4206240"/>
            <a:ext cx="4434840" cy="548640"/>
          </a:xfrm>
          <a:prstGeom prst="rect">
            <a:avLst/>
          </a:prstGeom>
          <a:noFill/>
          <a:ln/>
        </p:spPr>
        <p:txBody>
          <a:bodyPr wrap="square" lIns="0" tIns="0" rIns="0" bIns="0" rtlCol="0" anchor="ctr"/>
          <a:lstStyle/>
          <a:p>
            <a:pPr marL="0" indent="0">
              <a:spcAft>
                <a:spcPts val="0"/>
              </a:spcAft>
              <a:buNone/>
            </a:pPr>
            <a:r>
              <a:rPr lang="ja-JP" altLang="en-US" sz="950" b="1" dirty="0">
                <a:solidFill>
                  <a:srgbClr val="ED7D31"/>
                </a:solidFill>
                <a:latin typeface="游ゴシック" pitchFamily="34" charset="0"/>
                <a:ea typeface="游ゴシック" pitchFamily="34" charset="-122"/>
                <a:cs typeface="游ゴシック" pitchFamily="34" charset="-120"/>
              </a:rPr>
              <a:t>読み取り　</a:t>
            </a:r>
            <a:r>
              <a:rPr lang="ja-JP" altLang="en-US" sz="950" dirty="0">
                <a:solidFill>
                  <a:srgbClr val="172033"/>
                </a:solidFill>
                <a:latin typeface="游ゴシック" pitchFamily="34" charset="0"/>
                <a:ea typeface="游ゴシック" pitchFamily="34" charset="-122"/>
                <a:cs typeface="游ゴシック" pitchFamily="34" charset="-120"/>
              </a:rPr>
              <a:t>気温1℃で列8は約0.07℃、列11は約0.03℃差が大きくなり、雨の時間は約0.3℃小さくなる。ただし説明できるのは列8で約35％、列11で約18％。残りは区画や運転状態など気象以外の違い（p.14・16）</a:t>
            </a:r>
            <a:endParaRPr lang="ja-JP" altLang="en-US" sz="9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20</a:t>
            </a:fld>
            <a:endParaRPr lang="en-US"/>
          </a:p>
        </p:txBody>
      </p:sp>
      <p:graphicFrame>
        <p:nvGraphicFramePr>
          <p:cNvPr id="26" name="グラフ reg"/>
          <p:cNvGraphicFramePr>
            <a:graphicFrameLocks noGrp="1"/>
          </p:cNvGraphicFramePr>
          <p:nvPr/>
        </p:nvGraphicFramePr>
        <p:xfrm>
          <a:off x="365760" y="1874520"/>
          <a:ext cx="3657600" cy="251460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分析5：風速別の吸気温度差（風速4区分）</a:t>
            </a:r>
            <a:endParaRPr lang="en-US" sz="2000" dirty="0"/>
          </a:p>
        </p:txBody>
      </p:sp>
      <p:sp>
        <p:nvSpPr>
          <p:cNvPr id="3" name="Shape 1"/>
          <p:cNvSpPr/>
          <p:nvPr/>
        </p:nvSpPr>
        <p:spPr>
          <a:xfrm>
            <a:off x="7726680" y="155448"/>
            <a:ext cx="1097280" cy="274320"/>
          </a:xfrm>
          <a:prstGeom prst="roundRect">
            <a:avLst>
              <a:gd name="adj" fmla="val 26667"/>
            </a:avLst>
          </a:prstGeom>
          <a:solidFill>
            <a:srgbClr val="8E5BC4"/>
          </a:solidFill>
          <a:ln w="12700">
            <a:solidFill>
              <a:srgbClr val="8E5BC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補足分析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風の強さによって、吸気温度の低減効果の傾向が変わるかを確かめる</a:t>
            </a:r>
            <a:endParaRPr lang="en-US" sz="1200" dirty="0"/>
          </a:p>
        </p:txBody>
      </p:sp>
      <p:sp>
        <p:nvSpPr>
          <p:cNvPr id="6" name="Text 4"/>
          <p:cNvSpPr txBox="1"/>
          <p:nvPr/>
        </p:nvSpPr>
        <p:spPr>
          <a:xfrm>
            <a:off x="365760" y="987552"/>
            <a:ext cx="8412480" cy="292608"/>
          </a:xfrm>
          <a:prstGeom prst="rect">
            <a:avLst/>
          </a:prstGeom>
          <a:noFill/>
          <a:ln/>
        </p:spPr>
        <p:txBody>
          <a:bodyPr wrap="square" lIns="0" tIns="0" rIns="0" bIns="0" rtlCol="0" anchor="ctr"/>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方法　</a:t>
            </a:r>
            <a:r>
              <a:rPr lang="en-US" sz="1050" dirty="0">
                <a:solidFill>
                  <a:srgbClr val="5E6B7A"/>
                </a:solidFill>
                <a:latin typeface="游ゴシック" pitchFamily="34" charset="0"/>
                <a:ea typeface="游ゴシック" pitchFamily="34" charset="-122"/>
                <a:cs typeface="游ゴシック" pitchFamily="34" charset="-120"/>
              </a:rPr>
              <a:t>屋上の風速（1時間平均）で4区分（極弱風1.0以下、弱風〜2.7、中風〜4.1、強風4.1超［m/s］）。勤務日の日中</a:t>
            </a:r>
            <a:endParaRPr lang="en-US" sz="1050" dirty="0"/>
          </a:p>
        </p:txBody>
      </p:sp>
      <p:sp>
        <p:nvSpPr>
          <p:cNvPr id="7" name="Text 5"/>
          <p:cNvSpPr txBox="1"/>
          <p:nvPr/>
        </p:nvSpPr>
        <p:spPr>
          <a:xfrm>
            <a:off x="365760" y="1600200"/>
            <a:ext cx="5074920" cy="184945"/>
          </a:xfrm>
          <a:prstGeom prst="rect">
            <a:avLst/>
          </a:prstGeom>
          <a:noFill/>
          <a:ln/>
        </p:spPr>
        <p:txBody>
          <a:bodyPr wrap="square" lIns="0" tIns="0" rIns="0" bIns="0" rtlCol="0" anchor="ctr"/>
          <a:lstStyle/>
          <a:p>
            <a:pPr marL="0" indent="0">
              <a:buNone/>
            </a:pPr>
            <a:r>
              <a:rPr lang="en-US" sz="950" b="1" dirty="0">
                <a:solidFill>
                  <a:srgbClr val="01B8AA"/>
                </a:solidFill>
                <a:latin typeface="游ゴシック" pitchFamily="34" charset="0"/>
                <a:ea typeface="游ゴシック" pitchFamily="34" charset="-122"/>
                <a:cs typeface="游ゴシック" pitchFamily="34" charset="-120"/>
              </a:rPr>
              <a:t>列8</a:t>
            </a:r>
            <a:endParaRPr lang="en-US" sz="950" dirty="0"/>
          </a:p>
        </p:txBody>
      </p:sp>
      <p:sp>
        <p:nvSpPr>
          <p:cNvPr id="9" name="Text 7"/>
          <p:cNvSpPr txBox="1"/>
          <p:nvPr/>
        </p:nvSpPr>
        <p:spPr>
          <a:xfrm>
            <a:off x="365760" y="3189044"/>
            <a:ext cx="5074920" cy="184945"/>
          </a:xfrm>
          <a:prstGeom prst="rect">
            <a:avLst/>
          </a:prstGeom>
          <a:noFill/>
          <a:ln/>
        </p:spPr>
        <p:txBody>
          <a:bodyPr wrap="square" lIns="0" tIns="0" rIns="0" bIns="0" rtlCol="0" anchor="ctr"/>
          <a:lstStyle/>
          <a:p>
            <a:pPr marL="0" indent="0">
              <a:buNone/>
            </a:pPr>
            <a:r>
              <a:rPr lang="en-US" sz="950" b="1" dirty="0">
                <a:solidFill>
                  <a:srgbClr val="118DFF"/>
                </a:solidFill>
                <a:latin typeface="游ゴシック" pitchFamily="34" charset="0"/>
                <a:ea typeface="游ゴシック" pitchFamily="34" charset="-122"/>
                <a:cs typeface="游ゴシック" pitchFamily="34" charset="-120"/>
              </a:rPr>
              <a:t>列11</a:t>
            </a:r>
            <a:endParaRPr lang="en-US" sz="9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21</a:t>
            </a:fld>
            <a:endParaRPr lang="en-US"/>
          </a:p>
        </p:txBody>
      </p:sp>
      <p:graphicFrame>
        <p:nvGraphicFramePr>
          <p:cNvPr id="26" name="グラフ a5_8"/>
          <p:cNvGraphicFramePr>
            <a:graphicFrameLocks noGrp="1"/>
          </p:cNvGraphicFramePr>
          <p:nvPr>
            <p:extLst>
              <p:ext uri="{D42A27DB-BD31-4B8C-83A1-F6EECF244321}">
                <p14:modId xmlns:p14="http://schemas.microsoft.com/office/powerpoint/2010/main" val="192842739"/>
              </p:ext>
            </p:extLst>
          </p:nvPr>
        </p:nvGraphicFramePr>
        <p:xfrm>
          <a:off x="365760" y="1785145"/>
          <a:ext cx="5074920" cy="135345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7" name="グラフ a5_11"/>
          <p:cNvGraphicFramePr>
            <a:graphicFrameLocks noGrp="1"/>
          </p:cNvGraphicFramePr>
          <p:nvPr>
            <p:extLst>
              <p:ext uri="{D42A27DB-BD31-4B8C-83A1-F6EECF244321}">
                <p14:modId xmlns:p14="http://schemas.microsoft.com/office/powerpoint/2010/main" val="3706076411"/>
              </p:ext>
            </p:extLst>
          </p:nvPr>
        </p:nvGraphicFramePr>
        <p:xfrm>
          <a:off x="365760" y="3373989"/>
          <a:ext cx="5074920" cy="1353459"/>
        </p:xfrm>
        <a:graphic>
          <a:graphicData uri="http://schemas.openxmlformats.org/drawingml/2006/chart">
            <c:chart xmlns:c="http://schemas.openxmlformats.org/drawingml/2006/chart" xmlns:r="http://schemas.openxmlformats.org/officeDocument/2006/relationships" r:id="rId5"/>
          </a:graphicData>
        </a:graphic>
      </p:graphicFrame>
      <p:sp>
        <p:nvSpPr>
          <p:cNvPr id="28" name="求め方 背景"/>
          <p:cNvSpPr/>
          <p:nvPr/>
        </p:nvSpPr>
        <p:spPr>
          <a:xfrm>
            <a:off x="365760" y="1298448"/>
            <a:ext cx="8412480" cy="246888"/>
          </a:xfrm>
          <a:prstGeom prst="roundRect">
            <a:avLst>
              <a:gd name="adj" fmla="val 2532"/>
            </a:avLst>
          </a:prstGeom>
          <a:solidFill>
            <a:srgbClr val="F3F5F8"/>
          </a:solidFill>
          <a:ln w="12700">
            <a:solidFill>
              <a:srgbClr val="F3F5F8"/>
            </a:solidFill>
          </a:ln>
        </p:spPr>
        <p:txBody>
          <a:bodyPr/>
          <a:lstStyle/>
          <a:p>
            <a:endParaRPr lang="ja-JP" altLang="en-US"/>
          </a:p>
        </p:txBody>
      </p:sp>
      <p:sp>
        <p:nvSpPr>
          <p:cNvPr id="29" name="求め方"/>
          <p:cNvSpPr txBox="1"/>
          <p:nvPr/>
        </p:nvSpPr>
        <p:spPr>
          <a:xfrm>
            <a:off x="457200" y="1298448"/>
            <a:ext cx="8229600" cy="246888"/>
          </a:xfrm>
          <a:prstGeom prst="rect">
            <a:avLst/>
          </a:prstGeom>
          <a:noFill/>
          <a:ln/>
        </p:spPr>
        <p:txBody>
          <a:bodyPr wrap="square" lIns="0" tIns="0" rIns="0" bIns="0" rtlCol="0" anchor="ctr"/>
          <a:lstStyle/>
          <a:p>
            <a:pPr marL="0" indent="0">
              <a:spcAft>
                <a:spcPts val="0"/>
              </a:spcAft>
              <a:buNone/>
            </a:pPr>
            <a:r>
              <a:rPr lang="ja-JP" altLang="en-US" sz="1000" b="1" dirty="0">
                <a:solidFill>
                  <a:srgbClr val="118DFF"/>
                </a:solidFill>
                <a:latin typeface="游ゴシック" pitchFamily="34" charset="0"/>
                <a:ea typeface="游ゴシック" pitchFamily="34" charset="-122"/>
                <a:cs typeface="游ゴシック" pitchFamily="34" charset="-120"/>
              </a:rPr>
              <a:t>求め方　</a:t>
            </a:r>
            <a:r>
              <a:rPr lang="ja-JP" altLang="en-US" sz="1000" dirty="0">
                <a:solidFill>
                  <a:srgbClr val="172033"/>
                </a:solidFill>
                <a:latin typeface="游ゴシック" pitchFamily="34" charset="0"/>
                <a:ea typeface="游ゴシック" pitchFamily="34" charset="-122"/>
                <a:cs typeface="游ゴシック" pitchFamily="34" charset="-120"/>
              </a:rPr>
              <a:t>同じ区画・方位の熱電対どうしの差を、列8は9組、列11は8組すべて平均（1点の代表値ではない）</a:t>
            </a:r>
            <a:endParaRPr lang="ja-JP" altLang="en-US" sz="1000" dirty="0"/>
          </a:p>
        </p:txBody>
      </p:sp>
      <p:sp>
        <p:nvSpPr>
          <p:cNvPr id="30" name="時間数 見出し"/>
          <p:cNvSpPr txBox="1"/>
          <p:nvPr/>
        </p:nvSpPr>
        <p:spPr>
          <a:xfrm>
            <a:off x="5577840" y="1627632"/>
            <a:ext cx="3200400" cy="201168"/>
          </a:xfrm>
          <a:prstGeom prst="rect">
            <a:avLst/>
          </a:prstGeom>
          <a:noFill/>
          <a:ln/>
        </p:spPr>
        <p:txBody>
          <a:bodyPr wrap="square" lIns="0" tIns="0" rIns="0" bIns="0" rtlCol="0" anchor="ctr"/>
          <a:lstStyle/>
          <a:p>
            <a:pPr marL="0" indent="0">
              <a:spcAft>
                <a:spcPts val="0"/>
              </a:spcAft>
              <a:buNone/>
            </a:pPr>
            <a:r>
              <a:rPr lang="ja-JP" altLang="en-US" sz="1050" b="1" dirty="0">
                <a:solidFill>
                  <a:srgbClr val="22354F"/>
                </a:solidFill>
                <a:latin typeface="游ゴシック" pitchFamily="34" charset="0"/>
                <a:ea typeface="游ゴシック" pitchFamily="34" charset="-122"/>
                <a:cs typeface="游ゴシック" pitchFamily="34" charset="-120"/>
              </a:rPr>
              <a:t>風速区分ごとの時間数［時間］（勤務日の日中）</a:t>
            </a:r>
            <a:endParaRPr lang="ja-JP" altLang="en-US" sz="1050" dirty="0"/>
          </a:p>
        </p:txBody>
      </p:sp>
      <p:graphicFrame>
        <p:nvGraphicFramePr>
          <p:cNvPr id="31" name="時間数の表"/>
          <p:cNvGraphicFramePr>
            <a:graphicFrameLocks noGrp="1"/>
          </p:cNvGraphicFramePr>
          <p:nvPr/>
        </p:nvGraphicFramePr>
        <p:xfrm>
          <a:off x="5577840" y="1847088"/>
          <a:ext cx="3200400" cy="1225296"/>
        </p:xfrm>
        <a:graphic>
          <a:graphicData uri="http://schemas.openxmlformats.org/drawingml/2006/table">
            <a:tbl>
              <a:tblPr firstRow="1"/>
              <a:tblGrid>
                <a:gridCol w="548640">
                  <a:extLst>
                    <a:ext uri="{9D8B030D-6E8A-4147-A177-3AD203B41FA5}">
                      <a16:colId xmlns:a16="http://schemas.microsoft.com/office/drawing/2014/main" val="30000"/>
                    </a:ext>
                  </a:extLst>
                </a:gridCol>
                <a:gridCol w="868680">
                  <a:extLst>
                    <a:ext uri="{9D8B030D-6E8A-4147-A177-3AD203B41FA5}">
                      <a16:colId xmlns:a16="http://schemas.microsoft.com/office/drawing/2014/main" val="30001"/>
                    </a:ext>
                  </a:extLst>
                </a:gridCol>
                <a:gridCol w="548640">
                  <a:extLst>
                    <a:ext uri="{9D8B030D-6E8A-4147-A177-3AD203B41FA5}">
                      <a16:colId xmlns:a16="http://schemas.microsoft.com/office/drawing/2014/main" val="30002"/>
                    </a:ext>
                  </a:extLst>
                </a:gridCol>
                <a:gridCol w="594360">
                  <a:extLst>
                    <a:ext uri="{9D8B030D-6E8A-4147-A177-3AD203B41FA5}">
                      <a16:colId xmlns:a16="http://schemas.microsoft.com/office/drawing/2014/main" val="30003"/>
                    </a:ext>
                  </a:extLst>
                </a:gridCol>
                <a:gridCol w="640080">
                  <a:extLst>
                    <a:ext uri="{9D8B030D-6E8A-4147-A177-3AD203B41FA5}">
                      <a16:colId xmlns:a16="http://schemas.microsoft.com/office/drawing/2014/main" val="30004"/>
                    </a:ext>
                  </a:extLst>
                </a:gridCol>
              </a:tblGrid>
              <a:tr h="182880">
                <a:tc>
                  <a:txBody>
                    <a:bodyPr/>
                    <a:lstStyle/>
                    <a:p>
                      <a:pPr marL="0" indent="0" algn="ctr">
                        <a:buNone/>
                      </a:pPr>
                      <a:r>
                        <a:rPr lang="ja-JP" altLang="en-US" sz="850" b="1" dirty="0">
                          <a:solidFill>
                            <a:srgbClr val="FFFFFF"/>
                          </a:solidFill>
                          <a:latin typeface="游ゴシック" pitchFamily="34" charset="0"/>
                          <a:ea typeface="游ゴシック" pitchFamily="34" charset="-122"/>
                          <a:cs typeface="游ゴシック" pitchFamily="34" charset="-120"/>
                        </a:rPr>
                        <a:t>区分</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22354F"/>
                    </a:solidFill>
                  </a:tcPr>
                </a:tc>
                <a:tc>
                  <a:txBody>
                    <a:bodyPr/>
                    <a:lstStyle/>
                    <a:p>
                      <a:pPr marL="0" indent="0" algn="ctr">
                        <a:buNone/>
                      </a:pPr>
                      <a:r>
                        <a:rPr lang="ja-JP" altLang="en-US" sz="850" b="1" dirty="0">
                          <a:solidFill>
                            <a:srgbClr val="FFFFFF"/>
                          </a:solidFill>
                          <a:latin typeface="游ゴシック" pitchFamily="34" charset="0"/>
                          <a:ea typeface="游ゴシック" pitchFamily="34" charset="-122"/>
                          <a:cs typeface="游ゴシック" pitchFamily="34" charset="-120"/>
                        </a:rPr>
                        <a:t>風速 m/s</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22354F"/>
                    </a:solidFill>
                  </a:tcPr>
                </a:tc>
                <a:tc>
                  <a:txBody>
                    <a:bodyPr/>
                    <a:lstStyle/>
                    <a:p>
                      <a:pPr marL="0" indent="0" algn="ctr">
                        <a:buNone/>
                      </a:pPr>
                      <a:r>
                        <a:rPr lang="ja-JP" altLang="en-US" sz="850" b="1" dirty="0">
                          <a:solidFill>
                            <a:srgbClr val="FFFFFF"/>
                          </a:solidFill>
                          <a:latin typeface="游ゴシック" pitchFamily="34" charset="0"/>
                          <a:ea typeface="游ゴシック" pitchFamily="34" charset="-122"/>
                          <a:cs typeface="游ゴシック" pitchFamily="34" charset="-120"/>
                        </a:rPr>
                        <a:t>列8</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22354F"/>
                    </a:solidFill>
                  </a:tcPr>
                </a:tc>
                <a:tc>
                  <a:txBody>
                    <a:bodyPr/>
                    <a:lstStyle/>
                    <a:p>
                      <a:pPr marL="0" indent="0" algn="ctr">
                        <a:buNone/>
                      </a:pPr>
                      <a:r>
                        <a:rPr lang="ja-JP" altLang="en-US" sz="850" b="1" dirty="0">
                          <a:solidFill>
                            <a:srgbClr val="FFFFFF"/>
                          </a:solidFill>
                          <a:latin typeface="游ゴシック" pitchFamily="34" charset="0"/>
                          <a:ea typeface="游ゴシック" pitchFamily="34" charset="-122"/>
                          <a:cs typeface="游ゴシック" pitchFamily="34" charset="-120"/>
                        </a:rPr>
                        <a:t>列11</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22354F"/>
                    </a:solidFill>
                  </a:tcPr>
                </a:tc>
                <a:tc>
                  <a:txBody>
                    <a:bodyPr/>
                    <a:lstStyle/>
                    <a:p>
                      <a:pPr marL="0" indent="0" algn="ctr">
                        <a:buNone/>
                      </a:pPr>
                      <a:r>
                        <a:rPr lang="ja-JP" altLang="en-US" sz="850" b="1" dirty="0">
                          <a:solidFill>
                            <a:srgbClr val="FFFFFF"/>
                          </a:solidFill>
                          <a:latin typeface="游ゴシック" pitchFamily="34" charset="0"/>
                          <a:ea typeface="游ゴシック" pitchFamily="34" charset="-122"/>
                          <a:cs typeface="游ゴシック" pitchFamily="34" charset="-120"/>
                        </a:rPr>
                        <a:t>割合</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22354F"/>
                    </a:solidFill>
                  </a:tcPr>
                </a:tc>
                <a:extLst>
                  <a:ext uri="{0D108BD9-81ED-4DB2-BD59-A6C34878D82A}">
                    <a16:rowId xmlns:a16="http://schemas.microsoft.com/office/drawing/2014/main" val="40000"/>
                  </a:ext>
                </a:extLst>
              </a:tr>
              <a:tr h="182880">
                <a:tc>
                  <a:txBody>
                    <a:bodyPr/>
                    <a:lstStyle/>
                    <a:p>
                      <a:pPr marL="0" indent="0" algn="ctr">
                        <a:buNone/>
                      </a:pPr>
                      <a:r>
                        <a:rPr lang="ja-JP" altLang="en-US" sz="850" dirty="0">
                          <a:solidFill>
                            <a:srgbClr val="172033"/>
                          </a:solidFill>
                          <a:latin typeface="游ゴシック" pitchFamily="34" charset="0"/>
                          <a:ea typeface="游ゴシック" pitchFamily="34" charset="-122"/>
                          <a:cs typeface="游ゴシック" pitchFamily="34" charset="-120"/>
                        </a:rPr>
                        <a:t>極弱風</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tc>
                  <a:txBody>
                    <a:bodyPr/>
                    <a:lstStyle/>
                    <a:p>
                      <a:pPr marL="0" indent="0" algn="ctr">
                        <a:buNone/>
                      </a:pPr>
                      <a:r>
                        <a:rPr lang="ja-JP" altLang="en-US" sz="850" dirty="0">
                          <a:solidFill>
                            <a:srgbClr val="172033"/>
                          </a:solidFill>
                          <a:latin typeface="游ゴシック" pitchFamily="34" charset="0"/>
                          <a:ea typeface="游ゴシック" pitchFamily="34" charset="-122"/>
                          <a:cs typeface="游ゴシック" pitchFamily="34" charset="-120"/>
                        </a:rPr>
                        <a:t>1.0以下</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tc>
                  <a:txBody>
                    <a:bodyPr/>
                    <a:lstStyle/>
                    <a:p>
                      <a:pPr marL="0" indent="0" algn="ctr">
                        <a:buNone/>
                      </a:pPr>
                      <a:r>
                        <a:rPr lang="ja-JP" altLang="en-US" sz="850" dirty="0">
                          <a:solidFill>
                            <a:srgbClr val="172033"/>
                          </a:solidFill>
                          <a:latin typeface="游ゴシック" pitchFamily="34" charset="0"/>
                          <a:ea typeface="游ゴシック" pitchFamily="34" charset="-122"/>
                          <a:cs typeface="游ゴシック" pitchFamily="34" charset="-120"/>
                        </a:rPr>
                        <a:t>50</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tc>
                  <a:txBody>
                    <a:bodyPr/>
                    <a:lstStyle/>
                    <a:p>
                      <a:pPr marL="0" indent="0" algn="ctr">
                        <a:buNone/>
                      </a:pPr>
                      <a:r>
                        <a:rPr lang="ja-JP" altLang="en-US" sz="850" dirty="0">
                          <a:solidFill>
                            <a:srgbClr val="172033"/>
                          </a:solidFill>
                          <a:latin typeface="游ゴシック" pitchFamily="34" charset="0"/>
                          <a:ea typeface="游ゴシック" pitchFamily="34" charset="-122"/>
                          <a:cs typeface="游ゴシック" pitchFamily="34" charset="-120"/>
                        </a:rPr>
                        <a:t>51</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tc>
                  <a:txBody>
                    <a:bodyPr/>
                    <a:lstStyle/>
                    <a:p>
                      <a:pPr marL="0" indent="0" algn="ctr">
                        <a:buNone/>
                      </a:pPr>
                      <a:r>
                        <a:rPr lang="ja-JP" altLang="en-US" sz="850" dirty="0">
                          <a:solidFill>
                            <a:srgbClr val="172033"/>
                          </a:solidFill>
                          <a:latin typeface="游ゴシック" pitchFamily="34" charset="0"/>
                          <a:ea typeface="游ゴシック" pitchFamily="34" charset="-122"/>
                          <a:cs typeface="游ゴシック" pitchFamily="34" charset="-120"/>
                        </a:rPr>
                        <a:t>18％</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extLst>
                  <a:ext uri="{0D108BD9-81ED-4DB2-BD59-A6C34878D82A}">
                    <a16:rowId xmlns:a16="http://schemas.microsoft.com/office/drawing/2014/main" val="40001"/>
                  </a:ext>
                </a:extLst>
              </a:tr>
              <a:tr h="182880">
                <a:tc>
                  <a:txBody>
                    <a:bodyPr/>
                    <a:lstStyle/>
                    <a:p>
                      <a:pPr marL="0" indent="0" algn="ctr">
                        <a:buNone/>
                      </a:pPr>
                      <a:r>
                        <a:rPr lang="ja-JP" altLang="en-US" sz="850" dirty="0">
                          <a:solidFill>
                            <a:srgbClr val="172033"/>
                          </a:solidFill>
                          <a:latin typeface="游ゴシック" pitchFamily="34" charset="0"/>
                          <a:ea typeface="游ゴシック" pitchFamily="34" charset="-122"/>
                          <a:cs typeface="游ゴシック" pitchFamily="34" charset="-120"/>
                        </a:rPr>
                        <a:t>弱風</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tc>
                  <a:txBody>
                    <a:bodyPr/>
                    <a:lstStyle/>
                    <a:p>
                      <a:pPr marL="0" indent="0" algn="ctr">
                        <a:buNone/>
                      </a:pPr>
                      <a:r>
                        <a:rPr lang="ja-JP" altLang="en-US" sz="850" dirty="0">
                          <a:solidFill>
                            <a:srgbClr val="172033"/>
                          </a:solidFill>
                          <a:latin typeface="游ゴシック" pitchFamily="34" charset="0"/>
                          <a:ea typeface="游ゴシック" pitchFamily="34" charset="-122"/>
                          <a:cs typeface="游ゴシック" pitchFamily="34" charset="-120"/>
                        </a:rPr>
                        <a:t>1.0超〜2.7</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tc>
                  <a:txBody>
                    <a:bodyPr/>
                    <a:lstStyle/>
                    <a:p>
                      <a:pPr marL="0" indent="0" algn="ctr">
                        <a:buNone/>
                      </a:pPr>
                      <a:r>
                        <a:rPr lang="ja-JP" altLang="en-US" sz="850" dirty="0">
                          <a:solidFill>
                            <a:srgbClr val="172033"/>
                          </a:solidFill>
                          <a:latin typeface="游ゴシック" pitchFamily="34" charset="0"/>
                          <a:ea typeface="游ゴシック" pitchFamily="34" charset="-122"/>
                          <a:cs typeface="游ゴシック" pitchFamily="34" charset="-120"/>
                        </a:rPr>
                        <a:t>161</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tc>
                  <a:txBody>
                    <a:bodyPr/>
                    <a:lstStyle/>
                    <a:p>
                      <a:pPr marL="0" indent="0" algn="ctr">
                        <a:buNone/>
                      </a:pPr>
                      <a:r>
                        <a:rPr lang="ja-JP" altLang="en-US" sz="850" dirty="0">
                          <a:solidFill>
                            <a:srgbClr val="172033"/>
                          </a:solidFill>
                          <a:latin typeface="游ゴシック" pitchFamily="34" charset="0"/>
                          <a:ea typeface="游ゴシック" pitchFamily="34" charset="-122"/>
                          <a:cs typeface="游ゴシック" pitchFamily="34" charset="-120"/>
                        </a:rPr>
                        <a:t>162</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tc>
                  <a:txBody>
                    <a:bodyPr/>
                    <a:lstStyle/>
                    <a:p>
                      <a:pPr marL="0" indent="0" algn="ctr">
                        <a:buNone/>
                      </a:pPr>
                      <a:r>
                        <a:rPr lang="ja-JP" altLang="en-US" sz="850" dirty="0">
                          <a:solidFill>
                            <a:srgbClr val="172033"/>
                          </a:solidFill>
                          <a:latin typeface="游ゴシック" pitchFamily="34" charset="0"/>
                          <a:ea typeface="游ゴシック" pitchFamily="34" charset="-122"/>
                          <a:cs typeface="游ゴシック" pitchFamily="34" charset="-120"/>
                        </a:rPr>
                        <a:t>59％</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extLst>
                  <a:ext uri="{0D108BD9-81ED-4DB2-BD59-A6C34878D82A}">
                    <a16:rowId xmlns:a16="http://schemas.microsoft.com/office/drawing/2014/main" val="40002"/>
                  </a:ext>
                </a:extLst>
              </a:tr>
              <a:tr h="182880">
                <a:tc>
                  <a:txBody>
                    <a:bodyPr/>
                    <a:lstStyle/>
                    <a:p>
                      <a:pPr marL="0" indent="0" algn="ctr">
                        <a:buNone/>
                      </a:pPr>
                      <a:r>
                        <a:rPr lang="ja-JP" altLang="en-US" sz="850" dirty="0">
                          <a:solidFill>
                            <a:srgbClr val="172033"/>
                          </a:solidFill>
                          <a:latin typeface="游ゴシック" pitchFamily="34" charset="0"/>
                          <a:ea typeface="游ゴシック" pitchFamily="34" charset="-122"/>
                          <a:cs typeface="游ゴシック" pitchFamily="34" charset="-120"/>
                        </a:rPr>
                        <a:t>中風</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tc>
                  <a:txBody>
                    <a:bodyPr/>
                    <a:lstStyle/>
                    <a:p>
                      <a:pPr marL="0" indent="0" algn="ctr">
                        <a:buNone/>
                      </a:pPr>
                      <a:r>
                        <a:rPr lang="ja-JP" altLang="en-US" sz="850" dirty="0">
                          <a:solidFill>
                            <a:srgbClr val="172033"/>
                          </a:solidFill>
                          <a:latin typeface="游ゴシック" pitchFamily="34" charset="0"/>
                          <a:ea typeface="游ゴシック" pitchFamily="34" charset="-122"/>
                          <a:cs typeface="游ゴシック" pitchFamily="34" charset="-120"/>
                        </a:rPr>
                        <a:t>2.7超〜4.1</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tc>
                  <a:txBody>
                    <a:bodyPr/>
                    <a:lstStyle/>
                    <a:p>
                      <a:pPr marL="0" indent="0" algn="ctr">
                        <a:buNone/>
                      </a:pPr>
                      <a:r>
                        <a:rPr lang="ja-JP" altLang="en-US" sz="850" dirty="0">
                          <a:solidFill>
                            <a:srgbClr val="172033"/>
                          </a:solidFill>
                          <a:latin typeface="游ゴシック" pitchFamily="34" charset="0"/>
                          <a:ea typeface="游ゴシック" pitchFamily="34" charset="-122"/>
                          <a:cs typeface="游ゴシック" pitchFamily="34" charset="-120"/>
                        </a:rPr>
                        <a:t>60</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tc>
                  <a:txBody>
                    <a:bodyPr/>
                    <a:lstStyle/>
                    <a:p>
                      <a:pPr marL="0" indent="0" algn="ctr">
                        <a:buNone/>
                      </a:pPr>
                      <a:r>
                        <a:rPr lang="ja-JP" altLang="en-US" sz="850" dirty="0">
                          <a:solidFill>
                            <a:srgbClr val="172033"/>
                          </a:solidFill>
                          <a:latin typeface="游ゴシック" pitchFamily="34" charset="0"/>
                          <a:ea typeface="游ゴシック" pitchFamily="34" charset="-122"/>
                          <a:cs typeface="游ゴシック" pitchFamily="34" charset="-120"/>
                        </a:rPr>
                        <a:t>60</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tc>
                  <a:txBody>
                    <a:bodyPr/>
                    <a:lstStyle/>
                    <a:p>
                      <a:pPr marL="0" indent="0" algn="ctr">
                        <a:buNone/>
                      </a:pPr>
                      <a:r>
                        <a:rPr lang="ja-JP" altLang="en-US" sz="850" dirty="0">
                          <a:solidFill>
                            <a:srgbClr val="172033"/>
                          </a:solidFill>
                          <a:latin typeface="游ゴシック" pitchFamily="34" charset="0"/>
                          <a:ea typeface="游ゴシック" pitchFamily="34" charset="-122"/>
                          <a:cs typeface="游ゴシック" pitchFamily="34" charset="-120"/>
                        </a:rPr>
                        <a:t>22％</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extLst>
                  <a:ext uri="{0D108BD9-81ED-4DB2-BD59-A6C34878D82A}">
                    <a16:rowId xmlns:a16="http://schemas.microsoft.com/office/drawing/2014/main" val="40003"/>
                  </a:ext>
                </a:extLst>
              </a:tr>
              <a:tr h="182880">
                <a:tc>
                  <a:txBody>
                    <a:bodyPr/>
                    <a:lstStyle/>
                    <a:p>
                      <a:pPr marL="0" indent="0" algn="ctr">
                        <a:buNone/>
                      </a:pPr>
                      <a:r>
                        <a:rPr lang="ja-JP" altLang="en-US" sz="850" dirty="0">
                          <a:solidFill>
                            <a:srgbClr val="172033"/>
                          </a:solidFill>
                          <a:latin typeface="游ゴシック" pitchFamily="34" charset="0"/>
                          <a:ea typeface="游ゴシック" pitchFamily="34" charset="-122"/>
                          <a:cs typeface="游ゴシック" pitchFamily="34" charset="-120"/>
                        </a:rPr>
                        <a:t>強風</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tc>
                  <a:txBody>
                    <a:bodyPr/>
                    <a:lstStyle/>
                    <a:p>
                      <a:pPr marL="0" indent="0" algn="ctr">
                        <a:buNone/>
                      </a:pPr>
                      <a:r>
                        <a:rPr lang="ja-JP" altLang="en-US" sz="850" dirty="0">
                          <a:solidFill>
                            <a:srgbClr val="172033"/>
                          </a:solidFill>
                          <a:latin typeface="游ゴシック" pitchFamily="34" charset="0"/>
                          <a:ea typeface="游ゴシック" pitchFamily="34" charset="-122"/>
                          <a:cs typeface="游ゴシック" pitchFamily="34" charset="-120"/>
                        </a:rPr>
                        <a:t>4.1超</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tc>
                  <a:txBody>
                    <a:bodyPr/>
                    <a:lstStyle/>
                    <a:p>
                      <a:pPr marL="0" indent="0" algn="ctr">
                        <a:buNone/>
                      </a:pPr>
                      <a:r>
                        <a:rPr lang="ja-JP" altLang="en-US" sz="850" dirty="0">
                          <a:solidFill>
                            <a:srgbClr val="172033"/>
                          </a:solidFill>
                          <a:latin typeface="游ゴシック" pitchFamily="34" charset="0"/>
                          <a:ea typeface="游ゴシック" pitchFamily="34" charset="-122"/>
                          <a:cs typeface="游ゴシック" pitchFamily="34" charset="-120"/>
                        </a:rPr>
                        <a:t>3</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tc>
                  <a:txBody>
                    <a:bodyPr/>
                    <a:lstStyle/>
                    <a:p>
                      <a:pPr marL="0" indent="0" algn="ctr">
                        <a:buNone/>
                      </a:pPr>
                      <a:r>
                        <a:rPr lang="ja-JP" altLang="en-US" sz="850" dirty="0">
                          <a:solidFill>
                            <a:srgbClr val="172033"/>
                          </a:solidFill>
                          <a:latin typeface="游ゴシック" pitchFamily="34" charset="0"/>
                          <a:ea typeface="游ゴシック" pitchFamily="34" charset="-122"/>
                          <a:cs typeface="游ゴシック" pitchFamily="34" charset="-120"/>
                        </a:rPr>
                        <a:t>3</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tc>
                  <a:txBody>
                    <a:bodyPr/>
                    <a:lstStyle/>
                    <a:p>
                      <a:pPr marL="0" indent="0" algn="ctr">
                        <a:buNone/>
                      </a:pPr>
                      <a:r>
                        <a:rPr lang="ja-JP" altLang="en-US" sz="850" dirty="0">
                          <a:solidFill>
                            <a:srgbClr val="172033"/>
                          </a:solidFill>
                          <a:latin typeface="游ゴシック" pitchFamily="34" charset="0"/>
                          <a:ea typeface="游ゴシック" pitchFamily="34" charset="-122"/>
                          <a:cs typeface="游ゴシック" pitchFamily="34" charset="-120"/>
                        </a:rPr>
                        <a:t>1％</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extLst>
                  <a:ext uri="{0D108BD9-81ED-4DB2-BD59-A6C34878D82A}">
                    <a16:rowId xmlns:a16="http://schemas.microsoft.com/office/drawing/2014/main" val="40004"/>
                  </a:ext>
                </a:extLst>
              </a:tr>
              <a:tr h="182880">
                <a:tc>
                  <a:txBody>
                    <a:bodyPr/>
                    <a:lstStyle/>
                    <a:p>
                      <a:pPr marL="0" indent="0" algn="ctr">
                        <a:buNone/>
                      </a:pPr>
                      <a:r>
                        <a:rPr lang="ja-JP" altLang="en-US" sz="850" b="1" dirty="0">
                          <a:solidFill>
                            <a:srgbClr val="172033"/>
                          </a:solidFill>
                          <a:latin typeface="游ゴシック" pitchFamily="34" charset="0"/>
                          <a:ea typeface="游ゴシック" pitchFamily="34" charset="-122"/>
                          <a:cs typeface="游ゴシック" pitchFamily="34" charset="-120"/>
                        </a:rPr>
                        <a:t>合計</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tc>
                  <a:txBody>
                    <a:bodyPr/>
                    <a:lstStyle/>
                    <a:p>
                      <a:pPr marL="0" indent="0" algn="ctr">
                        <a:buNone/>
                      </a:pPr>
                      <a:endParaRP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tc>
                  <a:txBody>
                    <a:bodyPr/>
                    <a:lstStyle/>
                    <a:p>
                      <a:pPr marL="0" indent="0" algn="ctr">
                        <a:buNone/>
                      </a:pPr>
                      <a:r>
                        <a:rPr lang="ja-JP" altLang="en-US" sz="850" b="1" dirty="0">
                          <a:solidFill>
                            <a:srgbClr val="172033"/>
                          </a:solidFill>
                          <a:latin typeface="游ゴシック" pitchFamily="34" charset="0"/>
                          <a:ea typeface="游ゴシック" pitchFamily="34" charset="-122"/>
                          <a:cs typeface="游ゴシック" pitchFamily="34" charset="-120"/>
                        </a:rPr>
                        <a:t>274</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tc>
                  <a:txBody>
                    <a:bodyPr/>
                    <a:lstStyle/>
                    <a:p>
                      <a:pPr marL="0" indent="0" algn="ctr">
                        <a:buNone/>
                      </a:pPr>
                      <a:r>
                        <a:rPr lang="ja-JP" altLang="en-US" sz="850" b="1" dirty="0">
                          <a:solidFill>
                            <a:srgbClr val="172033"/>
                          </a:solidFill>
                          <a:latin typeface="游ゴシック" pitchFamily="34" charset="0"/>
                          <a:ea typeface="游ゴシック" pitchFamily="34" charset="-122"/>
                          <a:cs typeface="游ゴシック" pitchFamily="34" charset="-120"/>
                        </a:rPr>
                        <a:t>276</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tc>
                  <a:txBody>
                    <a:bodyPr/>
                    <a:lstStyle/>
                    <a:p>
                      <a:pPr marL="0" indent="0" algn="ctr">
                        <a:buNone/>
                      </a:pPr>
                      <a:r>
                        <a:rPr lang="ja-JP" altLang="en-US" sz="850" b="1" dirty="0">
                          <a:solidFill>
                            <a:srgbClr val="172033"/>
                          </a:solidFill>
                          <a:latin typeface="游ゴシック" pitchFamily="34" charset="0"/>
                          <a:ea typeface="游ゴシック" pitchFamily="34" charset="-122"/>
                          <a:cs typeface="游ゴシック" pitchFamily="34" charset="-120"/>
                        </a:rPr>
                        <a:t>100％</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extLst>
                  <a:ext uri="{0D108BD9-81ED-4DB2-BD59-A6C34878D82A}">
                    <a16:rowId xmlns:a16="http://schemas.microsoft.com/office/drawing/2014/main" val="40005"/>
                  </a:ext>
                </a:extLst>
              </a:tr>
            </a:tbl>
          </a:graphicData>
        </a:graphic>
      </p:graphicFrame>
      <p:sp>
        <p:nvSpPr>
          <p:cNvPr id="32" name="結果 背景"/>
          <p:cNvSpPr/>
          <p:nvPr/>
        </p:nvSpPr>
        <p:spPr>
          <a:xfrm>
            <a:off x="5577840" y="3127248"/>
            <a:ext cx="3200400" cy="868680"/>
          </a:xfrm>
          <a:prstGeom prst="roundRect">
            <a:avLst>
              <a:gd name="adj" fmla="val 2532"/>
            </a:avLst>
          </a:prstGeom>
          <a:solidFill>
            <a:srgbClr val="EAF4FF"/>
          </a:solidFill>
          <a:ln w="12700">
            <a:solidFill>
              <a:srgbClr val="EAF4FF"/>
            </a:solidFill>
          </a:ln>
        </p:spPr>
        <p:txBody>
          <a:bodyPr/>
          <a:lstStyle/>
          <a:p>
            <a:endParaRPr lang="ja-JP" altLang="en-US"/>
          </a:p>
        </p:txBody>
      </p:sp>
      <p:sp>
        <p:nvSpPr>
          <p:cNvPr id="33" name="結果"/>
          <p:cNvSpPr txBox="1"/>
          <p:nvPr/>
        </p:nvSpPr>
        <p:spPr>
          <a:xfrm>
            <a:off x="5715000" y="3172968"/>
            <a:ext cx="2926080" cy="795528"/>
          </a:xfrm>
          <a:prstGeom prst="rect">
            <a:avLst/>
          </a:prstGeom>
          <a:noFill/>
          <a:ln/>
        </p:spPr>
        <p:txBody>
          <a:bodyPr wrap="square" lIns="0" tIns="0" rIns="0" bIns="0" rtlCol="0" anchor="t"/>
          <a:lstStyle/>
          <a:p>
            <a:pPr marL="0" indent="0">
              <a:spcAft>
                <a:spcPts val="100"/>
              </a:spcAft>
              <a:buNone/>
            </a:pPr>
            <a:r>
              <a:rPr lang="ja-JP" altLang="en-US" sz="1050" b="1" dirty="0">
                <a:solidFill>
                  <a:srgbClr val="22354F"/>
                </a:solidFill>
                <a:latin typeface="游ゴシック" pitchFamily="34" charset="0"/>
                <a:ea typeface="游ゴシック" pitchFamily="34" charset="-122"/>
                <a:cs typeface="游ゴシック" pitchFamily="34" charset="-120"/>
              </a:rPr>
              <a:t>結果</a:t>
            </a:r>
            <a:endParaRPr lang="ja-JP" altLang="en-US" sz="1050" dirty="0"/>
          </a:p>
          <a:p>
            <a:pPr marL="152400" indent="-152400">
              <a:spcAft>
                <a:spcPts val="100"/>
              </a:spcAft>
              <a:buSzPct val="100000"/>
              <a:buChar char="•"/>
            </a:pPr>
            <a:r>
              <a:rPr lang="ja-JP" altLang="en-US" sz="950" dirty="0">
                <a:solidFill>
                  <a:srgbClr val="172033"/>
                </a:solidFill>
                <a:latin typeface="游ゴシック" pitchFamily="34" charset="0"/>
                <a:ea typeface="游ゴシック" pitchFamily="34" charset="-122"/>
                <a:cs typeface="游ゴシック" pitchFamily="34" charset="-120"/>
              </a:rPr>
              <a:t>列8：極弱風−0.14℃→中風−0.03℃と0℃に近づく</a:t>
            </a:r>
            <a:endParaRPr lang="ja-JP" altLang="en-US" sz="950" dirty="0"/>
          </a:p>
          <a:p>
            <a:pPr marL="152400" indent="-152400">
              <a:spcAft>
                <a:spcPts val="100"/>
              </a:spcAft>
              <a:buSzPct val="100000"/>
              <a:buChar char="•"/>
            </a:pPr>
            <a:r>
              <a:rPr lang="ja-JP" altLang="en-US" sz="950" dirty="0">
                <a:solidFill>
                  <a:srgbClr val="172033"/>
                </a:solidFill>
                <a:latin typeface="游ゴシック" pitchFamily="34" charset="0"/>
                <a:ea typeface="游ゴシック" pitchFamily="34" charset="-122"/>
                <a:cs typeface="游ゴシック" pitchFamily="34" charset="-120"/>
              </a:rPr>
              <a:t>列11：どの区分も約0.2℃低い（強風は3時間のみ）</a:t>
            </a:r>
            <a:endParaRPr lang="ja-JP" altLang="en-US" sz="950" dirty="0"/>
          </a:p>
        </p:txBody>
      </p:sp>
      <p:sp>
        <p:nvSpPr>
          <p:cNvPr id="34" name="考察 背景"/>
          <p:cNvSpPr/>
          <p:nvPr/>
        </p:nvSpPr>
        <p:spPr>
          <a:xfrm>
            <a:off x="5577840" y="4050791"/>
            <a:ext cx="3200400" cy="704088"/>
          </a:xfrm>
          <a:prstGeom prst="roundRect">
            <a:avLst>
              <a:gd name="adj" fmla="val 2532"/>
            </a:avLst>
          </a:prstGeom>
          <a:solidFill>
            <a:srgbClr val="FFF7D1"/>
          </a:solidFill>
          <a:ln w="12700">
            <a:solidFill>
              <a:srgbClr val="FFF7D1"/>
            </a:solidFill>
          </a:ln>
        </p:spPr>
        <p:txBody>
          <a:bodyPr/>
          <a:lstStyle/>
          <a:p>
            <a:endParaRPr lang="ja-JP" altLang="en-US"/>
          </a:p>
        </p:txBody>
      </p:sp>
      <p:sp>
        <p:nvSpPr>
          <p:cNvPr id="35" name="考察"/>
          <p:cNvSpPr txBox="1"/>
          <p:nvPr/>
        </p:nvSpPr>
        <p:spPr>
          <a:xfrm>
            <a:off x="5715000" y="4096512"/>
            <a:ext cx="2926080" cy="640080"/>
          </a:xfrm>
          <a:prstGeom prst="rect">
            <a:avLst/>
          </a:prstGeom>
          <a:noFill/>
          <a:ln/>
        </p:spPr>
        <p:txBody>
          <a:bodyPr wrap="square" lIns="0" tIns="0" rIns="0" bIns="0" rtlCol="0" anchor="t"/>
          <a:lstStyle/>
          <a:p>
            <a:pPr marL="0" indent="0">
              <a:spcAft>
                <a:spcPts val="0"/>
              </a:spcAft>
              <a:buNone/>
            </a:pPr>
            <a:r>
              <a:rPr lang="ja-JP" altLang="en-US" sz="950" b="1" dirty="0">
                <a:solidFill>
                  <a:srgbClr val="ED7D31"/>
                </a:solidFill>
                <a:latin typeface="游ゴシック" pitchFamily="34" charset="0"/>
                <a:ea typeface="游ゴシック" pitchFamily="34" charset="-122"/>
                <a:cs typeface="游ゴシック" pitchFamily="34" charset="-120"/>
              </a:rPr>
              <a:t>考察</a:t>
            </a:r>
            <a:endParaRPr lang="ja-JP" altLang="en-US" sz="950" dirty="0"/>
          </a:p>
          <a:p>
            <a:pPr marL="0" indent="0">
              <a:spcAft>
                <a:spcPts val="0"/>
              </a:spcAft>
              <a:buNone/>
            </a:pPr>
            <a:r>
              <a:rPr lang="ja-JP" altLang="en-US" sz="850" dirty="0">
                <a:solidFill>
                  <a:srgbClr val="172033"/>
                </a:solidFill>
                <a:latin typeface="游ゴシック" pitchFamily="34" charset="0"/>
                <a:ea typeface="游ゴシック" pitchFamily="34" charset="-122"/>
                <a:cs typeface="游ゴシック" pitchFamily="34" charset="-120"/>
              </a:rPr>
              <a:t>中風の30％は晴れて暑い時間（極弱風は9％）で気温の影響が重なる。気温・雨をそろえると違いはほぼ消える（p.23）。通路内の風速は中風以上に入らないため屋上の風速を使った</a:t>
            </a:r>
            <a:endParaRPr lang="ja-JP" altLang="en-US" sz="850" dirty="0"/>
          </a:p>
        </p:txBody>
      </p:sp>
    </p:spTree>
  </p:cSld>
  <p:clrMapOvr>
    <a:masterClrMapping/>
  </p:clrMapOvr>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分析5：風速と吸気温度差の関係（日ごとの推移）</a:t>
            </a:r>
            <a:endParaRPr lang="en-US" sz="2000" dirty="0"/>
          </a:p>
        </p:txBody>
      </p:sp>
      <p:sp>
        <p:nvSpPr>
          <p:cNvPr id="3" name="Shape 1"/>
          <p:cNvSpPr/>
          <p:nvPr/>
        </p:nvSpPr>
        <p:spPr>
          <a:xfrm>
            <a:off x="7726680" y="155448"/>
            <a:ext cx="1097280" cy="274320"/>
          </a:xfrm>
          <a:prstGeom prst="roundRect">
            <a:avLst>
              <a:gd name="adj" fmla="val 26667"/>
            </a:avLst>
          </a:prstGeom>
          <a:solidFill>
            <a:srgbClr val="8E5BC4"/>
          </a:solidFill>
          <a:ln w="12700">
            <a:solidFill>
              <a:srgbClr val="8E5BC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補足分析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風の強さによって吸気温度差がどう違うかを、日ごとの推移で一目で見る</a:t>
            </a:r>
            <a:endParaRPr lang="en-US" sz="1200" dirty="0"/>
          </a:p>
        </p:txBody>
      </p:sp>
      <p:sp>
        <p:nvSpPr>
          <p:cNvPr id="6" name="Text 4"/>
          <p:cNvSpPr txBox="1"/>
          <p:nvPr/>
        </p:nvSpPr>
        <p:spPr>
          <a:xfrm>
            <a:off x="365760" y="987552"/>
            <a:ext cx="8412480" cy="292608"/>
          </a:xfrm>
          <a:prstGeom prst="rect">
            <a:avLst/>
          </a:prstGeom>
          <a:noFill/>
          <a:ln/>
        </p:spPr>
        <p:txBody>
          <a:bodyPr wrap="square" lIns="0" tIns="0" rIns="0" bIns="0" rtlCol="0" anchor="ctr"/>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方法　</a:t>
            </a:r>
            <a:r>
              <a:rPr lang="en-US" sz="1050" dirty="0">
                <a:solidFill>
                  <a:srgbClr val="5E6B7A"/>
                </a:solidFill>
                <a:latin typeface="游ゴシック" pitchFamily="34" charset="0"/>
                <a:ea typeface="游ゴシック" pitchFamily="34" charset="-122"/>
                <a:cs typeface="游ゴシック" pitchFamily="34" charset="-120"/>
              </a:rPr>
              <a:t>上段：日中平均の吸気温度、中段：吸気温度差、下段：日中平均の屋上風速の区分（濃いほど強い）。日付は3段で共通</a:t>
            </a:r>
            <a:endParaRPr lang="en-US" sz="1050" dirty="0"/>
          </a:p>
        </p:txBody>
      </p:sp>
      <p:sp>
        <p:nvSpPr>
          <p:cNvPr id="18" name="Shape 16"/>
          <p:cNvSpPr/>
          <p:nvPr/>
        </p:nvSpPr>
        <p:spPr>
          <a:xfrm>
            <a:off x="5989320" y="1298448"/>
            <a:ext cx="2788920" cy="1298448"/>
          </a:xfrm>
          <a:prstGeom prst="roundRect">
            <a:avLst>
              <a:gd name="adj" fmla="val 4225"/>
            </a:avLst>
          </a:prstGeom>
          <a:solidFill>
            <a:srgbClr val="E4F7F4"/>
          </a:solidFill>
          <a:ln w="12700">
            <a:solidFill>
              <a:srgbClr val="E4F7F4"/>
            </a:solidFill>
            <a:prstDash val="solid"/>
          </a:ln>
        </p:spPr>
        <p:txBody>
          <a:bodyPr/>
          <a:lstStyle/>
          <a:p>
            <a:endParaRPr lang="ja-JP" altLang="en-US"/>
          </a:p>
        </p:txBody>
      </p:sp>
      <p:sp>
        <p:nvSpPr>
          <p:cNvPr id="19" name="Text 17"/>
          <p:cNvSpPr txBox="1"/>
          <p:nvPr/>
        </p:nvSpPr>
        <p:spPr>
          <a:xfrm>
            <a:off x="6126480" y="1371600"/>
            <a:ext cx="251460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風速の区分（日中平均）</a:t>
            </a:r>
            <a:endParaRPr lang="en-US" sz="1200" dirty="0"/>
          </a:p>
        </p:txBody>
      </p:sp>
      <p:sp>
        <p:nvSpPr>
          <p:cNvPr id="20" name="Text 18"/>
          <p:cNvSpPr txBox="1"/>
          <p:nvPr/>
        </p:nvSpPr>
        <p:spPr>
          <a:xfrm>
            <a:off x="6126480" y="1664208"/>
            <a:ext cx="2514600" cy="868680"/>
          </a:xfrm>
          <a:prstGeom prst="rect">
            <a:avLst/>
          </a:prstGeom>
          <a:noFill/>
          <a:ln/>
        </p:spPr>
        <p:txBody>
          <a:bodyPr wrap="square" lIns="0" tIns="0" rIns="0" bIns="0" rtlCol="0" anchor="t"/>
          <a:lstStyle/>
          <a:p>
            <a:pPr marL="152400" indent="-152400">
              <a:spcAft>
                <a:spcPts val="300"/>
              </a:spcAft>
              <a:buSzPct val="100000"/>
              <a:buChar char="•"/>
            </a:pPr>
            <a:r>
              <a:rPr lang="en-US" sz="850" dirty="0">
                <a:solidFill>
                  <a:srgbClr val="172033"/>
                </a:solidFill>
                <a:latin typeface="游ゴシック" pitchFamily="34" charset="0"/>
                <a:ea typeface="游ゴシック" pitchFamily="34" charset="-122"/>
                <a:cs typeface="游ゴシック" pitchFamily="34" charset="-120"/>
              </a:rPr>
              <a:t>極弱風：1.0m/s以下、弱風：1.0超〜2.7</a:t>
            </a:r>
            <a:endParaRPr lang="en-US" sz="850" dirty="0"/>
          </a:p>
          <a:p>
            <a:pPr marL="152400" indent="-152400">
              <a:spcAft>
                <a:spcPts val="300"/>
              </a:spcAft>
              <a:buSzPct val="100000"/>
              <a:buChar char="•"/>
            </a:pPr>
            <a:r>
              <a:rPr lang="en-US" sz="850" dirty="0">
                <a:solidFill>
                  <a:srgbClr val="172033"/>
                </a:solidFill>
                <a:latin typeface="游ゴシック" pitchFamily="34" charset="0"/>
                <a:ea typeface="游ゴシック" pitchFamily="34" charset="-122"/>
                <a:cs typeface="游ゴシック" pitchFamily="34" charset="-120"/>
              </a:rPr>
              <a:t>中風：2.7超〜4.1、強風：4.1超</a:t>
            </a:r>
            <a:endParaRPr lang="en-US" sz="850" dirty="0"/>
          </a:p>
          <a:p>
            <a:pPr marL="152400" indent="-152400">
              <a:spcAft>
                <a:spcPts val="300"/>
              </a:spcAft>
              <a:buSzPct val="100000"/>
              <a:buChar char="•"/>
            </a:pPr>
            <a:r>
              <a:rPr lang="en-US" sz="850" dirty="0">
                <a:solidFill>
                  <a:srgbClr val="172033"/>
                </a:solidFill>
                <a:latin typeface="游ゴシック" pitchFamily="34" charset="0"/>
                <a:ea typeface="游ゴシック" pitchFamily="34" charset="-122"/>
                <a:cs typeface="游ゴシック" pitchFamily="34" charset="-120"/>
              </a:rPr>
              <a:t>屋上の風速（4区分が成り立つのは屋上のみ。p.21）。9/14は計測終了で値なし</a:t>
            </a:r>
            <a:endParaRPr lang="en-US" sz="850" dirty="0"/>
          </a:p>
        </p:txBody>
      </p:sp>
      <p:sp>
        <p:nvSpPr>
          <p:cNvPr id="21" name="Shape 19"/>
          <p:cNvSpPr/>
          <p:nvPr/>
        </p:nvSpPr>
        <p:spPr>
          <a:xfrm>
            <a:off x="5989320" y="2670048"/>
            <a:ext cx="2788920" cy="1234440"/>
          </a:xfrm>
          <a:prstGeom prst="roundRect">
            <a:avLst>
              <a:gd name="adj" fmla="val 4444"/>
            </a:avLst>
          </a:prstGeom>
          <a:solidFill>
            <a:srgbClr val="EAF4FF"/>
          </a:solidFill>
          <a:ln w="12700">
            <a:solidFill>
              <a:srgbClr val="EAF4FF"/>
            </a:solidFill>
            <a:prstDash val="solid"/>
          </a:ln>
        </p:spPr>
        <p:txBody>
          <a:bodyPr/>
          <a:lstStyle/>
          <a:p>
            <a:endParaRPr lang="ja-JP" altLang="en-US"/>
          </a:p>
        </p:txBody>
      </p:sp>
      <p:sp>
        <p:nvSpPr>
          <p:cNvPr id="22" name="Text 20"/>
          <p:cNvSpPr txBox="1"/>
          <p:nvPr/>
        </p:nvSpPr>
        <p:spPr>
          <a:xfrm>
            <a:off x="6126480" y="2743200"/>
            <a:ext cx="251460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結果（勤務日）</a:t>
            </a:r>
            <a:endParaRPr lang="en-US" sz="1200" dirty="0"/>
          </a:p>
        </p:txBody>
      </p:sp>
      <p:sp>
        <p:nvSpPr>
          <p:cNvPr id="23" name="Text 21"/>
          <p:cNvSpPr txBox="1"/>
          <p:nvPr/>
        </p:nvSpPr>
        <p:spPr>
          <a:xfrm>
            <a:off x="6126480" y="3035808"/>
            <a:ext cx="2514600" cy="804672"/>
          </a:xfrm>
          <a:prstGeom prst="rect">
            <a:avLst/>
          </a:prstGeom>
          <a:noFill/>
          <a:ln/>
        </p:spPr>
        <p:txBody>
          <a:bodyPr wrap="square" lIns="0" tIns="0" rIns="0" bIns="0" rtlCol="0" anchor="t"/>
          <a:lstStyle/>
          <a:p>
            <a:pPr marL="152400" indent="-152400">
              <a:spcAft>
                <a:spcPts val="200"/>
              </a:spcAft>
              <a:buSzPct val="100000"/>
              <a:buChar char="•"/>
            </a:pPr>
            <a:r>
              <a:rPr lang="ja-JP" altLang="en-US" sz="850" dirty="0">
                <a:solidFill>
                  <a:srgbClr val="172033"/>
                </a:solidFill>
                <a:latin typeface="游ゴシック" pitchFamily="34" charset="0"/>
                <a:ea typeface="游ゴシック" pitchFamily="34" charset="-122"/>
                <a:cs typeface="游ゴシック" pitchFamily="34" charset="-120"/>
              </a:rPr>
              <a:t>極弱風（3日間）：列8−0.38℃、列11−0.41℃</a:t>
            </a:r>
            <a:endParaRPr lang="ja-JP" altLang="en-US" sz="850" dirty="0"/>
          </a:p>
          <a:p>
            <a:pPr marL="152400" indent="-152400">
              <a:spcAft>
                <a:spcPts val="200"/>
              </a:spcAft>
              <a:buSzPct val="100000"/>
              <a:buChar char="•"/>
            </a:pPr>
            <a:r>
              <a:rPr lang="ja-JP" altLang="en-US" sz="850" dirty="0">
                <a:solidFill>
                  <a:srgbClr val="172033"/>
                </a:solidFill>
                <a:latin typeface="游ゴシック" pitchFamily="34" charset="0"/>
                <a:ea typeface="游ゴシック" pitchFamily="34" charset="-122"/>
                <a:cs typeface="游ゴシック" pitchFamily="34" charset="-120"/>
              </a:rPr>
              <a:t>弱風（22日間）：列8−0.03℃、列11−0.22℃</a:t>
            </a:r>
            <a:endParaRPr lang="ja-JP" altLang="en-US" sz="850" dirty="0"/>
          </a:p>
          <a:p>
            <a:pPr marL="152400" indent="-152400">
              <a:spcAft>
                <a:spcPts val="200"/>
              </a:spcAft>
              <a:buSzPct val="100000"/>
              <a:buChar char="•"/>
            </a:pPr>
            <a:r>
              <a:rPr lang="ja-JP" altLang="en-US" sz="850" dirty="0">
                <a:solidFill>
                  <a:srgbClr val="172033"/>
                </a:solidFill>
                <a:latin typeface="游ゴシック" pitchFamily="34" charset="0"/>
                <a:ea typeface="游ゴシック" pitchFamily="34" charset="-122"/>
                <a:cs typeface="游ゴシック" pitchFamily="34" charset="-120"/>
              </a:rPr>
              <a:t>中風（6日間）：列8＋0.01℃、列11−0.35℃。強風の日はない</a:t>
            </a:r>
            <a:endParaRPr lang="ja-JP" altLang="en-US" sz="850" dirty="0"/>
          </a:p>
        </p:txBody>
      </p:sp>
      <p:sp>
        <p:nvSpPr>
          <p:cNvPr id="24" name="Shape 22"/>
          <p:cNvSpPr/>
          <p:nvPr/>
        </p:nvSpPr>
        <p:spPr>
          <a:xfrm>
            <a:off x="5989320" y="3977640"/>
            <a:ext cx="2788920" cy="749808"/>
          </a:xfrm>
          <a:prstGeom prst="roundRect">
            <a:avLst>
              <a:gd name="adj" fmla="val 7317"/>
            </a:avLst>
          </a:prstGeom>
          <a:solidFill>
            <a:srgbClr val="FFF7D1"/>
          </a:solidFill>
          <a:ln w="12700">
            <a:solidFill>
              <a:srgbClr val="FFF7D1"/>
            </a:solidFill>
            <a:prstDash val="solid"/>
          </a:ln>
        </p:spPr>
        <p:txBody>
          <a:bodyPr/>
          <a:lstStyle/>
          <a:p>
            <a:endParaRPr lang="ja-JP" altLang="en-US"/>
          </a:p>
        </p:txBody>
      </p:sp>
      <p:sp>
        <p:nvSpPr>
          <p:cNvPr id="25" name="Text 23"/>
          <p:cNvSpPr txBox="1"/>
          <p:nvPr/>
        </p:nvSpPr>
        <p:spPr>
          <a:xfrm>
            <a:off x="6080760" y="3995928"/>
            <a:ext cx="2606040" cy="713232"/>
          </a:xfrm>
          <a:prstGeom prst="rect">
            <a:avLst/>
          </a:prstGeom>
          <a:noFill/>
          <a:ln/>
        </p:spPr>
        <p:txBody>
          <a:bodyPr wrap="square" lIns="0" tIns="0" rIns="0" bIns="0" rtlCol="0" anchor="ctr"/>
          <a:lstStyle/>
          <a:p>
            <a:pPr marL="0" indent="0">
              <a:spcAft>
                <a:spcPts val="0"/>
              </a:spcAft>
              <a:buNone/>
            </a:pPr>
            <a:r>
              <a:rPr lang="ja-JP" altLang="en-US" sz="900" b="1" dirty="0">
                <a:solidFill>
                  <a:srgbClr val="ED7D31"/>
                </a:solidFill>
                <a:latin typeface="游ゴシック" pitchFamily="34" charset="0"/>
                <a:ea typeface="游ゴシック" pitchFamily="34" charset="-122"/>
                <a:cs typeface="游ゴシック" pitchFamily="34" charset="-120"/>
              </a:rPr>
              <a:t>読み取り　</a:t>
            </a:r>
            <a:r>
              <a:rPr lang="ja-JP" altLang="en-US" sz="900" dirty="0">
                <a:solidFill>
                  <a:srgbClr val="172033"/>
                </a:solidFill>
                <a:latin typeface="游ゴシック" pitchFamily="34" charset="0"/>
                <a:ea typeface="游ゴシック" pitchFamily="34" charset="-122"/>
                <a:cs typeface="游ゴシック" pitchFamily="34" charset="-120"/>
              </a:rPr>
              <a:t>風の弱い日ほど低く見えるが、極弱風の3日間は涼しい曇りの日（平均26.3℃）。中風の日は暑い晴れの日（31.6℃）で、風だけの影響とは言えない</a:t>
            </a:r>
            <a:endParaRPr lang="ja-JP" altLang="en-US" sz="900" dirty="0"/>
          </a:p>
        </p:txBody>
      </p:sp>
      <p:sp>
        <p:nvSpPr>
          <p:cNvPr id="7"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22</a:t>
            </a:fld>
            <a:endParaRPr lang="en-US"/>
          </a:p>
        </p:txBody>
      </p:sp>
      <p:graphicFrame>
        <p:nvGraphicFramePr>
          <p:cNvPr id="26" name="グラフ wx_t"/>
          <p:cNvGraphicFramePr>
            <a:graphicFrameLocks noGrp="1"/>
          </p:cNvGraphicFramePr>
          <p:nvPr/>
        </p:nvGraphicFramePr>
        <p:xfrm>
          <a:off x="365760" y="1298448"/>
          <a:ext cx="5486400" cy="129844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7" name="グラフ wx_m"/>
          <p:cNvGraphicFramePr>
            <a:graphicFrameLocks noGrp="1"/>
          </p:cNvGraphicFramePr>
          <p:nvPr/>
        </p:nvGraphicFramePr>
        <p:xfrm>
          <a:off x="365760" y="2596896"/>
          <a:ext cx="5486400" cy="1170432"/>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8" name="グラフ wx_b"/>
          <p:cNvGraphicFramePr>
            <a:graphicFrameLocks noGrp="1"/>
          </p:cNvGraphicFramePr>
          <p:nvPr/>
        </p:nvGraphicFramePr>
        <p:xfrm>
          <a:off x="365760" y="3767328"/>
          <a:ext cx="5486400" cy="749808"/>
        </p:xfrm>
        <a:graphic>
          <a:graphicData uri="http://schemas.openxmlformats.org/drawingml/2006/chart">
            <c:chart xmlns:c="http://schemas.openxmlformats.org/drawingml/2006/chart" xmlns:r="http://schemas.openxmlformats.org/officeDocument/2006/relationships" r:id="rId6"/>
          </a:graphicData>
        </a:graphic>
      </p:graphicFrame>
      <p:sp>
        <p:nvSpPr>
          <p:cNvPr id="29" name="凡例 晴れ"/>
          <p:cNvSpPr/>
          <p:nvPr/>
        </p:nvSpPr>
        <p:spPr>
          <a:xfrm>
            <a:off x="685800" y="4572000"/>
            <a:ext cx="146304" cy="128016"/>
          </a:xfrm>
          <a:prstGeom prst="rect">
            <a:avLst/>
          </a:prstGeom>
          <a:solidFill>
            <a:srgbClr val="BDD7EE"/>
          </a:solidFill>
          <a:ln w="12700">
            <a:solidFill>
              <a:srgbClr val="8A949E"/>
            </a:solidFill>
          </a:ln>
        </p:spPr>
        <p:txBody>
          <a:bodyPr/>
          <a:lstStyle/>
          <a:p>
            <a:endParaRPr lang="ja-JP" altLang="en-US"/>
          </a:p>
        </p:txBody>
      </p:sp>
      <p:sp>
        <p:nvSpPr>
          <p:cNvPr id="30" name="凡例文字 晴れ"/>
          <p:cNvSpPr txBox="1"/>
          <p:nvPr/>
        </p:nvSpPr>
        <p:spPr>
          <a:xfrm>
            <a:off x="877824" y="4535424"/>
            <a:ext cx="466344" cy="201168"/>
          </a:xfrm>
          <a:prstGeom prst="rect">
            <a:avLst/>
          </a:prstGeom>
          <a:noFill/>
          <a:ln/>
        </p:spPr>
        <p:txBody>
          <a:bodyPr wrap="square" lIns="0" tIns="0" rIns="0" bIns="0" rtlCol="0" anchor="ctr"/>
          <a:lstStyle/>
          <a:p>
            <a:pPr marL="0" indent="0">
              <a:spcAft>
                <a:spcPts val="0"/>
              </a:spcAft>
              <a:buNone/>
            </a:pPr>
            <a:r>
              <a:rPr lang="ja-JP" altLang="en-US" sz="900" dirty="0">
                <a:solidFill>
                  <a:srgbClr val="5E6B7A"/>
                </a:solidFill>
                <a:latin typeface="游ゴシック" pitchFamily="34" charset="0"/>
                <a:ea typeface="游ゴシック" pitchFamily="34" charset="-122"/>
                <a:cs typeface="游ゴシック" pitchFamily="34" charset="-120"/>
              </a:rPr>
              <a:t>極弱風</a:t>
            </a:r>
            <a:endParaRPr lang="ja-JP" altLang="en-US" sz="900" dirty="0"/>
          </a:p>
        </p:txBody>
      </p:sp>
      <p:sp>
        <p:nvSpPr>
          <p:cNvPr id="31" name="凡例 晴れ（休日）"/>
          <p:cNvSpPr/>
          <p:nvPr/>
        </p:nvSpPr>
        <p:spPr>
          <a:xfrm>
            <a:off x="1417319" y="4572000"/>
            <a:ext cx="146304" cy="128016"/>
          </a:xfrm>
          <a:prstGeom prst="rect">
            <a:avLst/>
          </a:prstGeom>
          <a:solidFill>
            <a:srgbClr val="6FA8DC"/>
          </a:solidFill>
          <a:ln w="12700">
            <a:solidFill>
              <a:srgbClr val="8A949E"/>
            </a:solidFill>
          </a:ln>
        </p:spPr>
        <p:txBody>
          <a:bodyPr/>
          <a:lstStyle/>
          <a:p>
            <a:endParaRPr lang="ja-JP" altLang="en-US"/>
          </a:p>
        </p:txBody>
      </p:sp>
      <p:sp>
        <p:nvSpPr>
          <p:cNvPr id="32" name="凡例文字 晴れ（休日）"/>
          <p:cNvSpPr txBox="1"/>
          <p:nvPr/>
        </p:nvSpPr>
        <p:spPr>
          <a:xfrm>
            <a:off x="1609343" y="4535424"/>
            <a:ext cx="347472" cy="201168"/>
          </a:xfrm>
          <a:prstGeom prst="rect">
            <a:avLst/>
          </a:prstGeom>
          <a:noFill/>
          <a:ln/>
        </p:spPr>
        <p:txBody>
          <a:bodyPr wrap="square" lIns="0" tIns="0" rIns="0" bIns="0" rtlCol="0" anchor="ctr"/>
          <a:lstStyle/>
          <a:p>
            <a:pPr marL="0" indent="0">
              <a:spcAft>
                <a:spcPts val="0"/>
              </a:spcAft>
              <a:buNone/>
            </a:pPr>
            <a:r>
              <a:rPr lang="ja-JP" altLang="en-US" sz="900" dirty="0">
                <a:solidFill>
                  <a:srgbClr val="5E6B7A"/>
                </a:solidFill>
                <a:latin typeface="游ゴシック" pitchFamily="34" charset="0"/>
                <a:ea typeface="游ゴシック" pitchFamily="34" charset="-122"/>
                <a:cs typeface="游ゴシック" pitchFamily="34" charset="-120"/>
              </a:rPr>
              <a:t>弱風</a:t>
            </a:r>
            <a:endParaRPr lang="ja-JP" altLang="en-US" sz="900" dirty="0"/>
          </a:p>
        </p:txBody>
      </p:sp>
      <p:sp>
        <p:nvSpPr>
          <p:cNvPr id="33" name="凡例 曇り"/>
          <p:cNvSpPr/>
          <p:nvPr/>
        </p:nvSpPr>
        <p:spPr>
          <a:xfrm>
            <a:off x="2029967" y="4572000"/>
            <a:ext cx="146304" cy="128016"/>
          </a:xfrm>
          <a:prstGeom prst="rect">
            <a:avLst/>
          </a:prstGeom>
          <a:solidFill>
            <a:srgbClr val="2E75B6"/>
          </a:solidFill>
          <a:ln w="12700">
            <a:solidFill>
              <a:srgbClr val="8A949E"/>
            </a:solidFill>
          </a:ln>
        </p:spPr>
        <p:txBody>
          <a:bodyPr/>
          <a:lstStyle/>
          <a:p>
            <a:endParaRPr lang="ja-JP" altLang="en-US"/>
          </a:p>
        </p:txBody>
      </p:sp>
      <p:sp>
        <p:nvSpPr>
          <p:cNvPr id="34" name="凡例文字 曇り"/>
          <p:cNvSpPr txBox="1"/>
          <p:nvPr/>
        </p:nvSpPr>
        <p:spPr>
          <a:xfrm>
            <a:off x="2221991" y="4535424"/>
            <a:ext cx="347472" cy="201168"/>
          </a:xfrm>
          <a:prstGeom prst="rect">
            <a:avLst/>
          </a:prstGeom>
          <a:noFill/>
          <a:ln/>
        </p:spPr>
        <p:txBody>
          <a:bodyPr wrap="square" lIns="0" tIns="0" rIns="0" bIns="0" rtlCol="0" anchor="ctr"/>
          <a:lstStyle/>
          <a:p>
            <a:pPr marL="0" indent="0">
              <a:spcAft>
                <a:spcPts val="0"/>
              </a:spcAft>
              <a:buNone/>
            </a:pPr>
            <a:r>
              <a:rPr lang="ja-JP" altLang="en-US" sz="900" dirty="0">
                <a:solidFill>
                  <a:srgbClr val="5E6B7A"/>
                </a:solidFill>
                <a:latin typeface="游ゴシック" pitchFamily="34" charset="0"/>
                <a:ea typeface="游ゴシック" pitchFamily="34" charset="-122"/>
                <a:cs typeface="游ゴシック" pitchFamily="34" charset="-120"/>
              </a:rPr>
              <a:t>中風</a:t>
            </a:r>
            <a:endParaRPr lang="ja-JP" altLang="en-US" sz="900" dirty="0"/>
          </a:p>
        </p:txBody>
      </p:sp>
      <p:sp>
        <p:nvSpPr>
          <p:cNvPr id="35" name="凡例 曇り（休日）"/>
          <p:cNvSpPr/>
          <p:nvPr/>
        </p:nvSpPr>
        <p:spPr>
          <a:xfrm>
            <a:off x="2642615" y="4572000"/>
            <a:ext cx="146304" cy="128016"/>
          </a:xfrm>
          <a:prstGeom prst="rect">
            <a:avLst/>
          </a:prstGeom>
          <a:solidFill>
            <a:srgbClr val="1F3864"/>
          </a:solidFill>
          <a:ln w="12700">
            <a:solidFill>
              <a:srgbClr val="8A949E"/>
            </a:solidFill>
          </a:ln>
        </p:spPr>
        <p:txBody>
          <a:bodyPr/>
          <a:lstStyle/>
          <a:p>
            <a:endParaRPr lang="ja-JP" altLang="en-US"/>
          </a:p>
        </p:txBody>
      </p:sp>
      <p:sp>
        <p:nvSpPr>
          <p:cNvPr id="36" name="凡例文字 曇り（休日）"/>
          <p:cNvSpPr txBox="1"/>
          <p:nvPr/>
        </p:nvSpPr>
        <p:spPr>
          <a:xfrm>
            <a:off x="2834639" y="4535424"/>
            <a:ext cx="347472" cy="201168"/>
          </a:xfrm>
          <a:prstGeom prst="rect">
            <a:avLst/>
          </a:prstGeom>
          <a:noFill/>
          <a:ln/>
        </p:spPr>
        <p:txBody>
          <a:bodyPr wrap="square" lIns="0" tIns="0" rIns="0" bIns="0" rtlCol="0" anchor="ctr"/>
          <a:lstStyle/>
          <a:p>
            <a:pPr marL="0" indent="0">
              <a:spcAft>
                <a:spcPts val="0"/>
              </a:spcAft>
              <a:buNone/>
            </a:pPr>
            <a:r>
              <a:rPr lang="ja-JP" altLang="en-US" sz="900" dirty="0">
                <a:solidFill>
                  <a:srgbClr val="5E6B7A"/>
                </a:solidFill>
                <a:latin typeface="游ゴシック" pitchFamily="34" charset="0"/>
                <a:ea typeface="游ゴシック" pitchFamily="34" charset="-122"/>
                <a:cs typeface="游ゴシック" pitchFamily="34" charset="-120"/>
              </a:rPr>
              <a:t>強風</a:t>
            </a:r>
            <a:endParaRPr lang="ja-JP" altLang="en-US" sz="900" dirty="0"/>
          </a:p>
        </p:txBody>
      </p:sp>
      <p:sp>
        <p:nvSpPr>
          <p:cNvPr id="37" name="凡例 雨"/>
          <p:cNvSpPr/>
          <p:nvPr/>
        </p:nvSpPr>
        <p:spPr>
          <a:xfrm>
            <a:off x="3255263" y="4572000"/>
            <a:ext cx="146304" cy="128016"/>
          </a:xfrm>
          <a:prstGeom prst="rect">
            <a:avLst/>
          </a:prstGeom>
          <a:solidFill>
            <a:srgbClr val="5E6B7A"/>
          </a:solidFill>
          <a:ln w="12700">
            <a:solidFill>
              <a:srgbClr val="8A949E"/>
            </a:solidFill>
          </a:ln>
        </p:spPr>
        <p:txBody>
          <a:bodyPr/>
          <a:lstStyle/>
          <a:p>
            <a:endParaRPr lang="ja-JP" altLang="en-US"/>
          </a:p>
        </p:txBody>
      </p:sp>
      <p:sp>
        <p:nvSpPr>
          <p:cNvPr id="38" name="凡例文字 雨"/>
          <p:cNvSpPr txBox="1"/>
          <p:nvPr/>
        </p:nvSpPr>
        <p:spPr>
          <a:xfrm>
            <a:off x="3447287" y="4535424"/>
            <a:ext cx="1179576" cy="201168"/>
          </a:xfrm>
          <a:prstGeom prst="rect">
            <a:avLst/>
          </a:prstGeom>
          <a:noFill/>
          <a:ln/>
        </p:spPr>
        <p:txBody>
          <a:bodyPr wrap="square" lIns="0" tIns="0" rIns="0" bIns="0" rtlCol="0" anchor="ctr"/>
          <a:lstStyle/>
          <a:p>
            <a:pPr marL="0" indent="0">
              <a:spcAft>
                <a:spcPts val="0"/>
              </a:spcAft>
              <a:buNone/>
            </a:pPr>
            <a:r>
              <a:rPr lang="ja-JP" altLang="en-US" sz="900" dirty="0">
                <a:solidFill>
                  <a:srgbClr val="5E6B7A"/>
                </a:solidFill>
                <a:latin typeface="游ゴシック" pitchFamily="34" charset="0"/>
                <a:ea typeface="游ゴシック" pitchFamily="34" charset="-122"/>
                <a:cs typeface="游ゴシック" pitchFamily="34" charset="-120"/>
              </a:rPr>
              <a:t>休日（下の細い帯）</a:t>
            </a:r>
            <a:endParaRPr lang="ja-JP" altLang="en-US" sz="900" dirty="0"/>
          </a:p>
        </p:txBody>
      </p:sp>
      <p:sp>
        <p:nvSpPr>
          <p:cNvPr id="39" name="凡例 雨（休日）"/>
          <p:cNvSpPr/>
          <p:nvPr/>
        </p:nvSpPr>
        <p:spPr>
          <a:xfrm>
            <a:off x="4700016" y="4572000"/>
            <a:ext cx="146304" cy="128016"/>
          </a:xfrm>
          <a:prstGeom prst="rect">
            <a:avLst/>
          </a:prstGeom>
          <a:solidFill>
            <a:srgbClr val="D9D9D9"/>
          </a:solidFill>
          <a:ln w="12700">
            <a:solidFill>
              <a:srgbClr val="8A949E"/>
            </a:solidFill>
          </a:ln>
        </p:spPr>
        <p:txBody>
          <a:bodyPr/>
          <a:lstStyle/>
          <a:p>
            <a:endParaRPr lang="ja-JP" altLang="en-US"/>
          </a:p>
        </p:txBody>
      </p:sp>
      <p:sp>
        <p:nvSpPr>
          <p:cNvPr id="40" name="凡例文字 雨（休日）"/>
          <p:cNvSpPr txBox="1"/>
          <p:nvPr/>
        </p:nvSpPr>
        <p:spPr>
          <a:xfrm>
            <a:off x="4892040" y="4535424"/>
            <a:ext cx="704088" cy="201168"/>
          </a:xfrm>
          <a:prstGeom prst="rect">
            <a:avLst/>
          </a:prstGeom>
          <a:noFill/>
          <a:ln/>
        </p:spPr>
        <p:txBody>
          <a:bodyPr wrap="square" lIns="0" tIns="0" rIns="0" bIns="0" rtlCol="0" anchor="ctr"/>
          <a:lstStyle/>
          <a:p>
            <a:pPr marL="0" indent="0">
              <a:spcAft>
                <a:spcPts val="0"/>
              </a:spcAft>
              <a:buNone/>
            </a:pPr>
            <a:r>
              <a:rPr lang="ja-JP" altLang="en-US" sz="900" dirty="0">
                <a:solidFill>
                  <a:srgbClr val="5E6B7A"/>
                </a:solidFill>
                <a:latin typeface="游ゴシック" pitchFamily="34" charset="0"/>
                <a:ea typeface="游ゴシック" pitchFamily="34" charset="-122"/>
                <a:cs typeface="游ゴシック" pitchFamily="34" charset="-120"/>
              </a:rPr>
              <a:t>データなし</a:t>
            </a:r>
            <a:endParaRPr lang="ja-JP" altLang="en-US" sz="900" dirty="0"/>
          </a:p>
        </p:txBody>
      </p:sp>
      <p:sp>
        <p:nvSpPr>
          <p:cNvPr id="41" name="凡例の注記"/>
          <p:cNvSpPr txBox="1"/>
          <p:nvPr/>
        </p:nvSpPr>
        <p:spPr>
          <a:xfrm>
            <a:off x="685800" y="4727448"/>
            <a:ext cx="4937760" cy="164592"/>
          </a:xfrm>
          <a:prstGeom prst="rect">
            <a:avLst/>
          </a:prstGeom>
          <a:noFill/>
          <a:ln/>
        </p:spPr>
        <p:txBody>
          <a:bodyPr wrap="square" lIns="0" tIns="0" rIns="0" bIns="0" rtlCol="0" anchor="t"/>
          <a:lstStyle/>
          <a:p>
            <a:pPr marL="0" indent="0">
              <a:spcAft>
                <a:spcPts val="0"/>
              </a:spcAft>
              <a:buNone/>
            </a:pPr>
            <a:r>
              <a:rPr lang="ja-JP" altLang="en-US" sz="800" dirty="0">
                <a:solidFill>
                  <a:srgbClr val="5E6B7A"/>
                </a:solidFill>
                <a:latin typeface="游ゴシック" pitchFamily="34" charset="0"/>
                <a:ea typeface="游ゴシック" pitchFamily="34" charset="-122"/>
                <a:cs typeface="游ゴシック" pitchFamily="34" charset="-120"/>
              </a:rPr>
              <a:t>下段の色は風速区分（濃いほど強い）。その下の細い灰色の帯は休日（土日・8/11）</a:t>
            </a:r>
            <a:endParaRPr lang="ja-JP" altLang="en-US" sz="800" dirty="0"/>
          </a:p>
        </p:txBody>
      </p:sp>
    </p:spTree>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分析5（補足）：風速を細かく区切った吸気温度差</a:t>
            </a:r>
            <a:endParaRPr lang="en-US" sz="2000" dirty="0"/>
          </a:p>
        </p:txBody>
      </p:sp>
      <p:sp>
        <p:nvSpPr>
          <p:cNvPr id="3" name="Shape 1"/>
          <p:cNvSpPr/>
          <p:nvPr/>
        </p:nvSpPr>
        <p:spPr>
          <a:xfrm>
            <a:off x="7726680" y="155448"/>
            <a:ext cx="1097280" cy="274320"/>
          </a:xfrm>
          <a:prstGeom prst="roundRect">
            <a:avLst>
              <a:gd name="adj" fmla="val 26667"/>
            </a:avLst>
          </a:prstGeom>
          <a:solidFill>
            <a:srgbClr val="8E5BC4"/>
          </a:solidFill>
          <a:ln w="12700">
            <a:solidFill>
              <a:srgbClr val="8E5BC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補足分析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風の強さごとの吸気温度の低下量を細かく見て、風そのものの影響かどうかを確かめる</a:t>
            </a:r>
            <a:endParaRPr lang="en-US" sz="1200" dirty="0"/>
          </a:p>
        </p:txBody>
      </p:sp>
      <p:sp>
        <p:nvSpPr>
          <p:cNvPr id="6" name="Text 4"/>
          <p:cNvSpPr txBox="1"/>
          <p:nvPr/>
        </p:nvSpPr>
        <p:spPr>
          <a:xfrm>
            <a:off x="365760" y="987552"/>
            <a:ext cx="8412480" cy="292608"/>
          </a:xfrm>
          <a:prstGeom prst="rect">
            <a:avLst/>
          </a:prstGeom>
          <a:noFill/>
          <a:ln/>
        </p:spPr>
        <p:txBody>
          <a:bodyPr wrap="square" lIns="0" tIns="0" rIns="0" bIns="0" rtlCol="0" anchor="ctr"/>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方法　</a:t>
            </a:r>
            <a:r>
              <a:rPr lang="en-US" sz="1050" dirty="0">
                <a:solidFill>
                  <a:srgbClr val="5E6B7A"/>
                </a:solidFill>
                <a:latin typeface="游ゴシック" pitchFamily="34" charset="0"/>
                <a:ea typeface="游ゴシック" pitchFamily="34" charset="-122"/>
                <a:cs typeface="游ゴシック" pitchFamily="34" charset="-120"/>
              </a:rPr>
              <a:t>勤務日の日中の1時間値。風速を細かく区切って平均し、気温と雨の影響をそろえた平均も求めた（p.21の補足）</a:t>
            </a:r>
            <a:endParaRPr lang="en-US" sz="1050" dirty="0"/>
          </a:p>
        </p:txBody>
      </p:sp>
      <p:sp>
        <p:nvSpPr>
          <p:cNvPr id="7" name="Text 5"/>
          <p:cNvSpPr txBox="1"/>
          <p:nvPr/>
        </p:nvSpPr>
        <p:spPr>
          <a:xfrm>
            <a:off x="365760" y="1600200"/>
            <a:ext cx="5074920" cy="184945"/>
          </a:xfrm>
          <a:prstGeom prst="rect">
            <a:avLst/>
          </a:prstGeom>
          <a:noFill/>
          <a:ln/>
        </p:spPr>
        <p:txBody>
          <a:bodyPr wrap="square" lIns="0" tIns="0" rIns="0" bIns="0" rtlCol="0" anchor="ctr"/>
          <a:lstStyle/>
          <a:p>
            <a:pPr marL="0" indent="0">
              <a:buNone/>
            </a:pPr>
            <a:r>
              <a:rPr lang="en-US" sz="950" b="1" dirty="0">
                <a:solidFill>
                  <a:srgbClr val="01B8AA"/>
                </a:solidFill>
                <a:latin typeface="游ゴシック" pitchFamily="34" charset="0"/>
                <a:ea typeface="游ゴシック" pitchFamily="34" charset="-122"/>
                <a:cs typeface="游ゴシック" pitchFamily="34" charset="-120"/>
              </a:rPr>
              <a:t>屋上の風速［m/s］</a:t>
            </a:r>
            <a:endParaRPr lang="en-US" sz="950" dirty="0"/>
          </a:p>
        </p:txBody>
      </p:sp>
      <p:sp>
        <p:nvSpPr>
          <p:cNvPr id="9" name="Text 7"/>
          <p:cNvSpPr txBox="1"/>
          <p:nvPr/>
        </p:nvSpPr>
        <p:spPr>
          <a:xfrm>
            <a:off x="365760" y="3189044"/>
            <a:ext cx="5074920" cy="184945"/>
          </a:xfrm>
          <a:prstGeom prst="rect">
            <a:avLst/>
          </a:prstGeom>
          <a:noFill/>
          <a:ln/>
        </p:spPr>
        <p:txBody>
          <a:bodyPr wrap="square" lIns="0" tIns="0" rIns="0" bIns="0" rtlCol="0" anchor="ctr"/>
          <a:lstStyle/>
          <a:p>
            <a:pPr marL="0" indent="0">
              <a:buNone/>
            </a:pPr>
            <a:r>
              <a:rPr lang="en-US" sz="950" b="1" dirty="0">
                <a:solidFill>
                  <a:srgbClr val="118DFF"/>
                </a:solidFill>
                <a:latin typeface="游ゴシック" pitchFamily="34" charset="0"/>
                <a:ea typeface="游ゴシック" pitchFamily="34" charset="-122"/>
                <a:cs typeface="游ゴシック" pitchFamily="34" charset="-120"/>
              </a:rPr>
              <a:t>通路内の風速・列3側［m/s］</a:t>
            </a:r>
            <a:endParaRPr lang="en-US" sz="950" dirty="0"/>
          </a:p>
        </p:txBody>
      </p:sp>
      <p:sp>
        <p:nvSpPr>
          <p:cNvPr id="11" name="Shape 9"/>
          <p:cNvSpPr/>
          <p:nvPr/>
        </p:nvSpPr>
        <p:spPr>
          <a:xfrm>
            <a:off x="5577840" y="1600200"/>
            <a:ext cx="3200400" cy="2118458"/>
          </a:xfrm>
          <a:prstGeom prst="roundRect">
            <a:avLst>
              <a:gd name="adj" fmla="val 2381"/>
            </a:avLst>
          </a:prstGeom>
          <a:solidFill>
            <a:srgbClr val="EAF4FF"/>
          </a:solidFill>
          <a:ln w="12700">
            <a:solidFill>
              <a:srgbClr val="EAF4FF"/>
            </a:solidFill>
            <a:prstDash val="solid"/>
          </a:ln>
        </p:spPr>
        <p:txBody>
          <a:bodyPr/>
          <a:lstStyle/>
          <a:p>
            <a:endParaRPr lang="ja-JP" altLang="en-US"/>
          </a:p>
        </p:txBody>
      </p:sp>
      <p:sp>
        <p:nvSpPr>
          <p:cNvPr id="12" name="Text 10"/>
          <p:cNvSpPr txBox="1"/>
          <p:nvPr/>
        </p:nvSpPr>
        <p:spPr>
          <a:xfrm>
            <a:off x="5715000" y="1667453"/>
            <a:ext cx="2926080" cy="235384"/>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結果</a:t>
            </a:r>
            <a:endParaRPr lang="en-US" sz="1200" dirty="0"/>
          </a:p>
        </p:txBody>
      </p:sp>
      <p:sp>
        <p:nvSpPr>
          <p:cNvPr id="13" name="Text 11"/>
          <p:cNvSpPr txBox="1"/>
          <p:nvPr/>
        </p:nvSpPr>
        <p:spPr>
          <a:xfrm>
            <a:off x="5715000" y="1936463"/>
            <a:ext cx="2926080" cy="1723349"/>
          </a:xfrm>
          <a:prstGeom prst="rect">
            <a:avLst/>
          </a:prstGeom>
          <a:noFill/>
          <a:ln/>
        </p:spPr>
        <p:txBody>
          <a:bodyPr wrap="square" lIns="0" tIns="0" rIns="0" bIns="0" rtlCol="0" anchor="t"/>
          <a:lstStyle/>
          <a:p>
            <a:pPr marL="152400" indent="-152400">
              <a:spcAft>
                <a:spcPts val="300"/>
              </a:spcAft>
              <a:buSzPct val="100000"/>
              <a:buChar char="•"/>
            </a:pPr>
            <a:r>
              <a:rPr lang="ja-JP" altLang="en-US" sz="1050" dirty="0">
                <a:solidFill>
                  <a:srgbClr val="172033"/>
                </a:solidFill>
                <a:latin typeface="游ゴシック" pitchFamily="34" charset="0"/>
                <a:ea typeface="游ゴシック" pitchFamily="34" charset="-122"/>
                <a:cs typeface="游ゴシック" pitchFamily="34" charset="-120"/>
              </a:rPr>
              <a:t>屋上の風速：そのままでも、気温・雨をそろえても、区分による違いは0.2℃程度で、風が強いほど変わる傾きはない</a:t>
            </a:r>
            <a:endParaRPr lang="ja-JP" altLang="en-US" sz="1050" dirty="0"/>
          </a:p>
          <a:p>
            <a:pPr marL="152400" indent="-152400">
              <a:spcAft>
                <a:spcPts val="300"/>
              </a:spcAft>
              <a:buSzPct val="100000"/>
              <a:buChar char="•"/>
            </a:pPr>
            <a:r>
              <a:rPr lang="ja-JP" altLang="en-US" sz="1050" dirty="0">
                <a:solidFill>
                  <a:srgbClr val="172033"/>
                </a:solidFill>
                <a:latin typeface="游ゴシック" pitchFamily="34" charset="0"/>
                <a:ea typeface="游ゴシック" pitchFamily="34" charset="-122"/>
                <a:cs typeface="游ゴシック" pitchFamily="34" charset="-120"/>
              </a:rPr>
              <a:t>1m/sあたりの変化（気温・雨をそろえた値）：列8 −0.04℃、列11 −0.07℃。どちらも区間が0℃を含む</a:t>
            </a:r>
            <a:endParaRPr lang="ja-JP" altLang="en-US" sz="1050" dirty="0"/>
          </a:p>
          <a:p>
            <a:pPr marL="152400" indent="-152400">
              <a:spcAft>
                <a:spcPts val="300"/>
              </a:spcAft>
              <a:buSzPct val="100000"/>
              <a:buChar char="•"/>
            </a:pPr>
            <a:r>
              <a:rPr lang="ja-JP" altLang="en-US" sz="1050" dirty="0">
                <a:solidFill>
                  <a:srgbClr val="172033"/>
                </a:solidFill>
                <a:latin typeface="游ゴシック" pitchFamily="34" charset="0"/>
                <a:ea typeface="游ゴシック" pitchFamily="34" charset="-122"/>
                <a:cs typeface="游ゴシック" pitchFamily="34" charset="-120"/>
              </a:rPr>
              <a:t>通路の風が0.75m/s以下の時間は、そのままでは列8 −0.49℃と大きく低いが、そろえると−0.08℃</a:t>
            </a:r>
            <a:endParaRPr lang="ja-JP" altLang="en-US" sz="1050" dirty="0"/>
          </a:p>
        </p:txBody>
      </p:sp>
      <p:sp>
        <p:nvSpPr>
          <p:cNvPr id="14" name="Shape 12"/>
          <p:cNvSpPr/>
          <p:nvPr/>
        </p:nvSpPr>
        <p:spPr>
          <a:xfrm>
            <a:off x="5577840" y="3802724"/>
            <a:ext cx="3200400" cy="924724"/>
          </a:xfrm>
          <a:prstGeom prst="roundRect">
            <a:avLst>
              <a:gd name="adj" fmla="val 5455"/>
            </a:avLst>
          </a:prstGeom>
          <a:solidFill>
            <a:srgbClr val="FFF7D1"/>
          </a:solidFill>
          <a:ln w="12700">
            <a:solidFill>
              <a:srgbClr val="FFF7D1"/>
            </a:solidFill>
            <a:prstDash val="solid"/>
          </a:ln>
        </p:spPr>
        <p:txBody>
          <a:bodyPr/>
          <a:lstStyle/>
          <a:p>
            <a:endParaRPr lang="ja-JP" altLang="en-US"/>
          </a:p>
        </p:txBody>
      </p:sp>
      <p:sp>
        <p:nvSpPr>
          <p:cNvPr id="15" name="Text 13"/>
          <p:cNvSpPr txBox="1"/>
          <p:nvPr/>
        </p:nvSpPr>
        <p:spPr>
          <a:xfrm>
            <a:off x="5715000" y="3844757"/>
            <a:ext cx="2926080" cy="840658"/>
          </a:xfrm>
          <a:prstGeom prst="rect">
            <a:avLst/>
          </a:prstGeom>
          <a:noFill/>
          <a:ln/>
        </p:spPr>
        <p:txBody>
          <a:bodyPr wrap="square" lIns="0" tIns="0" rIns="0" bIns="0" rtlCol="0" anchor="t"/>
          <a:lstStyle/>
          <a:p>
            <a:pPr marL="0" indent="0">
              <a:spcAft>
                <a:spcPts val="0"/>
              </a:spcAft>
              <a:buNone/>
            </a:pPr>
            <a:r>
              <a:rPr lang="ja-JP" altLang="en-US" sz="1050" b="1" dirty="0">
                <a:solidFill>
                  <a:srgbClr val="ED7D31"/>
                </a:solidFill>
                <a:latin typeface="游ゴシック" pitchFamily="34" charset="0"/>
                <a:ea typeface="游ゴシック" pitchFamily="34" charset="-122"/>
                <a:cs typeface="游ゴシック" pitchFamily="34" charset="-120"/>
              </a:rPr>
              <a:t>読み取り</a:t>
            </a:r>
            <a:endParaRPr lang="ja-JP" altLang="en-US" sz="1050" dirty="0"/>
          </a:p>
          <a:p>
            <a:pPr marL="0" indent="0">
              <a:spcAft>
                <a:spcPts val="0"/>
              </a:spcAft>
              <a:buNone/>
            </a:pPr>
            <a:r>
              <a:rPr lang="ja-JP" altLang="en-US" sz="1050" dirty="0">
                <a:solidFill>
                  <a:srgbClr val="172033"/>
                </a:solidFill>
                <a:latin typeface="游ゴシック" pitchFamily="34" charset="0"/>
                <a:ea typeface="游ゴシック" pitchFamily="34" charset="-122"/>
                <a:cs typeface="游ゴシック" pitchFamily="34" charset="-120"/>
              </a:rPr>
              <a:t>風が弱い時間に低減効果が大きく見えるのは、その時間が涼しい時間や雨の時間と重なるため。風速そのものの影響は小さい。強風（4.1m/s超）は3時間のみのため図から除いた</a:t>
            </a:r>
            <a:endParaRPr lang="ja-JP" altLang="en-US" sz="10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23</a:t>
            </a:fld>
            <a:endParaRPr lang="en-US"/>
          </a:p>
        </p:txBody>
      </p:sp>
      <p:graphicFrame>
        <p:nvGraphicFramePr>
          <p:cNvPr id="26" name="グラフ tcls_8"/>
          <p:cNvGraphicFramePr>
            <a:graphicFrameLocks noGrp="1"/>
          </p:cNvGraphicFramePr>
          <p:nvPr/>
        </p:nvGraphicFramePr>
        <p:xfrm>
          <a:off x="365760" y="1785145"/>
          <a:ext cx="5074920" cy="135345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7" name="グラフ tcls_11"/>
          <p:cNvGraphicFramePr>
            <a:graphicFrameLocks noGrp="1"/>
          </p:cNvGraphicFramePr>
          <p:nvPr/>
        </p:nvGraphicFramePr>
        <p:xfrm>
          <a:off x="365760" y="3373989"/>
          <a:ext cx="5074920" cy="1353459"/>
        </p:xfrm>
        <a:graphic>
          <a:graphicData uri="http://schemas.openxmlformats.org/drawingml/2006/chart">
            <c:chart xmlns:c="http://schemas.openxmlformats.org/drawingml/2006/chart" xmlns:r="http://schemas.openxmlformats.org/officeDocument/2006/relationships" r:id="rId4"/>
          </a:graphicData>
        </a:graphic>
      </p:graphicFrame>
      <p:sp>
        <p:nvSpPr>
          <p:cNvPr id="28" name="求め方 背景"/>
          <p:cNvSpPr/>
          <p:nvPr/>
        </p:nvSpPr>
        <p:spPr>
          <a:xfrm>
            <a:off x="365760" y="1298448"/>
            <a:ext cx="8412480" cy="246888"/>
          </a:xfrm>
          <a:prstGeom prst="roundRect">
            <a:avLst>
              <a:gd name="adj" fmla="val 2532"/>
            </a:avLst>
          </a:prstGeom>
          <a:solidFill>
            <a:srgbClr val="F3F5F8"/>
          </a:solidFill>
          <a:ln w="12700">
            <a:solidFill>
              <a:srgbClr val="F3F5F8"/>
            </a:solidFill>
          </a:ln>
        </p:spPr>
        <p:txBody>
          <a:bodyPr/>
          <a:lstStyle/>
          <a:p>
            <a:endParaRPr lang="ja-JP" altLang="en-US"/>
          </a:p>
        </p:txBody>
      </p:sp>
      <p:sp>
        <p:nvSpPr>
          <p:cNvPr id="29" name="求め方"/>
          <p:cNvSpPr txBox="1"/>
          <p:nvPr/>
        </p:nvSpPr>
        <p:spPr>
          <a:xfrm>
            <a:off x="457200" y="1298448"/>
            <a:ext cx="8229600" cy="246888"/>
          </a:xfrm>
          <a:prstGeom prst="rect">
            <a:avLst/>
          </a:prstGeom>
          <a:noFill/>
          <a:ln/>
        </p:spPr>
        <p:txBody>
          <a:bodyPr wrap="square" lIns="0" tIns="0" rIns="0" bIns="0" rtlCol="0" anchor="ctr"/>
          <a:lstStyle/>
          <a:p>
            <a:pPr marL="0" indent="0">
              <a:spcAft>
                <a:spcPts val="0"/>
              </a:spcAft>
              <a:buNone/>
            </a:pPr>
            <a:r>
              <a:rPr lang="ja-JP" altLang="en-US" sz="1000" b="1" dirty="0">
                <a:solidFill>
                  <a:srgbClr val="118DFF"/>
                </a:solidFill>
                <a:latin typeface="游ゴシック" pitchFamily="34" charset="0"/>
                <a:ea typeface="游ゴシック" pitchFamily="34" charset="-122"/>
                <a:cs typeface="游ゴシック" pitchFamily="34" charset="-120"/>
              </a:rPr>
              <a:t>求め方　</a:t>
            </a:r>
            <a:r>
              <a:rPr lang="ja-JP" altLang="en-US" sz="1000" dirty="0">
                <a:solidFill>
                  <a:srgbClr val="172033"/>
                </a:solidFill>
                <a:latin typeface="游ゴシック" pitchFamily="34" charset="0"/>
                <a:ea typeface="游ゴシック" pitchFamily="34" charset="-122"/>
                <a:cs typeface="游ゴシック" pitchFamily="34" charset="-120"/>
              </a:rPr>
              <a:t>点：そのままの平均、線：気温と雨をそろえた平均。上段：屋上（274時間）、下段：通路内・列3側（8/14以降、179時間）</a:t>
            </a:r>
            <a:endParaRPr lang="ja-JP" alt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分析7：期間による吸気温度差の推移</a:t>
            </a:r>
            <a:endParaRPr lang="en-US" sz="2000" dirty="0"/>
          </a:p>
        </p:txBody>
      </p:sp>
      <p:sp>
        <p:nvSpPr>
          <p:cNvPr id="3" name="Shape 1"/>
          <p:cNvSpPr/>
          <p:nvPr/>
        </p:nvSpPr>
        <p:spPr>
          <a:xfrm>
            <a:off x="7726680" y="155448"/>
            <a:ext cx="1097280" cy="274320"/>
          </a:xfrm>
          <a:prstGeom prst="roundRect">
            <a:avLst>
              <a:gd name="adj" fmla="val 26667"/>
            </a:avLst>
          </a:prstGeom>
          <a:solidFill>
            <a:srgbClr val="8E5BC4"/>
          </a:solidFill>
          <a:ln w="12700">
            <a:solidFill>
              <a:srgbClr val="8E5BC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補足分析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葉の茂り方の推移と、吸気温度の低減効果の推移の関係を確かめる</a:t>
            </a:r>
            <a:endParaRPr lang="en-US" sz="1200" dirty="0"/>
          </a:p>
        </p:txBody>
      </p:sp>
      <p:sp>
        <p:nvSpPr>
          <p:cNvPr id="6" name="Text 4"/>
          <p:cNvSpPr txBox="1"/>
          <p:nvPr/>
        </p:nvSpPr>
        <p:spPr>
          <a:xfrm>
            <a:off x="365760" y="987552"/>
            <a:ext cx="8412480" cy="292608"/>
          </a:xfrm>
          <a:prstGeom prst="rect">
            <a:avLst/>
          </a:prstGeom>
          <a:noFill/>
          <a:ln/>
        </p:spPr>
        <p:txBody>
          <a:bodyPr wrap="square" lIns="0" tIns="0" rIns="0" bIns="0" rtlCol="0" anchor="ctr"/>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方法　</a:t>
            </a:r>
            <a:r>
              <a:rPr lang="en-US" sz="1050" dirty="0">
                <a:solidFill>
                  <a:srgbClr val="5E6B7A"/>
                </a:solidFill>
                <a:latin typeface="游ゴシック" pitchFamily="34" charset="0"/>
                <a:ea typeface="游ゴシック" pitchFamily="34" charset="-122"/>
                <a:cs typeface="游ゴシック" pitchFamily="34" charset="-120"/>
              </a:rPr>
              <a:t>勤務日の日中平均の吸気温度差（点）と7日間移動平均（線）。繁茂率との関係は保留（繁茂率の算出後に追加する）</a:t>
            </a:r>
            <a:endParaRPr lang="en-US" sz="1050" dirty="0"/>
          </a:p>
        </p:txBody>
      </p:sp>
      <p:sp>
        <p:nvSpPr>
          <p:cNvPr id="8" name="Shape 6"/>
          <p:cNvSpPr/>
          <p:nvPr/>
        </p:nvSpPr>
        <p:spPr>
          <a:xfrm>
            <a:off x="5577840" y="1325880"/>
            <a:ext cx="3200400" cy="2167128"/>
          </a:xfrm>
          <a:prstGeom prst="roundRect">
            <a:avLst>
              <a:gd name="adj" fmla="val 2532"/>
            </a:avLst>
          </a:prstGeom>
          <a:solidFill>
            <a:srgbClr val="EAF4FF"/>
          </a:solidFill>
          <a:ln w="12700">
            <a:solidFill>
              <a:srgbClr val="EAF4FF"/>
            </a:solidFill>
            <a:prstDash val="solid"/>
          </a:ln>
        </p:spPr>
        <p:txBody>
          <a:bodyPr/>
          <a:lstStyle/>
          <a:p>
            <a:endParaRPr lang="ja-JP" altLang="en-US"/>
          </a:p>
        </p:txBody>
      </p:sp>
      <p:sp>
        <p:nvSpPr>
          <p:cNvPr id="9" name="Text 7"/>
          <p:cNvSpPr txBox="1"/>
          <p:nvPr/>
        </p:nvSpPr>
        <p:spPr>
          <a:xfrm>
            <a:off x="5715000" y="1399032"/>
            <a:ext cx="292608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結果</a:t>
            </a:r>
            <a:endParaRPr lang="en-US" sz="1200" dirty="0"/>
          </a:p>
        </p:txBody>
      </p:sp>
      <p:sp>
        <p:nvSpPr>
          <p:cNvPr id="10" name="Text 8"/>
          <p:cNvSpPr txBox="1"/>
          <p:nvPr/>
        </p:nvSpPr>
        <p:spPr>
          <a:xfrm>
            <a:off x="5715000" y="1691640"/>
            <a:ext cx="2926080" cy="173736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列8：8月は−0.2〜0.3℃、9月は−0.6〜−0.2℃</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列11：8月は−0.5〜0.0℃、9月は−0.6〜−0.3℃</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9月の勤務日はすべて曇り・雨（晴れの日がない）</a:t>
            </a:r>
            <a:endParaRPr lang="en-US" sz="1050" dirty="0"/>
          </a:p>
        </p:txBody>
      </p:sp>
      <p:sp>
        <p:nvSpPr>
          <p:cNvPr id="11" name="Shape 9"/>
          <p:cNvSpPr/>
          <p:nvPr/>
        </p:nvSpPr>
        <p:spPr>
          <a:xfrm>
            <a:off x="5577840" y="3584448"/>
            <a:ext cx="3200400" cy="1143000"/>
          </a:xfrm>
          <a:prstGeom prst="roundRect">
            <a:avLst>
              <a:gd name="adj" fmla="val 4800"/>
            </a:avLst>
          </a:prstGeom>
          <a:solidFill>
            <a:srgbClr val="FFF7D1"/>
          </a:solidFill>
          <a:ln w="12700">
            <a:solidFill>
              <a:srgbClr val="FFF7D1"/>
            </a:solidFill>
            <a:prstDash val="solid"/>
          </a:ln>
        </p:spPr>
        <p:txBody>
          <a:bodyPr/>
          <a:lstStyle/>
          <a:p>
            <a:endParaRPr lang="ja-JP" altLang="en-US"/>
          </a:p>
        </p:txBody>
      </p:sp>
      <p:sp>
        <p:nvSpPr>
          <p:cNvPr id="12" name="Text 10"/>
          <p:cNvSpPr txBox="1"/>
          <p:nvPr/>
        </p:nvSpPr>
        <p:spPr>
          <a:xfrm>
            <a:off x="5715000" y="3630168"/>
            <a:ext cx="2926080" cy="1051560"/>
          </a:xfrm>
          <a:prstGeom prst="rect">
            <a:avLst/>
          </a:prstGeom>
          <a:noFill/>
          <a:ln/>
        </p:spPr>
        <p:txBody>
          <a:bodyPr wrap="square" lIns="0" tIns="0" rIns="0" bIns="0" rtlCol="0" anchor="t"/>
          <a:lstStyle/>
          <a:p>
            <a:pPr marL="0" indent="0">
              <a:spcAft>
                <a:spcPts val="0"/>
              </a:spcAft>
              <a:buNone/>
            </a:pPr>
            <a:r>
              <a:rPr lang="ja-JP" altLang="en-US" sz="1050" b="1" dirty="0">
                <a:solidFill>
                  <a:srgbClr val="ED7D31"/>
                </a:solidFill>
                <a:latin typeface="游ゴシック" pitchFamily="34" charset="0"/>
                <a:ea typeface="游ゴシック" pitchFamily="34" charset="-122"/>
                <a:cs typeface="游ゴシック" pitchFamily="34" charset="-120"/>
              </a:rPr>
              <a:t>読み取り</a:t>
            </a:r>
            <a:endParaRPr lang="ja-JP" altLang="en-US" sz="1050" dirty="0"/>
          </a:p>
          <a:p>
            <a:pPr marL="0" indent="0">
              <a:spcAft>
                <a:spcPts val="0"/>
              </a:spcAft>
              <a:buNone/>
            </a:pPr>
            <a:r>
              <a:rPr lang="ja-JP" altLang="en-US" sz="1050" dirty="0">
                <a:solidFill>
                  <a:srgbClr val="172033"/>
                </a:solidFill>
                <a:latin typeface="游ゴシック" pitchFamily="34" charset="0"/>
                <a:ea typeface="游ゴシック" pitchFamily="34" charset="-122"/>
                <a:cs typeface="游ゴシック" pitchFamily="34" charset="-120"/>
              </a:rPr>
              <a:t>9月に低減効果が大きいのは、主に気温が下がったためと考えられる。8/16〜8/27に列8が高くなった理由はp.25。繁茂率を加えて再確認する</a:t>
            </a:r>
            <a:endParaRPr lang="ja-JP" altLang="en-US" sz="10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24</a:t>
            </a:fld>
            <a:endParaRPr lang="en-US"/>
          </a:p>
        </p:txBody>
      </p:sp>
      <p:graphicFrame>
        <p:nvGraphicFramePr>
          <p:cNvPr id="26" name="グラフ a7"/>
          <p:cNvGraphicFramePr>
            <a:graphicFrameLocks noGrp="1"/>
          </p:cNvGraphicFramePr>
          <p:nvPr/>
        </p:nvGraphicFramePr>
        <p:xfrm>
          <a:off x="365760" y="1325880"/>
          <a:ext cx="5074920" cy="3401568"/>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extLst>
    <p:ext uri="{6950BFC3-D8DA-4A85-94F7-54DA5524770B}">
      <p188:commentRel xmlns:p188="http://schemas.microsoft.com/office/powerpoint/2018/8/main" r:id="rId3"/>
    </p:ext>
  </p:extLst>
</p:sld>
</file>

<file path=ppt/slides/slide25.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分析7（補足）：8/16〜8/27に列8が高くなった理由</a:t>
            </a:r>
            <a:endParaRPr lang="en-US" sz="2000" dirty="0"/>
          </a:p>
        </p:txBody>
      </p:sp>
      <p:sp>
        <p:nvSpPr>
          <p:cNvPr id="3" name="Shape 1"/>
          <p:cNvSpPr/>
          <p:nvPr/>
        </p:nvSpPr>
        <p:spPr>
          <a:xfrm>
            <a:off x="7726680" y="155448"/>
            <a:ext cx="1097280" cy="274320"/>
          </a:xfrm>
          <a:prstGeom prst="roundRect">
            <a:avLst>
              <a:gd name="adj" fmla="val 26667"/>
            </a:avLst>
          </a:prstGeom>
          <a:solidFill>
            <a:srgbClr val="8E5BC4"/>
          </a:solidFill>
          <a:ln w="12700">
            <a:solidFill>
              <a:srgbClr val="8E5BC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補足分析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8/16〜8/27に列8の吸気温度差が正になった理由を、天気・気温・風速で確かめる</a:t>
            </a:r>
            <a:endParaRPr lang="en-US" sz="1200" dirty="0"/>
          </a:p>
        </p:txBody>
      </p:sp>
      <p:sp>
        <p:nvSpPr>
          <p:cNvPr id="6" name="Shape 4"/>
          <p:cNvSpPr/>
          <p:nvPr/>
        </p:nvSpPr>
        <p:spPr>
          <a:xfrm>
            <a:off x="365760" y="1005840"/>
            <a:ext cx="8412480" cy="804672"/>
          </a:xfrm>
          <a:prstGeom prst="roundRect">
            <a:avLst>
              <a:gd name="adj" fmla="val 6818"/>
            </a:avLst>
          </a:prstGeom>
          <a:solidFill>
            <a:srgbClr val="E4F7F4"/>
          </a:solidFill>
          <a:ln w="12700">
            <a:solidFill>
              <a:srgbClr val="E4F7F4"/>
            </a:solidFill>
            <a:prstDash val="solid"/>
          </a:ln>
        </p:spPr>
        <p:txBody>
          <a:bodyPr/>
          <a:lstStyle/>
          <a:p>
            <a:endParaRPr lang="ja-JP" altLang="en-US"/>
          </a:p>
        </p:txBody>
      </p:sp>
      <p:sp>
        <p:nvSpPr>
          <p:cNvPr id="7" name="Text 5"/>
          <p:cNvSpPr txBox="1"/>
          <p:nvPr/>
        </p:nvSpPr>
        <p:spPr>
          <a:xfrm>
            <a:off x="502920" y="1033272"/>
            <a:ext cx="8138160" cy="749808"/>
          </a:xfrm>
          <a:prstGeom prst="rect">
            <a:avLst/>
          </a:prstGeom>
          <a:noFill/>
          <a:ln/>
        </p:spPr>
        <p:txBody>
          <a:bodyPr wrap="square" lIns="0" tIns="0" rIns="0" bIns="0" rtlCol="0" anchor="ctr"/>
          <a:lstStyle/>
          <a:p>
            <a:pPr marL="0" indent="0">
              <a:buNone/>
            </a:pPr>
            <a:r>
              <a:rPr lang="en-US" sz="950" b="1" dirty="0">
                <a:solidFill>
                  <a:srgbClr val="22354F"/>
                </a:solidFill>
                <a:latin typeface="游ゴシック" pitchFamily="34" charset="0"/>
                <a:ea typeface="游ゴシック" pitchFamily="34" charset="-122"/>
                <a:cs typeface="游ゴシック" pitchFamily="34" charset="-120"/>
              </a:rPr>
              <a:t>期間内と期間外の勤務日を比べる　＋　同じ天気・気温の日どうしで比べる</a:t>
            </a:r>
            <a:endParaRPr lang="en-US" sz="950" dirty="0"/>
          </a:p>
          <a:p>
            <a:pPr marL="0" indent="0">
              <a:buNone/>
            </a:pPr>
            <a:r>
              <a:rPr lang="en-US" sz="950" dirty="0">
                <a:solidFill>
                  <a:srgbClr val="172033"/>
                </a:solidFill>
                <a:latin typeface="游ゴシック" pitchFamily="34" charset="0"/>
                <a:ea typeface="游ゴシック" pitchFamily="34" charset="-122"/>
                <a:cs typeface="游ゴシック" pitchFamily="34" charset="-120"/>
              </a:rPr>
              <a:t>期間内＝8/17〜8/27の勤務日9日間（8/16は日曜）。期間外＝それ以外の勤務日23日間。気温・照度比・風速は屋上の日中平均。晴れ・31℃以上＝天気が晴れ（p.17）で日中平均気温31℃以上の日。繁茂率は保留</a:t>
            </a:r>
            <a:endParaRPr lang="en-US" sz="950" dirty="0"/>
          </a:p>
        </p:txBody>
      </p:sp>
      <p:sp>
        <p:nvSpPr>
          <p:cNvPr id="9" name="Text 7"/>
          <p:cNvSpPr txBox="1"/>
          <p:nvPr/>
        </p:nvSpPr>
        <p:spPr>
          <a:xfrm>
            <a:off x="365760" y="4389120"/>
            <a:ext cx="3657600" cy="347472"/>
          </a:xfrm>
          <a:prstGeom prst="rect">
            <a:avLst/>
          </a:prstGeom>
          <a:noFill/>
          <a:ln/>
        </p:spPr>
        <p:txBody>
          <a:bodyPr wrap="square" lIns="0" tIns="0" rIns="0" bIns="0" rtlCol="0" anchor="ctr"/>
          <a:lstStyle/>
          <a:p>
            <a:pPr marL="0" indent="0">
              <a:buNone/>
            </a:pPr>
            <a:r>
              <a:rPr lang="en-US" sz="800" dirty="0">
                <a:solidFill>
                  <a:srgbClr val="5E6B7A"/>
                </a:solidFill>
                <a:latin typeface="游ゴシック" pitchFamily="34" charset="0"/>
                <a:ea typeface="游ゴシック" pitchFamily="34" charset="-122"/>
                <a:cs typeface="游ゴシック" pitchFamily="34" charset="-120"/>
              </a:rPr>
              <a:t>点：勤務日の日中平均（9/14は気温の値なし）。灰：期間外、赤：8/16〜8/27、破線：期間外の近似直線</a:t>
            </a:r>
            <a:endParaRPr lang="en-US" sz="800" dirty="0"/>
          </a:p>
        </p:txBody>
      </p:sp>
      <p:graphicFrame>
        <p:nvGraphicFramePr>
          <p:cNvPr id="19" name="Table 0"/>
          <p:cNvGraphicFramePr>
            <a:graphicFrameLocks noGrp="1"/>
          </p:cNvGraphicFramePr>
          <p:nvPr>
            <p:extLst>
              <p:ext uri="{D42A27DB-BD31-4B8C-83A1-F6EECF244321}">
                <p14:modId xmlns:p14="http://schemas.microsoft.com/office/powerpoint/2010/main" val="3588576364"/>
              </p:ext>
            </p:extLst>
          </p:nvPr>
        </p:nvGraphicFramePr>
        <p:xfrm>
          <a:off x="4114800" y="1874520"/>
          <a:ext cx="4663440" cy="1371600"/>
        </p:xfrm>
        <a:graphic>
          <a:graphicData uri="http://schemas.openxmlformats.org/drawingml/2006/table">
            <a:tbl>
              <a:tblPr/>
              <a:tblGrid>
                <a:gridCol w="1188720">
                  <a:extLst>
                    <a:ext uri="{9D8B030D-6E8A-4147-A177-3AD203B41FA5}">
                      <a16:colId xmlns:a16="http://schemas.microsoft.com/office/drawing/2014/main" val="30000"/>
                    </a:ext>
                  </a:extLst>
                </a:gridCol>
                <a:gridCol w="640080">
                  <a:extLst>
                    <a:ext uri="{9D8B030D-6E8A-4147-A177-3AD203B41FA5}">
                      <a16:colId xmlns:a16="http://schemas.microsoft.com/office/drawing/2014/main" val="30001"/>
                    </a:ext>
                  </a:extLst>
                </a:gridCol>
                <a:gridCol w="685800">
                  <a:extLst>
                    <a:ext uri="{9D8B030D-6E8A-4147-A177-3AD203B41FA5}">
                      <a16:colId xmlns:a16="http://schemas.microsoft.com/office/drawing/2014/main" val="30002"/>
                    </a:ext>
                  </a:extLst>
                </a:gridCol>
                <a:gridCol w="685800">
                  <a:extLst>
                    <a:ext uri="{9D8B030D-6E8A-4147-A177-3AD203B41FA5}">
                      <a16:colId xmlns:a16="http://schemas.microsoft.com/office/drawing/2014/main" val="30003"/>
                    </a:ext>
                  </a:extLst>
                </a:gridCol>
                <a:gridCol w="685800">
                  <a:extLst>
                    <a:ext uri="{9D8B030D-6E8A-4147-A177-3AD203B41FA5}">
                      <a16:colId xmlns:a16="http://schemas.microsoft.com/office/drawing/2014/main" val="30004"/>
                    </a:ext>
                  </a:extLst>
                </a:gridCol>
                <a:gridCol w="777240">
                  <a:extLst>
                    <a:ext uri="{9D8B030D-6E8A-4147-A177-3AD203B41FA5}">
                      <a16:colId xmlns:a16="http://schemas.microsoft.com/office/drawing/2014/main" val="30005"/>
                    </a:ext>
                  </a:extLst>
                </a:gridCol>
              </a:tblGrid>
              <a:tr h="274320">
                <a:tc>
                  <a:txBody>
                    <a:bodyPr/>
                    <a:lstStyle/>
                    <a:p>
                      <a:pPr marL="0" indent="0" algn="ctr">
                        <a:buNone/>
                      </a:pPr>
                      <a:r>
                        <a:rPr lang="en-US" sz="950" b="1" dirty="0">
                          <a:solidFill>
                            <a:srgbClr val="FFFFFF"/>
                          </a:solidFill>
                          <a:latin typeface="游ゴシック" pitchFamily="34" charset="0"/>
                          <a:ea typeface="游ゴシック" pitchFamily="34" charset="-122"/>
                          <a:cs typeface="游ゴシック" pitchFamily="34" charset="-120"/>
                        </a:rPr>
                        <a:t>区分</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950" b="1" dirty="0">
                          <a:solidFill>
                            <a:srgbClr val="FFFFFF"/>
                          </a:solidFill>
                          <a:latin typeface="游ゴシック" pitchFamily="34" charset="0"/>
                          <a:ea typeface="游ゴシック" pitchFamily="34" charset="-122"/>
                          <a:cs typeface="游ゴシック" pitchFamily="34" charset="-120"/>
                        </a:rPr>
                        <a:t>日数</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950" b="1" dirty="0">
                          <a:solidFill>
                            <a:srgbClr val="FFFFFF"/>
                          </a:solidFill>
                          <a:latin typeface="游ゴシック" pitchFamily="34" charset="0"/>
                          <a:ea typeface="游ゴシック" pitchFamily="34" charset="-122"/>
                          <a:cs typeface="游ゴシック" pitchFamily="34" charset="-120"/>
                        </a:rPr>
                        <a:t>列8</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950" b="1" dirty="0">
                          <a:solidFill>
                            <a:srgbClr val="FFFFFF"/>
                          </a:solidFill>
                          <a:latin typeface="游ゴシック" pitchFamily="34" charset="0"/>
                          <a:ea typeface="游ゴシック" pitchFamily="34" charset="-122"/>
                          <a:cs typeface="游ゴシック" pitchFamily="34" charset="-120"/>
                        </a:rPr>
                        <a:t>列11</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950" b="1" dirty="0">
                          <a:solidFill>
                            <a:srgbClr val="FFFFFF"/>
                          </a:solidFill>
                          <a:latin typeface="游ゴシック" pitchFamily="34" charset="0"/>
                          <a:ea typeface="游ゴシック" pitchFamily="34" charset="-122"/>
                          <a:cs typeface="游ゴシック" pitchFamily="34" charset="-120"/>
                        </a:rPr>
                        <a:t>気温</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950" b="1" dirty="0">
                          <a:solidFill>
                            <a:srgbClr val="FFFFFF"/>
                          </a:solidFill>
                          <a:latin typeface="游ゴシック" pitchFamily="34" charset="0"/>
                          <a:ea typeface="游ゴシック" pitchFamily="34" charset="-122"/>
                          <a:cs typeface="游ゴシック" pitchFamily="34" charset="-120"/>
                        </a:rPr>
                        <a:t>照度比</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extLst>
                  <a:ext uri="{0D108BD9-81ED-4DB2-BD59-A6C34878D82A}">
                    <a16:rowId xmlns:a16="http://schemas.microsoft.com/office/drawing/2014/main" val="40000"/>
                  </a:ext>
                </a:extLst>
              </a:tr>
              <a:tr h="274320">
                <a:tc>
                  <a:txBody>
                    <a:bodyPr/>
                    <a:lstStyle/>
                    <a:p>
                      <a:pPr marL="0" indent="0" algn="ctr">
                        <a:buNone/>
                      </a:pPr>
                      <a:r>
                        <a:rPr lang="en-US" sz="850" b="1" dirty="0">
                          <a:solidFill>
                            <a:srgbClr val="172033"/>
                          </a:solidFill>
                          <a:latin typeface="游ゴシック" pitchFamily="34" charset="0"/>
                          <a:ea typeface="游ゴシック" pitchFamily="34" charset="-122"/>
                          <a:cs typeface="游ゴシック" pitchFamily="34" charset="-120"/>
                        </a:rPr>
                        <a:t>期間内</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9日間</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＋0.17</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−0.14</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b="1" dirty="0">
                          <a:solidFill>
                            <a:srgbClr val="172033"/>
                          </a:solidFill>
                          <a:latin typeface="游ゴシック" pitchFamily="34" charset="0"/>
                          <a:ea typeface="游ゴシック" pitchFamily="34" charset="-122"/>
                          <a:cs typeface="游ゴシック" pitchFamily="34" charset="-120"/>
                        </a:rPr>
                        <a:t>31.6</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b="1" dirty="0">
                          <a:solidFill>
                            <a:srgbClr val="172033"/>
                          </a:solidFill>
                          <a:latin typeface="游ゴシック" pitchFamily="34" charset="0"/>
                          <a:ea typeface="游ゴシック" pitchFamily="34" charset="-122"/>
                          <a:cs typeface="游ゴシック" pitchFamily="34" charset="-120"/>
                        </a:rPr>
                        <a:t>0.83</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40001"/>
                  </a:ext>
                </a:extLst>
              </a:tr>
              <a:tr h="274320">
                <a:tc>
                  <a:txBody>
                    <a:bodyPr/>
                    <a:lstStyle/>
                    <a:p>
                      <a:pPr marL="0" indent="0" algn="ctr">
                        <a:buNone/>
                      </a:pPr>
                      <a:r>
                        <a:rPr lang="en-US" sz="850" b="1" dirty="0">
                          <a:solidFill>
                            <a:srgbClr val="172033"/>
                          </a:solidFill>
                          <a:latin typeface="游ゴシック" pitchFamily="34" charset="0"/>
                          <a:ea typeface="游ゴシック" pitchFamily="34" charset="-122"/>
                          <a:cs typeface="游ゴシック" pitchFamily="34" charset="-120"/>
                        </a:rPr>
                        <a:t>期間外</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23日間</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−0.15</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−0.31</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b="1" dirty="0">
                          <a:solidFill>
                            <a:srgbClr val="172033"/>
                          </a:solidFill>
                          <a:latin typeface="游ゴシック" pitchFamily="34" charset="0"/>
                          <a:ea typeface="游ゴシック" pitchFamily="34" charset="-122"/>
                          <a:cs typeface="游ゴシック" pitchFamily="34" charset="-120"/>
                        </a:rPr>
                        <a:t>28.4</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b="1" dirty="0">
                          <a:solidFill>
                            <a:srgbClr val="172033"/>
                          </a:solidFill>
                          <a:latin typeface="游ゴシック" pitchFamily="34" charset="0"/>
                          <a:ea typeface="游ゴシック" pitchFamily="34" charset="-122"/>
                          <a:cs typeface="游ゴシック" pitchFamily="34" charset="-120"/>
                        </a:rPr>
                        <a:t>0.55</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40002"/>
                  </a:ext>
                </a:extLst>
              </a:tr>
              <a:tr h="274320">
                <a:tc>
                  <a:txBody>
                    <a:bodyPr/>
                    <a:lstStyle/>
                    <a:p>
                      <a:pPr marL="0" indent="0" algn="ctr">
                        <a:buNone/>
                      </a:pPr>
                      <a:r>
                        <a:rPr lang="en-US" sz="850" b="1" dirty="0">
                          <a:solidFill>
                            <a:srgbClr val="172033"/>
                          </a:solidFill>
                          <a:latin typeface="游ゴシック" pitchFamily="34" charset="0"/>
                          <a:ea typeface="游ゴシック" pitchFamily="34" charset="-122"/>
                          <a:cs typeface="游ゴシック" pitchFamily="34" charset="-120"/>
                        </a:rPr>
                        <a:t>同条件・期間内</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7日間</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＋0.28</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−0.12</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b="1" dirty="0">
                          <a:solidFill>
                            <a:srgbClr val="172033"/>
                          </a:solidFill>
                          <a:latin typeface="游ゴシック" pitchFamily="34" charset="0"/>
                          <a:ea typeface="游ゴシック" pitchFamily="34" charset="-122"/>
                          <a:cs typeface="游ゴシック" pitchFamily="34" charset="-120"/>
                        </a:rPr>
                        <a:t>32.4</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b="1" dirty="0">
                          <a:solidFill>
                            <a:srgbClr val="172033"/>
                          </a:solidFill>
                          <a:latin typeface="游ゴシック" pitchFamily="34" charset="0"/>
                          <a:ea typeface="游ゴシック" pitchFamily="34" charset="-122"/>
                          <a:cs typeface="游ゴシック" pitchFamily="34" charset="-120"/>
                        </a:rPr>
                        <a:t>0.90</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40003"/>
                  </a:ext>
                </a:extLst>
              </a:tr>
              <a:tr h="274320">
                <a:tc>
                  <a:txBody>
                    <a:bodyPr/>
                    <a:lstStyle/>
                    <a:p>
                      <a:pPr marL="0" indent="0" algn="ctr">
                        <a:buNone/>
                      </a:pPr>
                      <a:r>
                        <a:rPr lang="en-US" sz="850" b="1" dirty="0">
                          <a:solidFill>
                            <a:srgbClr val="172033"/>
                          </a:solidFill>
                          <a:latin typeface="游ゴシック" pitchFamily="34" charset="0"/>
                          <a:ea typeface="游ゴシック" pitchFamily="34" charset="-122"/>
                          <a:cs typeface="游ゴシック" pitchFamily="34" charset="-120"/>
                        </a:rPr>
                        <a:t>同条件・期間外</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4日間</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＋0.24</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−0.14</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b="1" dirty="0">
                          <a:solidFill>
                            <a:srgbClr val="172033"/>
                          </a:solidFill>
                          <a:latin typeface="游ゴシック" pitchFamily="34" charset="0"/>
                          <a:ea typeface="游ゴシック" pitchFamily="34" charset="-122"/>
                          <a:cs typeface="游ゴシック" pitchFamily="34" charset="-120"/>
                        </a:rPr>
                        <a:t>33.7</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b="1" dirty="0">
                          <a:solidFill>
                            <a:srgbClr val="172033"/>
                          </a:solidFill>
                          <a:latin typeface="游ゴシック" pitchFamily="34" charset="0"/>
                          <a:ea typeface="游ゴシック" pitchFamily="34" charset="-122"/>
                          <a:cs typeface="游ゴシック" pitchFamily="34" charset="-120"/>
                        </a:rPr>
                        <a:t>0.82</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40004"/>
                  </a:ext>
                </a:extLst>
              </a:tr>
            </a:tbl>
          </a:graphicData>
        </a:graphic>
      </p:graphicFrame>
      <p:sp>
        <p:nvSpPr>
          <p:cNvPr id="11" name="Text 8"/>
          <p:cNvSpPr txBox="1"/>
          <p:nvPr/>
        </p:nvSpPr>
        <p:spPr>
          <a:xfrm>
            <a:off x="4160520" y="3767328"/>
            <a:ext cx="4617720" cy="384048"/>
          </a:xfrm>
          <a:prstGeom prst="rect">
            <a:avLst/>
          </a:prstGeom>
          <a:noFill/>
          <a:ln/>
        </p:spPr>
        <p:txBody>
          <a:bodyPr wrap="square" lIns="0" tIns="0" rIns="0" bIns="0" rtlCol="0" anchor="ctr"/>
          <a:lstStyle/>
          <a:p>
            <a:pPr marL="0" indent="0">
              <a:spcAft>
                <a:spcPts val="0"/>
              </a:spcAft>
              <a:buNone/>
            </a:pPr>
            <a:r>
              <a:rPr lang="ja-JP" altLang="en-US" sz="800" dirty="0">
                <a:solidFill>
                  <a:srgbClr val="5E6B7A"/>
                </a:solidFill>
                <a:latin typeface="游ゴシック" pitchFamily="34" charset="0"/>
                <a:ea typeface="游ゴシック" pitchFamily="34" charset="-122"/>
                <a:cs typeface="游ゴシック" pitchFamily="34" charset="-120"/>
              </a:rPr>
              <a:t>列8・列11は吸気温度差［℃］。同条件＝晴れ・31℃以上の日。晴れの日は期間内9日間中8日間、期間外23日間中7日間</a:t>
            </a:r>
            <a:endParaRPr lang="ja-JP" altLang="en-US" sz="800" dirty="0"/>
          </a:p>
        </p:txBody>
      </p:sp>
      <p:sp>
        <p:nvSpPr>
          <p:cNvPr id="12" name="Shape 9"/>
          <p:cNvSpPr/>
          <p:nvPr/>
        </p:nvSpPr>
        <p:spPr>
          <a:xfrm>
            <a:off x="4160520" y="4160520"/>
            <a:ext cx="4617720" cy="603504"/>
          </a:xfrm>
          <a:prstGeom prst="roundRect">
            <a:avLst>
              <a:gd name="adj" fmla="val 8219"/>
            </a:avLst>
          </a:prstGeom>
          <a:solidFill>
            <a:srgbClr val="FFF7D1"/>
          </a:solidFill>
          <a:ln w="12700">
            <a:solidFill>
              <a:srgbClr val="FFF7D1"/>
            </a:solidFill>
            <a:prstDash val="solid"/>
          </a:ln>
        </p:spPr>
        <p:txBody>
          <a:bodyPr/>
          <a:lstStyle/>
          <a:p>
            <a:endParaRPr lang="ja-JP" altLang="en-US"/>
          </a:p>
        </p:txBody>
      </p:sp>
      <p:sp>
        <p:nvSpPr>
          <p:cNvPr id="13" name="Text 10"/>
          <p:cNvSpPr txBox="1"/>
          <p:nvPr/>
        </p:nvSpPr>
        <p:spPr>
          <a:xfrm>
            <a:off x="4251960" y="4206240"/>
            <a:ext cx="4434840" cy="548640"/>
          </a:xfrm>
          <a:prstGeom prst="rect">
            <a:avLst/>
          </a:prstGeom>
          <a:noFill/>
          <a:ln/>
        </p:spPr>
        <p:txBody>
          <a:bodyPr wrap="square" lIns="0" tIns="0" rIns="0" bIns="0" rtlCol="0" anchor="ctr"/>
          <a:lstStyle/>
          <a:p>
            <a:pPr marL="0" indent="0">
              <a:spcAft>
                <a:spcPts val="0"/>
              </a:spcAft>
              <a:buNone/>
            </a:pPr>
            <a:r>
              <a:rPr lang="ja-JP" altLang="en-US" sz="950" b="1" dirty="0">
                <a:solidFill>
                  <a:srgbClr val="ED7D31"/>
                </a:solidFill>
                <a:latin typeface="游ゴシック" pitchFamily="34" charset="0"/>
                <a:ea typeface="游ゴシック" pitchFamily="34" charset="-122"/>
                <a:cs typeface="游ゴシック" pitchFamily="34" charset="-120"/>
              </a:rPr>
              <a:t>読み取り　</a:t>
            </a:r>
            <a:r>
              <a:rPr lang="ja-JP" altLang="en-US" sz="950" dirty="0">
                <a:solidFill>
                  <a:srgbClr val="172033"/>
                </a:solidFill>
                <a:latin typeface="游ゴシック" pitchFamily="34" charset="0"/>
                <a:ea typeface="游ゴシック" pitchFamily="34" charset="-122"/>
                <a:cs typeface="游ゴシック" pitchFamily="34" charset="-120"/>
              </a:rPr>
              <a:t>期間内に列8が高いのは、晴れて暑い日が続いたため。同じ晴れ・31℃以上の日では期間内（＋0.28℃）と期間外（＋0.24℃）でほぼ同じ。残る約0.08℃は繁茂率の算出後に確かめる</a:t>
            </a:r>
            <a:endParaRPr lang="ja-JP" altLang="en-US" sz="9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25</a:t>
            </a:fld>
            <a:endParaRPr lang="en-US"/>
          </a:p>
        </p:txBody>
      </p:sp>
      <p:graphicFrame>
        <p:nvGraphicFramePr>
          <p:cNvPr id="26" name="グラフ reg"/>
          <p:cNvGraphicFramePr>
            <a:graphicFrameLocks noGrp="1"/>
          </p:cNvGraphicFramePr>
          <p:nvPr/>
        </p:nvGraphicFramePr>
        <p:xfrm>
          <a:off x="365760" y="1874520"/>
          <a:ext cx="3657600" cy="25146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分析8：代表日の選定結果</a:t>
            </a:r>
            <a:endParaRPr lang="en-US" sz="2000" dirty="0"/>
          </a:p>
        </p:txBody>
      </p:sp>
      <p:sp>
        <p:nvSpPr>
          <p:cNvPr id="3" name="Shape 1"/>
          <p:cNvSpPr/>
          <p:nvPr/>
        </p:nvSpPr>
        <p:spPr>
          <a:xfrm>
            <a:off x="7726680" y="155448"/>
            <a:ext cx="1097280" cy="274320"/>
          </a:xfrm>
          <a:prstGeom prst="roundRect">
            <a:avLst>
              <a:gd name="adj" fmla="val 26667"/>
            </a:avLst>
          </a:prstGeom>
          <a:solidFill>
            <a:srgbClr val="8E5BC4"/>
          </a:solidFill>
          <a:ln w="12700">
            <a:solidFill>
              <a:srgbClr val="8E5BC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補足分析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1日の流れを見せる例として、比べたい条件だけが違い、他の条件が近い2日を選んだ</a:t>
            </a:r>
            <a:endParaRPr lang="en-US" sz="1200" dirty="0"/>
          </a:p>
        </p:txBody>
      </p:sp>
      <p:sp>
        <p:nvSpPr>
          <p:cNvPr id="6" name="Text 4"/>
          <p:cNvSpPr txBox="1"/>
          <p:nvPr/>
        </p:nvSpPr>
        <p:spPr>
          <a:xfrm>
            <a:off x="365760" y="987552"/>
            <a:ext cx="8412480" cy="292608"/>
          </a:xfrm>
          <a:prstGeom prst="rect">
            <a:avLst/>
          </a:prstGeom>
          <a:noFill/>
          <a:ln/>
        </p:spPr>
        <p:txBody>
          <a:bodyPr wrap="square" lIns="0" tIns="0" rIns="0" bIns="0" rtlCol="0" anchor="ctr"/>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方法　</a:t>
            </a:r>
            <a:r>
              <a:rPr lang="en-US" sz="1050" dirty="0">
                <a:solidFill>
                  <a:srgbClr val="5E6B7A"/>
                </a:solidFill>
                <a:latin typeface="游ゴシック" pitchFamily="34" charset="0"/>
                <a:ea typeface="游ゴシック" pitchFamily="34" charset="-122"/>
                <a:cs typeface="游ゴシック" pitchFamily="34" charset="-120"/>
              </a:rPr>
              <a:t>候補は両列とも日中9時間がそろう勤務日28日間。気温・照度比・風速を標準化し、比べる条件以外の距離が最小の組（上限0.5）</a:t>
            </a:r>
            <a:endParaRPr lang="en-US" sz="10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8412480" cy="2157984"/>
        </p:xfrm>
        <a:graphic>
          <a:graphicData uri="http://schemas.openxmlformats.org/drawingml/2006/table">
            <a:tbl>
              <a:tblPr/>
              <a:tblGrid>
                <a:gridCol w="7315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96012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gridCol w="1143000">
                  <a:extLst>
                    <a:ext uri="{9D8B030D-6E8A-4147-A177-3AD203B41FA5}">
                      <a16:colId xmlns:a16="http://schemas.microsoft.com/office/drawing/2014/main" val="20008"/>
                    </a:ext>
                  </a:extLst>
                </a:gridCol>
              </a:tblGrid>
              <a:tr h="292608">
                <a:tc>
                  <a:txBody>
                    <a:bodyPr/>
                    <a:lstStyle/>
                    <a:p>
                      <a:pPr marL="0" indent="0" algn="ctr">
                        <a:buNone/>
                      </a:pPr>
                      <a:r>
                        <a:rPr lang="en-US" sz="1000" b="1" dirty="0">
                          <a:solidFill>
                            <a:srgbClr val="FFFFFF"/>
                          </a:solidFill>
                          <a:latin typeface="游ゴシック" pitchFamily="34" charset="0"/>
                          <a:ea typeface="游ゴシック" pitchFamily="34" charset="-122"/>
                          <a:cs typeface="游ゴシック" pitchFamily="34" charset="-120"/>
                        </a:rPr>
                        <a:t>条件</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1000" b="1" dirty="0">
                          <a:solidFill>
                            <a:srgbClr val="FFFFFF"/>
                          </a:solidFill>
                          <a:latin typeface="游ゴシック" pitchFamily="34" charset="0"/>
                          <a:ea typeface="游ゴシック" pitchFamily="34" charset="-122"/>
                          <a:cs typeface="游ゴシック" pitchFamily="34" charset="-120"/>
                        </a:rPr>
                        <a:t>日付</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1000" b="1" dirty="0">
                          <a:solidFill>
                            <a:srgbClr val="FFFFFF"/>
                          </a:solidFill>
                          <a:latin typeface="游ゴシック" pitchFamily="34" charset="0"/>
                          <a:ea typeface="游ゴシック" pitchFamily="34" charset="-122"/>
                          <a:cs typeface="游ゴシック" pitchFamily="34" charset="-120"/>
                        </a:rPr>
                        <a:t>天気</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1000" b="1" dirty="0">
                          <a:solidFill>
                            <a:srgbClr val="FFFFFF"/>
                          </a:solidFill>
                          <a:latin typeface="游ゴシック" pitchFamily="34" charset="0"/>
                          <a:ea typeface="游ゴシック" pitchFamily="34" charset="-122"/>
                          <a:cs typeface="游ゴシック" pitchFamily="34" charset="-120"/>
                        </a:rPr>
                        <a:t>気温</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1000" b="1" dirty="0">
                          <a:solidFill>
                            <a:srgbClr val="FFFFFF"/>
                          </a:solidFill>
                          <a:latin typeface="游ゴシック" pitchFamily="34" charset="0"/>
                          <a:ea typeface="游ゴシック" pitchFamily="34" charset="-122"/>
                          <a:cs typeface="游ゴシック" pitchFamily="34" charset="-120"/>
                        </a:rPr>
                        <a:t>照度比</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1000" b="1" dirty="0">
                          <a:solidFill>
                            <a:srgbClr val="FFFFFF"/>
                          </a:solidFill>
                          <a:latin typeface="游ゴシック" pitchFamily="34" charset="0"/>
                          <a:ea typeface="游ゴシック" pitchFamily="34" charset="-122"/>
                          <a:cs typeface="游ゴシック" pitchFamily="34" charset="-120"/>
                        </a:rPr>
                        <a:t>風速</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1000" b="1" dirty="0">
                          <a:solidFill>
                            <a:srgbClr val="FFFFFF"/>
                          </a:solidFill>
                          <a:latin typeface="游ゴシック" pitchFamily="34" charset="0"/>
                          <a:ea typeface="游ゴシック" pitchFamily="34" charset="-122"/>
                          <a:cs typeface="游ゴシック" pitchFamily="34" charset="-120"/>
                        </a:rPr>
                        <a:t>距離</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1000" b="1" dirty="0">
                          <a:solidFill>
                            <a:srgbClr val="FFFFFF"/>
                          </a:solidFill>
                          <a:latin typeface="游ゴシック" pitchFamily="34" charset="0"/>
                          <a:ea typeface="游ゴシック" pitchFamily="34" charset="-122"/>
                          <a:cs typeface="游ゴシック" pitchFamily="34" charset="-120"/>
                        </a:rPr>
                        <a:t>列8</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1000" b="1" dirty="0">
                          <a:solidFill>
                            <a:srgbClr val="FFFFFF"/>
                          </a:solidFill>
                          <a:latin typeface="游ゴシック" pitchFamily="34" charset="0"/>
                          <a:ea typeface="游ゴシック" pitchFamily="34" charset="-122"/>
                          <a:cs typeface="游ゴシック" pitchFamily="34" charset="-120"/>
                        </a:rPr>
                        <a:t>列11</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extLst>
                  <a:ext uri="{0D108BD9-81ED-4DB2-BD59-A6C34878D82A}">
                    <a16:rowId xmlns:a16="http://schemas.microsoft.com/office/drawing/2014/main" val="10000"/>
                  </a:ext>
                </a:extLst>
              </a:tr>
              <a:tr h="310896">
                <a:tc rowSpan="2">
                  <a:txBody>
                    <a:bodyPr/>
                    <a:lstStyle/>
                    <a:p>
                      <a:pPr marL="0" indent="0" algn="ctr">
                        <a:buNone/>
                      </a:pPr>
                      <a:r>
                        <a:rPr lang="en-US" sz="1000" b="1" dirty="0">
                          <a:solidFill>
                            <a:srgbClr val="172033"/>
                          </a:solidFill>
                          <a:latin typeface="游ゴシック" pitchFamily="34" charset="0"/>
                          <a:ea typeface="游ゴシック" pitchFamily="34" charset="-122"/>
                          <a:cs typeface="游ゴシック" pitchFamily="34" charset="-120"/>
                        </a:rPr>
                        <a:t>天気</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8/19</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晴れ</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31.6</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b="1" dirty="0">
                          <a:solidFill>
                            <a:srgbClr val="172033"/>
                          </a:solidFill>
                          <a:latin typeface="游ゴシック" pitchFamily="34" charset="0"/>
                          <a:ea typeface="游ゴシック" pitchFamily="34" charset="-122"/>
                          <a:cs typeface="游ゴシック" pitchFamily="34" charset="-120"/>
                        </a:rPr>
                        <a:t>0.84</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2.2</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rowSpan="2">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0.49</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E66C64"/>
                          </a:solidFill>
                          <a:latin typeface="游ゴシック" pitchFamily="34" charset="0"/>
                          <a:ea typeface="游ゴシック" pitchFamily="34" charset="-122"/>
                          <a:cs typeface="游ゴシック" pitchFamily="34" charset="-120"/>
                        </a:rPr>
                        <a:t>＋0.26</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−0.05</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1"/>
                  </a:ext>
                </a:extLst>
              </a:tr>
              <a:tr h="310896">
                <a:tc vMerge="1">
                  <a:txBody>
                    <a:bodyPr/>
                    <a:lstStyle/>
                    <a:p>
                      <a:endParaRPr lang="ja-JP"/>
                    </a:p>
                  </a:txBody>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9/2</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曇り</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30.6</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b="1" dirty="0">
                          <a:solidFill>
                            <a:srgbClr val="172033"/>
                          </a:solidFill>
                          <a:latin typeface="游ゴシック" pitchFamily="34" charset="0"/>
                          <a:ea typeface="游ゴシック" pitchFamily="34" charset="-122"/>
                          <a:cs typeface="游ゴシック" pitchFamily="34" charset="-120"/>
                        </a:rPr>
                        <a:t>0.63</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1.9</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vMerge="1">
                  <a:txBody>
                    <a:bodyPr/>
                    <a:lstStyle/>
                    <a:p>
                      <a:endParaRPr lang="ja-JP"/>
                    </a:p>
                  </a:txBody>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−0.24</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−0.35</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2"/>
                  </a:ext>
                </a:extLst>
              </a:tr>
              <a:tr h="310896">
                <a:tc rowSpan="2">
                  <a:txBody>
                    <a:bodyPr/>
                    <a:lstStyle/>
                    <a:p>
                      <a:pPr marL="0" indent="0" algn="ctr">
                        <a:buNone/>
                      </a:pPr>
                      <a:r>
                        <a:rPr lang="en-US" sz="1000" b="1" dirty="0">
                          <a:solidFill>
                            <a:srgbClr val="172033"/>
                          </a:solidFill>
                          <a:latin typeface="游ゴシック" pitchFamily="34" charset="0"/>
                          <a:ea typeface="游ゴシック" pitchFamily="34" charset="-122"/>
                          <a:cs typeface="游ゴシック" pitchFamily="34" charset="-120"/>
                        </a:rPr>
                        <a:t>風</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8/20</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晴れ</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32.2</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0.98</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b="1" dirty="0">
                          <a:solidFill>
                            <a:srgbClr val="172033"/>
                          </a:solidFill>
                          <a:latin typeface="游ゴシック" pitchFamily="34" charset="0"/>
                          <a:ea typeface="游ゴシック" pitchFamily="34" charset="-122"/>
                          <a:cs typeface="游ゴシック" pitchFamily="34" charset="-120"/>
                        </a:rPr>
                        <a:t>2.6</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rowSpan="2">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0.03</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E66C64"/>
                          </a:solidFill>
                          <a:latin typeface="游ゴシック" pitchFamily="34" charset="0"/>
                          <a:ea typeface="游ゴシック" pitchFamily="34" charset="-122"/>
                          <a:cs typeface="游ゴシック" pitchFamily="34" charset="-120"/>
                        </a:rPr>
                        <a:t>＋0.34</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−0.10</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3"/>
                  </a:ext>
                </a:extLst>
              </a:tr>
              <a:tr h="310896">
                <a:tc vMerge="1">
                  <a:txBody>
                    <a:bodyPr/>
                    <a:lstStyle/>
                    <a:p>
                      <a:endParaRPr lang="ja-JP"/>
                    </a:p>
                  </a:txBody>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8/7</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晴れ</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32.2</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0.99</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b="1" dirty="0">
                          <a:solidFill>
                            <a:srgbClr val="172033"/>
                          </a:solidFill>
                          <a:latin typeface="游ゴシック" pitchFamily="34" charset="0"/>
                          <a:ea typeface="游ゴシック" pitchFamily="34" charset="-122"/>
                          <a:cs typeface="游ゴシック" pitchFamily="34" charset="-120"/>
                        </a:rPr>
                        <a:t>3.7</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vMerge="1">
                  <a:txBody>
                    <a:bodyPr/>
                    <a:lstStyle/>
                    <a:p>
                      <a:endParaRPr lang="ja-JP"/>
                    </a:p>
                  </a:txBody>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−0.25</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−0.69</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4"/>
                  </a:ext>
                </a:extLst>
              </a:tr>
              <a:tr h="310896">
                <a:tc>
                  <a:txBody>
                    <a:bodyPr/>
                    <a:lstStyle/>
                    <a:p>
                      <a:pPr marL="0" indent="0" algn="ctr">
                        <a:buNone/>
                      </a:pPr>
                      <a:r>
                        <a:rPr lang="en-US" sz="1000" b="1" dirty="0">
                          <a:solidFill>
                            <a:srgbClr val="172033"/>
                          </a:solidFill>
                          <a:latin typeface="游ゴシック" pitchFamily="34" charset="0"/>
                          <a:ea typeface="游ゴシック" pitchFamily="34" charset="-122"/>
                          <a:cs typeface="游ゴシック" pitchFamily="34" charset="-120"/>
                        </a:rPr>
                        <a:t>繁茂</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gridSpan="5">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繁茂率の算出後に選ぶ（保留）</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gridSpan="2">
                  <a:txBody>
                    <a:bodyPr/>
                    <a:lstStyle/>
                    <a:p>
                      <a:pPr marL="0" indent="0" algn="ctr">
                        <a:buNone/>
                      </a:pPr>
                      <a:r>
                        <a:rPr lang="en-US" sz="1000" dirty="0">
                          <a:solidFill>
                            <a:srgbClr val="5E6B7A"/>
                          </a:solidFill>
                          <a:latin typeface="游ゴシック" pitchFamily="34" charset="0"/>
                          <a:ea typeface="游ゴシック" pitchFamily="34" charset="-122"/>
                          <a:cs typeface="游ゴシック" pitchFamily="34" charset="-120"/>
                        </a:rPr>
                        <a:t>保留</a:t>
                      </a: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hMerge="1">
                  <a:txBody>
                    <a:bodyPr/>
                    <a:lstStyle/>
                    <a:p>
                      <a:endParaRPr lang="ja-JP"/>
                    </a:p>
                  </a:txBody>
                  <a:tcPr/>
                </a:tc>
                <a:extLst>
                  <a:ext uri="{0D108BD9-81ED-4DB2-BD59-A6C34878D82A}">
                    <a16:rowId xmlns:a16="http://schemas.microsoft.com/office/drawing/2014/main" val="10005"/>
                  </a:ext>
                </a:extLst>
              </a:tr>
              <a:tr h="310896">
                <a:tc>
                  <a:txBody>
                    <a:bodyPr/>
                    <a:lstStyle/>
                    <a:p>
                      <a:pPr marL="0" indent="0" algn="ctr">
                        <a:buNone/>
                      </a:pPr>
                      <a:r>
                        <a:rPr lang="en-US" sz="1000" b="1" dirty="0">
                          <a:solidFill>
                            <a:srgbClr val="172033"/>
                          </a:solidFill>
                          <a:latin typeface="游ゴシック" pitchFamily="34" charset="0"/>
                          <a:ea typeface="游ゴシック" pitchFamily="34" charset="-122"/>
                          <a:cs typeface="游ゴシック" pitchFamily="34" charset="-120"/>
                        </a:rPr>
                        <a:t>典型日</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8/17</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晴れ</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29.8</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0.77</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1.8</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0.27</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−0.12</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−0.29</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Text 5"/>
          <p:cNvSpPr txBox="1"/>
          <p:nvPr/>
        </p:nvSpPr>
        <p:spPr>
          <a:xfrm>
            <a:off x="365760" y="3611880"/>
            <a:ext cx="8412480" cy="201168"/>
          </a:xfrm>
          <a:prstGeom prst="rect">
            <a:avLst/>
          </a:prstGeom>
          <a:noFill/>
          <a:ln/>
        </p:spPr>
        <p:txBody>
          <a:bodyPr wrap="square" lIns="0" tIns="0" rIns="0" bIns="0" rtlCol="0" anchor="ctr"/>
          <a:lstStyle/>
          <a:p>
            <a:pPr marL="0" indent="0">
              <a:buNone/>
            </a:pPr>
            <a:r>
              <a:rPr lang="en-US" sz="850" dirty="0">
                <a:solidFill>
                  <a:srgbClr val="5E6B7A"/>
                </a:solidFill>
                <a:latin typeface="游ゴシック" pitchFamily="34" charset="0"/>
                <a:ea typeface="游ゴシック" pitchFamily="34" charset="-122"/>
                <a:cs typeface="游ゴシック" pitchFamily="34" charset="-120"/>
              </a:rPr>
              <a:t>気温［℃］・風速［m/s］は日中平均。列8・列11はその日の日中平均の吸気温度差［℃］。太字は比べた条件</a:t>
            </a:r>
            <a:endParaRPr lang="en-US" sz="850" dirty="0"/>
          </a:p>
        </p:txBody>
      </p:sp>
      <p:sp>
        <p:nvSpPr>
          <p:cNvPr id="9" name="Shape 6"/>
          <p:cNvSpPr/>
          <p:nvPr/>
        </p:nvSpPr>
        <p:spPr>
          <a:xfrm>
            <a:off x="365760" y="3886200"/>
            <a:ext cx="8412480" cy="841248"/>
          </a:xfrm>
          <a:prstGeom prst="roundRect">
            <a:avLst>
              <a:gd name="adj" fmla="val 6522"/>
            </a:avLst>
          </a:prstGeom>
          <a:solidFill>
            <a:srgbClr val="FFF7D1"/>
          </a:solidFill>
          <a:ln w="12700">
            <a:solidFill>
              <a:srgbClr val="FFF7D1"/>
            </a:solidFill>
            <a:prstDash val="solid"/>
          </a:ln>
        </p:spPr>
        <p:txBody>
          <a:bodyPr/>
          <a:lstStyle/>
          <a:p>
            <a:endParaRPr lang="ja-JP" altLang="en-US"/>
          </a:p>
        </p:txBody>
      </p:sp>
      <p:sp>
        <p:nvSpPr>
          <p:cNvPr id="10" name="Text 7"/>
          <p:cNvSpPr txBox="1"/>
          <p:nvPr/>
        </p:nvSpPr>
        <p:spPr>
          <a:xfrm>
            <a:off x="502920" y="3959352"/>
            <a:ext cx="8138160" cy="256032"/>
          </a:xfrm>
          <a:prstGeom prst="rect">
            <a:avLst/>
          </a:prstGeom>
          <a:noFill/>
          <a:ln/>
        </p:spPr>
        <p:txBody>
          <a:bodyPr wrap="square" lIns="0" tIns="0" rIns="0" bIns="0" rtlCol="0" anchor="ctr"/>
          <a:lstStyle/>
          <a:p>
            <a:pPr marL="0" indent="0">
              <a:buNone/>
            </a:pPr>
            <a:r>
              <a:rPr lang="en-US" sz="1200" b="1" dirty="0">
                <a:solidFill>
                  <a:srgbClr val="ED7D31"/>
                </a:solidFill>
                <a:latin typeface="游ゴシック" pitchFamily="34" charset="0"/>
                <a:ea typeface="游ゴシック" pitchFamily="34" charset="-122"/>
                <a:cs typeface="游ゴシック" pitchFamily="34" charset="-120"/>
              </a:rPr>
              <a:t>結果</a:t>
            </a:r>
            <a:endParaRPr lang="en-US" sz="1200" dirty="0"/>
          </a:p>
        </p:txBody>
      </p:sp>
      <p:sp>
        <p:nvSpPr>
          <p:cNvPr id="11" name="Text 8"/>
          <p:cNvSpPr txBox="1"/>
          <p:nvPr/>
        </p:nvSpPr>
        <p:spPr>
          <a:xfrm>
            <a:off x="502920" y="4251960"/>
            <a:ext cx="8138160" cy="41148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風の組は、風速区分（p.21）が違う日どうしで選び直した。弱風の8/20（2.6m/s）と中風の8/7（3.7m/s）で、両日とも晴れで気温・照度比がほぼ同じ（距離0.03）。繁茂の組は繁茂率の算出後に選ぶ</a:t>
            </a:r>
            <a:endParaRPr lang="en-US" sz="10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分析8：代表日（晴れの日と曇りの日）</a:t>
            </a:r>
            <a:endParaRPr lang="en-US" sz="2000" dirty="0"/>
          </a:p>
        </p:txBody>
      </p:sp>
      <p:sp>
        <p:nvSpPr>
          <p:cNvPr id="3" name="Shape 1"/>
          <p:cNvSpPr/>
          <p:nvPr/>
        </p:nvSpPr>
        <p:spPr>
          <a:xfrm>
            <a:off x="7726680" y="155448"/>
            <a:ext cx="1097280" cy="274320"/>
          </a:xfrm>
          <a:prstGeom prst="roundRect">
            <a:avLst>
              <a:gd name="adj" fmla="val 26667"/>
            </a:avLst>
          </a:prstGeom>
          <a:solidFill>
            <a:srgbClr val="8E5BC4"/>
          </a:solidFill>
          <a:ln w="12700">
            <a:solidFill>
              <a:srgbClr val="8E5BC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補足分析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1日の流れを示す例（結論の根拠には使わない）。気温・風速が近く、日差しが違う2日</a:t>
            </a:r>
            <a:endParaRPr lang="en-US" sz="1200" dirty="0"/>
          </a:p>
        </p:txBody>
      </p:sp>
      <p:sp>
        <p:nvSpPr>
          <p:cNvPr id="6" name="Text 4"/>
          <p:cNvSpPr txBox="1"/>
          <p:nvPr/>
        </p:nvSpPr>
        <p:spPr>
          <a:xfrm>
            <a:off x="365760" y="987552"/>
            <a:ext cx="8412480" cy="292608"/>
          </a:xfrm>
          <a:prstGeom prst="rect">
            <a:avLst/>
          </a:prstGeom>
          <a:noFill/>
          <a:ln/>
        </p:spPr>
        <p:txBody>
          <a:bodyPr wrap="square" lIns="0" tIns="0" rIns="0" bIns="0" rtlCol="0" anchor="ctr"/>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方法　</a:t>
            </a:r>
            <a:r>
              <a:rPr lang="en-US" sz="1050" dirty="0">
                <a:solidFill>
                  <a:srgbClr val="5E6B7A"/>
                </a:solidFill>
                <a:latin typeface="游ゴシック" pitchFamily="34" charset="0"/>
                <a:ea typeface="游ゴシック" pitchFamily="34" charset="-122"/>
                <a:cs typeface="游ゴシック" pitchFamily="34" charset="-120"/>
              </a:rPr>
              <a:t>10分平均。上段：吸気温度と屋上の気温、下段：吸気温度差</a:t>
            </a:r>
            <a:endParaRPr lang="en-US" sz="1050" dirty="0"/>
          </a:p>
        </p:txBody>
      </p:sp>
      <p:sp>
        <p:nvSpPr>
          <p:cNvPr id="7" name="Text 5"/>
          <p:cNvSpPr txBox="1"/>
          <p:nvPr/>
        </p:nvSpPr>
        <p:spPr>
          <a:xfrm>
            <a:off x="365760" y="1325880"/>
            <a:ext cx="2491740" cy="201168"/>
          </a:xfrm>
          <a:prstGeom prst="rect">
            <a:avLst/>
          </a:prstGeom>
          <a:noFill/>
          <a:ln/>
        </p:spPr>
        <p:txBody>
          <a:bodyPr wrap="square" lIns="0" tIns="0" rIns="0" bIns="0" rtlCol="0" anchor="ctr"/>
          <a:lstStyle/>
          <a:p>
            <a:pPr marL="0" indent="0">
              <a:buNone/>
            </a:pPr>
            <a:r>
              <a:rPr lang="en-US" sz="950" b="1" dirty="0">
                <a:solidFill>
                  <a:srgbClr val="22354F"/>
                </a:solidFill>
                <a:latin typeface="游ゴシック" pitchFamily="34" charset="0"/>
                <a:ea typeface="游ゴシック" pitchFamily="34" charset="-122"/>
                <a:cs typeface="游ゴシック" pitchFamily="34" charset="-120"/>
              </a:rPr>
              <a:t>8/19　晴れ・照度比0.84</a:t>
            </a:r>
            <a:endParaRPr lang="en-US" sz="950" dirty="0"/>
          </a:p>
        </p:txBody>
      </p:sp>
      <p:sp>
        <p:nvSpPr>
          <p:cNvPr id="9" name="Text 7"/>
          <p:cNvSpPr txBox="1"/>
          <p:nvPr/>
        </p:nvSpPr>
        <p:spPr>
          <a:xfrm>
            <a:off x="2948940" y="1325880"/>
            <a:ext cx="2491740" cy="201168"/>
          </a:xfrm>
          <a:prstGeom prst="rect">
            <a:avLst/>
          </a:prstGeom>
          <a:noFill/>
          <a:ln/>
        </p:spPr>
        <p:txBody>
          <a:bodyPr wrap="square" lIns="0" tIns="0" rIns="0" bIns="0" rtlCol="0" anchor="ctr"/>
          <a:lstStyle/>
          <a:p>
            <a:pPr marL="0" indent="0">
              <a:buNone/>
            </a:pPr>
            <a:r>
              <a:rPr lang="en-US" sz="950" b="1" dirty="0">
                <a:solidFill>
                  <a:srgbClr val="22354F"/>
                </a:solidFill>
                <a:latin typeface="游ゴシック" pitchFamily="34" charset="0"/>
                <a:ea typeface="游ゴシック" pitchFamily="34" charset="-122"/>
                <a:cs typeface="游ゴシック" pitchFamily="34" charset="-120"/>
              </a:rPr>
              <a:t>9/2　曇り・照度比0.63</a:t>
            </a:r>
            <a:endParaRPr lang="en-US" sz="950" dirty="0"/>
          </a:p>
        </p:txBody>
      </p:sp>
      <p:sp>
        <p:nvSpPr>
          <p:cNvPr id="13" name="Shape 11"/>
          <p:cNvSpPr/>
          <p:nvPr/>
        </p:nvSpPr>
        <p:spPr>
          <a:xfrm>
            <a:off x="5577840" y="1325880"/>
            <a:ext cx="3200400" cy="2167128"/>
          </a:xfrm>
          <a:prstGeom prst="roundRect">
            <a:avLst>
              <a:gd name="adj" fmla="val 2532"/>
            </a:avLst>
          </a:prstGeom>
          <a:solidFill>
            <a:srgbClr val="EAF4FF"/>
          </a:solidFill>
          <a:ln w="12700">
            <a:solidFill>
              <a:srgbClr val="EAF4FF"/>
            </a:solidFill>
            <a:prstDash val="solid"/>
          </a:ln>
        </p:spPr>
        <p:txBody>
          <a:bodyPr/>
          <a:lstStyle/>
          <a:p>
            <a:endParaRPr lang="ja-JP" altLang="en-US"/>
          </a:p>
        </p:txBody>
      </p:sp>
      <p:sp>
        <p:nvSpPr>
          <p:cNvPr id="14" name="Text 12"/>
          <p:cNvSpPr txBox="1"/>
          <p:nvPr/>
        </p:nvSpPr>
        <p:spPr>
          <a:xfrm>
            <a:off x="5715000" y="1399032"/>
            <a:ext cx="292608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結果</a:t>
            </a:r>
            <a:endParaRPr lang="en-US" sz="1200" dirty="0"/>
          </a:p>
        </p:txBody>
      </p:sp>
      <p:sp>
        <p:nvSpPr>
          <p:cNvPr id="15" name="Text 13"/>
          <p:cNvSpPr txBox="1"/>
          <p:nvPr/>
        </p:nvSpPr>
        <p:spPr>
          <a:xfrm>
            <a:off x="5715000" y="1691640"/>
            <a:ext cx="2926080" cy="173736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晴れの8/19：11〜13時に列8が列3より最大1.7℃高い</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曇りの9/2：日中の多くの時間で両列とも列3より低い</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両日とも6〜9時に芋緑化側が高く、9時以降に下がる</a:t>
            </a:r>
            <a:endParaRPr lang="en-US" sz="1050" dirty="0"/>
          </a:p>
        </p:txBody>
      </p:sp>
      <p:sp>
        <p:nvSpPr>
          <p:cNvPr id="16" name="Shape 14"/>
          <p:cNvSpPr/>
          <p:nvPr/>
        </p:nvSpPr>
        <p:spPr>
          <a:xfrm>
            <a:off x="5577840" y="3584448"/>
            <a:ext cx="3200400" cy="1143000"/>
          </a:xfrm>
          <a:prstGeom prst="roundRect">
            <a:avLst>
              <a:gd name="adj" fmla="val 4800"/>
            </a:avLst>
          </a:prstGeom>
          <a:solidFill>
            <a:srgbClr val="FFF7D1"/>
          </a:solidFill>
          <a:ln w="12700">
            <a:solidFill>
              <a:srgbClr val="FFF7D1"/>
            </a:solidFill>
            <a:prstDash val="solid"/>
          </a:ln>
        </p:spPr>
        <p:txBody>
          <a:bodyPr/>
          <a:lstStyle/>
          <a:p>
            <a:endParaRPr lang="ja-JP" altLang="en-US"/>
          </a:p>
        </p:txBody>
      </p:sp>
      <p:sp>
        <p:nvSpPr>
          <p:cNvPr id="17" name="Text 15"/>
          <p:cNvSpPr txBox="1"/>
          <p:nvPr/>
        </p:nvSpPr>
        <p:spPr>
          <a:xfrm>
            <a:off x="5715000" y="3630168"/>
            <a:ext cx="2926080" cy="1051560"/>
          </a:xfrm>
          <a:prstGeom prst="rect">
            <a:avLst/>
          </a:prstGeom>
          <a:noFill/>
          <a:ln/>
        </p:spPr>
        <p:txBody>
          <a:bodyPr wrap="square" lIns="0" tIns="0" rIns="0" bIns="0" rtlCol="0" anchor="t"/>
          <a:lstStyle/>
          <a:p>
            <a:pPr marL="0" indent="0">
              <a:spcAft>
                <a:spcPts val="0"/>
              </a:spcAft>
              <a:buNone/>
            </a:pPr>
            <a:r>
              <a:rPr lang="ja-JP" altLang="en-US" sz="1050" b="1" dirty="0">
                <a:solidFill>
                  <a:srgbClr val="ED7D31"/>
                </a:solidFill>
                <a:latin typeface="游ゴシック" pitchFamily="34" charset="0"/>
                <a:ea typeface="游ゴシック" pitchFamily="34" charset="-122"/>
                <a:cs typeface="游ゴシック" pitchFamily="34" charset="-120"/>
              </a:rPr>
              <a:t>読み取り</a:t>
            </a:r>
            <a:endParaRPr lang="ja-JP" altLang="en-US" sz="1050" dirty="0"/>
          </a:p>
          <a:p>
            <a:pPr marL="0" indent="0">
              <a:spcAft>
                <a:spcPts val="0"/>
              </a:spcAft>
              <a:buNone/>
            </a:pPr>
            <a:r>
              <a:rPr lang="ja-JP" altLang="en-US" sz="1050" dirty="0">
                <a:solidFill>
                  <a:srgbClr val="172033"/>
                </a:solidFill>
                <a:latin typeface="游ゴシック" pitchFamily="34" charset="0"/>
                <a:ea typeface="游ゴシック" pitchFamily="34" charset="-122"/>
                <a:cs typeface="游ゴシック" pitchFamily="34" charset="-120"/>
              </a:rPr>
              <a:t>日差しが強い時間に、芋緑化側が高くなる。朝に芋緑化側が高いのは、列8・11が列3より先に運転を始めるため</a:t>
            </a:r>
            <a:endParaRPr lang="ja-JP" altLang="en-US" sz="10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27</a:t>
            </a:fld>
            <a:endParaRPr lang="en-US"/>
          </a:p>
        </p:txBody>
      </p:sp>
      <p:graphicFrame>
        <p:nvGraphicFramePr>
          <p:cNvPr id="26" name="グラフ a8w_0_t"/>
          <p:cNvGraphicFramePr>
            <a:graphicFrameLocks noGrp="1"/>
          </p:cNvGraphicFramePr>
          <p:nvPr/>
        </p:nvGraphicFramePr>
        <p:xfrm>
          <a:off x="365760" y="1527048"/>
          <a:ext cx="2491740" cy="166969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7" name="グラフ a8w_1_t"/>
          <p:cNvGraphicFramePr>
            <a:graphicFrameLocks noGrp="1"/>
          </p:cNvGraphicFramePr>
          <p:nvPr/>
        </p:nvGraphicFramePr>
        <p:xfrm>
          <a:off x="2948940" y="1527048"/>
          <a:ext cx="2491740" cy="166969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8" name="グラフ a8w_0_b"/>
          <p:cNvGraphicFramePr>
            <a:graphicFrameLocks noGrp="1"/>
          </p:cNvGraphicFramePr>
          <p:nvPr/>
        </p:nvGraphicFramePr>
        <p:xfrm>
          <a:off x="365760" y="3196742"/>
          <a:ext cx="2491740" cy="1530706"/>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9" name="グラフ a8w_1_b"/>
          <p:cNvGraphicFramePr>
            <a:graphicFrameLocks noGrp="1"/>
          </p:cNvGraphicFramePr>
          <p:nvPr/>
        </p:nvGraphicFramePr>
        <p:xfrm>
          <a:off x="2948940" y="3196742"/>
          <a:ext cx="2491740" cy="1530706"/>
        </p:xfrm>
        <a:graphic>
          <a:graphicData uri="http://schemas.openxmlformats.org/drawingml/2006/chart">
            <c:chart xmlns:c="http://schemas.openxmlformats.org/drawingml/2006/chart" xmlns:r="http://schemas.openxmlformats.org/officeDocument/2006/relationships" r:id="rId6"/>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分析8：代表日（弱風の日と中風の日）</a:t>
            </a:r>
            <a:endParaRPr lang="en-US" sz="2000" dirty="0"/>
          </a:p>
        </p:txBody>
      </p:sp>
      <p:sp>
        <p:nvSpPr>
          <p:cNvPr id="3" name="Shape 1"/>
          <p:cNvSpPr/>
          <p:nvPr/>
        </p:nvSpPr>
        <p:spPr>
          <a:xfrm>
            <a:off x="7726680" y="155448"/>
            <a:ext cx="1097280" cy="274320"/>
          </a:xfrm>
          <a:prstGeom prst="roundRect">
            <a:avLst>
              <a:gd name="adj" fmla="val 26667"/>
            </a:avLst>
          </a:prstGeom>
          <a:solidFill>
            <a:srgbClr val="8E5BC4"/>
          </a:solidFill>
          <a:ln w="12700">
            <a:solidFill>
              <a:srgbClr val="8E5BC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補足分析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1日の流れを示す例（結論の根拠には使わない）。気温・照度がほぼ同じで、風速区分が違う2日</a:t>
            </a:r>
            <a:endParaRPr lang="en-US" sz="1200" dirty="0"/>
          </a:p>
        </p:txBody>
      </p:sp>
      <p:sp>
        <p:nvSpPr>
          <p:cNvPr id="6" name="Text 4"/>
          <p:cNvSpPr txBox="1"/>
          <p:nvPr/>
        </p:nvSpPr>
        <p:spPr>
          <a:xfrm>
            <a:off x="365760" y="987552"/>
            <a:ext cx="8412480" cy="292608"/>
          </a:xfrm>
          <a:prstGeom prst="rect">
            <a:avLst/>
          </a:prstGeom>
          <a:noFill/>
          <a:ln/>
        </p:spPr>
        <p:txBody>
          <a:bodyPr wrap="square" lIns="0" tIns="0" rIns="0" bIns="0" rtlCol="0" anchor="ctr"/>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方法　</a:t>
            </a:r>
            <a:r>
              <a:rPr lang="en-US" sz="1050" dirty="0">
                <a:solidFill>
                  <a:srgbClr val="5E6B7A"/>
                </a:solidFill>
                <a:latin typeface="游ゴシック" pitchFamily="34" charset="0"/>
                <a:ea typeface="游ゴシック" pitchFamily="34" charset="-122"/>
                <a:cs typeface="游ゴシック" pitchFamily="34" charset="-120"/>
              </a:rPr>
              <a:t>両日とも晴れ。10分平均。上段：吸気温度と屋上の気温、下段：吸気温度差</a:t>
            </a:r>
            <a:endParaRPr lang="en-US" sz="1050" dirty="0"/>
          </a:p>
        </p:txBody>
      </p:sp>
      <p:sp>
        <p:nvSpPr>
          <p:cNvPr id="7" name="Text 5"/>
          <p:cNvSpPr txBox="1"/>
          <p:nvPr/>
        </p:nvSpPr>
        <p:spPr>
          <a:xfrm>
            <a:off x="365760" y="1325880"/>
            <a:ext cx="2491740" cy="201168"/>
          </a:xfrm>
          <a:prstGeom prst="rect">
            <a:avLst/>
          </a:prstGeom>
          <a:noFill/>
          <a:ln/>
        </p:spPr>
        <p:txBody>
          <a:bodyPr wrap="square" lIns="0" tIns="0" rIns="0" bIns="0" rtlCol="0" anchor="ctr"/>
          <a:lstStyle/>
          <a:p>
            <a:pPr marL="0" indent="0">
              <a:buNone/>
            </a:pPr>
            <a:r>
              <a:rPr lang="en-US" sz="950" b="1" dirty="0">
                <a:solidFill>
                  <a:srgbClr val="22354F"/>
                </a:solidFill>
                <a:latin typeface="游ゴシック" pitchFamily="34" charset="0"/>
                <a:ea typeface="游ゴシック" pitchFamily="34" charset="-122"/>
                <a:cs typeface="游ゴシック" pitchFamily="34" charset="-120"/>
              </a:rPr>
              <a:t>8/20　弱風・2.6m/s</a:t>
            </a:r>
            <a:endParaRPr lang="en-US" sz="950" dirty="0"/>
          </a:p>
        </p:txBody>
      </p:sp>
      <p:sp>
        <p:nvSpPr>
          <p:cNvPr id="9" name="Text 7"/>
          <p:cNvSpPr txBox="1"/>
          <p:nvPr/>
        </p:nvSpPr>
        <p:spPr>
          <a:xfrm>
            <a:off x="2948940" y="1325880"/>
            <a:ext cx="2491740" cy="201168"/>
          </a:xfrm>
          <a:prstGeom prst="rect">
            <a:avLst/>
          </a:prstGeom>
          <a:noFill/>
          <a:ln/>
        </p:spPr>
        <p:txBody>
          <a:bodyPr wrap="square" lIns="0" tIns="0" rIns="0" bIns="0" rtlCol="0" anchor="ctr"/>
          <a:lstStyle/>
          <a:p>
            <a:pPr marL="0" indent="0">
              <a:buNone/>
            </a:pPr>
            <a:r>
              <a:rPr lang="en-US" sz="950" b="1" dirty="0">
                <a:solidFill>
                  <a:srgbClr val="22354F"/>
                </a:solidFill>
                <a:latin typeface="游ゴシック" pitchFamily="34" charset="0"/>
                <a:ea typeface="游ゴシック" pitchFamily="34" charset="-122"/>
                <a:cs typeface="游ゴシック" pitchFamily="34" charset="-120"/>
              </a:rPr>
              <a:t>8/7　中風・3.7m/s</a:t>
            </a:r>
            <a:endParaRPr lang="en-US" sz="950" dirty="0"/>
          </a:p>
        </p:txBody>
      </p:sp>
      <p:sp>
        <p:nvSpPr>
          <p:cNvPr id="13" name="Shape 11"/>
          <p:cNvSpPr/>
          <p:nvPr/>
        </p:nvSpPr>
        <p:spPr>
          <a:xfrm>
            <a:off x="5577840" y="1325880"/>
            <a:ext cx="3200400" cy="2167128"/>
          </a:xfrm>
          <a:prstGeom prst="roundRect">
            <a:avLst>
              <a:gd name="adj" fmla="val 2532"/>
            </a:avLst>
          </a:prstGeom>
          <a:solidFill>
            <a:srgbClr val="EAF4FF"/>
          </a:solidFill>
          <a:ln w="12700">
            <a:solidFill>
              <a:srgbClr val="EAF4FF"/>
            </a:solidFill>
            <a:prstDash val="solid"/>
          </a:ln>
        </p:spPr>
        <p:txBody>
          <a:bodyPr/>
          <a:lstStyle/>
          <a:p>
            <a:endParaRPr lang="ja-JP" altLang="en-US"/>
          </a:p>
        </p:txBody>
      </p:sp>
      <p:sp>
        <p:nvSpPr>
          <p:cNvPr id="14" name="Text 12"/>
          <p:cNvSpPr txBox="1"/>
          <p:nvPr/>
        </p:nvSpPr>
        <p:spPr>
          <a:xfrm>
            <a:off x="5715000" y="1399032"/>
            <a:ext cx="292608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結果</a:t>
            </a:r>
            <a:endParaRPr lang="en-US" sz="1200" dirty="0"/>
          </a:p>
        </p:txBody>
      </p:sp>
      <p:sp>
        <p:nvSpPr>
          <p:cNvPr id="15" name="Text 13"/>
          <p:cNvSpPr txBox="1"/>
          <p:nvPr/>
        </p:nvSpPr>
        <p:spPr>
          <a:xfrm>
            <a:off x="5715000" y="1691640"/>
            <a:ext cx="2926080" cy="173736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弱風の8/20：日中平均で列8＋0.34℃、列11−0.10℃</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中風の8/7：列8−0.25℃、列11−0.69℃</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日中に列3より低い時間の割合：8/20は列8 26％・列11 63％、8/7は列8 83％・列11 100％</a:t>
            </a:r>
            <a:endParaRPr lang="en-US" sz="1050" dirty="0"/>
          </a:p>
        </p:txBody>
      </p:sp>
      <p:sp>
        <p:nvSpPr>
          <p:cNvPr id="16" name="Shape 14"/>
          <p:cNvSpPr/>
          <p:nvPr/>
        </p:nvSpPr>
        <p:spPr>
          <a:xfrm>
            <a:off x="5577840" y="3584448"/>
            <a:ext cx="3200400" cy="1143000"/>
          </a:xfrm>
          <a:prstGeom prst="roundRect">
            <a:avLst>
              <a:gd name="adj" fmla="val 4800"/>
            </a:avLst>
          </a:prstGeom>
          <a:solidFill>
            <a:srgbClr val="FFF7D1"/>
          </a:solidFill>
          <a:ln w="12700">
            <a:solidFill>
              <a:srgbClr val="FFF7D1"/>
            </a:solidFill>
            <a:prstDash val="solid"/>
          </a:ln>
        </p:spPr>
        <p:txBody>
          <a:bodyPr/>
          <a:lstStyle/>
          <a:p>
            <a:endParaRPr lang="ja-JP" altLang="en-US"/>
          </a:p>
        </p:txBody>
      </p:sp>
      <p:sp>
        <p:nvSpPr>
          <p:cNvPr id="17" name="Text 15"/>
          <p:cNvSpPr txBox="1"/>
          <p:nvPr/>
        </p:nvSpPr>
        <p:spPr>
          <a:xfrm>
            <a:off x="5715000" y="3630168"/>
            <a:ext cx="2926080" cy="1051560"/>
          </a:xfrm>
          <a:prstGeom prst="rect">
            <a:avLst/>
          </a:prstGeom>
          <a:noFill/>
          <a:ln/>
        </p:spPr>
        <p:txBody>
          <a:bodyPr wrap="square" lIns="0" tIns="0" rIns="0" bIns="0" rtlCol="0" anchor="t"/>
          <a:lstStyle/>
          <a:p>
            <a:pPr marL="0" indent="0">
              <a:spcAft>
                <a:spcPts val="0"/>
              </a:spcAft>
              <a:buNone/>
            </a:pPr>
            <a:r>
              <a:rPr lang="ja-JP" altLang="en-US" sz="1050" b="1" dirty="0">
                <a:solidFill>
                  <a:srgbClr val="ED7D31"/>
                </a:solidFill>
                <a:latin typeface="游ゴシック" pitchFamily="34" charset="0"/>
                <a:ea typeface="游ゴシック" pitchFamily="34" charset="-122"/>
                <a:cs typeface="游ゴシック" pitchFamily="34" charset="-120"/>
              </a:rPr>
              <a:t>読み取り</a:t>
            </a:r>
            <a:endParaRPr lang="ja-JP" altLang="en-US" sz="1050" dirty="0"/>
          </a:p>
          <a:p>
            <a:pPr marL="0" indent="0">
              <a:spcAft>
                <a:spcPts val="0"/>
              </a:spcAft>
              <a:buNone/>
            </a:pPr>
            <a:r>
              <a:rPr lang="ja-JP" altLang="en-US" sz="1050" dirty="0">
                <a:solidFill>
                  <a:srgbClr val="172033"/>
                </a:solidFill>
                <a:latin typeface="游ゴシック" pitchFamily="34" charset="0"/>
                <a:ea typeface="游ゴシック" pitchFamily="34" charset="-122"/>
                <a:cs typeface="游ゴシック" pitchFamily="34" charset="-120"/>
              </a:rPr>
              <a:t>この2日では風の強い8/7のほうが低減効果が大きい。気温・雨をそろえた比較（p.23）では風速の影響は小さく、1組だけでは判断できない</a:t>
            </a:r>
            <a:endParaRPr lang="ja-JP" altLang="en-US" sz="10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28</a:t>
            </a:fld>
            <a:endParaRPr lang="en-US"/>
          </a:p>
        </p:txBody>
      </p:sp>
      <p:graphicFrame>
        <p:nvGraphicFramePr>
          <p:cNvPr id="26" name="グラフ a8d_0_t"/>
          <p:cNvGraphicFramePr>
            <a:graphicFrameLocks noGrp="1"/>
          </p:cNvGraphicFramePr>
          <p:nvPr/>
        </p:nvGraphicFramePr>
        <p:xfrm>
          <a:off x="365760" y="1527048"/>
          <a:ext cx="2491740" cy="166969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7" name="グラフ a8d_1_t"/>
          <p:cNvGraphicFramePr>
            <a:graphicFrameLocks noGrp="1"/>
          </p:cNvGraphicFramePr>
          <p:nvPr/>
        </p:nvGraphicFramePr>
        <p:xfrm>
          <a:off x="2948940" y="1527048"/>
          <a:ext cx="2491740" cy="166969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8" name="グラフ a8d_0_b"/>
          <p:cNvGraphicFramePr>
            <a:graphicFrameLocks noGrp="1"/>
          </p:cNvGraphicFramePr>
          <p:nvPr/>
        </p:nvGraphicFramePr>
        <p:xfrm>
          <a:off x="365760" y="3196742"/>
          <a:ext cx="2491740" cy="1530706"/>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9" name="グラフ a8d_1_b"/>
          <p:cNvGraphicFramePr>
            <a:graphicFrameLocks noGrp="1"/>
          </p:cNvGraphicFramePr>
          <p:nvPr/>
        </p:nvGraphicFramePr>
        <p:xfrm>
          <a:off x="2948940" y="3196742"/>
          <a:ext cx="2491740" cy="1530706"/>
        </p:xfrm>
        <a:graphic>
          <a:graphicData uri="http://schemas.openxmlformats.org/drawingml/2006/chart">
            <c:chart xmlns:c="http://schemas.openxmlformats.org/drawingml/2006/chart" xmlns:r="http://schemas.openxmlformats.org/officeDocument/2006/relationships" r:id="rId6"/>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分析8：代表日（典型日）</a:t>
            </a:r>
            <a:endParaRPr lang="en-US" sz="2000" dirty="0"/>
          </a:p>
        </p:txBody>
      </p:sp>
      <p:sp>
        <p:nvSpPr>
          <p:cNvPr id="3" name="Shape 1"/>
          <p:cNvSpPr/>
          <p:nvPr/>
        </p:nvSpPr>
        <p:spPr>
          <a:xfrm>
            <a:off x="7726680" y="155448"/>
            <a:ext cx="1097280" cy="274320"/>
          </a:xfrm>
          <a:prstGeom prst="roundRect">
            <a:avLst>
              <a:gd name="adj" fmla="val 26667"/>
            </a:avLst>
          </a:prstGeom>
          <a:solidFill>
            <a:srgbClr val="8E5BC4"/>
          </a:solidFill>
          <a:ln w="12700">
            <a:solidFill>
              <a:srgbClr val="8E5BC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補足分析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1日の流れを示す例（結論の根拠には使わない）。気象が期間の中央値に最も近い1日</a:t>
            </a:r>
            <a:endParaRPr lang="en-US" sz="1200" dirty="0"/>
          </a:p>
        </p:txBody>
      </p:sp>
      <p:sp>
        <p:nvSpPr>
          <p:cNvPr id="6" name="Text 4"/>
          <p:cNvSpPr txBox="1"/>
          <p:nvPr/>
        </p:nvSpPr>
        <p:spPr>
          <a:xfrm>
            <a:off x="365760" y="987552"/>
            <a:ext cx="8412480" cy="292608"/>
          </a:xfrm>
          <a:prstGeom prst="rect">
            <a:avLst/>
          </a:prstGeom>
          <a:noFill/>
          <a:ln/>
        </p:spPr>
        <p:txBody>
          <a:bodyPr wrap="square" lIns="0" tIns="0" rIns="0" bIns="0" rtlCol="0" anchor="ctr"/>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方法　</a:t>
            </a:r>
            <a:r>
              <a:rPr lang="en-US" sz="1050" dirty="0">
                <a:solidFill>
                  <a:srgbClr val="5E6B7A"/>
                </a:solidFill>
                <a:latin typeface="游ゴシック" pitchFamily="34" charset="0"/>
                <a:ea typeface="游ゴシック" pitchFamily="34" charset="-122"/>
                <a:cs typeface="游ゴシック" pitchFamily="34" charset="-120"/>
              </a:rPr>
              <a:t>8/17（晴れ、気温29.8℃、照度比0.77、風速1.8m/s）。10分平均</a:t>
            </a:r>
            <a:endParaRPr lang="en-US" sz="1050" dirty="0"/>
          </a:p>
        </p:txBody>
      </p:sp>
      <p:sp>
        <p:nvSpPr>
          <p:cNvPr id="7" name="Text 5"/>
          <p:cNvSpPr txBox="1"/>
          <p:nvPr/>
        </p:nvSpPr>
        <p:spPr>
          <a:xfrm>
            <a:off x="365760" y="1325880"/>
            <a:ext cx="5074920" cy="201168"/>
          </a:xfrm>
          <a:prstGeom prst="rect">
            <a:avLst/>
          </a:prstGeom>
          <a:noFill/>
          <a:ln/>
        </p:spPr>
        <p:txBody>
          <a:bodyPr wrap="square" lIns="0" tIns="0" rIns="0" bIns="0" rtlCol="0" anchor="ctr"/>
          <a:lstStyle/>
          <a:p>
            <a:pPr marL="0" indent="0">
              <a:buNone/>
            </a:pPr>
            <a:r>
              <a:rPr lang="en-US" sz="950" b="1" dirty="0">
                <a:solidFill>
                  <a:srgbClr val="22354F"/>
                </a:solidFill>
                <a:latin typeface="游ゴシック" pitchFamily="34" charset="0"/>
                <a:ea typeface="游ゴシック" pitchFamily="34" charset="-122"/>
                <a:cs typeface="游ゴシック" pitchFamily="34" charset="-120"/>
              </a:rPr>
              <a:t>8/17　晴れ・気温29.8℃・照度比0.77・風速1.8m/s</a:t>
            </a:r>
            <a:endParaRPr lang="en-US" sz="950" dirty="0"/>
          </a:p>
        </p:txBody>
      </p:sp>
      <p:sp>
        <p:nvSpPr>
          <p:cNvPr id="10" name="Shape 8"/>
          <p:cNvSpPr/>
          <p:nvPr/>
        </p:nvSpPr>
        <p:spPr>
          <a:xfrm>
            <a:off x="5577840" y="1325880"/>
            <a:ext cx="3200400" cy="2167128"/>
          </a:xfrm>
          <a:prstGeom prst="roundRect">
            <a:avLst>
              <a:gd name="adj" fmla="val 2532"/>
            </a:avLst>
          </a:prstGeom>
          <a:solidFill>
            <a:srgbClr val="EAF4FF"/>
          </a:solidFill>
          <a:ln w="12700">
            <a:solidFill>
              <a:srgbClr val="EAF4FF"/>
            </a:solidFill>
            <a:prstDash val="solid"/>
          </a:ln>
        </p:spPr>
        <p:txBody>
          <a:bodyPr/>
          <a:lstStyle/>
          <a:p>
            <a:endParaRPr lang="ja-JP" altLang="en-US"/>
          </a:p>
        </p:txBody>
      </p:sp>
      <p:sp>
        <p:nvSpPr>
          <p:cNvPr id="11" name="Text 9"/>
          <p:cNvSpPr txBox="1"/>
          <p:nvPr/>
        </p:nvSpPr>
        <p:spPr>
          <a:xfrm>
            <a:off x="5715000" y="1399032"/>
            <a:ext cx="292608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結果</a:t>
            </a:r>
            <a:endParaRPr lang="en-US" sz="1200" dirty="0"/>
          </a:p>
        </p:txBody>
      </p:sp>
      <p:sp>
        <p:nvSpPr>
          <p:cNvPr id="12" name="Text 10"/>
          <p:cNvSpPr txBox="1"/>
          <p:nvPr/>
        </p:nvSpPr>
        <p:spPr>
          <a:xfrm>
            <a:off x="5715000" y="1691640"/>
            <a:ext cx="2926080" cy="173736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日中平均は列8−0.12℃、列11−0.29℃</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7〜8時に芋緑化側が先に上がり、9時に列3が急に上がる</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9時直後は両列とも列3より最大約2℃低い</a:t>
            </a:r>
            <a:endParaRPr lang="en-US" sz="1050" dirty="0"/>
          </a:p>
        </p:txBody>
      </p:sp>
      <p:sp>
        <p:nvSpPr>
          <p:cNvPr id="13" name="Shape 11"/>
          <p:cNvSpPr/>
          <p:nvPr/>
        </p:nvSpPr>
        <p:spPr>
          <a:xfrm>
            <a:off x="5577840" y="3584448"/>
            <a:ext cx="3200400" cy="1143000"/>
          </a:xfrm>
          <a:prstGeom prst="roundRect">
            <a:avLst>
              <a:gd name="adj" fmla="val 4800"/>
            </a:avLst>
          </a:prstGeom>
          <a:solidFill>
            <a:srgbClr val="FFF7D1"/>
          </a:solidFill>
          <a:ln w="12700">
            <a:solidFill>
              <a:srgbClr val="FFF7D1"/>
            </a:solidFill>
            <a:prstDash val="solid"/>
          </a:ln>
        </p:spPr>
        <p:txBody>
          <a:bodyPr/>
          <a:lstStyle/>
          <a:p>
            <a:endParaRPr lang="ja-JP" altLang="en-US"/>
          </a:p>
        </p:txBody>
      </p:sp>
      <p:sp>
        <p:nvSpPr>
          <p:cNvPr id="14" name="Text 12"/>
          <p:cNvSpPr txBox="1"/>
          <p:nvPr/>
        </p:nvSpPr>
        <p:spPr>
          <a:xfrm>
            <a:off x="5715000" y="3630168"/>
            <a:ext cx="2926080" cy="1051560"/>
          </a:xfrm>
          <a:prstGeom prst="rect">
            <a:avLst/>
          </a:prstGeom>
          <a:noFill/>
          <a:ln/>
        </p:spPr>
        <p:txBody>
          <a:bodyPr wrap="square" lIns="0" tIns="0" rIns="0" bIns="0" rtlCol="0" anchor="t"/>
          <a:lstStyle/>
          <a:p>
            <a:pPr marL="0" indent="0">
              <a:spcAft>
                <a:spcPts val="0"/>
              </a:spcAft>
              <a:buNone/>
            </a:pPr>
            <a:r>
              <a:rPr lang="ja-JP" altLang="en-US" sz="1050" b="1" dirty="0">
                <a:solidFill>
                  <a:srgbClr val="ED7D31"/>
                </a:solidFill>
                <a:latin typeface="游ゴシック" pitchFamily="34" charset="0"/>
                <a:ea typeface="游ゴシック" pitchFamily="34" charset="-122"/>
                <a:cs typeface="游ゴシック" pitchFamily="34" charset="-120"/>
              </a:rPr>
              <a:t>読み取り</a:t>
            </a:r>
            <a:endParaRPr lang="ja-JP" altLang="en-US" sz="1050" dirty="0"/>
          </a:p>
          <a:p>
            <a:pPr marL="0" indent="0">
              <a:spcAft>
                <a:spcPts val="0"/>
              </a:spcAft>
              <a:buNone/>
            </a:pPr>
            <a:r>
              <a:rPr lang="ja-JP" altLang="en-US" sz="1050" dirty="0">
                <a:solidFill>
                  <a:srgbClr val="172033"/>
                </a:solidFill>
                <a:latin typeface="游ゴシック" pitchFamily="34" charset="0"/>
                <a:ea typeface="游ゴシック" pitchFamily="34" charset="-122"/>
                <a:cs typeface="游ゴシック" pitchFamily="34" charset="-120"/>
              </a:rPr>
              <a:t>7〜8時に列8・11が運転を始め、9時に列3が始まる。この開始時刻のずれで、朝の吸気温度差が大きく上下する</a:t>
            </a:r>
            <a:endParaRPr lang="ja-JP" altLang="en-US" sz="10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29</a:t>
            </a:fld>
            <a:endParaRPr lang="en-US"/>
          </a:p>
        </p:txBody>
      </p:sp>
      <p:graphicFrame>
        <p:nvGraphicFramePr>
          <p:cNvPr id="26" name="グラフ a8t_0_t"/>
          <p:cNvGraphicFramePr>
            <a:graphicFrameLocks noGrp="1"/>
          </p:cNvGraphicFramePr>
          <p:nvPr/>
        </p:nvGraphicFramePr>
        <p:xfrm>
          <a:off x="365760" y="1527048"/>
          <a:ext cx="5074920" cy="166969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7" name="グラフ a8t_0_b"/>
          <p:cNvGraphicFramePr>
            <a:graphicFrameLocks noGrp="1"/>
          </p:cNvGraphicFramePr>
          <p:nvPr/>
        </p:nvGraphicFramePr>
        <p:xfrm>
          <a:off x="365760" y="3196742"/>
          <a:ext cx="5074920" cy="1530706"/>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独立検証：エアネット分析との比較</a:t>
            </a:r>
            <a:endParaRPr lang="en-US" sz="2000" dirty="0"/>
          </a:p>
        </p:txBody>
      </p:sp>
      <p:sp>
        <p:nvSpPr>
          <p:cNvPr id="3" name="Shape 1"/>
          <p:cNvSpPr/>
          <p:nvPr/>
        </p:nvSpPr>
        <p:spPr>
          <a:xfrm>
            <a:off x="7726680" y="155448"/>
            <a:ext cx="1097280" cy="274320"/>
          </a:xfrm>
          <a:prstGeom prst="roundRect">
            <a:avLst>
              <a:gd name="adj" fmla="val 26667"/>
            </a:avLst>
          </a:prstGeom>
          <a:solidFill>
            <a:srgbClr val="118DFF"/>
          </a:solidFill>
          <a:ln w="12700">
            <a:solidFill>
              <a:srgbClr val="118DFF"/>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独立検証</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別のデータ・別の方法で得た結果と、方向が合うかを確かめる</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365760" y="1115568"/>
          <a:ext cx="8412480" cy="2377440"/>
        </p:xfrm>
        <a:graphic>
          <a:graphicData uri="http://schemas.openxmlformats.org/drawingml/2006/table">
            <a:tbl>
              <a:tblPr/>
              <a:tblGrid>
                <a:gridCol w="11887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292608">
                <a:tc>
                  <a:txBody>
                    <a:bodyPr/>
                    <a:lstStyle/>
                    <a:p>
                      <a:pPr marL="0" indent="0" algn="ctr">
                        <a:buNone/>
                      </a:pPr>
                      <a:endParaRPr lang="en-US" sz="10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1050" b="1" dirty="0">
                          <a:solidFill>
                            <a:srgbClr val="FFFFFF"/>
                          </a:solidFill>
                          <a:latin typeface="游ゴシック" pitchFamily="34" charset="0"/>
                          <a:ea typeface="游ゴシック" pitchFamily="34" charset="-122"/>
                          <a:cs typeface="游ゴシック" pitchFamily="34" charset="-120"/>
                        </a:rPr>
                        <a:t>エアネット分析</a:t>
                      </a:r>
                      <a:endParaRPr lang="en-US" sz="10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1050" b="1" dirty="0">
                          <a:solidFill>
                            <a:srgbClr val="FFFFFF"/>
                          </a:solidFill>
                          <a:latin typeface="游ゴシック" pitchFamily="34" charset="0"/>
                          <a:ea typeface="游ゴシック" pitchFamily="34" charset="-122"/>
                          <a:cs typeface="游ゴシック" pitchFamily="34" charset="-120"/>
                        </a:rPr>
                        <a:t>2026年実測（本資料）</a:t>
                      </a:r>
                      <a:endParaRPr lang="en-US" sz="10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1050" b="1" dirty="0">
                          <a:solidFill>
                            <a:srgbClr val="FFFFFF"/>
                          </a:solidFill>
                          <a:latin typeface="游ゴシック" pitchFamily="34" charset="0"/>
                          <a:ea typeface="游ゴシック" pitchFamily="34" charset="-122"/>
                          <a:cs typeface="游ゴシック" pitchFamily="34" charset="-120"/>
                        </a:rPr>
                        <a:t>一致</a:t>
                      </a:r>
                      <a:endParaRPr lang="en-US" sz="10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extLst>
                  <a:ext uri="{0D108BD9-81ED-4DB2-BD59-A6C34878D82A}">
                    <a16:rowId xmlns:a16="http://schemas.microsoft.com/office/drawing/2014/main" val="10000"/>
                  </a:ext>
                </a:extLst>
              </a:tr>
              <a:tr h="347472">
                <a:tc>
                  <a:txBody>
                    <a:bodyPr/>
                    <a:lstStyle/>
                    <a:p>
                      <a:pPr marL="0" indent="0">
                        <a:buNone/>
                      </a:pPr>
                      <a:r>
                        <a:rPr lang="en-US" sz="1000" b="1" dirty="0">
                          <a:solidFill>
                            <a:srgbClr val="172033"/>
                          </a:solidFill>
                          <a:latin typeface="游ゴシック" pitchFamily="34" charset="0"/>
                          <a:ea typeface="游ゴシック" pitchFamily="34" charset="-122"/>
                          <a:cs typeface="游ゴシック" pitchFamily="34" charset="-120"/>
                        </a:rPr>
                        <a:t>比べ方</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000" dirty="0">
                          <a:solidFill>
                            <a:srgbClr val="172033"/>
                          </a:solidFill>
                          <a:latin typeface="游ゴシック" pitchFamily="34" charset="0"/>
                          <a:ea typeface="游ゴシック" pitchFamily="34" charset="-122"/>
                          <a:cs typeface="游ゴシック" pitchFamily="34" charset="-120"/>
                        </a:rPr>
                        <a:t>同じ機器の2024年（なし）と2025年（あり）</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000" dirty="0">
                          <a:solidFill>
                            <a:srgbClr val="172033"/>
                          </a:solidFill>
                          <a:latin typeface="游ゴシック" pitchFamily="34" charset="0"/>
                          <a:ea typeface="游ゴシック" pitchFamily="34" charset="-122"/>
                          <a:cs typeface="游ゴシック" pitchFamily="34" charset="-120"/>
                        </a:rPr>
                        <a:t>同じ時刻の列3（なし）と列8・11（あり）</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000" b="1" dirty="0">
                          <a:solidFill>
                            <a:srgbClr val="172033"/>
                          </a:solidFill>
                          <a:latin typeface="游ゴシック" pitchFamily="34" charset="0"/>
                          <a:ea typeface="游ゴシック" pitchFamily="34" charset="-122"/>
                          <a:cs typeface="游ゴシック" pitchFamily="34" charset="-120"/>
                        </a:rPr>
                        <a:t>温度</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000" dirty="0">
                          <a:solidFill>
                            <a:srgbClr val="172033"/>
                          </a:solidFill>
                          <a:latin typeface="游ゴシック" pitchFamily="34" charset="0"/>
                          <a:ea typeface="游ゴシック" pitchFamily="34" charset="-122"/>
                          <a:cs typeface="游ゴシック" pitchFamily="34" charset="-120"/>
                        </a:rPr>
                        <a:t>室外機吸込み温度（機器のセンサー）</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000" dirty="0">
                          <a:solidFill>
                            <a:srgbClr val="172033"/>
                          </a:solidFill>
                          <a:latin typeface="游ゴシック" pitchFamily="34" charset="0"/>
                          <a:ea typeface="游ゴシック" pitchFamily="34" charset="-122"/>
                          <a:cs typeface="游ゴシック" pitchFamily="34" charset="-120"/>
                        </a:rPr>
                        <a:t>吸気温度（熱電対、3方位）</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000" b="1" dirty="0">
                          <a:solidFill>
                            <a:srgbClr val="172033"/>
                          </a:solidFill>
                          <a:latin typeface="游ゴシック" pitchFamily="34" charset="0"/>
                          <a:ea typeface="游ゴシック" pitchFamily="34" charset="-122"/>
                          <a:cs typeface="游ゴシック" pitchFamily="34" charset="-120"/>
                        </a:rPr>
                        <a:t>低くなる向き</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000" dirty="0">
                          <a:solidFill>
                            <a:srgbClr val="172033"/>
                          </a:solidFill>
                          <a:latin typeface="游ゴシック" pitchFamily="34" charset="0"/>
                          <a:ea typeface="游ゴシック" pitchFamily="34" charset="-122"/>
                          <a:cs typeface="游ゴシック" pitchFamily="34" charset="-120"/>
                        </a:rPr>
                        <a:t>両列とも低い</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000" dirty="0">
                          <a:solidFill>
                            <a:srgbClr val="172033"/>
                          </a:solidFill>
                          <a:latin typeface="游ゴシック" pitchFamily="34" charset="0"/>
                          <a:ea typeface="游ゴシック" pitchFamily="34" charset="-122"/>
                          <a:cs typeface="游ゴシック" pitchFamily="34" charset="-120"/>
                        </a:rPr>
                        <a:t>列11は低い、列8は低くない</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b="1" dirty="0">
                          <a:solidFill>
                            <a:srgbClr val="ED7D31"/>
                          </a:solidFill>
                          <a:latin typeface="游ゴシック" pitchFamily="34" charset="0"/>
                          <a:ea typeface="游ゴシック" pitchFamily="34" charset="-122"/>
                          <a:cs typeface="游ゴシック" pitchFamily="34" charset="-120"/>
                        </a:rPr>
                        <a:t>一部</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000" b="1" dirty="0">
                          <a:solidFill>
                            <a:srgbClr val="172033"/>
                          </a:solidFill>
                          <a:latin typeface="游ゴシック" pitchFamily="34" charset="0"/>
                          <a:ea typeface="游ゴシック" pitchFamily="34" charset="-122"/>
                          <a:cs typeface="游ゴシック" pitchFamily="34" charset="-120"/>
                        </a:rPr>
                        <a:t>列の比較</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000" dirty="0">
                          <a:solidFill>
                            <a:srgbClr val="172033"/>
                          </a:solidFill>
                          <a:latin typeface="游ゴシック" pitchFamily="34" charset="0"/>
                          <a:ea typeface="游ゴシック" pitchFamily="34" charset="-122"/>
                          <a:cs typeface="游ゴシック" pitchFamily="34" charset="-120"/>
                        </a:rPr>
                        <a:t>OACP-8のほうが大きく低い</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000" dirty="0">
                          <a:solidFill>
                            <a:srgbClr val="172033"/>
                          </a:solidFill>
                          <a:latin typeface="游ゴシック" pitchFamily="34" charset="0"/>
                          <a:ea typeface="游ゴシック" pitchFamily="34" charset="-122"/>
                          <a:cs typeface="游ゴシック" pitchFamily="34" charset="-120"/>
                        </a:rPr>
                        <a:t>列11のほうが低い</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b="1" dirty="0">
                          <a:solidFill>
                            <a:srgbClr val="E66C64"/>
                          </a:solidFill>
                          <a:latin typeface="游ゴシック" pitchFamily="34" charset="0"/>
                          <a:ea typeface="游ゴシック" pitchFamily="34" charset="-122"/>
                          <a:cs typeface="游ゴシック" pitchFamily="34" charset="-120"/>
                        </a:rPr>
                        <a:t>不一致</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000" b="1" dirty="0">
                          <a:solidFill>
                            <a:srgbClr val="172033"/>
                          </a:solidFill>
                          <a:latin typeface="游ゴシック" pitchFamily="34" charset="0"/>
                          <a:ea typeface="游ゴシック" pitchFamily="34" charset="-122"/>
                          <a:cs typeface="游ゴシック" pitchFamily="34" charset="-120"/>
                        </a:rPr>
                        <a:t>時刻</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000" dirty="0">
                          <a:solidFill>
                            <a:srgbClr val="172033"/>
                          </a:solidFill>
                          <a:latin typeface="游ゴシック" pitchFamily="34" charset="0"/>
                          <a:ea typeface="游ゴシック" pitchFamily="34" charset="-122"/>
                          <a:cs typeface="游ゴシック" pitchFamily="34" charset="-120"/>
                        </a:rPr>
                        <a:t>14時に低下が最大</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000" dirty="0">
                          <a:solidFill>
                            <a:srgbClr val="172033"/>
                          </a:solidFill>
                          <a:latin typeface="游ゴシック" pitchFamily="34" charset="0"/>
                          <a:ea typeface="游ゴシック" pitchFamily="34" charset="-122"/>
                          <a:cs typeface="游ゴシック" pitchFamily="34" charset="-120"/>
                        </a:rPr>
                        <a:t>14時のピークなし</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b="1" dirty="0">
                          <a:solidFill>
                            <a:srgbClr val="E66C64"/>
                          </a:solidFill>
                          <a:latin typeface="游ゴシック" pitchFamily="34" charset="0"/>
                          <a:ea typeface="游ゴシック" pitchFamily="34" charset="-122"/>
                          <a:cs typeface="游ゴシック" pitchFamily="34" charset="-120"/>
                        </a:rPr>
                        <a:t>不一致</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5"/>
                  </a:ext>
                </a:extLst>
              </a:tr>
              <a:tr h="347472">
                <a:tc>
                  <a:txBody>
                    <a:bodyPr/>
                    <a:lstStyle/>
                    <a:p>
                      <a:pPr marL="0" indent="0">
                        <a:buNone/>
                      </a:pPr>
                      <a:r>
                        <a:rPr lang="en-US" sz="1000" b="1" dirty="0">
                          <a:solidFill>
                            <a:srgbClr val="172033"/>
                          </a:solidFill>
                          <a:latin typeface="游ゴシック" pitchFamily="34" charset="0"/>
                          <a:ea typeface="游ゴシック" pitchFamily="34" charset="-122"/>
                          <a:cs typeface="游ゴシック" pitchFamily="34" charset="-120"/>
                        </a:rPr>
                        <a:t>区画</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000" dirty="0">
                          <a:solidFill>
                            <a:srgbClr val="172033"/>
                          </a:solidFill>
                          <a:latin typeface="游ゴシック" pitchFamily="34" charset="0"/>
                          <a:ea typeface="游ゴシック" pitchFamily="34" charset="-122"/>
                          <a:cs typeface="游ゴシック" pitchFamily="34" charset="-120"/>
                        </a:rPr>
                        <a:t>中央の区画で大きい</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000" dirty="0">
                          <a:solidFill>
                            <a:srgbClr val="172033"/>
                          </a:solidFill>
                          <a:latin typeface="游ゴシック" pitchFamily="34" charset="0"/>
                          <a:ea typeface="游ゴシック" pitchFamily="34" charset="-122"/>
                          <a:cs typeface="游ゴシック" pitchFamily="34" charset="-120"/>
                        </a:rPr>
                        <a:t>中央・右で低く、左で高い</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b="1" dirty="0">
                          <a:solidFill>
                            <a:srgbClr val="ED7D31"/>
                          </a:solidFill>
                          <a:latin typeface="游ゴシック" pitchFamily="34" charset="0"/>
                          <a:ea typeface="游ゴシック" pitchFamily="34" charset="-122"/>
                          <a:cs typeface="游ゴシック" pitchFamily="34" charset="-120"/>
                        </a:rPr>
                        <a:t>一部</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7" name="Shape 4"/>
          <p:cNvSpPr/>
          <p:nvPr/>
        </p:nvSpPr>
        <p:spPr>
          <a:xfrm>
            <a:off x="365760" y="3566160"/>
            <a:ext cx="8412480" cy="1161288"/>
          </a:xfrm>
          <a:prstGeom prst="roundRect">
            <a:avLst>
              <a:gd name="adj" fmla="val 4724"/>
            </a:avLst>
          </a:prstGeom>
          <a:solidFill>
            <a:srgbClr val="FFF7D1"/>
          </a:solidFill>
          <a:ln w="12700">
            <a:solidFill>
              <a:srgbClr val="FFF7D1"/>
            </a:solidFill>
            <a:prstDash val="solid"/>
          </a:ln>
        </p:spPr>
        <p:txBody>
          <a:bodyPr/>
          <a:lstStyle/>
          <a:p>
            <a:endParaRPr lang="ja-JP" altLang="en-US"/>
          </a:p>
        </p:txBody>
      </p:sp>
      <p:sp>
        <p:nvSpPr>
          <p:cNvPr id="8" name="Text 5"/>
          <p:cNvSpPr txBox="1"/>
          <p:nvPr/>
        </p:nvSpPr>
        <p:spPr>
          <a:xfrm>
            <a:off x="502920" y="3639312"/>
            <a:ext cx="8138160" cy="256032"/>
          </a:xfrm>
          <a:prstGeom prst="rect">
            <a:avLst/>
          </a:prstGeom>
          <a:noFill/>
          <a:ln/>
        </p:spPr>
        <p:txBody>
          <a:bodyPr wrap="square" lIns="0" tIns="0" rIns="0" bIns="0" rtlCol="0" anchor="ctr"/>
          <a:lstStyle/>
          <a:p>
            <a:pPr marL="0" indent="0">
              <a:buNone/>
            </a:pPr>
            <a:r>
              <a:rPr lang="en-US" sz="1200" b="1" dirty="0">
                <a:solidFill>
                  <a:srgbClr val="ED7D31"/>
                </a:solidFill>
                <a:latin typeface="游ゴシック" pitchFamily="34" charset="0"/>
                <a:ea typeface="游ゴシック" pitchFamily="34" charset="-122"/>
                <a:cs typeface="游ゴシック" pitchFamily="34" charset="-120"/>
              </a:rPr>
              <a:t>読み取り</a:t>
            </a:r>
            <a:endParaRPr lang="en-US" sz="1200" dirty="0"/>
          </a:p>
        </p:txBody>
      </p:sp>
      <p:sp>
        <p:nvSpPr>
          <p:cNvPr id="9" name="Text 6"/>
          <p:cNvSpPr txBox="1"/>
          <p:nvPr/>
        </p:nvSpPr>
        <p:spPr>
          <a:xfrm>
            <a:off x="502920" y="3931920"/>
            <a:ext cx="8138160" cy="73152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列の大小と時刻のピークが一致しない。測っている温度（機器のセンサーと熱電対）と比べ方（年と列）が違うため、どちらが正しいかはまだ判断できない</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2026年のエアネットデータで、同じ期間の室外機吸込み温度と運転時間を比べると、原因を切り分けられる。列3が夕方・休日も運転している点も確かめられる</a:t>
            </a:r>
            <a:endParaRPr lang="en-US" sz="10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まとめ：言えること／まだ言えないこと</a:t>
            </a:r>
            <a:endParaRPr lang="en-US" sz="2000" dirty="0"/>
          </a:p>
        </p:txBody>
      </p:sp>
      <p:sp>
        <p:nvSpPr>
          <p:cNvPr id="3" name="Shape 1"/>
          <p:cNvSpPr/>
          <p:nvPr/>
        </p:nvSpPr>
        <p:spPr>
          <a:xfrm>
            <a:off x="7726680" y="155448"/>
            <a:ext cx="1097280" cy="274320"/>
          </a:xfrm>
          <a:prstGeom prst="roundRect">
            <a:avLst>
              <a:gd name="adj" fmla="val 26667"/>
            </a:avLst>
          </a:prstGeom>
          <a:solidFill>
            <a:srgbClr val="5E6B7A"/>
          </a:solidFill>
          <a:ln w="12700">
            <a:solidFill>
              <a:srgbClr val="5E6B7A"/>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まとめ</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2026年7/30〜9/14の日中について</a:t>
            </a:r>
            <a:endParaRPr lang="en-US" sz="1200" dirty="0"/>
          </a:p>
        </p:txBody>
      </p:sp>
      <p:sp>
        <p:nvSpPr>
          <p:cNvPr id="6" name="Shape 4"/>
          <p:cNvSpPr/>
          <p:nvPr/>
        </p:nvSpPr>
        <p:spPr>
          <a:xfrm>
            <a:off x="365760" y="1115568"/>
            <a:ext cx="4114800" cy="3593592"/>
          </a:xfrm>
          <a:prstGeom prst="roundRect">
            <a:avLst>
              <a:gd name="adj" fmla="val 1527"/>
            </a:avLst>
          </a:prstGeom>
          <a:solidFill>
            <a:srgbClr val="E4F7F4"/>
          </a:solidFill>
          <a:ln w="12700">
            <a:solidFill>
              <a:srgbClr val="E4F7F4"/>
            </a:solidFill>
            <a:prstDash val="solid"/>
          </a:ln>
        </p:spPr>
        <p:txBody>
          <a:bodyPr/>
          <a:lstStyle/>
          <a:p>
            <a:endParaRPr lang="ja-JP" altLang="en-US"/>
          </a:p>
        </p:txBody>
      </p:sp>
      <p:sp>
        <p:nvSpPr>
          <p:cNvPr id="7" name="Text 5"/>
          <p:cNvSpPr txBox="1"/>
          <p:nvPr/>
        </p:nvSpPr>
        <p:spPr>
          <a:xfrm>
            <a:off x="502920" y="1188720"/>
            <a:ext cx="384048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言えること</a:t>
            </a:r>
            <a:endParaRPr lang="en-US" sz="1200" dirty="0"/>
          </a:p>
        </p:txBody>
      </p:sp>
      <p:sp>
        <p:nvSpPr>
          <p:cNvPr id="8" name="Text 6"/>
          <p:cNvSpPr txBox="1"/>
          <p:nvPr/>
        </p:nvSpPr>
        <p:spPr>
          <a:xfrm>
            <a:off x="502920" y="1481328"/>
            <a:ext cx="3840480" cy="3163824"/>
          </a:xfrm>
          <a:prstGeom prst="rect">
            <a:avLst/>
          </a:prstGeom>
          <a:noFill/>
          <a:ln/>
        </p:spPr>
        <p:txBody>
          <a:bodyPr wrap="square" lIns="0" tIns="0" rIns="0" bIns="0" rtlCol="0" anchor="t"/>
          <a:lstStyle/>
          <a:p>
            <a:pPr marL="152400" indent="-152400">
              <a:spcAft>
                <a:spcPts val="300"/>
              </a:spcAft>
              <a:buSzPct val="100000"/>
              <a:buChar char="•"/>
            </a:pPr>
            <a:r>
              <a:rPr lang="ja-JP" altLang="en-US" sz="1050" dirty="0">
                <a:solidFill>
                  <a:srgbClr val="172033"/>
                </a:solidFill>
                <a:latin typeface="游ゴシック" pitchFamily="34" charset="0"/>
                <a:ea typeface="游ゴシック" pitchFamily="34" charset="-122"/>
                <a:cs typeface="游ゴシック" pitchFamily="34" charset="-120"/>
              </a:rPr>
              <a:t>列11（外側）は列3より低い。32日中28日で低く（平均0.26℃）、運転中と判定する基準を変えても低いまま</a:t>
            </a:r>
            <a:endParaRPr lang="ja-JP" altLang="en-US" sz="1050" dirty="0"/>
          </a:p>
          <a:p>
            <a:pPr marL="152400" indent="-152400">
              <a:spcAft>
                <a:spcPts val="300"/>
              </a:spcAft>
              <a:buSzPct val="100000"/>
              <a:buChar char="•"/>
            </a:pPr>
            <a:r>
              <a:rPr lang="ja-JP" altLang="en-US" sz="1050" dirty="0">
                <a:solidFill>
                  <a:srgbClr val="172033"/>
                </a:solidFill>
                <a:latin typeface="游ゴシック" pitchFamily="34" charset="0"/>
                <a:ea typeface="游ゴシック" pitchFamily="34" charset="-122"/>
                <a:cs typeface="游ゴシック" pitchFamily="34" charset="-120"/>
              </a:rPr>
              <a:t>列8（中央）は列3より低いとは言えない（平均0.06℃）。晴れて日射が強い時間に列3より高くなる</a:t>
            </a:r>
            <a:endParaRPr lang="ja-JP" altLang="en-US" sz="1050" dirty="0"/>
          </a:p>
          <a:p>
            <a:pPr marL="152400" indent="-152400">
              <a:spcAft>
                <a:spcPts val="300"/>
              </a:spcAft>
              <a:buSzPct val="100000"/>
              <a:buChar char="•"/>
            </a:pPr>
            <a:r>
              <a:rPr lang="ja-JP" altLang="en-US" sz="1050" dirty="0">
                <a:solidFill>
                  <a:srgbClr val="172033"/>
                </a:solidFill>
                <a:latin typeface="游ゴシック" pitchFamily="34" charset="0"/>
                <a:ea typeface="游ゴシック" pitchFamily="34" charset="-122"/>
                <a:cs typeface="游ゴシック" pitchFamily="34" charset="-120"/>
              </a:rPr>
              <a:t>暑い日ほど低減効果が小さい。1時間値の回帰で効くのは気温と雨で、照度・風速は効かない。ただし気象で説明できるのは列8で約35％まで</a:t>
            </a:r>
            <a:endParaRPr lang="ja-JP" altLang="en-US" sz="1050" dirty="0"/>
          </a:p>
          <a:p>
            <a:pPr marL="152400" indent="-152400">
              <a:spcAft>
                <a:spcPts val="300"/>
              </a:spcAft>
              <a:buSzPct val="100000"/>
              <a:buChar char="•"/>
            </a:pPr>
            <a:r>
              <a:rPr lang="ja-JP" altLang="en-US" sz="1050" dirty="0">
                <a:solidFill>
                  <a:srgbClr val="172033"/>
                </a:solidFill>
                <a:latin typeface="游ゴシック" pitchFamily="34" charset="0"/>
                <a:ea typeface="游ゴシック" pitchFamily="34" charset="-122"/>
                <a:cs typeface="游ゴシック" pitchFamily="34" charset="-120"/>
              </a:rPr>
              <a:t>区画1は芋緑化側が運転している時間だけ列3より高い（8-1 ＋0.63℃）。基準の3-1が列3で最も低いことも半分ほど効いている</a:t>
            </a:r>
            <a:endParaRPr lang="ja-JP" altLang="en-US" sz="1050" dirty="0"/>
          </a:p>
          <a:p>
            <a:pPr marL="152400" indent="-152400">
              <a:spcAft>
                <a:spcPts val="300"/>
              </a:spcAft>
              <a:buSzPct val="100000"/>
              <a:buChar char="•"/>
            </a:pPr>
            <a:r>
              <a:rPr lang="ja-JP" altLang="en-US" sz="1050" dirty="0">
                <a:solidFill>
                  <a:srgbClr val="172033"/>
                </a:solidFill>
                <a:latin typeface="游ゴシック" pitchFamily="34" charset="0"/>
                <a:ea typeface="游ゴシック" pitchFamily="34" charset="-122"/>
                <a:cs typeface="游ゴシック" pitchFamily="34" charset="-120"/>
              </a:rPr>
              <a:t>列8と列11の差（0.20℃）は日射が強いほど開き、約6割が区画1。「中央の列ほど低い」という仮説は支持されない</a:t>
            </a:r>
            <a:endParaRPr lang="ja-JP" altLang="en-US" sz="1050" dirty="0"/>
          </a:p>
        </p:txBody>
      </p:sp>
      <p:sp>
        <p:nvSpPr>
          <p:cNvPr id="9" name="Shape 7"/>
          <p:cNvSpPr/>
          <p:nvPr/>
        </p:nvSpPr>
        <p:spPr>
          <a:xfrm>
            <a:off x="4663440" y="1115568"/>
            <a:ext cx="4114800" cy="3593592"/>
          </a:xfrm>
          <a:prstGeom prst="roundRect">
            <a:avLst>
              <a:gd name="adj" fmla="val 1527"/>
            </a:avLst>
          </a:prstGeom>
          <a:solidFill>
            <a:srgbClr val="FDE8E6"/>
          </a:solidFill>
          <a:ln w="12700">
            <a:solidFill>
              <a:srgbClr val="FDE8E6"/>
            </a:solidFill>
            <a:prstDash val="solid"/>
          </a:ln>
        </p:spPr>
        <p:txBody>
          <a:bodyPr/>
          <a:lstStyle/>
          <a:p>
            <a:endParaRPr lang="ja-JP" altLang="en-US"/>
          </a:p>
        </p:txBody>
      </p:sp>
      <p:sp>
        <p:nvSpPr>
          <p:cNvPr id="10" name="Text 8"/>
          <p:cNvSpPr txBox="1"/>
          <p:nvPr/>
        </p:nvSpPr>
        <p:spPr>
          <a:xfrm>
            <a:off x="4800600" y="1188720"/>
            <a:ext cx="384048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まだ言えないこと</a:t>
            </a:r>
            <a:endParaRPr lang="en-US" sz="1200" dirty="0"/>
          </a:p>
        </p:txBody>
      </p:sp>
      <p:sp>
        <p:nvSpPr>
          <p:cNvPr id="11" name="Text 9"/>
          <p:cNvSpPr txBox="1"/>
          <p:nvPr/>
        </p:nvSpPr>
        <p:spPr>
          <a:xfrm>
            <a:off x="4800600" y="1481328"/>
            <a:ext cx="3840480" cy="316382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区画1と列8が運転中に高くなる仕組み（排気の再吸込み、風通しの低下などが候補）。配置図と現地での確認が必要</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列8の通路の風が弱いのが、芋緑化のためか場所のためか。列11の風は未計測</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運転状態は排気温度からの推定で、判定の基準で列8の結果が変わる。運転データでの確認が必要</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茂り方の影響。繁茂率は保留中（期間の推移・代表日・回帰に追加予定）</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日射遮蔽の効果。遮る割合はほぼ一定（約86％）で、使えるデータも59時間のみ（付録）</a:t>
            </a:r>
            <a:endParaRPr lang="en-US" sz="10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今後の分析と計測</a:t>
            </a:r>
            <a:endParaRPr lang="en-US" sz="2000" dirty="0"/>
          </a:p>
        </p:txBody>
      </p:sp>
      <p:sp>
        <p:nvSpPr>
          <p:cNvPr id="3" name="Shape 1"/>
          <p:cNvSpPr/>
          <p:nvPr/>
        </p:nvSpPr>
        <p:spPr>
          <a:xfrm>
            <a:off x="7726680" y="155448"/>
            <a:ext cx="1097280" cy="274320"/>
          </a:xfrm>
          <a:prstGeom prst="roundRect">
            <a:avLst>
              <a:gd name="adj" fmla="val 26667"/>
            </a:avLst>
          </a:prstGeom>
          <a:solidFill>
            <a:srgbClr val="5E6B7A"/>
          </a:solidFill>
          <a:ln w="12700">
            <a:solidFill>
              <a:srgbClr val="5E6B7A"/>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まとめ</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「まだ言えないこと」を減らすために、次に行うこと</a:t>
            </a:r>
            <a:endParaRPr lang="en-US" sz="1200" dirty="0"/>
          </a:p>
        </p:txBody>
      </p:sp>
      <p:sp>
        <p:nvSpPr>
          <p:cNvPr id="6" name="Shape 4"/>
          <p:cNvSpPr/>
          <p:nvPr/>
        </p:nvSpPr>
        <p:spPr>
          <a:xfrm>
            <a:off x="411480" y="1216152"/>
            <a:ext cx="457200" cy="457200"/>
          </a:xfrm>
          <a:prstGeom prst="ellipse">
            <a:avLst/>
          </a:prstGeom>
          <a:solidFill>
            <a:srgbClr val="E66C64"/>
          </a:solidFill>
          <a:ln w="12700">
            <a:solidFill>
              <a:srgbClr val="E66C64"/>
            </a:solidFill>
            <a:prstDash val="solid"/>
          </a:ln>
        </p:spPr>
        <p:txBody>
          <a:bodyPr/>
          <a:lstStyle/>
          <a:p>
            <a:endParaRPr lang="ja-JP" altLang="en-US"/>
          </a:p>
        </p:txBody>
      </p:sp>
      <p:sp>
        <p:nvSpPr>
          <p:cNvPr id="7" name="Text 5"/>
          <p:cNvSpPr txBox="1"/>
          <p:nvPr/>
        </p:nvSpPr>
        <p:spPr>
          <a:xfrm>
            <a:off x="411480" y="121615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游ゴシック" pitchFamily="34" charset="0"/>
                <a:ea typeface="游ゴシック" pitchFamily="34" charset="-122"/>
                <a:cs typeface="游ゴシック" pitchFamily="34" charset="-120"/>
              </a:rPr>
              <a:t>1</a:t>
            </a:r>
            <a:endParaRPr lang="en-US" sz="1400" dirty="0"/>
          </a:p>
        </p:txBody>
      </p:sp>
      <p:sp>
        <p:nvSpPr>
          <p:cNvPr id="8" name="Text 6"/>
          <p:cNvSpPr txBox="1"/>
          <p:nvPr/>
        </p:nvSpPr>
        <p:spPr>
          <a:xfrm>
            <a:off x="1051560" y="1143000"/>
            <a:ext cx="2377440" cy="603504"/>
          </a:xfrm>
          <a:prstGeom prst="rect">
            <a:avLst/>
          </a:prstGeom>
          <a:noFill/>
          <a:ln/>
        </p:spPr>
        <p:txBody>
          <a:bodyPr wrap="square" lIns="0" tIns="0" rIns="0" bIns="0" rtlCol="0" anchor="ctr"/>
          <a:lstStyle/>
          <a:p>
            <a:pPr marL="0" indent="0">
              <a:buNone/>
            </a:pPr>
            <a:r>
              <a:rPr lang="en-US" sz="1300" b="1" dirty="0">
                <a:solidFill>
                  <a:srgbClr val="22354F"/>
                </a:solidFill>
                <a:latin typeface="游ゴシック" pitchFamily="34" charset="0"/>
                <a:ea typeface="游ゴシック" pitchFamily="34" charset="-122"/>
                <a:cs typeface="游ゴシック" pitchFamily="34" charset="-120"/>
              </a:rPr>
              <a:t>区画1と列8の周りを測る</a:t>
            </a:r>
            <a:endParaRPr lang="en-US" sz="1300" dirty="0"/>
          </a:p>
        </p:txBody>
      </p:sp>
      <p:sp>
        <p:nvSpPr>
          <p:cNvPr id="9" name="Text 7"/>
          <p:cNvSpPr txBox="1"/>
          <p:nvPr/>
        </p:nvSpPr>
        <p:spPr>
          <a:xfrm>
            <a:off x="3429000" y="1143000"/>
            <a:ext cx="5349240" cy="603504"/>
          </a:xfrm>
          <a:prstGeom prst="rect">
            <a:avLst/>
          </a:prstGeom>
          <a:noFill/>
          <a:ln/>
        </p:spPr>
        <p:txBody>
          <a:bodyPr wrap="square" lIns="0" tIns="0" rIns="0" bIns="0" rtlCol="0" anchor="ctr"/>
          <a:lstStyle/>
          <a:p>
            <a:pPr marL="0" indent="0">
              <a:buNone/>
            </a:pPr>
            <a:r>
              <a:rPr lang="en-US" sz="1200" dirty="0">
                <a:solidFill>
                  <a:srgbClr val="172033"/>
                </a:solidFill>
                <a:latin typeface="游ゴシック" pitchFamily="34" charset="0"/>
                <a:ea typeface="游ゴシック" pitchFamily="34" charset="-122"/>
                <a:cs typeface="游ゴシック" pitchFamily="34" charset="-120"/>
              </a:rPr>
              <a:t>区画1・列8の周りで排気温度と風速・風向を測り、排気の再吸込みがあるかを確かめる。列11にも風速計を置く</a:t>
            </a:r>
            <a:endParaRPr lang="en-US" sz="1200" dirty="0"/>
          </a:p>
        </p:txBody>
      </p:sp>
      <p:sp>
        <p:nvSpPr>
          <p:cNvPr id="10" name="Shape 8"/>
          <p:cNvSpPr/>
          <p:nvPr/>
        </p:nvSpPr>
        <p:spPr>
          <a:xfrm>
            <a:off x="411480" y="1929384"/>
            <a:ext cx="457200" cy="457200"/>
          </a:xfrm>
          <a:prstGeom prst="ellipse">
            <a:avLst/>
          </a:prstGeom>
          <a:solidFill>
            <a:srgbClr val="118DFF"/>
          </a:solidFill>
          <a:ln w="12700">
            <a:solidFill>
              <a:srgbClr val="118DFF"/>
            </a:solidFill>
            <a:prstDash val="solid"/>
          </a:ln>
        </p:spPr>
        <p:txBody>
          <a:bodyPr/>
          <a:lstStyle/>
          <a:p>
            <a:endParaRPr lang="ja-JP" altLang="en-US"/>
          </a:p>
        </p:txBody>
      </p:sp>
      <p:sp>
        <p:nvSpPr>
          <p:cNvPr id="11" name="Text 9"/>
          <p:cNvSpPr txBox="1"/>
          <p:nvPr/>
        </p:nvSpPr>
        <p:spPr>
          <a:xfrm>
            <a:off x="411480" y="192938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游ゴシック" pitchFamily="34" charset="0"/>
                <a:ea typeface="游ゴシック" pitchFamily="34" charset="-122"/>
                <a:cs typeface="游ゴシック" pitchFamily="34" charset="-120"/>
              </a:rPr>
              <a:t>2</a:t>
            </a:r>
            <a:endParaRPr lang="en-US" sz="1400" dirty="0"/>
          </a:p>
        </p:txBody>
      </p:sp>
      <p:sp>
        <p:nvSpPr>
          <p:cNvPr id="12" name="Text 10"/>
          <p:cNvSpPr txBox="1"/>
          <p:nvPr/>
        </p:nvSpPr>
        <p:spPr>
          <a:xfrm>
            <a:off x="1051560" y="1856232"/>
            <a:ext cx="2377440" cy="603504"/>
          </a:xfrm>
          <a:prstGeom prst="rect">
            <a:avLst/>
          </a:prstGeom>
          <a:noFill/>
          <a:ln/>
        </p:spPr>
        <p:txBody>
          <a:bodyPr wrap="square" lIns="0" tIns="0" rIns="0" bIns="0" rtlCol="0" anchor="ctr"/>
          <a:lstStyle/>
          <a:p>
            <a:pPr marL="0" indent="0">
              <a:buNone/>
            </a:pPr>
            <a:r>
              <a:rPr lang="en-US" sz="1300" b="1" dirty="0">
                <a:solidFill>
                  <a:srgbClr val="22354F"/>
                </a:solidFill>
                <a:latin typeface="游ゴシック" pitchFamily="34" charset="0"/>
                <a:ea typeface="游ゴシック" pitchFamily="34" charset="-122"/>
                <a:cs typeface="游ゴシック" pitchFamily="34" charset="-120"/>
              </a:rPr>
              <a:t>運転データとの照合</a:t>
            </a:r>
            <a:endParaRPr lang="en-US" sz="1300" dirty="0"/>
          </a:p>
        </p:txBody>
      </p:sp>
      <p:sp>
        <p:nvSpPr>
          <p:cNvPr id="13" name="Text 11"/>
          <p:cNvSpPr txBox="1"/>
          <p:nvPr/>
        </p:nvSpPr>
        <p:spPr>
          <a:xfrm>
            <a:off x="3429000" y="1856232"/>
            <a:ext cx="5349240" cy="603504"/>
          </a:xfrm>
          <a:prstGeom prst="rect">
            <a:avLst/>
          </a:prstGeom>
          <a:noFill/>
          <a:ln/>
        </p:spPr>
        <p:txBody>
          <a:bodyPr wrap="square" lIns="0" tIns="0" rIns="0" bIns="0" rtlCol="0" anchor="ctr"/>
          <a:lstStyle/>
          <a:p>
            <a:pPr marL="0" indent="0">
              <a:buNone/>
            </a:pPr>
            <a:r>
              <a:rPr lang="en-US" sz="1200" dirty="0">
                <a:solidFill>
                  <a:srgbClr val="172033"/>
                </a:solidFill>
                <a:latin typeface="游ゴシック" pitchFamily="34" charset="0"/>
                <a:ea typeface="游ゴシック" pitchFamily="34" charset="-122"/>
                <a:cs typeface="游ゴシック" pitchFamily="34" charset="-120"/>
              </a:rPr>
              <a:t>2026年のエアネットの運転時間で、排気温度による運転の判定を確かめる（p.10の参考スライドの扱いもこれで決める）</a:t>
            </a:r>
            <a:endParaRPr lang="en-US" sz="1200" dirty="0"/>
          </a:p>
        </p:txBody>
      </p:sp>
      <p:sp>
        <p:nvSpPr>
          <p:cNvPr id="14" name="Shape 12"/>
          <p:cNvSpPr/>
          <p:nvPr/>
        </p:nvSpPr>
        <p:spPr>
          <a:xfrm>
            <a:off x="411480" y="2642616"/>
            <a:ext cx="457200" cy="457200"/>
          </a:xfrm>
          <a:prstGeom prst="ellipse">
            <a:avLst/>
          </a:prstGeom>
          <a:solidFill>
            <a:srgbClr val="ED7D31"/>
          </a:solidFill>
          <a:ln w="12700">
            <a:solidFill>
              <a:srgbClr val="ED7D31"/>
            </a:solidFill>
            <a:prstDash val="solid"/>
          </a:ln>
        </p:spPr>
        <p:txBody>
          <a:bodyPr/>
          <a:lstStyle/>
          <a:p>
            <a:endParaRPr lang="ja-JP" altLang="en-US"/>
          </a:p>
        </p:txBody>
      </p:sp>
      <p:sp>
        <p:nvSpPr>
          <p:cNvPr id="15" name="Text 13"/>
          <p:cNvSpPr txBox="1"/>
          <p:nvPr/>
        </p:nvSpPr>
        <p:spPr>
          <a:xfrm>
            <a:off x="411480" y="2642616"/>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游ゴシック" pitchFamily="34" charset="0"/>
                <a:ea typeface="游ゴシック" pitchFamily="34" charset="-122"/>
                <a:cs typeface="游ゴシック" pitchFamily="34" charset="-120"/>
              </a:rPr>
              <a:t>3</a:t>
            </a:r>
            <a:endParaRPr lang="en-US" sz="1400" dirty="0"/>
          </a:p>
        </p:txBody>
      </p:sp>
      <p:sp>
        <p:nvSpPr>
          <p:cNvPr id="16" name="Text 14"/>
          <p:cNvSpPr txBox="1"/>
          <p:nvPr/>
        </p:nvSpPr>
        <p:spPr>
          <a:xfrm>
            <a:off x="1051560" y="2569464"/>
            <a:ext cx="2377440" cy="603504"/>
          </a:xfrm>
          <a:prstGeom prst="rect">
            <a:avLst/>
          </a:prstGeom>
          <a:noFill/>
          <a:ln/>
        </p:spPr>
        <p:txBody>
          <a:bodyPr wrap="square" lIns="0" tIns="0" rIns="0" bIns="0" rtlCol="0" anchor="ctr"/>
          <a:lstStyle/>
          <a:p>
            <a:pPr marL="0" indent="0">
              <a:buNone/>
            </a:pPr>
            <a:r>
              <a:rPr lang="en-US" sz="1300" b="1" dirty="0">
                <a:solidFill>
                  <a:srgbClr val="22354F"/>
                </a:solidFill>
                <a:latin typeface="游ゴシック" pitchFamily="34" charset="0"/>
                <a:ea typeface="游ゴシック" pitchFamily="34" charset="-122"/>
                <a:cs typeface="游ゴシック" pitchFamily="34" charset="-120"/>
              </a:rPr>
              <a:t>配置図での確認</a:t>
            </a:r>
            <a:endParaRPr lang="en-US" sz="1300" dirty="0"/>
          </a:p>
        </p:txBody>
      </p:sp>
      <p:sp>
        <p:nvSpPr>
          <p:cNvPr id="17" name="Text 15"/>
          <p:cNvSpPr txBox="1"/>
          <p:nvPr/>
        </p:nvSpPr>
        <p:spPr>
          <a:xfrm>
            <a:off x="3429000" y="2569464"/>
            <a:ext cx="5349240" cy="603504"/>
          </a:xfrm>
          <a:prstGeom prst="rect">
            <a:avLst/>
          </a:prstGeom>
          <a:noFill/>
          <a:ln/>
        </p:spPr>
        <p:txBody>
          <a:bodyPr wrap="square" lIns="0" tIns="0" rIns="0" bIns="0" rtlCol="0" anchor="ctr"/>
          <a:lstStyle/>
          <a:p>
            <a:pPr marL="0" indent="0">
              <a:buNone/>
            </a:pPr>
            <a:r>
              <a:rPr lang="en-US" sz="1200" dirty="0">
                <a:solidFill>
                  <a:srgbClr val="172033"/>
                </a:solidFill>
                <a:latin typeface="游ゴシック" pitchFamily="34" charset="0"/>
                <a:ea typeface="游ゴシック" pitchFamily="34" charset="-122"/>
                <a:cs typeface="游ゴシック" pitchFamily="34" charset="-120"/>
              </a:rPr>
              <a:t>区画1と3-1の周りの機器配置・排気の向きを配置図と現地で確かめ、3-1が列3の中で低い理由を調べる</a:t>
            </a:r>
            <a:endParaRPr lang="en-US" sz="1200" dirty="0"/>
          </a:p>
        </p:txBody>
      </p:sp>
      <p:sp>
        <p:nvSpPr>
          <p:cNvPr id="18" name="Shape 16"/>
          <p:cNvSpPr/>
          <p:nvPr/>
        </p:nvSpPr>
        <p:spPr>
          <a:xfrm>
            <a:off x="411480" y="3355848"/>
            <a:ext cx="457200" cy="457200"/>
          </a:xfrm>
          <a:prstGeom prst="ellipse">
            <a:avLst/>
          </a:prstGeom>
          <a:solidFill>
            <a:srgbClr val="01B8AA"/>
          </a:solidFill>
          <a:ln w="12700">
            <a:solidFill>
              <a:srgbClr val="01B8AA"/>
            </a:solidFill>
            <a:prstDash val="solid"/>
          </a:ln>
        </p:spPr>
        <p:txBody>
          <a:bodyPr/>
          <a:lstStyle/>
          <a:p>
            <a:endParaRPr lang="ja-JP" altLang="en-US"/>
          </a:p>
        </p:txBody>
      </p:sp>
      <p:sp>
        <p:nvSpPr>
          <p:cNvPr id="19" name="Text 17"/>
          <p:cNvSpPr txBox="1"/>
          <p:nvPr/>
        </p:nvSpPr>
        <p:spPr>
          <a:xfrm>
            <a:off x="411480" y="335584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游ゴシック" pitchFamily="34" charset="0"/>
                <a:ea typeface="游ゴシック" pitchFamily="34" charset="-122"/>
                <a:cs typeface="游ゴシック" pitchFamily="34" charset="-120"/>
              </a:rPr>
              <a:t>4</a:t>
            </a:r>
            <a:endParaRPr lang="en-US" sz="1400" dirty="0"/>
          </a:p>
        </p:txBody>
      </p:sp>
      <p:sp>
        <p:nvSpPr>
          <p:cNvPr id="20" name="Text 18"/>
          <p:cNvSpPr txBox="1"/>
          <p:nvPr/>
        </p:nvSpPr>
        <p:spPr>
          <a:xfrm>
            <a:off x="1051560" y="3282696"/>
            <a:ext cx="2377440" cy="603504"/>
          </a:xfrm>
          <a:prstGeom prst="rect">
            <a:avLst/>
          </a:prstGeom>
          <a:noFill/>
          <a:ln/>
        </p:spPr>
        <p:txBody>
          <a:bodyPr wrap="square" lIns="0" tIns="0" rIns="0" bIns="0" rtlCol="0" anchor="ctr"/>
          <a:lstStyle/>
          <a:p>
            <a:pPr marL="0" indent="0">
              <a:buNone/>
            </a:pPr>
            <a:r>
              <a:rPr lang="en-US" sz="1300" b="1" dirty="0">
                <a:solidFill>
                  <a:srgbClr val="22354F"/>
                </a:solidFill>
                <a:latin typeface="游ゴシック" pitchFamily="34" charset="0"/>
                <a:ea typeface="游ゴシック" pitchFamily="34" charset="-122"/>
                <a:cs typeface="游ゴシック" pitchFamily="34" charset="-120"/>
              </a:rPr>
              <a:t>繁茂率の算出と追加</a:t>
            </a:r>
            <a:endParaRPr lang="en-US" sz="1300" dirty="0"/>
          </a:p>
        </p:txBody>
      </p:sp>
      <p:sp>
        <p:nvSpPr>
          <p:cNvPr id="21" name="Text 19"/>
          <p:cNvSpPr txBox="1"/>
          <p:nvPr/>
        </p:nvSpPr>
        <p:spPr>
          <a:xfrm>
            <a:off x="3429000" y="3282696"/>
            <a:ext cx="5349240" cy="603504"/>
          </a:xfrm>
          <a:prstGeom prst="rect">
            <a:avLst/>
          </a:prstGeom>
          <a:noFill/>
          <a:ln/>
        </p:spPr>
        <p:txBody>
          <a:bodyPr wrap="square" lIns="0" tIns="0" rIns="0" bIns="0" rtlCol="0" anchor="ctr"/>
          <a:lstStyle/>
          <a:p>
            <a:pPr marL="0" indent="0">
              <a:buNone/>
            </a:pPr>
            <a:r>
              <a:rPr lang="en-US" sz="1200" dirty="0">
                <a:solidFill>
                  <a:srgbClr val="172033"/>
                </a:solidFill>
                <a:latin typeface="游ゴシック" pitchFamily="34" charset="0"/>
                <a:ea typeface="游ゴシック" pitchFamily="34" charset="-122"/>
                <a:cs typeface="游ゴシック" pitchFamily="34" charset="-120"/>
              </a:rPr>
              <a:t>定点写真から日ごとの繁茂率を計算し、期間の推移・代表日・回帰に加える</a:t>
            </a:r>
            <a:endParaRPr lang="en-US" sz="1200" dirty="0"/>
          </a:p>
        </p:txBody>
      </p:sp>
      <p:sp>
        <p:nvSpPr>
          <p:cNvPr id="22" name="Shape 20"/>
          <p:cNvSpPr/>
          <p:nvPr/>
        </p:nvSpPr>
        <p:spPr>
          <a:xfrm>
            <a:off x="411480" y="4069080"/>
            <a:ext cx="457200" cy="457200"/>
          </a:xfrm>
          <a:prstGeom prst="ellipse">
            <a:avLst/>
          </a:prstGeom>
          <a:solidFill>
            <a:srgbClr val="8E5BC4"/>
          </a:solidFill>
          <a:ln w="12700">
            <a:solidFill>
              <a:srgbClr val="8E5BC4"/>
            </a:solidFill>
            <a:prstDash val="solid"/>
          </a:ln>
        </p:spPr>
        <p:txBody>
          <a:bodyPr/>
          <a:lstStyle/>
          <a:p>
            <a:endParaRPr lang="ja-JP" altLang="en-US"/>
          </a:p>
        </p:txBody>
      </p:sp>
      <p:sp>
        <p:nvSpPr>
          <p:cNvPr id="23" name="Text 21"/>
          <p:cNvSpPr txBox="1"/>
          <p:nvPr/>
        </p:nvSpPr>
        <p:spPr>
          <a:xfrm>
            <a:off x="411480" y="40690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游ゴシック" pitchFamily="34" charset="0"/>
                <a:ea typeface="游ゴシック" pitchFamily="34" charset="-122"/>
                <a:cs typeface="游ゴシック" pitchFamily="34" charset="-120"/>
              </a:rPr>
              <a:t>5</a:t>
            </a:r>
            <a:endParaRPr lang="en-US" sz="1400" dirty="0"/>
          </a:p>
        </p:txBody>
      </p:sp>
      <p:sp>
        <p:nvSpPr>
          <p:cNvPr id="24" name="Text 22"/>
          <p:cNvSpPr txBox="1"/>
          <p:nvPr/>
        </p:nvSpPr>
        <p:spPr>
          <a:xfrm>
            <a:off x="1051560" y="3995928"/>
            <a:ext cx="2377440" cy="603504"/>
          </a:xfrm>
          <a:prstGeom prst="rect">
            <a:avLst/>
          </a:prstGeom>
          <a:noFill/>
          <a:ln/>
        </p:spPr>
        <p:txBody>
          <a:bodyPr wrap="square" lIns="0" tIns="0" rIns="0" bIns="0" rtlCol="0" anchor="ctr"/>
          <a:lstStyle/>
          <a:p>
            <a:pPr marL="0" indent="0">
              <a:buNone/>
            </a:pPr>
            <a:r>
              <a:rPr lang="en-US" sz="1300" b="1" dirty="0">
                <a:solidFill>
                  <a:srgbClr val="22354F"/>
                </a:solidFill>
                <a:latin typeface="游ゴシック" pitchFamily="34" charset="0"/>
                <a:ea typeface="游ゴシック" pitchFamily="34" charset="-122"/>
                <a:cs typeface="游ゴシック" pitchFamily="34" charset="-120"/>
              </a:rPr>
              <a:t>計測の継続と撤去時の確認</a:t>
            </a:r>
            <a:endParaRPr lang="en-US" sz="1300" dirty="0"/>
          </a:p>
        </p:txBody>
      </p:sp>
      <p:sp>
        <p:nvSpPr>
          <p:cNvPr id="25" name="Text 23"/>
          <p:cNvSpPr txBox="1"/>
          <p:nvPr/>
        </p:nvSpPr>
        <p:spPr>
          <a:xfrm>
            <a:off x="3429000" y="3995928"/>
            <a:ext cx="5349240" cy="603504"/>
          </a:xfrm>
          <a:prstGeom prst="rect">
            <a:avLst/>
          </a:prstGeom>
          <a:noFill/>
          <a:ln/>
        </p:spPr>
        <p:txBody>
          <a:bodyPr wrap="square" lIns="0" tIns="0" rIns="0" bIns="0" rtlCol="0" anchor="ctr"/>
          <a:lstStyle/>
          <a:p>
            <a:pPr marL="0" indent="0">
              <a:buNone/>
            </a:pPr>
            <a:r>
              <a:rPr lang="en-US" sz="1200" dirty="0">
                <a:solidFill>
                  <a:srgbClr val="172033"/>
                </a:solidFill>
                <a:latin typeface="游ゴシック" pitchFamily="34" charset="0"/>
                <a:ea typeface="游ゴシック" pitchFamily="34" charset="-122"/>
                <a:cs typeface="游ゴシック" pitchFamily="34" charset="-120"/>
              </a:rPr>
              <a:t>秋のデータを加える。撤去時に熱電対を並べて測り、列3の約0.2℃の差の原因を確かめる</a:t>
            </a:r>
            <a:endParaRPr lang="en-US" sz="1200" dirty="0"/>
          </a:p>
        </p:txBody>
      </p:sp>
      <p:sp>
        <p:nvSpPr>
          <p:cNvPr id="26"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付録（分析6）：日射量と吸気温度差の日ごとの推移</a:t>
            </a:r>
            <a:endParaRPr lang="en-US" sz="2000" dirty="0"/>
          </a:p>
        </p:txBody>
      </p:sp>
      <p:sp>
        <p:nvSpPr>
          <p:cNvPr id="3" name="Shape 1"/>
          <p:cNvSpPr/>
          <p:nvPr/>
        </p:nvSpPr>
        <p:spPr>
          <a:xfrm>
            <a:off x="7726680" y="155448"/>
            <a:ext cx="1097280" cy="274320"/>
          </a:xfrm>
          <a:prstGeom prst="roundRect">
            <a:avLst>
              <a:gd name="adj" fmla="val 26667"/>
            </a:avLst>
          </a:prstGeom>
          <a:solidFill>
            <a:srgbClr val="5E6B7A"/>
          </a:solidFill>
          <a:ln w="12700">
            <a:solidFill>
              <a:srgbClr val="5E6B7A"/>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付録</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日向と緑陰内の日射量と、吸気温度差の推移を日ごとに並べて見る</a:t>
            </a:r>
            <a:endParaRPr lang="en-US" sz="1200" dirty="0"/>
          </a:p>
        </p:txBody>
      </p:sp>
      <p:sp>
        <p:nvSpPr>
          <p:cNvPr id="6" name="Text 4"/>
          <p:cNvSpPr txBox="1"/>
          <p:nvPr/>
        </p:nvSpPr>
        <p:spPr>
          <a:xfrm>
            <a:off x="365760" y="987552"/>
            <a:ext cx="8412480" cy="292608"/>
          </a:xfrm>
          <a:prstGeom prst="rect">
            <a:avLst/>
          </a:prstGeom>
          <a:noFill/>
          <a:ln/>
        </p:spPr>
        <p:txBody>
          <a:bodyPr wrap="square" lIns="0" tIns="0" rIns="0" bIns="0" rtlCol="0" anchor="ctr"/>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方法　</a:t>
            </a:r>
            <a:r>
              <a:rPr lang="en-US" sz="1050" dirty="0">
                <a:solidFill>
                  <a:srgbClr val="5E6B7A"/>
                </a:solidFill>
                <a:latin typeface="游ゴシック" pitchFamily="34" charset="0"/>
                <a:ea typeface="游ゴシック" pitchFamily="34" charset="-122"/>
                <a:cs typeface="游ゴシック" pitchFamily="34" charset="-120"/>
              </a:rPr>
              <a:t>8/29〜9/14（17日間、休日を含む）。上段：日中平均の吸気温度差、下段：日中平均の日射量。横軸の日付は2段で共通</a:t>
            </a:r>
            <a:endParaRPr lang="en-US" sz="1050" dirty="0"/>
          </a:p>
        </p:txBody>
      </p:sp>
      <p:sp>
        <p:nvSpPr>
          <p:cNvPr id="18" name="Shape 16"/>
          <p:cNvSpPr/>
          <p:nvPr/>
        </p:nvSpPr>
        <p:spPr>
          <a:xfrm>
            <a:off x="5989320" y="1298448"/>
            <a:ext cx="2788920" cy="1298448"/>
          </a:xfrm>
          <a:prstGeom prst="roundRect">
            <a:avLst>
              <a:gd name="adj" fmla="val 4225"/>
            </a:avLst>
          </a:prstGeom>
          <a:solidFill>
            <a:srgbClr val="E4F7F4"/>
          </a:solidFill>
          <a:ln w="12700">
            <a:solidFill>
              <a:srgbClr val="E4F7F4"/>
            </a:solidFill>
            <a:prstDash val="solid"/>
          </a:ln>
        </p:spPr>
        <p:txBody>
          <a:bodyPr/>
          <a:lstStyle/>
          <a:p>
            <a:endParaRPr lang="ja-JP" altLang="en-US"/>
          </a:p>
        </p:txBody>
      </p:sp>
      <p:sp>
        <p:nvSpPr>
          <p:cNvPr id="19" name="Text 17"/>
          <p:cNvSpPr txBox="1"/>
          <p:nvPr/>
        </p:nvSpPr>
        <p:spPr>
          <a:xfrm>
            <a:off x="6126480" y="1371600"/>
            <a:ext cx="251460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日射の計測</a:t>
            </a:r>
            <a:endParaRPr lang="en-US" sz="1200" dirty="0"/>
          </a:p>
        </p:txBody>
      </p:sp>
      <p:sp>
        <p:nvSpPr>
          <p:cNvPr id="20" name="Text 18"/>
          <p:cNvSpPr txBox="1"/>
          <p:nvPr/>
        </p:nvSpPr>
        <p:spPr>
          <a:xfrm>
            <a:off x="6126480" y="1664208"/>
            <a:ext cx="2514600" cy="868680"/>
          </a:xfrm>
          <a:prstGeom prst="rect">
            <a:avLst/>
          </a:prstGeom>
          <a:noFill/>
          <a:ln/>
        </p:spPr>
        <p:txBody>
          <a:bodyPr wrap="square" lIns="0" tIns="0" rIns="0" bIns="0" rtlCol="0" anchor="t"/>
          <a:lstStyle/>
          <a:p>
            <a:pPr marL="152400" indent="-152400">
              <a:spcAft>
                <a:spcPts val="300"/>
              </a:spcAft>
              <a:buSzPct val="100000"/>
              <a:buChar char="•"/>
            </a:pPr>
            <a:r>
              <a:rPr lang="en-US" sz="850" dirty="0">
                <a:solidFill>
                  <a:srgbClr val="172033"/>
                </a:solidFill>
                <a:latin typeface="游ゴシック" pitchFamily="34" charset="0"/>
                <a:ea typeface="游ゴシック" pitchFamily="34" charset="-122"/>
                <a:cs typeface="游ゴシック" pitchFamily="34" charset="-120"/>
              </a:rPr>
              <a:t>日向：OACP-3（3-2）の日射計</a:t>
            </a:r>
            <a:endParaRPr lang="en-US" sz="850" dirty="0"/>
          </a:p>
          <a:p>
            <a:pPr marL="152400" indent="-152400">
              <a:spcAft>
                <a:spcPts val="300"/>
              </a:spcAft>
              <a:buSzPct val="100000"/>
              <a:buChar char="•"/>
            </a:pPr>
            <a:r>
              <a:rPr lang="en-US" sz="850" dirty="0">
                <a:solidFill>
                  <a:srgbClr val="172033"/>
                </a:solidFill>
                <a:latin typeface="游ゴシック" pitchFamily="34" charset="0"/>
                <a:ea typeface="游ゴシック" pitchFamily="34" charset="-122"/>
                <a:cs typeface="游ゴシック" pitchFamily="34" charset="-120"/>
              </a:rPr>
              <a:t>緑陰内：OACP-8（8-2）の葉の下の日射計</a:t>
            </a:r>
            <a:endParaRPr lang="en-US" sz="850" dirty="0"/>
          </a:p>
          <a:p>
            <a:pPr marL="152400" indent="-152400">
              <a:spcAft>
                <a:spcPts val="300"/>
              </a:spcAft>
              <a:buSzPct val="100000"/>
              <a:buChar char="•"/>
            </a:pPr>
            <a:r>
              <a:rPr lang="en-US" sz="850" dirty="0">
                <a:solidFill>
                  <a:srgbClr val="172033"/>
                </a:solidFill>
                <a:latin typeface="游ゴシック" pitchFamily="34" charset="0"/>
                <a:ea typeface="游ゴシック" pitchFamily="34" charset="-122"/>
                <a:cs typeface="游ゴシック" pitchFamily="34" charset="-120"/>
              </a:rPr>
              <a:t>8/28以前は乱れた値があるため使わない</a:t>
            </a:r>
            <a:endParaRPr lang="en-US" sz="850" dirty="0"/>
          </a:p>
        </p:txBody>
      </p:sp>
      <p:sp>
        <p:nvSpPr>
          <p:cNvPr id="21" name="Shape 19"/>
          <p:cNvSpPr/>
          <p:nvPr/>
        </p:nvSpPr>
        <p:spPr>
          <a:xfrm>
            <a:off x="5989320" y="2670048"/>
            <a:ext cx="2788920" cy="1234440"/>
          </a:xfrm>
          <a:prstGeom prst="roundRect">
            <a:avLst>
              <a:gd name="adj" fmla="val 4444"/>
            </a:avLst>
          </a:prstGeom>
          <a:solidFill>
            <a:srgbClr val="EAF4FF"/>
          </a:solidFill>
          <a:ln w="12700">
            <a:solidFill>
              <a:srgbClr val="EAF4FF"/>
            </a:solidFill>
            <a:prstDash val="solid"/>
          </a:ln>
        </p:spPr>
        <p:txBody>
          <a:bodyPr/>
          <a:lstStyle/>
          <a:p>
            <a:endParaRPr lang="ja-JP" altLang="en-US"/>
          </a:p>
        </p:txBody>
      </p:sp>
      <p:sp>
        <p:nvSpPr>
          <p:cNvPr id="22" name="Text 20"/>
          <p:cNvSpPr txBox="1"/>
          <p:nvPr/>
        </p:nvSpPr>
        <p:spPr>
          <a:xfrm>
            <a:off x="6126480" y="2743200"/>
            <a:ext cx="251460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結果</a:t>
            </a:r>
            <a:endParaRPr lang="en-US" sz="1200" dirty="0"/>
          </a:p>
        </p:txBody>
      </p:sp>
      <p:sp>
        <p:nvSpPr>
          <p:cNvPr id="23" name="Text 21"/>
          <p:cNvSpPr txBox="1"/>
          <p:nvPr/>
        </p:nvSpPr>
        <p:spPr>
          <a:xfrm>
            <a:off x="6126480" y="3035808"/>
            <a:ext cx="2514600" cy="804672"/>
          </a:xfrm>
          <a:prstGeom prst="rect">
            <a:avLst/>
          </a:prstGeom>
          <a:noFill/>
          <a:ln/>
        </p:spPr>
        <p:txBody>
          <a:bodyPr wrap="square" lIns="0" tIns="0" rIns="0" bIns="0" rtlCol="0" anchor="t"/>
          <a:lstStyle/>
          <a:p>
            <a:pPr marL="152400" indent="-152400">
              <a:spcAft>
                <a:spcPts val="200"/>
              </a:spcAft>
              <a:buSzPct val="100000"/>
              <a:buChar char="•"/>
            </a:pPr>
            <a:r>
              <a:rPr lang="ja-JP" altLang="en-US" sz="850" dirty="0">
                <a:solidFill>
                  <a:srgbClr val="172033"/>
                </a:solidFill>
                <a:latin typeface="游ゴシック" pitchFamily="34" charset="0"/>
                <a:ea typeface="游ゴシック" pitchFamily="34" charset="-122"/>
                <a:cs typeface="游ゴシック" pitchFamily="34" charset="-120"/>
              </a:rPr>
              <a:t>緑陰内は日向の6〜27％（遮る割合73〜94％）</a:t>
            </a:r>
            <a:endParaRPr lang="ja-JP" altLang="en-US" sz="850" dirty="0"/>
          </a:p>
          <a:p>
            <a:pPr marL="152400" indent="-152400">
              <a:spcAft>
                <a:spcPts val="200"/>
              </a:spcAft>
              <a:buSzPct val="100000"/>
              <a:buChar char="•"/>
            </a:pPr>
            <a:r>
              <a:rPr lang="ja-JP" altLang="en-US" sz="850" dirty="0">
                <a:solidFill>
                  <a:srgbClr val="172033"/>
                </a:solidFill>
                <a:latin typeface="游ゴシック" pitchFamily="34" charset="0"/>
                <a:ea typeface="游ゴシック" pitchFamily="34" charset="-122"/>
                <a:cs typeface="游ゴシック" pitchFamily="34" charset="-120"/>
              </a:rPr>
              <a:t>日向の日射量と吸気温度差の相関（日ごと）：列8 ＋0.59、列11 ＋0.44</a:t>
            </a:r>
            <a:endParaRPr lang="ja-JP" altLang="en-US" sz="850" dirty="0"/>
          </a:p>
          <a:p>
            <a:pPr marL="152400" indent="-152400">
              <a:spcAft>
                <a:spcPts val="200"/>
              </a:spcAft>
              <a:buSzPct val="100000"/>
              <a:buChar char="•"/>
            </a:pPr>
            <a:r>
              <a:rPr lang="ja-JP" altLang="en-US" sz="850" dirty="0">
                <a:solidFill>
                  <a:srgbClr val="172033"/>
                </a:solidFill>
                <a:latin typeface="游ゴシック" pitchFamily="34" charset="0"/>
                <a:ea typeface="游ゴシック" pitchFamily="34" charset="-122"/>
                <a:cs typeface="游ゴシック" pitchFamily="34" charset="-120"/>
              </a:rPr>
              <a:t>日射の強い日は9/14のみ（日向556W/㎡、列8−0.04℃）</a:t>
            </a:r>
            <a:endParaRPr lang="ja-JP" altLang="en-US" sz="850" dirty="0"/>
          </a:p>
        </p:txBody>
      </p:sp>
      <p:sp>
        <p:nvSpPr>
          <p:cNvPr id="24" name="Shape 22"/>
          <p:cNvSpPr/>
          <p:nvPr/>
        </p:nvSpPr>
        <p:spPr>
          <a:xfrm>
            <a:off x="5989320" y="3977640"/>
            <a:ext cx="2788920" cy="749808"/>
          </a:xfrm>
          <a:prstGeom prst="roundRect">
            <a:avLst>
              <a:gd name="adj" fmla="val 7317"/>
            </a:avLst>
          </a:prstGeom>
          <a:solidFill>
            <a:srgbClr val="FFF7D1"/>
          </a:solidFill>
          <a:ln w="12700">
            <a:solidFill>
              <a:srgbClr val="FFF7D1"/>
            </a:solidFill>
            <a:prstDash val="solid"/>
          </a:ln>
        </p:spPr>
        <p:txBody>
          <a:bodyPr/>
          <a:lstStyle/>
          <a:p>
            <a:endParaRPr lang="ja-JP" altLang="en-US"/>
          </a:p>
        </p:txBody>
      </p:sp>
      <p:sp>
        <p:nvSpPr>
          <p:cNvPr id="25" name="Text 23"/>
          <p:cNvSpPr txBox="1"/>
          <p:nvPr/>
        </p:nvSpPr>
        <p:spPr>
          <a:xfrm>
            <a:off x="6080760" y="3995928"/>
            <a:ext cx="2606040" cy="713232"/>
          </a:xfrm>
          <a:prstGeom prst="rect">
            <a:avLst/>
          </a:prstGeom>
          <a:noFill/>
          <a:ln/>
        </p:spPr>
        <p:txBody>
          <a:bodyPr wrap="square" lIns="0" tIns="0" rIns="0" bIns="0" rtlCol="0" anchor="ctr"/>
          <a:lstStyle/>
          <a:p>
            <a:pPr marL="0" indent="0">
              <a:spcAft>
                <a:spcPts val="0"/>
              </a:spcAft>
              <a:buNone/>
            </a:pPr>
            <a:r>
              <a:rPr lang="ja-JP" altLang="en-US" sz="900" b="1" dirty="0">
                <a:solidFill>
                  <a:srgbClr val="ED7D31"/>
                </a:solidFill>
                <a:latin typeface="游ゴシック" pitchFamily="34" charset="0"/>
                <a:ea typeface="游ゴシック" pitchFamily="34" charset="-122"/>
                <a:cs typeface="游ゴシック" pitchFamily="34" charset="-120"/>
              </a:rPr>
              <a:t>読み取り　</a:t>
            </a:r>
            <a:r>
              <a:rPr lang="ja-JP" altLang="en-US" sz="900" dirty="0">
                <a:solidFill>
                  <a:srgbClr val="172033"/>
                </a:solidFill>
                <a:latin typeface="游ゴシック" pitchFamily="34" charset="0"/>
                <a:ea typeface="游ゴシック" pitchFamily="34" charset="-122"/>
                <a:cs typeface="游ゴシック" pitchFamily="34" charset="-120"/>
              </a:rPr>
              <a:t>日射の多い日ほど吸気温度差が大きい（低減効果が小さい）傾向で、列8のほうがはっきりしている。この期間は曇り・雨が多く、日射の強い日が少ない</a:t>
            </a:r>
            <a:endParaRPr lang="ja-JP" altLang="en-US" sz="900" dirty="0"/>
          </a:p>
        </p:txBody>
      </p:sp>
      <p:sp>
        <p:nvSpPr>
          <p:cNvPr id="7"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33</a:t>
            </a:fld>
            <a:endParaRPr lang="en-US"/>
          </a:p>
        </p:txBody>
      </p:sp>
      <p:graphicFrame>
        <p:nvGraphicFramePr>
          <p:cNvPr id="27" name="グラフ wx_m"/>
          <p:cNvGraphicFramePr>
            <a:graphicFrameLocks noGrp="1"/>
          </p:cNvGraphicFramePr>
          <p:nvPr/>
        </p:nvGraphicFramePr>
        <p:xfrm>
          <a:off x="365760" y="1298448"/>
          <a:ext cx="5486400" cy="1600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2" name="グラフ wx_m_2"/>
          <p:cNvGraphicFramePr>
            <a:graphicFrameLocks noGrp="1"/>
          </p:cNvGraphicFramePr>
          <p:nvPr/>
        </p:nvGraphicFramePr>
        <p:xfrm>
          <a:off x="365760" y="2926080"/>
          <a:ext cx="5486400" cy="1600200"/>
        </p:xfrm>
        <a:graphic>
          <a:graphicData uri="http://schemas.openxmlformats.org/drawingml/2006/chart">
            <c:chart xmlns:c="http://schemas.openxmlformats.org/drawingml/2006/chart" xmlns:r="http://schemas.openxmlformats.org/officeDocument/2006/relationships" r:id="rId4"/>
          </a:graphicData>
        </a:graphic>
      </p:graphicFrame>
      <p:sp>
        <p:nvSpPr>
          <p:cNvPr id="41" name="凡例の注記"/>
          <p:cNvSpPr txBox="1"/>
          <p:nvPr/>
        </p:nvSpPr>
        <p:spPr>
          <a:xfrm>
            <a:off x="685800" y="4572000"/>
            <a:ext cx="4937760" cy="164592"/>
          </a:xfrm>
          <a:prstGeom prst="rect">
            <a:avLst/>
          </a:prstGeom>
          <a:noFill/>
          <a:ln/>
        </p:spPr>
        <p:txBody>
          <a:bodyPr wrap="square" lIns="0" tIns="0" rIns="0" bIns="0" rtlCol="0" anchor="t"/>
          <a:lstStyle/>
          <a:p>
            <a:pPr marL="0" indent="0">
              <a:spcAft>
                <a:spcPts val="0"/>
              </a:spcAft>
              <a:buNone/>
            </a:pPr>
            <a:r>
              <a:rPr lang="ja-JP" altLang="en-US" sz="800" dirty="0">
                <a:solidFill>
                  <a:srgbClr val="5E6B7A"/>
                </a:solidFill>
                <a:latin typeface="游ゴシック" pitchFamily="34" charset="0"/>
                <a:ea typeface="游ゴシック" pitchFamily="34" charset="-122"/>
                <a:cs typeface="游ゴシック" pitchFamily="34" charset="-120"/>
              </a:rPr>
              <a:t>休日：8/29・8/30・9/5・9/6・9/12・9/13。9/14は16:52に計測終了（日中は8時間）</a:t>
            </a:r>
            <a:endParaRPr lang="ja-JP" alt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付録（分析6）：日射を遮る割合と吸気温度差の関係</a:t>
            </a:r>
            <a:endParaRPr lang="en-US" sz="2000" dirty="0"/>
          </a:p>
        </p:txBody>
      </p:sp>
      <p:sp>
        <p:nvSpPr>
          <p:cNvPr id="3" name="Shape 1"/>
          <p:cNvSpPr/>
          <p:nvPr/>
        </p:nvSpPr>
        <p:spPr>
          <a:xfrm>
            <a:off x="7726680" y="155448"/>
            <a:ext cx="1097280" cy="274320"/>
          </a:xfrm>
          <a:prstGeom prst="roundRect">
            <a:avLst>
              <a:gd name="adj" fmla="val 26667"/>
            </a:avLst>
          </a:prstGeom>
          <a:solidFill>
            <a:srgbClr val="5E6B7A"/>
          </a:solidFill>
          <a:ln w="12700">
            <a:solidFill>
              <a:srgbClr val="5E6B7A"/>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付録</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芋の葉が日射を遮る割合と、吸気温度の低減効果の関係を確かめる</a:t>
            </a:r>
            <a:endParaRPr lang="en-US" sz="1200" dirty="0"/>
          </a:p>
        </p:txBody>
      </p:sp>
      <p:sp>
        <p:nvSpPr>
          <p:cNvPr id="6" name="Text 4"/>
          <p:cNvSpPr txBox="1"/>
          <p:nvPr/>
        </p:nvSpPr>
        <p:spPr>
          <a:xfrm>
            <a:off x="365760" y="987552"/>
            <a:ext cx="8412480" cy="292608"/>
          </a:xfrm>
          <a:prstGeom prst="rect">
            <a:avLst/>
          </a:prstGeom>
          <a:noFill/>
          <a:ln/>
        </p:spPr>
        <p:txBody>
          <a:bodyPr wrap="square" lIns="0" tIns="0" rIns="0" bIns="0" rtlCol="0" anchor="ctr"/>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方法　</a:t>
            </a:r>
            <a:r>
              <a:rPr lang="en-US" sz="1050" dirty="0">
                <a:solidFill>
                  <a:srgbClr val="5E6B7A"/>
                </a:solidFill>
                <a:latin typeface="游ゴシック" pitchFamily="34" charset="0"/>
                <a:ea typeface="游ゴシック" pitchFamily="34" charset="-122"/>
                <a:cs typeface="游ゴシック" pitchFamily="34" charset="-120"/>
              </a:rPr>
              <a:t>8/29〜9/14の勤務日11日間、日向の日射量100W/㎡以上の59時間。遮る割合＝1−緑陰内÷日向（％）。破線：近似直線</a:t>
            </a:r>
            <a:endParaRPr lang="en-US" sz="1050" dirty="0"/>
          </a:p>
        </p:txBody>
      </p:sp>
      <p:sp>
        <p:nvSpPr>
          <p:cNvPr id="7" name="Text 5"/>
          <p:cNvSpPr txBox="1"/>
          <p:nvPr/>
        </p:nvSpPr>
        <p:spPr>
          <a:xfrm>
            <a:off x="365760" y="1325880"/>
            <a:ext cx="2491740" cy="201168"/>
          </a:xfrm>
          <a:prstGeom prst="rect">
            <a:avLst/>
          </a:prstGeom>
          <a:noFill/>
          <a:ln/>
        </p:spPr>
        <p:txBody>
          <a:bodyPr wrap="square" lIns="0" tIns="0" rIns="0" bIns="0" rtlCol="0" anchor="ctr"/>
          <a:lstStyle/>
          <a:p>
            <a:pPr marL="0" indent="0">
              <a:buNone/>
            </a:pPr>
            <a:r>
              <a:rPr lang="en-US" sz="950" b="1" dirty="0">
                <a:solidFill>
                  <a:srgbClr val="22354F"/>
                </a:solidFill>
                <a:latin typeface="游ゴシック" pitchFamily="34" charset="0"/>
                <a:ea typeface="游ゴシック" pitchFamily="34" charset="-122"/>
                <a:cs typeface="游ゴシック" pitchFamily="34" charset="-120"/>
              </a:rPr>
              <a:t>列8</a:t>
            </a:r>
            <a:endParaRPr lang="en-US" sz="950" dirty="0"/>
          </a:p>
        </p:txBody>
      </p:sp>
      <p:sp>
        <p:nvSpPr>
          <p:cNvPr id="9" name="Text 7"/>
          <p:cNvSpPr txBox="1"/>
          <p:nvPr/>
        </p:nvSpPr>
        <p:spPr>
          <a:xfrm>
            <a:off x="2948940" y="1325880"/>
            <a:ext cx="2491740" cy="201168"/>
          </a:xfrm>
          <a:prstGeom prst="rect">
            <a:avLst/>
          </a:prstGeom>
          <a:noFill/>
          <a:ln/>
        </p:spPr>
        <p:txBody>
          <a:bodyPr wrap="square" lIns="0" tIns="0" rIns="0" bIns="0" rtlCol="0" anchor="ctr"/>
          <a:lstStyle/>
          <a:p>
            <a:pPr marL="0" indent="0">
              <a:buNone/>
            </a:pPr>
            <a:r>
              <a:rPr lang="en-US" sz="950" b="1" dirty="0">
                <a:solidFill>
                  <a:srgbClr val="22354F"/>
                </a:solidFill>
                <a:latin typeface="游ゴシック" pitchFamily="34" charset="0"/>
                <a:ea typeface="游ゴシック" pitchFamily="34" charset="-122"/>
                <a:cs typeface="游ゴシック" pitchFamily="34" charset="-120"/>
              </a:rPr>
              <a:t>列11</a:t>
            </a:r>
            <a:endParaRPr lang="en-US" sz="950" dirty="0"/>
          </a:p>
        </p:txBody>
      </p:sp>
      <p:sp>
        <p:nvSpPr>
          <p:cNvPr id="11" name="Shape 9"/>
          <p:cNvSpPr/>
          <p:nvPr/>
        </p:nvSpPr>
        <p:spPr>
          <a:xfrm>
            <a:off x="5577840" y="1325880"/>
            <a:ext cx="3200400" cy="2167128"/>
          </a:xfrm>
          <a:prstGeom prst="roundRect">
            <a:avLst>
              <a:gd name="adj" fmla="val 2532"/>
            </a:avLst>
          </a:prstGeom>
          <a:solidFill>
            <a:srgbClr val="EAF4FF"/>
          </a:solidFill>
          <a:ln w="12700">
            <a:solidFill>
              <a:srgbClr val="EAF4FF"/>
            </a:solidFill>
            <a:prstDash val="solid"/>
          </a:ln>
        </p:spPr>
        <p:txBody>
          <a:bodyPr/>
          <a:lstStyle/>
          <a:p>
            <a:endParaRPr lang="ja-JP" altLang="en-US"/>
          </a:p>
        </p:txBody>
      </p:sp>
      <p:sp>
        <p:nvSpPr>
          <p:cNvPr id="12" name="Text 10"/>
          <p:cNvSpPr txBox="1"/>
          <p:nvPr/>
        </p:nvSpPr>
        <p:spPr>
          <a:xfrm>
            <a:off x="5715000" y="1399032"/>
            <a:ext cx="292608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結果</a:t>
            </a:r>
            <a:endParaRPr lang="en-US" sz="1200" dirty="0"/>
          </a:p>
        </p:txBody>
      </p:sp>
      <p:sp>
        <p:nvSpPr>
          <p:cNvPr id="13" name="Text 11"/>
          <p:cNvSpPr txBox="1"/>
          <p:nvPr/>
        </p:nvSpPr>
        <p:spPr>
          <a:xfrm>
            <a:off x="5715000" y="1691640"/>
            <a:ext cx="2926080" cy="1737360"/>
          </a:xfrm>
          <a:prstGeom prst="rect">
            <a:avLst/>
          </a:prstGeom>
          <a:noFill/>
          <a:ln/>
        </p:spPr>
        <p:txBody>
          <a:bodyPr wrap="square" lIns="0" tIns="0" rIns="0" bIns="0" rtlCol="0" anchor="t"/>
          <a:lstStyle/>
          <a:p>
            <a:pPr marL="152400" indent="-152400">
              <a:spcAft>
                <a:spcPts val="300"/>
              </a:spcAft>
              <a:buSzPct val="100000"/>
              <a:buChar char="•"/>
            </a:pPr>
            <a:r>
              <a:rPr lang="ja-JP" altLang="en-US" sz="1050" dirty="0">
                <a:solidFill>
                  <a:srgbClr val="172033"/>
                </a:solidFill>
                <a:latin typeface="游ゴシック" pitchFamily="34" charset="0"/>
                <a:ea typeface="游ゴシック" pitchFamily="34" charset="-122"/>
                <a:cs typeface="游ゴシック" pitchFamily="34" charset="-120"/>
              </a:rPr>
              <a:t>遮る割合は79〜95％（平均86％）で、どの時間も8割前後を遮っている</a:t>
            </a:r>
            <a:endParaRPr lang="ja-JP" altLang="en-US" sz="1050" dirty="0"/>
          </a:p>
          <a:p>
            <a:pPr marL="152400" indent="-152400">
              <a:spcAft>
                <a:spcPts val="300"/>
              </a:spcAft>
              <a:buSzPct val="100000"/>
              <a:buChar char="•"/>
            </a:pPr>
            <a:r>
              <a:rPr lang="ja-JP" altLang="en-US" sz="1050" dirty="0">
                <a:solidFill>
                  <a:srgbClr val="172033"/>
                </a:solidFill>
                <a:latin typeface="游ゴシック" pitchFamily="34" charset="0"/>
                <a:ea typeface="游ゴシック" pitchFamily="34" charset="-122"/>
                <a:cs typeface="游ゴシック" pitchFamily="34" charset="-120"/>
              </a:rPr>
              <a:t>相関：列8 ＋0.27、列11 ＋0.03。遮る割合が高い時間ほど低減効果が大きい関係はない</a:t>
            </a:r>
            <a:endParaRPr lang="ja-JP" altLang="en-US" sz="1050" dirty="0"/>
          </a:p>
          <a:p>
            <a:pPr marL="152400" indent="-152400">
              <a:spcAft>
                <a:spcPts val="300"/>
              </a:spcAft>
              <a:buSzPct val="100000"/>
              <a:buChar char="•"/>
            </a:pPr>
            <a:r>
              <a:rPr lang="ja-JP" altLang="en-US" sz="1050" dirty="0">
                <a:solidFill>
                  <a:srgbClr val="172033"/>
                </a:solidFill>
                <a:latin typeface="游ゴシック" pitchFamily="34" charset="0"/>
                <a:ea typeface="游ゴシック" pitchFamily="34" charset="-122"/>
                <a:cs typeface="游ゴシック" pitchFamily="34" charset="-120"/>
              </a:rPr>
              <a:t>遮る割合が高いのは日射が強い時間（相関0.66）。日射の強さをそろえると、遮る割合の影響ははっきりしない</a:t>
            </a:r>
            <a:endParaRPr lang="ja-JP" altLang="en-US" sz="1050" dirty="0"/>
          </a:p>
        </p:txBody>
      </p:sp>
      <p:sp>
        <p:nvSpPr>
          <p:cNvPr id="14" name="Shape 12"/>
          <p:cNvSpPr/>
          <p:nvPr/>
        </p:nvSpPr>
        <p:spPr>
          <a:xfrm>
            <a:off x="5577840" y="3584448"/>
            <a:ext cx="3200400" cy="1143000"/>
          </a:xfrm>
          <a:prstGeom prst="roundRect">
            <a:avLst>
              <a:gd name="adj" fmla="val 4800"/>
            </a:avLst>
          </a:prstGeom>
          <a:solidFill>
            <a:srgbClr val="FFF7D1"/>
          </a:solidFill>
          <a:ln w="12700">
            <a:solidFill>
              <a:srgbClr val="FFF7D1"/>
            </a:solidFill>
            <a:prstDash val="solid"/>
          </a:ln>
        </p:spPr>
        <p:txBody>
          <a:bodyPr/>
          <a:lstStyle/>
          <a:p>
            <a:endParaRPr lang="ja-JP" altLang="en-US"/>
          </a:p>
        </p:txBody>
      </p:sp>
      <p:sp>
        <p:nvSpPr>
          <p:cNvPr id="15" name="Text 13"/>
          <p:cNvSpPr txBox="1"/>
          <p:nvPr/>
        </p:nvSpPr>
        <p:spPr>
          <a:xfrm>
            <a:off x="5715000" y="3630168"/>
            <a:ext cx="2926080" cy="1051560"/>
          </a:xfrm>
          <a:prstGeom prst="rect">
            <a:avLst/>
          </a:prstGeom>
          <a:noFill/>
          <a:ln/>
        </p:spPr>
        <p:txBody>
          <a:bodyPr wrap="square" lIns="0" tIns="0" rIns="0" bIns="0" rtlCol="0" anchor="t"/>
          <a:lstStyle/>
          <a:p>
            <a:pPr marL="0" indent="0">
              <a:spcAft>
                <a:spcPts val="0"/>
              </a:spcAft>
              <a:buNone/>
            </a:pPr>
            <a:r>
              <a:rPr lang="ja-JP" altLang="en-US" sz="1050" b="1" dirty="0">
                <a:solidFill>
                  <a:srgbClr val="ED7D31"/>
                </a:solidFill>
                <a:latin typeface="游ゴシック" pitchFamily="34" charset="0"/>
                <a:ea typeface="游ゴシック" pitchFamily="34" charset="-122"/>
                <a:cs typeface="游ゴシック" pitchFamily="34" charset="-120"/>
              </a:rPr>
              <a:t>読み取り</a:t>
            </a:r>
            <a:endParaRPr lang="ja-JP" altLang="en-US" sz="1050" dirty="0"/>
          </a:p>
          <a:p>
            <a:pPr marL="0" indent="0">
              <a:spcAft>
                <a:spcPts val="0"/>
              </a:spcAft>
              <a:buNone/>
            </a:pPr>
            <a:r>
              <a:rPr lang="ja-JP" altLang="en-US" sz="1050" dirty="0">
                <a:solidFill>
                  <a:srgbClr val="172033"/>
                </a:solidFill>
                <a:latin typeface="游ゴシック" pitchFamily="34" charset="0"/>
                <a:ea typeface="游ゴシック" pitchFamily="34" charset="-122"/>
                <a:cs typeface="游ゴシック" pitchFamily="34" charset="-120"/>
              </a:rPr>
              <a:t>遮る割合がほぼ一定で、割合の違いでは吸気温度差を説明できない。90％以上の時間に列8の低減効果が小さいのは、日射が強い時間のため（p.16と同じ傾向）。データは59時間と少ない</a:t>
            </a:r>
            <a:endParaRPr lang="ja-JP" altLang="en-US" sz="10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34</a:t>
            </a:fld>
            <a:endParaRPr lang="en-US"/>
          </a:p>
        </p:txBody>
      </p:sp>
      <p:graphicFrame>
        <p:nvGraphicFramePr>
          <p:cNvPr id="26" name="グラフ a6_blk"/>
          <p:cNvGraphicFramePr>
            <a:graphicFrameLocks noGrp="1"/>
          </p:cNvGraphicFramePr>
          <p:nvPr/>
        </p:nvGraphicFramePr>
        <p:xfrm>
          <a:off x="365760" y="1527048"/>
          <a:ext cx="2491740" cy="2286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7" name="グラフ a6_rate"/>
          <p:cNvGraphicFramePr>
            <a:graphicFrameLocks noGrp="1"/>
          </p:cNvGraphicFramePr>
          <p:nvPr/>
        </p:nvGraphicFramePr>
        <p:xfrm>
          <a:off x="2948940" y="1527048"/>
          <a:ext cx="2491740" cy="22860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8" name="遮る割合の表"/>
          <p:cNvGraphicFramePr>
            <a:graphicFrameLocks noGrp="1"/>
          </p:cNvGraphicFramePr>
          <p:nvPr/>
        </p:nvGraphicFramePr>
        <p:xfrm>
          <a:off x="365760" y="3904487"/>
          <a:ext cx="5074920" cy="731520"/>
        </p:xfrm>
        <a:graphic>
          <a:graphicData uri="http://schemas.openxmlformats.org/drawingml/2006/table">
            <a:tbl>
              <a:tblPr firstRow="1"/>
              <a:tblGrid>
                <a:gridCol w="960120">
                  <a:extLst>
                    <a:ext uri="{9D8B030D-6E8A-4147-A177-3AD203B41FA5}">
                      <a16:colId xmlns:a16="http://schemas.microsoft.com/office/drawing/2014/main" val="30000"/>
                    </a:ext>
                  </a:extLst>
                </a:gridCol>
                <a:gridCol w="731520">
                  <a:extLst>
                    <a:ext uri="{9D8B030D-6E8A-4147-A177-3AD203B41FA5}">
                      <a16:colId xmlns:a16="http://schemas.microsoft.com/office/drawing/2014/main" val="30001"/>
                    </a:ext>
                  </a:extLst>
                </a:gridCol>
                <a:gridCol w="914400">
                  <a:extLst>
                    <a:ext uri="{9D8B030D-6E8A-4147-A177-3AD203B41FA5}">
                      <a16:colId xmlns:a16="http://schemas.microsoft.com/office/drawing/2014/main" val="30002"/>
                    </a:ext>
                  </a:extLst>
                </a:gridCol>
                <a:gridCol w="914400">
                  <a:extLst>
                    <a:ext uri="{9D8B030D-6E8A-4147-A177-3AD203B41FA5}">
                      <a16:colId xmlns:a16="http://schemas.microsoft.com/office/drawing/2014/main" val="30003"/>
                    </a:ext>
                  </a:extLst>
                </a:gridCol>
                <a:gridCol w="1554480">
                  <a:extLst>
                    <a:ext uri="{9D8B030D-6E8A-4147-A177-3AD203B41FA5}">
                      <a16:colId xmlns:a16="http://schemas.microsoft.com/office/drawing/2014/main" val="30004"/>
                    </a:ext>
                  </a:extLst>
                </a:gridCol>
              </a:tblGrid>
              <a:tr h="182880">
                <a:tc>
                  <a:txBody>
                    <a:bodyPr/>
                    <a:lstStyle/>
                    <a:p>
                      <a:pPr marL="0" indent="0" algn="ctr">
                        <a:buNone/>
                      </a:pPr>
                      <a:r>
                        <a:rPr lang="ja-JP" altLang="en-US" sz="850" b="1" dirty="0">
                          <a:solidFill>
                            <a:srgbClr val="FFFFFF"/>
                          </a:solidFill>
                          <a:latin typeface="游ゴシック" pitchFamily="34" charset="0"/>
                          <a:ea typeface="游ゴシック" pitchFamily="34" charset="-122"/>
                          <a:cs typeface="游ゴシック" pitchFamily="34" charset="-120"/>
                        </a:rPr>
                        <a:t>遮る割合</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22354F"/>
                    </a:solidFill>
                  </a:tcPr>
                </a:tc>
                <a:tc>
                  <a:txBody>
                    <a:bodyPr/>
                    <a:lstStyle/>
                    <a:p>
                      <a:pPr marL="0" indent="0" algn="ctr">
                        <a:buNone/>
                      </a:pPr>
                      <a:r>
                        <a:rPr lang="ja-JP" altLang="en-US" sz="850" b="1" dirty="0">
                          <a:solidFill>
                            <a:srgbClr val="FFFFFF"/>
                          </a:solidFill>
                          <a:latin typeface="游ゴシック" pitchFamily="34" charset="0"/>
                          <a:ea typeface="游ゴシック" pitchFamily="34" charset="-122"/>
                          <a:cs typeface="游ゴシック" pitchFamily="34" charset="-120"/>
                        </a:rPr>
                        <a:t>時間数</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22354F"/>
                    </a:solidFill>
                  </a:tcPr>
                </a:tc>
                <a:tc>
                  <a:txBody>
                    <a:bodyPr/>
                    <a:lstStyle/>
                    <a:p>
                      <a:pPr marL="0" indent="0" algn="ctr">
                        <a:buNone/>
                      </a:pPr>
                      <a:r>
                        <a:rPr lang="ja-JP" altLang="en-US" sz="850" b="1" dirty="0">
                          <a:solidFill>
                            <a:srgbClr val="FFFFFF"/>
                          </a:solidFill>
                          <a:latin typeface="游ゴシック" pitchFamily="34" charset="0"/>
                          <a:ea typeface="游ゴシック" pitchFamily="34" charset="-122"/>
                          <a:cs typeface="游ゴシック" pitchFamily="34" charset="-120"/>
                        </a:rPr>
                        <a:t>列8［℃］</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22354F"/>
                    </a:solidFill>
                  </a:tcPr>
                </a:tc>
                <a:tc>
                  <a:txBody>
                    <a:bodyPr/>
                    <a:lstStyle/>
                    <a:p>
                      <a:pPr marL="0" indent="0" algn="ctr">
                        <a:buNone/>
                      </a:pPr>
                      <a:r>
                        <a:rPr lang="ja-JP" altLang="en-US" sz="850" b="1" dirty="0">
                          <a:solidFill>
                            <a:srgbClr val="FFFFFF"/>
                          </a:solidFill>
                          <a:latin typeface="游ゴシック" pitchFamily="34" charset="0"/>
                          <a:ea typeface="游ゴシック" pitchFamily="34" charset="-122"/>
                          <a:cs typeface="游ゴシック" pitchFamily="34" charset="-120"/>
                        </a:rPr>
                        <a:t>列11［℃］</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22354F"/>
                    </a:solidFill>
                  </a:tcPr>
                </a:tc>
                <a:tc>
                  <a:txBody>
                    <a:bodyPr/>
                    <a:lstStyle/>
                    <a:p>
                      <a:pPr marL="0" indent="0" algn="ctr">
                        <a:buNone/>
                      </a:pPr>
                      <a:r>
                        <a:rPr lang="ja-JP" altLang="en-US" sz="850" b="1" dirty="0">
                          <a:solidFill>
                            <a:srgbClr val="FFFFFF"/>
                          </a:solidFill>
                          <a:latin typeface="游ゴシック" pitchFamily="34" charset="0"/>
                          <a:ea typeface="游ゴシック" pitchFamily="34" charset="-122"/>
                          <a:cs typeface="游ゴシック" pitchFamily="34" charset="-120"/>
                        </a:rPr>
                        <a:t>日向の日射量［W/㎡］</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22354F"/>
                    </a:solidFill>
                  </a:tcPr>
                </a:tc>
                <a:extLst>
                  <a:ext uri="{0D108BD9-81ED-4DB2-BD59-A6C34878D82A}">
                    <a16:rowId xmlns:a16="http://schemas.microsoft.com/office/drawing/2014/main" val="40000"/>
                  </a:ext>
                </a:extLst>
              </a:tr>
              <a:tr h="182880">
                <a:tc>
                  <a:txBody>
                    <a:bodyPr/>
                    <a:lstStyle/>
                    <a:p>
                      <a:pPr marL="0" indent="0" algn="ctr">
                        <a:buNone/>
                      </a:pPr>
                      <a:r>
                        <a:rPr lang="ja-JP" altLang="en-US" sz="850" dirty="0">
                          <a:solidFill>
                            <a:srgbClr val="172033"/>
                          </a:solidFill>
                          <a:latin typeface="游ゴシック" pitchFamily="34" charset="0"/>
                          <a:ea typeface="游ゴシック" pitchFamily="34" charset="-122"/>
                          <a:cs typeface="游ゴシック" pitchFamily="34" charset="-120"/>
                        </a:rPr>
                        <a:t>85％未満</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tc>
                  <a:txBody>
                    <a:bodyPr/>
                    <a:lstStyle/>
                    <a:p>
                      <a:pPr marL="0" indent="0" algn="ctr">
                        <a:buNone/>
                      </a:pPr>
                      <a:r>
                        <a:rPr lang="ja-JP" altLang="en-US" sz="850" dirty="0">
                          <a:solidFill>
                            <a:srgbClr val="172033"/>
                          </a:solidFill>
                          <a:latin typeface="游ゴシック" pitchFamily="34" charset="0"/>
                          <a:ea typeface="游ゴシック" pitchFamily="34" charset="-122"/>
                          <a:cs typeface="游ゴシック" pitchFamily="34" charset="-120"/>
                        </a:rPr>
                        <a:t>24</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tc>
                  <a:txBody>
                    <a:bodyPr/>
                    <a:lstStyle/>
                    <a:p>
                      <a:pPr marL="0" indent="0" algn="ctr">
                        <a:buNone/>
                      </a:pPr>
                      <a:r>
                        <a:rPr lang="ja-JP" altLang="en-US" sz="850" dirty="0">
                          <a:solidFill>
                            <a:srgbClr val="172033"/>
                          </a:solidFill>
                          <a:latin typeface="游ゴシック" pitchFamily="34" charset="0"/>
                          <a:ea typeface="游ゴシック" pitchFamily="34" charset="-122"/>
                          <a:cs typeface="游ゴシック" pitchFamily="34" charset="-120"/>
                        </a:rPr>
                        <a:t>−0.38</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tc>
                  <a:txBody>
                    <a:bodyPr/>
                    <a:lstStyle/>
                    <a:p>
                      <a:pPr marL="0" indent="0" algn="ctr">
                        <a:buNone/>
                      </a:pPr>
                      <a:r>
                        <a:rPr lang="ja-JP" altLang="en-US" sz="850" dirty="0">
                          <a:solidFill>
                            <a:srgbClr val="172033"/>
                          </a:solidFill>
                          <a:latin typeface="游ゴシック" pitchFamily="34" charset="0"/>
                          <a:ea typeface="游ゴシック" pitchFamily="34" charset="-122"/>
                          <a:cs typeface="游ゴシック" pitchFamily="34" charset="-120"/>
                        </a:rPr>
                        <a:t>−0.40</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tc>
                  <a:txBody>
                    <a:bodyPr/>
                    <a:lstStyle/>
                    <a:p>
                      <a:pPr marL="0" indent="0" algn="ctr">
                        <a:buNone/>
                      </a:pPr>
                      <a:r>
                        <a:rPr lang="ja-JP" altLang="en-US" sz="850" dirty="0">
                          <a:solidFill>
                            <a:srgbClr val="172033"/>
                          </a:solidFill>
                          <a:latin typeface="游ゴシック" pitchFamily="34" charset="0"/>
                          <a:ea typeface="游ゴシック" pitchFamily="34" charset="-122"/>
                          <a:cs typeface="游ゴシック" pitchFamily="34" charset="-120"/>
                        </a:rPr>
                        <a:t>226</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extLst>
                  <a:ext uri="{0D108BD9-81ED-4DB2-BD59-A6C34878D82A}">
                    <a16:rowId xmlns:a16="http://schemas.microsoft.com/office/drawing/2014/main" val="40001"/>
                  </a:ext>
                </a:extLst>
              </a:tr>
              <a:tr h="182880">
                <a:tc>
                  <a:txBody>
                    <a:bodyPr/>
                    <a:lstStyle/>
                    <a:p>
                      <a:pPr marL="0" indent="0" algn="ctr">
                        <a:buNone/>
                      </a:pPr>
                      <a:r>
                        <a:rPr lang="ja-JP" altLang="en-US" sz="850" dirty="0">
                          <a:solidFill>
                            <a:srgbClr val="172033"/>
                          </a:solidFill>
                          <a:latin typeface="游ゴシック" pitchFamily="34" charset="0"/>
                          <a:ea typeface="游ゴシック" pitchFamily="34" charset="-122"/>
                          <a:cs typeface="游ゴシック" pitchFamily="34" charset="-120"/>
                        </a:rPr>
                        <a:t>85〜90％</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tc>
                  <a:txBody>
                    <a:bodyPr/>
                    <a:lstStyle/>
                    <a:p>
                      <a:pPr marL="0" indent="0" algn="ctr">
                        <a:buNone/>
                      </a:pPr>
                      <a:r>
                        <a:rPr lang="ja-JP" altLang="en-US" sz="850" dirty="0">
                          <a:solidFill>
                            <a:srgbClr val="172033"/>
                          </a:solidFill>
                          <a:latin typeface="游ゴシック" pitchFamily="34" charset="0"/>
                          <a:ea typeface="游ゴシック" pitchFamily="34" charset="-122"/>
                          <a:cs typeface="游ゴシック" pitchFamily="34" charset="-120"/>
                        </a:rPr>
                        <a:t>25</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tc>
                  <a:txBody>
                    <a:bodyPr/>
                    <a:lstStyle/>
                    <a:p>
                      <a:pPr marL="0" indent="0" algn="ctr">
                        <a:buNone/>
                      </a:pPr>
                      <a:r>
                        <a:rPr lang="ja-JP" altLang="en-US" sz="850" dirty="0">
                          <a:solidFill>
                            <a:srgbClr val="172033"/>
                          </a:solidFill>
                          <a:latin typeface="游ゴシック" pitchFamily="34" charset="0"/>
                          <a:ea typeface="游ゴシック" pitchFamily="34" charset="-122"/>
                          <a:cs typeface="游ゴシック" pitchFamily="34" charset="-120"/>
                        </a:rPr>
                        <a:t>−0.30</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tc>
                  <a:txBody>
                    <a:bodyPr/>
                    <a:lstStyle/>
                    <a:p>
                      <a:pPr marL="0" indent="0" algn="ctr">
                        <a:buNone/>
                      </a:pPr>
                      <a:r>
                        <a:rPr lang="ja-JP" altLang="en-US" sz="850" dirty="0">
                          <a:solidFill>
                            <a:srgbClr val="172033"/>
                          </a:solidFill>
                          <a:latin typeface="游ゴシック" pitchFamily="34" charset="0"/>
                          <a:ea typeface="游ゴシック" pitchFamily="34" charset="-122"/>
                          <a:cs typeface="游ゴシック" pitchFamily="34" charset="-120"/>
                        </a:rPr>
                        <a:t>−0.37</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tc>
                  <a:txBody>
                    <a:bodyPr/>
                    <a:lstStyle/>
                    <a:p>
                      <a:pPr marL="0" indent="0" algn="ctr">
                        <a:buNone/>
                      </a:pPr>
                      <a:r>
                        <a:rPr lang="ja-JP" altLang="en-US" sz="850" dirty="0">
                          <a:solidFill>
                            <a:srgbClr val="172033"/>
                          </a:solidFill>
                          <a:latin typeface="游ゴシック" pitchFamily="34" charset="0"/>
                          <a:ea typeface="游ゴシック" pitchFamily="34" charset="-122"/>
                          <a:cs typeface="游ゴシック" pitchFamily="34" charset="-120"/>
                        </a:rPr>
                        <a:t>271</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extLst>
                  <a:ext uri="{0D108BD9-81ED-4DB2-BD59-A6C34878D82A}">
                    <a16:rowId xmlns:a16="http://schemas.microsoft.com/office/drawing/2014/main" val="40002"/>
                  </a:ext>
                </a:extLst>
              </a:tr>
              <a:tr h="182880">
                <a:tc>
                  <a:txBody>
                    <a:bodyPr/>
                    <a:lstStyle/>
                    <a:p>
                      <a:pPr marL="0" indent="0" algn="ctr">
                        <a:buNone/>
                      </a:pPr>
                      <a:r>
                        <a:rPr lang="ja-JP" altLang="en-US" sz="850" dirty="0">
                          <a:solidFill>
                            <a:srgbClr val="172033"/>
                          </a:solidFill>
                          <a:latin typeface="游ゴシック" pitchFamily="34" charset="0"/>
                          <a:ea typeface="游ゴシック" pitchFamily="34" charset="-122"/>
                          <a:cs typeface="游ゴシック" pitchFamily="34" charset="-120"/>
                        </a:rPr>
                        <a:t>90％以上</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tc>
                  <a:txBody>
                    <a:bodyPr/>
                    <a:lstStyle/>
                    <a:p>
                      <a:pPr marL="0" indent="0" algn="ctr">
                        <a:buNone/>
                      </a:pPr>
                      <a:r>
                        <a:rPr lang="ja-JP" altLang="en-US" sz="850" dirty="0">
                          <a:solidFill>
                            <a:srgbClr val="172033"/>
                          </a:solidFill>
                          <a:latin typeface="游ゴシック" pitchFamily="34" charset="0"/>
                          <a:ea typeface="游ゴシック" pitchFamily="34" charset="-122"/>
                          <a:cs typeface="游ゴシック" pitchFamily="34" charset="-120"/>
                        </a:rPr>
                        <a:t>10</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tc>
                  <a:txBody>
                    <a:bodyPr/>
                    <a:lstStyle/>
                    <a:p>
                      <a:pPr marL="0" indent="0" algn="ctr">
                        <a:buNone/>
                      </a:pPr>
                      <a:r>
                        <a:rPr lang="ja-JP" altLang="en-US" sz="850" dirty="0">
                          <a:solidFill>
                            <a:srgbClr val="172033"/>
                          </a:solidFill>
                          <a:latin typeface="游ゴシック" pitchFamily="34" charset="0"/>
                          <a:ea typeface="游ゴシック" pitchFamily="34" charset="-122"/>
                          <a:cs typeface="游ゴシック" pitchFamily="34" charset="-120"/>
                        </a:rPr>
                        <a:t>−0.07</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tc>
                  <a:txBody>
                    <a:bodyPr/>
                    <a:lstStyle/>
                    <a:p>
                      <a:pPr marL="0" indent="0" algn="ctr">
                        <a:buNone/>
                      </a:pPr>
                      <a:r>
                        <a:rPr lang="ja-JP" altLang="en-US" sz="850" dirty="0">
                          <a:solidFill>
                            <a:srgbClr val="172033"/>
                          </a:solidFill>
                          <a:latin typeface="游ゴシック" pitchFamily="34" charset="0"/>
                          <a:ea typeface="游ゴシック" pitchFamily="34" charset="-122"/>
                          <a:cs typeface="游ゴシック" pitchFamily="34" charset="-120"/>
                        </a:rPr>
                        <a:t>−0.36</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tc>
                  <a:txBody>
                    <a:bodyPr/>
                    <a:lstStyle/>
                    <a:p>
                      <a:pPr marL="0" indent="0" algn="ctr">
                        <a:buNone/>
                      </a:pPr>
                      <a:r>
                        <a:rPr lang="ja-JP" altLang="en-US" sz="850" dirty="0">
                          <a:solidFill>
                            <a:srgbClr val="172033"/>
                          </a:solidFill>
                          <a:latin typeface="游ゴシック" pitchFamily="34" charset="0"/>
                          <a:ea typeface="游ゴシック" pitchFamily="34" charset="-122"/>
                          <a:cs typeface="游ゴシック" pitchFamily="34" charset="-120"/>
                        </a:rPr>
                        <a:t>670</a:t>
                      </a:r>
                    </a:p>
                  </a:txBody>
                  <a:tcPr marL="45720" marR="45720" marT="18288" marB="18288" anchor="ctr">
                    <a:lnL w="9525" cap="flat" cmpd="sng" algn="ctr">
                      <a:solidFill>
                        <a:srgbClr val="C9D1DB"/>
                      </a:solidFill>
                      <a:prstDash val="solid"/>
                    </a:lnL>
                    <a:lnR w="9525" cap="flat" cmpd="sng" algn="ctr">
                      <a:solidFill>
                        <a:srgbClr val="C9D1DB"/>
                      </a:solidFill>
                      <a:prstDash val="solid"/>
                    </a:lnR>
                    <a:lnT w="9525" cap="flat" cmpd="sng" algn="ctr">
                      <a:solidFill>
                        <a:srgbClr val="C9D1DB"/>
                      </a:solidFill>
                      <a:prstDash val="solid"/>
                    </a:lnT>
                    <a:lnB w="9525" cap="flat" cmpd="sng" algn="ctr">
                      <a:solidFill>
                        <a:srgbClr val="C9D1DB"/>
                      </a:solidFill>
                      <a:prstDash val="solid"/>
                    </a:lnB>
                    <a:solidFill>
                      <a:srgbClr val="FFFFFF"/>
                    </a:solidFill>
                  </a:tcPr>
                </a:tc>
                <a:extLst>
                  <a:ext uri="{0D108BD9-81ED-4DB2-BD59-A6C34878D82A}">
                    <a16:rowId xmlns:a16="http://schemas.microsoft.com/office/drawing/2014/main" val="40003"/>
                  </a:ext>
                </a:extLst>
              </a:tr>
            </a:tbl>
          </a:graphicData>
        </a:graphic>
      </p:graphicFrame>
    </p:spTree>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芋緑化実測">
  <a:themeElements>
    <a:clrScheme name="芋緑化実測">
      <a:dk1>
        <a:srgbClr val="172033"/>
      </a:dk1>
      <a:lt1>
        <a:srgbClr val="FFFFFF"/>
      </a:lt1>
      <a:dk2>
        <a:srgbClr val="22354F"/>
      </a:dk2>
      <a:lt2>
        <a:srgbClr val="F3F5F8"/>
      </a:lt2>
      <a:accent1>
        <a:srgbClr val="01B8AA"/>
      </a:accent1>
      <a:accent2>
        <a:srgbClr val="118DFF"/>
      </a:accent2>
      <a:accent3>
        <a:srgbClr val="ED7D31"/>
      </a:accent3>
      <a:accent4>
        <a:srgbClr val="8E5BC4"/>
      </a:accent4>
      <a:accent5>
        <a:srgbClr val="F2C811"/>
      </a:accent5>
      <a:accent6>
        <a:srgbClr val="E66C64"/>
      </a:accent6>
      <a:hlink>
        <a:srgbClr val="118DFF"/>
      </a:hlink>
      <a:folHlink>
        <a:srgbClr val="8E5BC4"/>
      </a:folHlink>
    </a:clrScheme>
    <a:fontScheme name="芋緑化実測">
      <a:majorFont>
        <a:latin typeface="游ゴシック"/>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473</TotalTime>
  <Words>9362</Words>
  <Application>Microsoft Macintosh PowerPoint</Application>
  <PresentationFormat>画面に合わせる (16:9)</PresentationFormat>
  <Paragraphs>913</Paragraphs>
  <Slides>34</Slides>
  <Notes>34</Notes>
  <HiddenSlides>1</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34</vt:i4>
      </vt:variant>
    </vt:vector>
  </HeadingPairs>
  <TitlesOfParts>
    <vt:vector size="37" baseType="lpstr">
      <vt:lpstr>游ゴシック</vt:lpstr>
      <vt:lpstr>Arial</vt:lpstr>
      <vt:lpstr>芋緑化実測</vt:lpstr>
      <vt:lpstr>PowerPoint プレゼンテーション</vt:lpstr>
      <vt:lpstr>結果の要約</vt:lpstr>
      <vt:lpstr>分析の流れ</vt:lpstr>
      <vt:lpstr>計測概要：対象の列と計測点</vt:lpstr>
      <vt:lpstr>データの利用期間</vt:lpstr>
      <vt:lpstr>データの欠損と除外の基準</vt:lpstr>
      <vt:lpstr>熱電対ごとの誤差の確認</vt:lpstr>
      <vt:lpstr>吸気温度差の定義</vt:lpstr>
      <vt:lpstr>分析1：期間全体の吸気温度の比較</vt:lpstr>
      <vt:lpstr>分析1（参考）：運転状態をそろえた比較と判定基準の影響</vt:lpstr>
      <vt:lpstr>分析2：時刻別の吸気温度差</vt:lpstr>
      <vt:lpstr>分析3：列8の区画ごとの吸気温度</vt:lpstr>
      <vt:lpstr>分析3：列11の区画ごとの吸気温度</vt:lpstr>
      <vt:lpstr>分析3（要因）：区画1で吸気温度差が正になる理由</vt:lpstr>
      <vt:lpstr>分析3：区画ごとの吸気温度差の分布と結論</vt:lpstr>
      <vt:lpstr>分析3（要因）：列11のほうが低減効果が大きい理由</vt:lpstr>
      <vt:lpstr>分析4：天気と吸気温度差の関係（日ごとの推移）</vt:lpstr>
      <vt:lpstr>分析4：天気別の吸気温度差</vt:lpstr>
      <vt:lpstr>分析4（補足）：気温区分別の吸気温度差</vt:lpstr>
      <vt:lpstr>分析4（補足）：条件をまとめて見た回帰（1時間値）</vt:lpstr>
      <vt:lpstr>分析5：風速別の吸気温度差（風速4区分）</vt:lpstr>
      <vt:lpstr>分析5：風速と吸気温度差の関係（日ごとの推移）</vt:lpstr>
      <vt:lpstr>分析5（補足）：風速を細かく区切った吸気温度差</vt:lpstr>
      <vt:lpstr>分析7：期間による吸気温度差の推移</vt:lpstr>
      <vt:lpstr>分析7（補足）：8/16〜8/27に列8が高くなった理由</vt:lpstr>
      <vt:lpstr>分析8：代表日の選定結果</vt:lpstr>
      <vt:lpstr>分析8：代表日（晴れの日と曇りの日）</vt:lpstr>
      <vt:lpstr>分析8：代表日（弱風の日と中風の日）</vt:lpstr>
      <vt:lpstr>分析8：代表日（典型日）</vt:lpstr>
      <vt:lpstr>独立検証：エアネット分析との比較</vt:lpstr>
      <vt:lpstr>まとめ：言えること／まだ言えないこと</vt:lpstr>
      <vt:lpstr>今後の分析と計測</vt:lpstr>
      <vt:lpstr>付録（分析6）：日射量と吸気温度差の日ごとの推移</vt:lpstr>
      <vt:lpstr>付録（分析6）：日射を遮る割合と吸気温度差の関係</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屋上芋緑化 2026年実測データ 分析結果</dc:title>
  <dc:subject>PptxGenJS Presentation</dc:subject>
  <dc:creator>PptxGenJS</dc:creator>
  <cp:lastModifiedBy>S232741020</cp:lastModifiedBy>
  <cp:revision>5</cp:revision>
  <dcterms:created xsi:type="dcterms:W3CDTF">2026-10-04T06:23:02Z</dcterms:created>
  <dcterms:modified xsi:type="dcterms:W3CDTF">2026-10-04T15:34:15Z</dcterms:modified>
</cp:coreProperties>
</file>