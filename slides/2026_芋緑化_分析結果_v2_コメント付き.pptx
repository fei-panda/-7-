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0.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Slides/notesSlide10.xml" ContentType="application/vnd.openxmlformats-officedocument.presentationml.notesSlide+xml"/>
  <Override PartName="/ppt/charts/chart6.xml" ContentType="application/vnd.openxmlformats-officedocument.drawingml.chart+xml"/>
  <Override PartName="/ppt/notesSlides/notesSlide11.xml" ContentType="application/vnd.openxmlformats-officedocument.presentationml.notesSlide+xml"/>
  <Override PartName="/ppt/comments/modernComment_10A_0.xml" ContentType="application/vnd.ms-powerpoint.comments+xml"/>
  <Override PartName="/ppt/charts/chart7.xml" ContentType="application/vnd.openxmlformats-officedocument.drawingml.chart+xml"/>
  <Override PartName="/ppt/charts/chart8.xml" ContentType="application/vnd.openxmlformats-officedocument.drawingml.chart+xml"/>
  <Override PartName="/ppt/notesSlides/notesSlide12.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notesSlides/notesSlide13.xml" ContentType="application/vnd.openxmlformats-officedocument.presentationml.notesSlide+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notesSlides/notesSlide14.xml" ContentType="application/vnd.openxmlformats-officedocument.presentationml.notesSlide+xml"/>
  <Override PartName="/ppt/charts/chart21.xml" ContentType="application/vnd.openxmlformats-officedocument.drawingml.chart+xml"/>
  <Override PartName="/ppt/charts/chart22.xml" ContentType="application/vnd.openxmlformats-officedocument.drawingml.chart+xml"/>
  <Override PartName="/ppt/notesSlides/notesSlide15.xml" ContentType="application/vnd.openxmlformats-officedocument.presentationml.notesSlide+xml"/>
  <Override PartName="/ppt/comments/modernComment_10E_0.xml" ContentType="application/vnd.ms-powerpoint.comments+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notesSlides/notesSlide16.xml" ContentType="application/vnd.openxmlformats-officedocument.presentationml.notesSlide+xml"/>
  <Override PartName="/ppt/comments/modernComment_10F_0.xml" ContentType="application/vnd.ms-powerpoint.comments+xml"/>
  <Override PartName="/ppt/charts/chart26.xml" ContentType="application/vnd.openxmlformats-officedocument.drawingml.chart+xml"/>
  <Override PartName="/ppt/charts/chart27.xml" ContentType="application/vnd.openxmlformats-officedocument.drawingml.chart+xml"/>
  <Override PartName="/ppt/notesSlides/notesSlide17.xml" ContentType="application/vnd.openxmlformats-officedocument.presentationml.notesSlide+xml"/>
  <Override PartName="/ppt/charts/chart28.xml" ContentType="application/vnd.openxmlformats-officedocument.drawingml.chart+xml"/>
  <Override PartName="/ppt/charts/chart29.xml" ContentType="application/vnd.openxmlformats-officedocument.drawingml.chart+xml"/>
  <Override PartName="/ppt/notesSlides/notesSlide18.xml" ContentType="application/vnd.openxmlformats-officedocument.presentationml.notesSlide+xml"/>
  <Override PartName="/ppt/comments/modernComment_111_0.xml" ContentType="application/vnd.ms-powerpoint.comments+xml"/>
  <Override PartName="/ppt/charts/chart30.xml" ContentType="application/vnd.openxmlformats-officedocument.drawingml.chart+xml"/>
  <Override PartName="/ppt/notesSlides/notesSlide19.xml" ContentType="application/vnd.openxmlformats-officedocument.presentationml.notesSlide+xml"/>
  <Override PartName="/ppt/comments/modernComment_112_0.xml" ContentType="application/vnd.ms-powerpoint.comments+xml"/>
  <Override PartName="/ppt/charts/chart31.xml" ContentType="application/vnd.openxmlformats-officedocument.drawingml.chart+xml"/>
  <Override PartName="/ppt/charts/chart32.xml" ContentType="application/vnd.openxmlformats-officedocument.drawingml.chart+xml"/>
  <Override PartName="/ppt/notesSlides/notesSlide20.xml" ContentType="application/vnd.openxmlformats-officedocument.presentationml.notesSlide+xml"/>
  <Override PartName="/ppt/charts/chart33.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notesSlides/notesSlide23.xml" ContentType="application/vnd.openxmlformats-officedocument.presentationml.notesSlide+xml"/>
  <Override PartName="/ppt/comments/modernComment_116_0.xml" ContentType="application/vnd.ms-powerpoint.comments+xml"/>
  <Override PartName="/ppt/charts/chart38.xml" ContentType="application/vnd.openxmlformats-officedocument.drawingml.chart+xml"/>
  <Override PartName="/ppt/charts/chart39.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notesSlides/notesSlide24.xml" ContentType="application/vnd.openxmlformats-officedocument.presentationml.notesSlide+xml"/>
  <Override PartName="/ppt/charts/chart42.xml" ContentType="application/vnd.openxmlformats-officedocument.drawingml.chart+xml"/>
  <Override PartName="/ppt/charts/chart43.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44.xml" ContentType="application/vnd.openxmlformats-officedocument.drawingml.chart+xml"/>
  <Override PartName="/ppt/charts/chart45.xml" ContentType="application/vnd.openxmlformats-officedocument.drawingml.char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85FE2FF-9899-62DA-30A3-A58E7F9AFF31}" name="S232741020" initials="S" userId="S::S232741020@o365.waseda.jp::6d3ba0e0-ef30-4e95-b5b6-b12fbf7e443c"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651"/>
    <p:restoredTop sz="96266"/>
  </p:normalViewPr>
  <p:slideViewPr>
    <p:cSldViewPr snapToGrid="0" snapToObjects="1">
      <p:cViewPr>
        <p:scale>
          <a:sx n="154" d="100"/>
          <a:sy n="154" d="100"/>
        </p:scale>
        <p:origin x="144" y="41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8/10/relationships/authors" Target="author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___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___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___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______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______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______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______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______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______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______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______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______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______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______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______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______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______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______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______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______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______21.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______22.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______23.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______24.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______25.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______26.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______27.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______28.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______29.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______30.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______31.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______32.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______33.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______34.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______35.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______36.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______37.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______38.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______39.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______40.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______41.xlsx"/></Relationships>
</file>

<file path=ppt/charts/_rels/chart43.xml.rels><?xml version="1.0" encoding="UTF-8" standalone="yes"?>
<Relationships xmlns="http://schemas.openxmlformats.org/package/2006/relationships"><Relationship Id="rId1" Type="http://schemas.openxmlformats.org/officeDocument/2006/relationships/package" Target="../embeddings/Microsoft_Excel_______42.xlsx"/></Relationships>
</file>

<file path=ppt/charts/_rels/chart44.xml.rels><?xml version="1.0" encoding="UTF-8" standalone="yes"?>
<Relationships xmlns="http://schemas.openxmlformats.org/package/2006/relationships"><Relationship Id="rId1" Type="http://schemas.openxmlformats.org/officeDocument/2006/relationships/package" Target="../embeddings/Microsoft_Excel_______43.xlsx"/></Relationships>
</file>

<file path=ppt/charts/_rels/chart45.xml.rels><?xml version="1.0" encoding="UTF-8" standalone="yes"?>
<Relationships xmlns="http://schemas.openxmlformats.org/package/2006/relationships"><Relationship Id="rId1" Type="http://schemas.openxmlformats.org/officeDocument/2006/relationships/package" Target="../embeddings/Microsoft_Excel_______4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lineChart>
        <c:grouping val="standard"/>
        <c:varyColors val="0"/>
        <c:ser>
          <c:idx val="0"/>
          <c:order val="0"/>
          <c:tx>
            <c:strRef>
              <c:f>'図01_熱電対の偏差'!$B$1</c:f>
              <c:strCache>
                <c:ptCount val="1"/>
                <c:pt idx="0">
                  <c:v>列3</c:v>
                </c:pt>
              </c:strCache>
            </c:strRef>
          </c:tx>
          <c:spPr>
            <a:ln>
              <a:noFill/>
            </a:ln>
          </c:spPr>
          <c:marker>
            <c:symbol val="circle"/>
            <c:size val="5"/>
            <c:spPr>
              <a:solidFill>
                <a:srgbClr val="5E6B7A"/>
              </a:solidFill>
              <a:ln w="9525" cap="rnd">
                <a:solidFill>
                  <a:srgbClr val="5E6B7A"/>
                </a:solidFill>
                <a:round/>
              </a:ln>
            </c:spPr>
          </c:marker>
          <c:errBars>
            <c:errDir val="y"/>
            <c:errBarType val="both"/>
            <c:errValType val="cust"/>
            <c:noEndCap val="0"/>
            <c:plus>
              <c:numRef>
                <c:f>'図01_熱電対の偏差'!$H$2:$H$28</c:f>
                <c:numCache>
                  <c:formatCode>General</c:formatCode>
                  <c:ptCount val="27"/>
                  <c:pt idx="0">
                    <c:v>0.17299999999999999</c:v>
                  </c:pt>
                  <c:pt idx="1">
                    <c:v>0.47</c:v>
                  </c:pt>
                  <c:pt idx="2">
                    <c:v>0.30199999999999999</c:v>
                  </c:pt>
                  <c:pt idx="3">
                    <c:v>0.216</c:v>
                  </c:pt>
                  <c:pt idx="4">
                    <c:v>0.219</c:v>
                  </c:pt>
                  <c:pt idx="5">
                    <c:v>0.215</c:v>
                  </c:pt>
                  <c:pt idx="6">
                    <c:v>0.26400000000000001</c:v>
                  </c:pt>
                  <c:pt idx="7">
                    <c:v>0.16800000000000001</c:v>
                  </c:pt>
                  <c:pt idx="8">
                    <c:v>0.438</c:v>
                  </c:pt>
                  <c:pt idx="9">
                    <c:v>0.34</c:v>
                  </c:pt>
                  <c:pt idx="10">
                    <c:v>0.17799999999999999</c:v>
                  </c:pt>
                  <c:pt idx="11">
                    <c:v>0.16400000000000001</c:v>
                  </c:pt>
                  <c:pt idx="12">
                    <c:v>0.159</c:v>
                  </c:pt>
                  <c:pt idx="13">
                    <c:v>6.7000000000000004E-2</c:v>
                  </c:pt>
                  <c:pt idx="14">
                    <c:v>8.1000000000000003E-2</c:v>
                  </c:pt>
                  <c:pt idx="15">
                    <c:v>9.4E-2</c:v>
                  </c:pt>
                  <c:pt idx="16">
                    <c:v>0.10100000000000001</c:v>
                  </c:pt>
                  <c:pt idx="17">
                    <c:v>0.16900000000000001</c:v>
                  </c:pt>
                  <c:pt idx="18">
                    <c:v>0.113</c:v>
                  </c:pt>
                  <c:pt idx="19">
                    <c:v>0.34200000000000003</c:v>
                  </c:pt>
                  <c:pt idx="20">
                    <c:v>0.28499999999999998</c:v>
                  </c:pt>
                  <c:pt idx="21">
                    <c:v>0.13500000000000001</c:v>
                  </c:pt>
                  <c:pt idx="22">
                    <c:v>0.14899999999999999</c:v>
                  </c:pt>
                  <c:pt idx="23">
                    <c:v>0.17</c:v>
                  </c:pt>
                  <c:pt idx="24">
                    <c:v>9.5000000000000001E-2</c:v>
                  </c:pt>
                  <c:pt idx="25">
                    <c:v>0.182</c:v>
                  </c:pt>
                  <c:pt idx="26">
                    <c:v>0.255</c:v>
                  </c:pt>
                </c:numCache>
              </c:numRef>
            </c:plus>
            <c:minus>
              <c:numRef>
                <c:f>'図01_熱電対の偏差'!$G$2:$G$28</c:f>
                <c:numCache>
                  <c:formatCode>General</c:formatCode>
                  <c:ptCount val="27"/>
                  <c:pt idx="0">
                    <c:v>0.17599999999999999</c:v>
                  </c:pt>
                  <c:pt idx="1">
                    <c:v>0.38100000000000001</c:v>
                  </c:pt>
                  <c:pt idx="2">
                    <c:v>0.38200000000000001</c:v>
                  </c:pt>
                  <c:pt idx="3">
                    <c:v>0.217</c:v>
                  </c:pt>
                  <c:pt idx="4">
                    <c:v>0.188</c:v>
                  </c:pt>
                  <c:pt idx="5">
                    <c:v>0.17</c:v>
                  </c:pt>
                  <c:pt idx="6">
                    <c:v>0.311</c:v>
                  </c:pt>
                  <c:pt idx="7">
                    <c:v>0.22800000000000001</c:v>
                  </c:pt>
                  <c:pt idx="8">
                    <c:v>0.40200000000000002</c:v>
                  </c:pt>
                  <c:pt idx="9">
                    <c:v>0.51900000000000002</c:v>
                  </c:pt>
                  <c:pt idx="10">
                    <c:v>0.13600000000000001</c:v>
                  </c:pt>
                  <c:pt idx="11">
                    <c:v>0.14899999999999999</c:v>
                  </c:pt>
                  <c:pt idx="12">
                    <c:v>0.45</c:v>
                  </c:pt>
                  <c:pt idx="13">
                    <c:v>0.20899999999999999</c:v>
                  </c:pt>
                  <c:pt idx="14">
                    <c:v>0.28699999999999998</c:v>
                  </c:pt>
                  <c:pt idx="15">
                    <c:v>8.7999999999999995E-2</c:v>
                  </c:pt>
                  <c:pt idx="16">
                    <c:v>0.11799999999999999</c:v>
                  </c:pt>
                  <c:pt idx="17">
                    <c:v>0.223</c:v>
                  </c:pt>
                  <c:pt idx="18">
                    <c:v>0.25</c:v>
                  </c:pt>
                  <c:pt idx="19">
                    <c:v>0.51700000000000002</c:v>
                  </c:pt>
                  <c:pt idx="20">
                    <c:v>0.48599999999999999</c:v>
                  </c:pt>
                  <c:pt idx="21">
                    <c:v>0.183</c:v>
                  </c:pt>
                  <c:pt idx="22">
                    <c:v>0.26300000000000001</c:v>
                  </c:pt>
                  <c:pt idx="23">
                    <c:v>0.374</c:v>
                  </c:pt>
                  <c:pt idx="24">
                    <c:v>8.5000000000000006E-2</c:v>
                  </c:pt>
                  <c:pt idx="25">
                    <c:v>0.32800000000000001</c:v>
                  </c:pt>
                  <c:pt idx="26">
                    <c:v>0.21199999999999999</c:v>
                  </c:pt>
                </c:numCache>
              </c:numRef>
            </c:minus>
            <c:spPr>
              <a:ln w="15875" cap="rnd">
                <a:solidFill>
                  <a:srgbClr val="5E6B7A"/>
                </a:solidFill>
                <a:round/>
              </a:ln>
            </c:spPr>
          </c:errBars>
          <c:cat>
            <c:strRef>
              <c:f>'図01_熱電対の偏差'!$A$2:$A$28</c:f>
              <c:strCache>
                <c:ptCount val="27"/>
                <c:pt idx="0">
                  <c:v>3-1正</c:v>
                </c:pt>
                <c:pt idx="1">
                  <c:v>3-1北</c:v>
                </c:pt>
                <c:pt idx="2">
                  <c:v>3-1南</c:v>
                </c:pt>
                <c:pt idx="3">
                  <c:v>3-2正</c:v>
                </c:pt>
                <c:pt idx="4">
                  <c:v>3-2北</c:v>
                </c:pt>
                <c:pt idx="5">
                  <c:v>3-2南</c:v>
                </c:pt>
                <c:pt idx="6">
                  <c:v>3-3正</c:v>
                </c:pt>
                <c:pt idx="7">
                  <c:v>3-3北</c:v>
                </c:pt>
                <c:pt idx="8">
                  <c:v>3-3南</c:v>
                </c:pt>
                <c:pt idx="9">
                  <c:v>8-1正</c:v>
                </c:pt>
                <c:pt idx="10">
                  <c:v>8-1北</c:v>
                </c:pt>
                <c:pt idx="11">
                  <c:v>8-1南</c:v>
                </c:pt>
                <c:pt idx="12">
                  <c:v>8-2正</c:v>
                </c:pt>
                <c:pt idx="13">
                  <c:v>8-2北</c:v>
                </c:pt>
                <c:pt idx="14">
                  <c:v>8-2南</c:v>
                </c:pt>
                <c:pt idx="15">
                  <c:v>8-3正</c:v>
                </c:pt>
                <c:pt idx="16">
                  <c:v>8-3北</c:v>
                </c:pt>
                <c:pt idx="17">
                  <c:v>8-3南</c:v>
                </c:pt>
                <c:pt idx="18">
                  <c:v>11-1正</c:v>
                </c:pt>
                <c:pt idx="19">
                  <c:v>11-1北</c:v>
                </c:pt>
                <c:pt idx="20">
                  <c:v>11-1南</c:v>
                </c:pt>
                <c:pt idx="21">
                  <c:v>11-2正</c:v>
                </c:pt>
                <c:pt idx="22">
                  <c:v>11-2北</c:v>
                </c:pt>
                <c:pt idx="23">
                  <c:v>11-2南</c:v>
                </c:pt>
                <c:pt idx="24">
                  <c:v>11-3正</c:v>
                </c:pt>
                <c:pt idx="25">
                  <c:v>11-3北</c:v>
                </c:pt>
                <c:pt idx="26">
                  <c:v>11-3南</c:v>
                </c:pt>
              </c:strCache>
            </c:strRef>
          </c:cat>
          <c:val>
            <c:numRef>
              <c:f>'図01_熱電対の偏差'!$B$2:$B$28</c:f>
              <c:numCache>
                <c:formatCode>General</c:formatCode>
                <c:ptCount val="27"/>
                <c:pt idx="0">
                  <c:v>0.221</c:v>
                </c:pt>
                <c:pt idx="1">
                  <c:v>0.28799999999999998</c:v>
                </c:pt>
                <c:pt idx="2">
                  <c:v>9.2999999999999999E-2</c:v>
                </c:pt>
                <c:pt idx="3">
                  <c:v>0.22</c:v>
                </c:pt>
                <c:pt idx="4">
                  <c:v>0.20399999999999999</c:v>
                </c:pt>
                <c:pt idx="5">
                  <c:v>0.16700000000000001</c:v>
                </c:pt>
                <c:pt idx="6">
                  <c:v>0.124</c:v>
                </c:pt>
                <c:pt idx="7">
                  <c:v>0.24399999999999999</c:v>
                </c:pt>
                <c:pt idx="8">
                  <c:v>1.2999999999999999E-2</c:v>
                </c:pt>
              </c:numCache>
            </c:numRef>
          </c:val>
          <c:smooth val="0"/>
          <c:extLst>
            <c:ext xmlns:c16="http://schemas.microsoft.com/office/drawing/2014/chart" uri="{C3380CC4-5D6E-409C-BE32-E72D297353CC}">
              <c16:uniqueId val="{00000000-1796-664F-85FA-D11A2FF80CB9}"/>
            </c:ext>
          </c:extLst>
        </c:ser>
        <c:ser>
          <c:idx val="1"/>
          <c:order val="1"/>
          <c:tx>
            <c:strRef>
              <c:f>'図01_熱電対の偏差'!$C$1</c:f>
              <c:strCache>
                <c:ptCount val="1"/>
                <c:pt idx="0">
                  <c:v>列8</c:v>
                </c:pt>
              </c:strCache>
            </c:strRef>
          </c:tx>
          <c:spPr>
            <a:ln>
              <a:noFill/>
            </a:ln>
          </c:spPr>
          <c:marker>
            <c:symbol val="circle"/>
            <c:size val="5"/>
            <c:spPr>
              <a:solidFill>
                <a:srgbClr val="01B8AA"/>
              </a:solidFill>
              <a:ln w="9525" cap="rnd">
                <a:solidFill>
                  <a:srgbClr val="01B8AA"/>
                </a:solidFill>
                <a:round/>
              </a:ln>
            </c:spPr>
          </c:marker>
          <c:errBars>
            <c:errDir val="y"/>
            <c:errBarType val="both"/>
            <c:errValType val="cust"/>
            <c:noEndCap val="0"/>
            <c:plus>
              <c:numRef>
                <c:f>'図01_熱電対の偏差'!$H$2:$H$28</c:f>
                <c:numCache>
                  <c:formatCode>General</c:formatCode>
                  <c:ptCount val="27"/>
                  <c:pt idx="0">
                    <c:v>0.17299999999999999</c:v>
                  </c:pt>
                  <c:pt idx="1">
                    <c:v>0.47</c:v>
                  </c:pt>
                  <c:pt idx="2">
                    <c:v>0.30199999999999999</c:v>
                  </c:pt>
                  <c:pt idx="3">
                    <c:v>0.216</c:v>
                  </c:pt>
                  <c:pt idx="4">
                    <c:v>0.219</c:v>
                  </c:pt>
                  <c:pt idx="5">
                    <c:v>0.215</c:v>
                  </c:pt>
                  <c:pt idx="6">
                    <c:v>0.26400000000000001</c:v>
                  </c:pt>
                  <c:pt idx="7">
                    <c:v>0.16800000000000001</c:v>
                  </c:pt>
                  <c:pt idx="8">
                    <c:v>0.438</c:v>
                  </c:pt>
                  <c:pt idx="9">
                    <c:v>0.34</c:v>
                  </c:pt>
                  <c:pt idx="10">
                    <c:v>0.17799999999999999</c:v>
                  </c:pt>
                  <c:pt idx="11">
                    <c:v>0.16400000000000001</c:v>
                  </c:pt>
                  <c:pt idx="12">
                    <c:v>0.159</c:v>
                  </c:pt>
                  <c:pt idx="13">
                    <c:v>6.7000000000000004E-2</c:v>
                  </c:pt>
                  <c:pt idx="14">
                    <c:v>8.1000000000000003E-2</c:v>
                  </c:pt>
                  <c:pt idx="15">
                    <c:v>9.4E-2</c:v>
                  </c:pt>
                  <c:pt idx="16">
                    <c:v>0.10100000000000001</c:v>
                  </c:pt>
                  <c:pt idx="17">
                    <c:v>0.16900000000000001</c:v>
                  </c:pt>
                  <c:pt idx="18">
                    <c:v>0.113</c:v>
                  </c:pt>
                  <c:pt idx="19">
                    <c:v>0.34200000000000003</c:v>
                  </c:pt>
                  <c:pt idx="20">
                    <c:v>0.28499999999999998</c:v>
                  </c:pt>
                  <c:pt idx="21">
                    <c:v>0.13500000000000001</c:v>
                  </c:pt>
                  <c:pt idx="22">
                    <c:v>0.14899999999999999</c:v>
                  </c:pt>
                  <c:pt idx="23">
                    <c:v>0.17</c:v>
                  </c:pt>
                  <c:pt idx="24">
                    <c:v>9.5000000000000001E-2</c:v>
                  </c:pt>
                  <c:pt idx="25">
                    <c:v>0.182</c:v>
                  </c:pt>
                  <c:pt idx="26">
                    <c:v>0.255</c:v>
                  </c:pt>
                </c:numCache>
              </c:numRef>
            </c:plus>
            <c:minus>
              <c:numRef>
                <c:f>'図01_熱電対の偏差'!$G$2:$G$28</c:f>
                <c:numCache>
                  <c:formatCode>General</c:formatCode>
                  <c:ptCount val="27"/>
                  <c:pt idx="0">
                    <c:v>0.17599999999999999</c:v>
                  </c:pt>
                  <c:pt idx="1">
                    <c:v>0.38100000000000001</c:v>
                  </c:pt>
                  <c:pt idx="2">
                    <c:v>0.38200000000000001</c:v>
                  </c:pt>
                  <c:pt idx="3">
                    <c:v>0.217</c:v>
                  </c:pt>
                  <c:pt idx="4">
                    <c:v>0.188</c:v>
                  </c:pt>
                  <c:pt idx="5">
                    <c:v>0.17</c:v>
                  </c:pt>
                  <c:pt idx="6">
                    <c:v>0.311</c:v>
                  </c:pt>
                  <c:pt idx="7">
                    <c:v>0.22800000000000001</c:v>
                  </c:pt>
                  <c:pt idx="8">
                    <c:v>0.40200000000000002</c:v>
                  </c:pt>
                  <c:pt idx="9">
                    <c:v>0.51900000000000002</c:v>
                  </c:pt>
                  <c:pt idx="10">
                    <c:v>0.13600000000000001</c:v>
                  </c:pt>
                  <c:pt idx="11">
                    <c:v>0.14899999999999999</c:v>
                  </c:pt>
                  <c:pt idx="12">
                    <c:v>0.45</c:v>
                  </c:pt>
                  <c:pt idx="13">
                    <c:v>0.20899999999999999</c:v>
                  </c:pt>
                  <c:pt idx="14">
                    <c:v>0.28699999999999998</c:v>
                  </c:pt>
                  <c:pt idx="15">
                    <c:v>8.7999999999999995E-2</c:v>
                  </c:pt>
                  <c:pt idx="16">
                    <c:v>0.11799999999999999</c:v>
                  </c:pt>
                  <c:pt idx="17">
                    <c:v>0.223</c:v>
                  </c:pt>
                  <c:pt idx="18">
                    <c:v>0.25</c:v>
                  </c:pt>
                  <c:pt idx="19">
                    <c:v>0.51700000000000002</c:v>
                  </c:pt>
                  <c:pt idx="20">
                    <c:v>0.48599999999999999</c:v>
                  </c:pt>
                  <c:pt idx="21">
                    <c:v>0.183</c:v>
                  </c:pt>
                  <c:pt idx="22">
                    <c:v>0.26300000000000001</c:v>
                  </c:pt>
                  <c:pt idx="23">
                    <c:v>0.374</c:v>
                  </c:pt>
                  <c:pt idx="24">
                    <c:v>8.5000000000000006E-2</c:v>
                  </c:pt>
                  <c:pt idx="25">
                    <c:v>0.32800000000000001</c:v>
                  </c:pt>
                  <c:pt idx="26">
                    <c:v>0.21199999999999999</c:v>
                  </c:pt>
                </c:numCache>
              </c:numRef>
            </c:minus>
            <c:spPr>
              <a:ln w="15875" cap="rnd">
                <a:solidFill>
                  <a:srgbClr val="01B8AA"/>
                </a:solidFill>
                <a:round/>
              </a:ln>
            </c:spPr>
          </c:errBars>
          <c:cat>
            <c:strRef>
              <c:f>'図01_熱電対の偏差'!$A$2:$A$28</c:f>
              <c:strCache>
                <c:ptCount val="27"/>
                <c:pt idx="0">
                  <c:v>3-1正</c:v>
                </c:pt>
                <c:pt idx="1">
                  <c:v>3-1北</c:v>
                </c:pt>
                <c:pt idx="2">
                  <c:v>3-1南</c:v>
                </c:pt>
                <c:pt idx="3">
                  <c:v>3-2正</c:v>
                </c:pt>
                <c:pt idx="4">
                  <c:v>3-2北</c:v>
                </c:pt>
                <c:pt idx="5">
                  <c:v>3-2南</c:v>
                </c:pt>
                <c:pt idx="6">
                  <c:v>3-3正</c:v>
                </c:pt>
                <c:pt idx="7">
                  <c:v>3-3北</c:v>
                </c:pt>
                <c:pt idx="8">
                  <c:v>3-3南</c:v>
                </c:pt>
                <c:pt idx="9">
                  <c:v>8-1正</c:v>
                </c:pt>
                <c:pt idx="10">
                  <c:v>8-1北</c:v>
                </c:pt>
                <c:pt idx="11">
                  <c:v>8-1南</c:v>
                </c:pt>
                <c:pt idx="12">
                  <c:v>8-2正</c:v>
                </c:pt>
                <c:pt idx="13">
                  <c:v>8-2北</c:v>
                </c:pt>
                <c:pt idx="14">
                  <c:v>8-2南</c:v>
                </c:pt>
                <c:pt idx="15">
                  <c:v>8-3正</c:v>
                </c:pt>
                <c:pt idx="16">
                  <c:v>8-3北</c:v>
                </c:pt>
                <c:pt idx="17">
                  <c:v>8-3南</c:v>
                </c:pt>
                <c:pt idx="18">
                  <c:v>11-1正</c:v>
                </c:pt>
                <c:pt idx="19">
                  <c:v>11-1北</c:v>
                </c:pt>
                <c:pt idx="20">
                  <c:v>11-1南</c:v>
                </c:pt>
                <c:pt idx="21">
                  <c:v>11-2正</c:v>
                </c:pt>
                <c:pt idx="22">
                  <c:v>11-2北</c:v>
                </c:pt>
                <c:pt idx="23">
                  <c:v>11-2南</c:v>
                </c:pt>
                <c:pt idx="24">
                  <c:v>11-3正</c:v>
                </c:pt>
                <c:pt idx="25">
                  <c:v>11-3北</c:v>
                </c:pt>
                <c:pt idx="26">
                  <c:v>11-3南</c:v>
                </c:pt>
              </c:strCache>
            </c:strRef>
          </c:cat>
          <c:val>
            <c:numRef>
              <c:f>'図01_熱電対の偏差'!$C$2:$C$28</c:f>
              <c:numCache>
                <c:formatCode>General</c:formatCode>
                <c:ptCount val="27"/>
                <c:pt idx="9">
                  <c:v>7.1999999999999995E-2</c:v>
                </c:pt>
                <c:pt idx="10">
                  <c:v>-1.0999999999999999E-2</c:v>
                </c:pt>
                <c:pt idx="11">
                  <c:v>3.2000000000000001E-2</c:v>
                </c:pt>
                <c:pt idx="12">
                  <c:v>-9.5000000000000001E-2</c:v>
                </c:pt>
                <c:pt idx="13">
                  <c:v>-6.7000000000000004E-2</c:v>
                </c:pt>
                <c:pt idx="14">
                  <c:v>-7.4999999999999997E-2</c:v>
                </c:pt>
                <c:pt idx="15">
                  <c:v>-4.7E-2</c:v>
                </c:pt>
                <c:pt idx="16">
                  <c:v>-0.122</c:v>
                </c:pt>
                <c:pt idx="17">
                  <c:v>-0.13</c:v>
                </c:pt>
              </c:numCache>
            </c:numRef>
          </c:val>
          <c:smooth val="0"/>
          <c:extLst>
            <c:ext xmlns:c16="http://schemas.microsoft.com/office/drawing/2014/chart" uri="{C3380CC4-5D6E-409C-BE32-E72D297353CC}">
              <c16:uniqueId val="{00000001-1796-664F-85FA-D11A2FF80CB9}"/>
            </c:ext>
          </c:extLst>
        </c:ser>
        <c:ser>
          <c:idx val="2"/>
          <c:order val="2"/>
          <c:tx>
            <c:strRef>
              <c:f>'図01_熱電対の偏差'!$D$1</c:f>
              <c:strCache>
                <c:ptCount val="1"/>
                <c:pt idx="0">
                  <c:v>列11</c:v>
                </c:pt>
              </c:strCache>
            </c:strRef>
          </c:tx>
          <c:spPr>
            <a:ln>
              <a:noFill/>
            </a:ln>
          </c:spPr>
          <c:marker>
            <c:symbol val="circle"/>
            <c:size val="5"/>
            <c:spPr>
              <a:solidFill>
                <a:srgbClr val="118DFF"/>
              </a:solidFill>
              <a:ln w="9525" cap="rnd">
                <a:solidFill>
                  <a:srgbClr val="118DFF"/>
                </a:solidFill>
                <a:round/>
              </a:ln>
            </c:spPr>
          </c:marker>
          <c:errBars>
            <c:errDir val="y"/>
            <c:errBarType val="both"/>
            <c:errValType val="cust"/>
            <c:noEndCap val="0"/>
            <c:plus>
              <c:numRef>
                <c:f>'図01_熱電対の偏差'!$H$2:$H$28</c:f>
                <c:numCache>
                  <c:formatCode>General</c:formatCode>
                  <c:ptCount val="27"/>
                  <c:pt idx="0">
                    <c:v>0.17299999999999999</c:v>
                  </c:pt>
                  <c:pt idx="1">
                    <c:v>0.47</c:v>
                  </c:pt>
                  <c:pt idx="2">
                    <c:v>0.30199999999999999</c:v>
                  </c:pt>
                  <c:pt idx="3">
                    <c:v>0.216</c:v>
                  </c:pt>
                  <c:pt idx="4">
                    <c:v>0.219</c:v>
                  </c:pt>
                  <c:pt idx="5">
                    <c:v>0.215</c:v>
                  </c:pt>
                  <c:pt idx="6">
                    <c:v>0.26400000000000001</c:v>
                  </c:pt>
                  <c:pt idx="7">
                    <c:v>0.16800000000000001</c:v>
                  </c:pt>
                  <c:pt idx="8">
                    <c:v>0.438</c:v>
                  </c:pt>
                  <c:pt idx="9">
                    <c:v>0.34</c:v>
                  </c:pt>
                  <c:pt idx="10">
                    <c:v>0.17799999999999999</c:v>
                  </c:pt>
                  <c:pt idx="11">
                    <c:v>0.16400000000000001</c:v>
                  </c:pt>
                  <c:pt idx="12">
                    <c:v>0.159</c:v>
                  </c:pt>
                  <c:pt idx="13">
                    <c:v>6.7000000000000004E-2</c:v>
                  </c:pt>
                  <c:pt idx="14">
                    <c:v>8.1000000000000003E-2</c:v>
                  </c:pt>
                  <c:pt idx="15">
                    <c:v>9.4E-2</c:v>
                  </c:pt>
                  <c:pt idx="16">
                    <c:v>0.10100000000000001</c:v>
                  </c:pt>
                  <c:pt idx="17">
                    <c:v>0.16900000000000001</c:v>
                  </c:pt>
                  <c:pt idx="18">
                    <c:v>0.113</c:v>
                  </c:pt>
                  <c:pt idx="19">
                    <c:v>0.34200000000000003</c:v>
                  </c:pt>
                  <c:pt idx="20">
                    <c:v>0.28499999999999998</c:v>
                  </c:pt>
                  <c:pt idx="21">
                    <c:v>0.13500000000000001</c:v>
                  </c:pt>
                  <c:pt idx="22">
                    <c:v>0.14899999999999999</c:v>
                  </c:pt>
                  <c:pt idx="23">
                    <c:v>0.17</c:v>
                  </c:pt>
                  <c:pt idx="24">
                    <c:v>9.5000000000000001E-2</c:v>
                  </c:pt>
                  <c:pt idx="25">
                    <c:v>0.182</c:v>
                  </c:pt>
                  <c:pt idx="26">
                    <c:v>0.255</c:v>
                  </c:pt>
                </c:numCache>
              </c:numRef>
            </c:plus>
            <c:minus>
              <c:numRef>
                <c:f>'図01_熱電対の偏差'!$G$2:$G$28</c:f>
                <c:numCache>
                  <c:formatCode>General</c:formatCode>
                  <c:ptCount val="27"/>
                  <c:pt idx="0">
                    <c:v>0.17599999999999999</c:v>
                  </c:pt>
                  <c:pt idx="1">
                    <c:v>0.38100000000000001</c:v>
                  </c:pt>
                  <c:pt idx="2">
                    <c:v>0.38200000000000001</c:v>
                  </c:pt>
                  <c:pt idx="3">
                    <c:v>0.217</c:v>
                  </c:pt>
                  <c:pt idx="4">
                    <c:v>0.188</c:v>
                  </c:pt>
                  <c:pt idx="5">
                    <c:v>0.17</c:v>
                  </c:pt>
                  <c:pt idx="6">
                    <c:v>0.311</c:v>
                  </c:pt>
                  <c:pt idx="7">
                    <c:v>0.22800000000000001</c:v>
                  </c:pt>
                  <c:pt idx="8">
                    <c:v>0.40200000000000002</c:v>
                  </c:pt>
                  <c:pt idx="9">
                    <c:v>0.51900000000000002</c:v>
                  </c:pt>
                  <c:pt idx="10">
                    <c:v>0.13600000000000001</c:v>
                  </c:pt>
                  <c:pt idx="11">
                    <c:v>0.14899999999999999</c:v>
                  </c:pt>
                  <c:pt idx="12">
                    <c:v>0.45</c:v>
                  </c:pt>
                  <c:pt idx="13">
                    <c:v>0.20899999999999999</c:v>
                  </c:pt>
                  <c:pt idx="14">
                    <c:v>0.28699999999999998</c:v>
                  </c:pt>
                  <c:pt idx="15">
                    <c:v>8.7999999999999995E-2</c:v>
                  </c:pt>
                  <c:pt idx="16">
                    <c:v>0.11799999999999999</c:v>
                  </c:pt>
                  <c:pt idx="17">
                    <c:v>0.223</c:v>
                  </c:pt>
                  <c:pt idx="18">
                    <c:v>0.25</c:v>
                  </c:pt>
                  <c:pt idx="19">
                    <c:v>0.51700000000000002</c:v>
                  </c:pt>
                  <c:pt idx="20">
                    <c:v>0.48599999999999999</c:v>
                  </c:pt>
                  <c:pt idx="21">
                    <c:v>0.183</c:v>
                  </c:pt>
                  <c:pt idx="22">
                    <c:v>0.26300000000000001</c:v>
                  </c:pt>
                  <c:pt idx="23">
                    <c:v>0.374</c:v>
                  </c:pt>
                  <c:pt idx="24">
                    <c:v>8.5000000000000006E-2</c:v>
                  </c:pt>
                  <c:pt idx="25">
                    <c:v>0.32800000000000001</c:v>
                  </c:pt>
                  <c:pt idx="26">
                    <c:v>0.21199999999999999</c:v>
                  </c:pt>
                </c:numCache>
              </c:numRef>
            </c:minus>
            <c:spPr>
              <a:ln w="15875" cap="rnd">
                <a:solidFill>
                  <a:srgbClr val="118DFF"/>
                </a:solidFill>
                <a:round/>
              </a:ln>
            </c:spPr>
          </c:errBars>
          <c:cat>
            <c:strRef>
              <c:f>'図01_熱電対の偏差'!$A$2:$A$28</c:f>
              <c:strCache>
                <c:ptCount val="27"/>
                <c:pt idx="0">
                  <c:v>3-1正</c:v>
                </c:pt>
                <c:pt idx="1">
                  <c:v>3-1北</c:v>
                </c:pt>
                <c:pt idx="2">
                  <c:v>3-1南</c:v>
                </c:pt>
                <c:pt idx="3">
                  <c:v>3-2正</c:v>
                </c:pt>
                <c:pt idx="4">
                  <c:v>3-2北</c:v>
                </c:pt>
                <c:pt idx="5">
                  <c:v>3-2南</c:v>
                </c:pt>
                <c:pt idx="6">
                  <c:v>3-3正</c:v>
                </c:pt>
                <c:pt idx="7">
                  <c:v>3-3北</c:v>
                </c:pt>
                <c:pt idx="8">
                  <c:v>3-3南</c:v>
                </c:pt>
                <c:pt idx="9">
                  <c:v>8-1正</c:v>
                </c:pt>
                <c:pt idx="10">
                  <c:v>8-1北</c:v>
                </c:pt>
                <c:pt idx="11">
                  <c:v>8-1南</c:v>
                </c:pt>
                <c:pt idx="12">
                  <c:v>8-2正</c:v>
                </c:pt>
                <c:pt idx="13">
                  <c:v>8-2北</c:v>
                </c:pt>
                <c:pt idx="14">
                  <c:v>8-2南</c:v>
                </c:pt>
                <c:pt idx="15">
                  <c:v>8-3正</c:v>
                </c:pt>
                <c:pt idx="16">
                  <c:v>8-3北</c:v>
                </c:pt>
                <c:pt idx="17">
                  <c:v>8-3南</c:v>
                </c:pt>
                <c:pt idx="18">
                  <c:v>11-1正</c:v>
                </c:pt>
                <c:pt idx="19">
                  <c:v>11-1北</c:v>
                </c:pt>
                <c:pt idx="20">
                  <c:v>11-1南</c:v>
                </c:pt>
                <c:pt idx="21">
                  <c:v>11-2正</c:v>
                </c:pt>
                <c:pt idx="22">
                  <c:v>11-2北</c:v>
                </c:pt>
                <c:pt idx="23">
                  <c:v>11-2南</c:v>
                </c:pt>
                <c:pt idx="24">
                  <c:v>11-3正</c:v>
                </c:pt>
                <c:pt idx="25">
                  <c:v>11-3北</c:v>
                </c:pt>
                <c:pt idx="26">
                  <c:v>11-3南</c:v>
                </c:pt>
              </c:strCache>
            </c:strRef>
          </c:cat>
          <c:val>
            <c:numRef>
              <c:f>'図01_熱電対の偏差'!$D$2:$D$28</c:f>
              <c:numCache>
                <c:formatCode>General</c:formatCode>
                <c:ptCount val="27"/>
                <c:pt idx="18">
                  <c:v>-0.06</c:v>
                </c:pt>
                <c:pt idx="19">
                  <c:v>-0.19</c:v>
                </c:pt>
                <c:pt idx="20">
                  <c:v>-0.21</c:v>
                </c:pt>
                <c:pt idx="21">
                  <c:v>6.0000000000000001E-3</c:v>
                </c:pt>
                <c:pt idx="22">
                  <c:v>-3.1E-2</c:v>
                </c:pt>
                <c:pt idx="23">
                  <c:v>-6.5000000000000002E-2</c:v>
                </c:pt>
                <c:pt idx="24">
                  <c:v>-6.0000000000000001E-3</c:v>
                </c:pt>
                <c:pt idx="25">
                  <c:v>-9.1999999999999998E-2</c:v>
                </c:pt>
                <c:pt idx="26">
                  <c:v>-0.03</c:v>
                </c:pt>
              </c:numCache>
            </c:numRef>
          </c:val>
          <c:smooth val="0"/>
          <c:extLst>
            <c:ext xmlns:c16="http://schemas.microsoft.com/office/drawing/2014/chart" uri="{C3380CC4-5D6E-409C-BE32-E72D297353CC}">
              <c16:uniqueId val="{00000002-1796-664F-85FA-D11A2FF80CB9}"/>
            </c:ext>
          </c:extLst>
        </c:ser>
        <c:ser>
          <c:idx val="3"/>
          <c:order val="3"/>
          <c:tx>
            <c:strRef>
              <c:f>'図01_熱電対の偏差'!$I$1</c:f>
              <c:strCache>
                <c:ptCount val="1"/>
                <c:pt idx="0">
                  <c:v>±0.3℃</c:v>
                </c:pt>
              </c:strCache>
            </c:strRef>
          </c:tx>
          <c:spPr>
            <a:ln w="12700" cap="rnd">
              <a:solidFill>
                <a:srgbClr val="9AA5B1"/>
              </a:solidFill>
              <a:prstDash val="dash"/>
              <a:round/>
            </a:ln>
          </c:spPr>
          <c:marker>
            <c:symbol val="none"/>
          </c:marker>
          <c:cat>
            <c:strRef>
              <c:f>'図01_熱電対の偏差'!$A$2:$A$28</c:f>
              <c:strCache>
                <c:ptCount val="27"/>
                <c:pt idx="0">
                  <c:v>3-1正</c:v>
                </c:pt>
                <c:pt idx="1">
                  <c:v>3-1北</c:v>
                </c:pt>
                <c:pt idx="2">
                  <c:v>3-1南</c:v>
                </c:pt>
                <c:pt idx="3">
                  <c:v>3-2正</c:v>
                </c:pt>
                <c:pt idx="4">
                  <c:v>3-2北</c:v>
                </c:pt>
                <c:pt idx="5">
                  <c:v>3-2南</c:v>
                </c:pt>
                <c:pt idx="6">
                  <c:v>3-3正</c:v>
                </c:pt>
                <c:pt idx="7">
                  <c:v>3-3北</c:v>
                </c:pt>
                <c:pt idx="8">
                  <c:v>3-3南</c:v>
                </c:pt>
                <c:pt idx="9">
                  <c:v>8-1正</c:v>
                </c:pt>
                <c:pt idx="10">
                  <c:v>8-1北</c:v>
                </c:pt>
                <c:pt idx="11">
                  <c:v>8-1南</c:v>
                </c:pt>
                <c:pt idx="12">
                  <c:v>8-2正</c:v>
                </c:pt>
                <c:pt idx="13">
                  <c:v>8-2北</c:v>
                </c:pt>
                <c:pt idx="14">
                  <c:v>8-2南</c:v>
                </c:pt>
                <c:pt idx="15">
                  <c:v>8-3正</c:v>
                </c:pt>
                <c:pt idx="16">
                  <c:v>8-3北</c:v>
                </c:pt>
                <c:pt idx="17">
                  <c:v>8-3南</c:v>
                </c:pt>
                <c:pt idx="18">
                  <c:v>11-1正</c:v>
                </c:pt>
                <c:pt idx="19">
                  <c:v>11-1北</c:v>
                </c:pt>
                <c:pt idx="20">
                  <c:v>11-1南</c:v>
                </c:pt>
                <c:pt idx="21">
                  <c:v>11-2正</c:v>
                </c:pt>
                <c:pt idx="22">
                  <c:v>11-2北</c:v>
                </c:pt>
                <c:pt idx="23">
                  <c:v>11-2南</c:v>
                </c:pt>
                <c:pt idx="24">
                  <c:v>11-3正</c:v>
                </c:pt>
                <c:pt idx="25">
                  <c:v>11-3北</c:v>
                </c:pt>
                <c:pt idx="26">
                  <c:v>11-3南</c:v>
                </c:pt>
              </c:strCache>
            </c:strRef>
          </c:cat>
          <c:val>
            <c:numRef>
              <c:f>'図01_熱電対の偏差'!$I$2:$I$28</c:f>
              <c:numCache>
                <c:formatCode>General</c:formatCode>
                <c:ptCount val="27"/>
                <c:pt idx="0">
                  <c:v>0.3</c:v>
                </c:pt>
                <c:pt idx="1">
                  <c:v>0.3</c:v>
                </c:pt>
                <c:pt idx="2">
                  <c:v>0.3</c:v>
                </c:pt>
                <c:pt idx="3">
                  <c:v>0.3</c:v>
                </c:pt>
                <c:pt idx="4">
                  <c:v>0.3</c:v>
                </c:pt>
                <c:pt idx="5">
                  <c:v>0.3</c:v>
                </c:pt>
                <c:pt idx="6">
                  <c:v>0.3</c:v>
                </c:pt>
                <c:pt idx="7">
                  <c:v>0.3</c:v>
                </c:pt>
                <c:pt idx="8">
                  <c:v>0.3</c:v>
                </c:pt>
                <c:pt idx="9">
                  <c:v>0.3</c:v>
                </c:pt>
                <c:pt idx="10">
                  <c:v>0.3</c:v>
                </c:pt>
                <c:pt idx="11">
                  <c:v>0.3</c:v>
                </c:pt>
                <c:pt idx="12">
                  <c:v>0.3</c:v>
                </c:pt>
                <c:pt idx="13">
                  <c:v>0.3</c:v>
                </c:pt>
                <c:pt idx="14">
                  <c:v>0.3</c:v>
                </c:pt>
                <c:pt idx="15">
                  <c:v>0.3</c:v>
                </c:pt>
                <c:pt idx="16">
                  <c:v>0.3</c:v>
                </c:pt>
                <c:pt idx="17">
                  <c:v>0.3</c:v>
                </c:pt>
                <c:pt idx="18">
                  <c:v>0.3</c:v>
                </c:pt>
                <c:pt idx="19">
                  <c:v>0.3</c:v>
                </c:pt>
                <c:pt idx="20">
                  <c:v>0.3</c:v>
                </c:pt>
                <c:pt idx="21">
                  <c:v>0.3</c:v>
                </c:pt>
                <c:pt idx="22">
                  <c:v>0.3</c:v>
                </c:pt>
                <c:pt idx="23">
                  <c:v>0.3</c:v>
                </c:pt>
                <c:pt idx="24">
                  <c:v>0.3</c:v>
                </c:pt>
                <c:pt idx="25">
                  <c:v>0.3</c:v>
                </c:pt>
                <c:pt idx="26">
                  <c:v>0.3</c:v>
                </c:pt>
              </c:numCache>
            </c:numRef>
          </c:val>
          <c:smooth val="0"/>
          <c:extLst>
            <c:ext xmlns:c16="http://schemas.microsoft.com/office/drawing/2014/chart" uri="{C3380CC4-5D6E-409C-BE32-E72D297353CC}">
              <c16:uniqueId val="{00000003-1796-664F-85FA-D11A2FF80CB9}"/>
            </c:ext>
          </c:extLst>
        </c:ser>
        <c:ser>
          <c:idx val="4"/>
          <c:order val="4"/>
          <c:tx>
            <c:strRef>
              <c:f>'図01_熱電対の偏差'!$J$1</c:f>
              <c:strCache>
                <c:ptCount val="1"/>
                <c:pt idx="0">
                  <c:v>−0.3</c:v>
                </c:pt>
              </c:strCache>
            </c:strRef>
          </c:tx>
          <c:spPr>
            <a:ln w="12700" cap="rnd">
              <a:solidFill>
                <a:srgbClr val="9AA5B1"/>
              </a:solidFill>
              <a:prstDash val="dash"/>
              <a:round/>
            </a:ln>
          </c:spPr>
          <c:marker>
            <c:symbol val="none"/>
          </c:marker>
          <c:cat>
            <c:strRef>
              <c:f>'図01_熱電対の偏差'!$A$2:$A$28</c:f>
              <c:strCache>
                <c:ptCount val="27"/>
                <c:pt idx="0">
                  <c:v>3-1正</c:v>
                </c:pt>
                <c:pt idx="1">
                  <c:v>3-1北</c:v>
                </c:pt>
                <c:pt idx="2">
                  <c:v>3-1南</c:v>
                </c:pt>
                <c:pt idx="3">
                  <c:v>3-2正</c:v>
                </c:pt>
                <c:pt idx="4">
                  <c:v>3-2北</c:v>
                </c:pt>
                <c:pt idx="5">
                  <c:v>3-2南</c:v>
                </c:pt>
                <c:pt idx="6">
                  <c:v>3-3正</c:v>
                </c:pt>
                <c:pt idx="7">
                  <c:v>3-3北</c:v>
                </c:pt>
                <c:pt idx="8">
                  <c:v>3-3南</c:v>
                </c:pt>
                <c:pt idx="9">
                  <c:v>8-1正</c:v>
                </c:pt>
                <c:pt idx="10">
                  <c:v>8-1北</c:v>
                </c:pt>
                <c:pt idx="11">
                  <c:v>8-1南</c:v>
                </c:pt>
                <c:pt idx="12">
                  <c:v>8-2正</c:v>
                </c:pt>
                <c:pt idx="13">
                  <c:v>8-2北</c:v>
                </c:pt>
                <c:pt idx="14">
                  <c:v>8-2南</c:v>
                </c:pt>
                <c:pt idx="15">
                  <c:v>8-3正</c:v>
                </c:pt>
                <c:pt idx="16">
                  <c:v>8-3北</c:v>
                </c:pt>
                <c:pt idx="17">
                  <c:v>8-3南</c:v>
                </c:pt>
                <c:pt idx="18">
                  <c:v>11-1正</c:v>
                </c:pt>
                <c:pt idx="19">
                  <c:v>11-1北</c:v>
                </c:pt>
                <c:pt idx="20">
                  <c:v>11-1南</c:v>
                </c:pt>
                <c:pt idx="21">
                  <c:v>11-2正</c:v>
                </c:pt>
                <c:pt idx="22">
                  <c:v>11-2北</c:v>
                </c:pt>
                <c:pt idx="23">
                  <c:v>11-2南</c:v>
                </c:pt>
                <c:pt idx="24">
                  <c:v>11-3正</c:v>
                </c:pt>
                <c:pt idx="25">
                  <c:v>11-3北</c:v>
                </c:pt>
                <c:pt idx="26">
                  <c:v>11-3南</c:v>
                </c:pt>
              </c:strCache>
            </c:strRef>
          </c:cat>
          <c:val>
            <c:numRef>
              <c:f>'図01_熱電対の偏差'!$J$2:$J$28</c:f>
              <c:numCache>
                <c:formatCode>General</c:formatCode>
                <c:ptCount val="27"/>
                <c:pt idx="0">
                  <c:v>-0.3</c:v>
                </c:pt>
                <c:pt idx="1">
                  <c:v>-0.3</c:v>
                </c:pt>
                <c:pt idx="2">
                  <c:v>-0.3</c:v>
                </c:pt>
                <c:pt idx="3">
                  <c:v>-0.3</c:v>
                </c:pt>
                <c:pt idx="4">
                  <c:v>-0.3</c:v>
                </c:pt>
                <c:pt idx="5">
                  <c:v>-0.3</c:v>
                </c:pt>
                <c:pt idx="6">
                  <c:v>-0.3</c:v>
                </c:pt>
                <c:pt idx="7">
                  <c:v>-0.3</c:v>
                </c:pt>
                <c:pt idx="8">
                  <c:v>-0.3</c:v>
                </c:pt>
                <c:pt idx="9">
                  <c:v>-0.3</c:v>
                </c:pt>
                <c:pt idx="10">
                  <c:v>-0.3</c:v>
                </c:pt>
                <c:pt idx="11">
                  <c:v>-0.3</c:v>
                </c:pt>
                <c:pt idx="12">
                  <c:v>-0.3</c:v>
                </c:pt>
                <c:pt idx="13">
                  <c:v>-0.3</c:v>
                </c:pt>
                <c:pt idx="14">
                  <c:v>-0.3</c:v>
                </c:pt>
                <c:pt idx="15">
                  <c:v>-0.3</c:v>
                </c:pt>
                <c:pt idx="16">
                  <c:v>-0.3</c:v>
                </c:pt>
                <c:pt idx="17">
                  <c:v>-0.3</c:v>
                </c:pt>
                <c:pt idx="18">
                  <c:v>-0.3</c:v>
                </c:pt>
                <c:pt idx="19">
                  <c:v>-0.3</c:v>
                </c:pt>
                <c:pt idx="20">
                  <c:v>-0.3</c:v>
                </c:pt>
                <c:pt idx="21">
                  <c:v>-0.3</c:v>
                </c:pt>
                <c:pt idx="22">
                  <c:v>-0.3</c:v>
                </c:pt>
                <c:pt idx="23">
                  <c:v>-0.3</c:v>
                </c:pt>
                <c:pt idx="24">
                  <c:v>-0.3</c:v>
                </c:pt>
                <c:pt idx="25">
                  <c:v>-0.3</c:v>
                </c:pt>
                <c:pt idx="26">
                  <c:v>-0.3</c:v>
                </c:pt>
              </c:numCache>
            </c:numRef>
          </c:val>
          <c:smooth val="0"/>
          <c:extLst>
            <c:ext xmlns:c16="http://schemas.microsoft.com/office/drawing/2014/chart" uri="{C3380CC4-5D6E-409C-BE32-E72D297353CC}">
              <c16:uniqueId val="{00000004-1796-664F-85FA-D11A2FF80CB9}"/>
            </c:ext>
          </c:extLst>
        </c:ser>
        <c:dLbls>
          <c:showLegendKey val="0"/>
          <c:showVal val="0"/>
          <c:showCatName val="0"/>
          <c:showSerName val="0"/>
          <c:showPercent val="0"/>
          <c:showBubbleSize val="0"/>
        </c:dLbls>
        <c:marker val="1"/>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txPr>
          <a:bodyPr rot="-5400000" vert="horz"/>
          <a:lstStyle/>
          <a:p>
            <a:pPr>
              <a:defRPr/>
            </a:pPr>
            <a:endParaRPr lang="ja-JP"/>
          </a:p>
        </c:txPr>
        <c:crossAx val="20"/>
        <c:crosses val="autoZero"/>
        <c:auto val="1"/>
        <c:lblAlgn val="ctr"/>
        <c:lblOffset val="100"/>
        <c:noMultiLvlLbl val="0"/>
      </c:catAx>
      <c:valAx>
        <c:axId val="20"/>
        <c:scaling>
          <c:orientation val="minMax"/>
          <c:max val="1"/>
          <c:min val="-1"/>
        </c:scaling>
        <c:delete val="0"/>
        <c:axPos val="l"/>
        <c:majorGridlines>
          <c:spPr>
            <a:ln w="9525" cap="rnd">
              <a:solidFill>
                <a:srgbClr val="E3E7EC"/>
              </a:solidFill>
              <a:round/>
            </a:ln>
          </c:spPr>
        </c:majorGridlines>
        <c:title>
          <c:tx>
            <c:rich>
              <a:bodyPr rot="-5400000" vert="horz"/>
              <a:lstStyle/>
              <a:p>
                <a:pPr>
                  <a:defRPr sz="900" b="0"/>
                </a:pPr>
                <a:r>
                  <a:rPr lang="ja-JP" sz="900" b="0"/>
                  <a:t>偏差［℃］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legend>
      <c:legendPos val="t"/>
      <c:legendEntry>
        <c:idx val="4"/>
        <c:delete val="1"/>
      </c:legendEntry>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16"/>
          <c:y val="0.17"/>
          <c:w val="0.8"/>
          <c:h val="0.63"/>
        </c:manualLayout>
      </c:layout>
      <c:lineChart>
        <c:grouping val="standard"/>
        <c:varyColors val="0"/>
        <c:ser>
          <c:idx val="0"/>
          <c:order val="0"/>
          <c:tx>
            <c:strRef>
              <c:f>'図02_分析1_列8'!$D$1</c:f>
              <c:strCache>
                <c:ptCount val="1"/>
                <c:pt idx="0">
                  <c:v>列3（なし）</c:v>
                </c:pt>
              </c:strCache>
            </c:strRef>
          </c:tx>
          <c:spPr>
            <a:ln w="25400" cap="rnd">
              <a:solidFill>
                <a:srgbClr val="5E6B7A"/>
              </a:solidFill>
              <a:round/>
            </a:ln>
          </c:spPr>
          <c:marker>
            <c:symbol val="none"/>
          </c:marker>
          <c:cat>
            <c:strRef>
              <c:f>'図02_分析1_列8'!$B$2:$B$48</c:f>
              <c:strCache>
                <c:ptCount val="47"/>
                <c:pt idx="0">
                  <c:v>07-30</c:v>
                </c:pt>
                <c:pt idx="7">
                  <c:v>08-06</c:v>
                </c:pt>
                <c:pt idx="14">
                  <c:v>08-13</c:v>
                </c:pt>
                <c:pt idx="21">
                  <c:v>08-20</c:v>
                </c:pt>
                <c:pt idx="28">
                  <c:v>08-27</c:v>
                </c:pt>
                <c:pt idx="35">
                  <c:v>09-03</c:v>
                </c:pt>
                <c:pt idx="42">
                  <c:v>09-10</c:v>
                </c:pt>
              </c:strCache>
            </c:strRef>
          </c:cat>
          <c:val>
            <c:numRef>
              <c:f>'図02_分析1_列8'!$D$2:$D$48</c:f>
              <c:numCache>
                <c:formatCode>General</c:formatCode>
                <c:ptCount val="47"/>
                <c:pt idx="0">
                  <c:v>34.926000000000002</c:v>
                </c:pt>
                <c:pt idx="1">
                  <c:v>34.206000000000003</c:v>
                </c:pt>
                <c:pt idx="2">
                  <c:v>34.753</c:v>
                </c:pt>
                <c:pt idx="3">
                  <c:v>33.287999999999997</c:v>
                </c:pt>
                <c:pt idx="4">
                  <c:v>27.312999999999999</c:v>
                </c:pt>
                <c:pt idx="5">
                  <c:v>29.184000000000001</c:v>
                </c:pt>
                <c:pt idx="6">
                  <c:v>30.422000000000001</c:v>
                </c:pt>
                <c:pt idx="7">
                  <c:v>30.489000000000001</c:v>
                </c:pt>
                <c:pt idx="8">
                  <c:v>33.125999999999998</c:v>
                </c:pt>
                <c:pt idx="9">
                  <c:v>32.823999999999998</c:v>
                </c:pt>
                <c:pt idx="10">
                  <c:v>32.281999999999996</c:v>
                </c:pt>
                <c:pt idx="11">
                  <c:v>30.547999999999998</c:v>
                </c:pt>
                <c:pt idx="12">
                  <c:v>29.041</c:v>
                </c:pt>
                <c:pt idx="13">
                  <c:v>28.187000000000001</c:v>
                </c:pt>
                <c:pt idx="14">
                  <c:v>26.742999999999999</c:v>
                </c:pt>
                <c:pt idx="15">
                  <c:v>29.335000000000001</c:v>
                </c:pt>
                <c:pt idx="16">
                  <c:v>27.725000000000001</c:v>
                </c:pt>
                <c:pt idx="17">
                  <c:v>25.86</c:v>
                </c:pt>
                <c:pt idx="18">
                  <c:v>29.876999999999999</c:v>
                </c:pt>
                <c:pt idx="19">
                  <c:v>30.986999999999998</c:v>
                </c:pt>
                <c:pt idx="20">
                  <c:v>31.379000000000001</c:v>
                </c:pt>
                <c:pt idx="21">
                  <c:v>31.916</c:v>
                </c:pt>
                <c:pt idx="22">
                  <c:v>31.370999999999999</c:v>
                </c:pt>
                <c:pt idx="23">
                  <c:v>29.327000000000002</c:v>
                </c:pt>
                <c:pt idx="24">
                  <c:v>29.786999999999999</c:v>
                </c:pt>
                <c:pt idx="25">
                  <c:v>32.878</c:v>
                </c:pt>
                <c:pt idx="26">
                  <c:v>34.29</c:v>
                </c:pt>
                <c:pt idx="27">
                  <c:v>33.878</c:v>
                </c:pt>
                <c:pt idx="28">
                  <c:v>28.856999999999999</c:v>
                </c:pt>
                <c:pt idx="29">
                  <c:v>32.106999999999999</c:v>
                </c:pt>
                <c:pt idx="30">
                  <c:v>23.507000000000001</c:v>
                </c:pt>
                <c:pt idx="31">
                  <c:v>26.364000000000001</c:v>
                </c:pt>
                <c:pt idx="32">
                  <c:v>27.722999999999999</c:v>
                </c:pt>
                <c:pt idx="33">
                  <c:v>28.617999999999999</c:v>
                </c:pt>
                <c:pt idx="34">
                  <c:v>30.59</c:v>
                </c:pt>
                <c:pt idx="35">
                  <c:v>30.393999999999998</c:v>
                </c:pt>
                <c:pt idx="36">
                  <c:v>26.734000000000002</c:v>
                </c:pt>
                <c:pt idx="37">
                  <c:v>24.620999999999999</c:v>
                </c:pt>
                <c:pt idx="38">
                  <c:v>21.956</c:v>
                </c:pt>
                <c:pt idx="39">
                  <c:v>24.8</c:v>
                </c:pt>
                <c:pt idx="40">
                  <c:v>28.273</c:v>
                </c:pt>
                <c:pt idx="41">
                  <c:v>29.643999999999998</c:v>
                </c:pt>
                <c:pt idx="42">
                  <c:v>22.882000000000001</c:v>
                </c:pt>
                <c:pt idx="43">
                  <c:v>21.23</c:v>
                </c:pt>
                <c:pt idx="44">
                  <c:v>24.288</c:v>
                </c:pt>
                <c:pt idx="45">
                  <c:v>24.85</c:v>
                </c:pt>
                <c:pt idx="46">
                  <c:v>31.417000000000002</c:v>
                </c:pt>
              </c:numCache>
            </c:numRef>
          </c:val>
          <c:smooth val="0"/>
          <c:extLst>
            <c:ext xmlns:c16="http://schemas.microsoft.com/office/drawing/2014/chart" uri="{C3380CC4-5D6E-409C-BE32-E72D297353CC}">
              <c16:uniqueId val="{00000000-561A-E748-9D33-7EEEEF322C98}"/>
            </c:ext>
          </c:extLst>
        </c:ser>
        <c:ser>
          <c:idx val="1"/>
          <c:order val="1"/>
          <c:tx>
            <c:strRef>
              <c:f>'図02_分析1_列8'!$E$1</c:f>
              <c:strCache>
                <c:ptCount val="1"/>
                <c:pt idx="0">
                  <c:v>列8（あり）</c:v>
                </c:pt>
              </c:strCache>
            </c:strRef>
          </c:tx>
          <c:spPr>
            <a:ln w="25400" cap="rnd">
              <a:solidFill>
                <a:srgbClr val="01B8AA"/>
              </a:solidFill>
              <a:round/>
            </a:ln>
          </c:spPr>
          <c:marker>
            <c:symbol val="none"/>
          </c:marker>
          <c:cat>
            <c:strRef>
              <c:f>'図02_分析1_列8'!$B$2:$B$48</c:f>
              <c:strCache>
                <c:ptCount val="47"/>
                <c:pt idx="0">
                  <c:v>07-30</c:v>
                </c:pt>
                <c:pt idx="7">
                  <c:v>08-06</c:v>
                </c:pt>
                <c:pt idx="14">
                  <c:v>08-13</c:v>
                </c:pt>
                <c:pt idx="21">
                  <c:v>08-20</c:v>
                </c:pt>
                <c:pt idx="28">
                  <c:v>08-27</c:v>
                </c:pt>
                <c:pt idx="35">
                  <c:v>09-03</c:v>
                </c:pt>
                <c:pt idx="42">
                  <c:v>09-10</c:v>
                </c:pt>
              </c:strCache>
            </c:strRef>
          </c:cat>
          <c:val>
            <c:numRef>
              <c:f>'図02_分析1_列8'!$E$2:$E$48</c:f>
              <c:numCache>
                <c:formatCode>General</c:formatCode>
                <c:ptCount val="47"/>
                <c:pt idx="0">
                  <c:v>35.374000000000002</c:v>
                </c:pt>
                <c:pt idx="1">
                  <c:v>34.618000000000002</c:v>
                </c:pt>
                <c:pt idx="2">
                  <c:v>34.728000000000002</c:v>
                </c:pt>
                <c:pt idx="3">
                  <c:v>33.840000000000003</c:v>
                </c:pt>
                <c:pt idx="4">
                  <c:v>27.433</c:v>
                </c:pt>
                <c:pt idx="5">
                  <c:v>29.277000000000001</c:v>
                </c:pt>
                <c:pt idx="6">
                  <c:v>30.457999999999998</c:v>
                </c:pt>
                <c:pt idx="7">
                  <c:v>30.416</c:v>
                </c:pt>
                <c:pt idx="8">
                  <c:v>32.877000000000002</c:v>
                </c:pt>
                <c:pt idx="9">
                  <c:v>32.216999999999999</c:v>
                </c:pt>
                <c:pt idx="10">
                  <c:v>32.652999999999999</c:v>
                </c:pt>
                <c:pt idx="11">
                  <c:v>30.927</c:v>
                </c:pt>
                <c:pt idx="12">
                  <c:v>28.613</c:v>
                </c:pt>
                <c:pt idx="13">
                  <c:v>28.042000000000002</c:v>
                </c:pt>
                <c:pt idx="14">
                  <c:v>26.414000000000001</c:v>
                </c:pt>
                <c:pt idx="15">
                  <c:v>29.215</c:v>
                </c:pt>
                <c:pt idx="16">
                  <c:v>27.582000000000001</c:v>
                </c:pt>
                <c:pt idx="17">
                  <c:v>25.152999999999999</c:v>
                </c:pt>
                <c:pt idx="18">
                  <c:v>29.751999999999999</c:v>
                </c:pt>
                <c:pt idx="19">
                  <c:v>31.251999999999999</c:v>
                </c:pt>
                <c:pt idx="20">
                  <c:v>31.635999999999999</c:v>
                </c:pt>
                <c:pt idx="21">
                  <c:v>32.255000000000003</c:v>
                </c:pt>
                <c:pt idx="22">
                  <c:v>31.463999999999999</c:v>
                </c:pt>
                <c:pt idx="23">
                  <c:v>28.853999999999999</c:v>
                </c:pt>
                <c:pt idx="24">
                  <c:v>29.542999999999999</c:v>
                </c:pt>
                <c:pt idx="25">
                  <c:v>33.115000000000002</c:v>
                </c:pt>
                <c:pt idx="26">
                  <c:v>34.600999999999999</c:v>
                </c:pt>
                <c:pt idx="27">
                  <c:v>34.353000000000002</c:v>
                </c:pt>
                <c:pt idx="28">
                  <c:v>28.574000000000002</c:v>
                </c:pt>
                <c:pt idx="29">
                  <c:v>32.472999999999999</c:v>
                </c:pt>
                <c:pt idx="30">
                  <c:v>22.635000000000002</c:v>
                </c:pt>
                <c:pt idx="31">
                  <c:v>25.61</c:v>
                </c:pt>
                <c:pt idx="32">
                  <c:v>27.544</c:v>
                </c:pt>
                <c:pt idx="33">
                  <c:v>28.484999999999999</c:v>
                </c:pt>
                <c:pt idx="34">
                  <c:v>30.352</c:v>
                </c:pt>
                <c:pt idx="35">
                  <c:v>30.106000000000002</c:v>
                </c:pt>
                <c:pt idx="36">
                  <c:v>26.344999999999999</c:v>
                </c:pt>
                <c:pt idx="37">
                  <c:v>24.210999999999999</c:v>
                </c:pt>
                <c:pt idx="38">
                  <c:v>20.318999999999999</c:v>
                </c:pt>
                <c:pt idx="39">
                  <c:v>23.966000000000001</c:v>
                </c:pt>
                <c:pt idx="40">
                  <c:v>27.719000000000001</c:v>
                </c:pt>
                <c:pt idx="41">
                  <c:v>29.021000000000001</c:v>
                </c:pt>
                <c:pt idx="42">
                  <c:v>22.132999999999999</c:v>
                </c:pt>
                <c:pt idx="43">
                  <c:v>20.829000000000001</c:v>
                </c:pt>
                <c:pt idx="44">
                  <c:v>22.736000000000001</c:v>
                </c:pt>
                <c:pt idx="45">
                  <c:v>23.893000000000001</c:v>
                </c:pt>
                <c:pt idx="46">
                  <c:v>31.373999999999999</c:v>
                </c:pt>
              </c:numCache>
            </c:numRef>
          </c:val>
          <c:smooth val="0"/>
          <c:extLst>
            <c:ext xmlns:c16="http://schemas.microsoft.com/office/drawing/2014/chart" uri="{C3380CC4-5D6E-409C-BE32-E72D297353CC}">
              <c16:uniqueId val="{00000001-561A-E748-9D33-7EEEEF322C98}"/>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out"/>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37.5"/>
          <c:min val="20"/>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5"/>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16"/>
          <c:y val="0.05"/>
          <c:w val="0.8"/>
          <c:h val="0.72"/>
        </c:manualLayout>
      </c:layout>
      <c:barChart>
        <c:barDir val="col"/>
        <c:grouping val="clustered"/>
        <c:varyColors val="0"/>
        <c:ser>
          <c:idx val="0"/>
          <c:order val="0"/>
          <c:tx>
            <c:strRef>
              <c:f>'図02_分析1_列8'!$G$1</c:f>
              <c:strCache>
                <c:ptCount val="1"/>
                <c:pt idx="0">
                  <c:v>列3より低い日</c:v>
                </c:pt>
              </c:strCache>
            </c:strRef>
          </c:tx>
          <c:spPr>
            <a:solidFill>
              <a:srgbClr val="01B8AA"/>
            </a:solidFill>
            <a:ln w="6350" cap="rnd">
              <a:solidFill>
                <a:srgbClr val="01B8AA"/>
              </a:solidFill>
              <a:round/>
            </a:ln>
          </c:spPr>
          <c:invertIfNegative val="0"/>
          <c:cat>
            <c:strRef>
              <c:f>'図02_分析1_列8'!$B$2:$B$48</c:f>
              <c:strCache>
                <c:ptCount val="47"/>
                <c:pt idx="0">
                  <c:v>07-30</c:v>
                </c:pt>
                <c:pt idx="7">
                  <c:v>08-06</c:v>
                </c:pt>
                <c:pt idx="14">
                  <c:v>08-13</c:v>
                </c:pt>
                <c:pt idx="21">
                  <c:v>08-20</c:v>
                </c:pt>
                <c:pt idx="28">
                  <c:v>08-27</c:v>
                </c:pt>
                <c:pt idx="35">
                  <c:v>09-03</c:v>
                </c:pt>
                <c:pt idx="42">
                  <c:v>09-10</c:v>
                </c:pt>
              </c:strCache>
            </c:strRef>
          </c:cat>
          <c:val>
            <c:numRef>
              <c:f>'図02_分析1_列8'!$G$2:$G$48</c:f>
              <c:numCache>
                <c:formatCode>General</c:formatCode>
                <c:ptCount val="47"/>
                <c:pt idx="7">
                  <c:v>-7.2999999999999995E-2</c:v>
                </c:pt>
                <c:pt idx="8">
                  <c:v>-0.249</c:v>
                </c:pt>
                <c:pt idx="13">
                  <c:v>-0.14599999999999999</c:v>
                </c:pt>
                <c:pt idx="14">
                  <c:v>-0.32900000000000001</c:v>
                </c:pt>
                <c:pt idx="15">
                  <c:v>-0.121</c:v>
                </c:pt>
                <c:pt idx="18">
                  <c:v>-0.125</c:v>
                </c:pt>
                <c:pt idx="28">
                  <c:v>-0.28299999999999997</c:v>
                </c:pt>
                <c:pt idx="32">
                  <c:v>-0.17899999999999999</c:v>
                </c:pt>
                <c:pt idx="33">
                  <c:v>-0.13300000000000001</c:v>
                </c:pt>
                <c:pt idx="34">
                  <c:v>-0.23899999999999999</c:v>
                </c:pt>
                <c:pt idx="35">
                  <c:v>-0.28799999999999998</c:v>
                </c:pt>
                <c:pt idx="36">
                  <c:v>-0.38800000000000001</c:v>
                </c:pt>
                <c:pt idx="39">
                  <c:v>-0.83499999999999996</c:v>
                </c:pt>
                <c:pt idx="40">
                  <c:v>-0.55300000000000005</c:v>
                </c:pt>
                <c:pt idx="41">
                  <c:v>-0.623</c:v>
                </c:pt>
                <c:pt idx="42">
                  <c:v>-0.749</c:v>
                </c:pt>
                <c:pt idx="43">
                  <c:v>-0.40100000000000002</c:v>
                </c:pt>
                <c:pt idx="46">
                  <c:v>-4.3999999999999997E-2</c:v>
                </c:pt>
              </c:numCache>
            </c:numRef>
          </c:val>
          <c:extLst>
            <c:ext xmlns:c16="http://schemas.microsoft.com/office/drawing/2014/chart" uri="{C3380CC4-5D6E-409C-BE32-E72D297353CC}">
              <c16:uniqueId val="{00000000-C8BA-7E4E-8086-47EDE47B4EE3}"/>
            </c:ext>
          </c:extLst>
        </c:ser>
        <c:ser>
          <c:idx val="1"/>
          <c:order val="1"/>
          <c:tx>
            <c:strRef>
              <c:f>'図02_分析1_列8'!$H$1</c:f>
              <c:strCache>
                <c:ptCount val="1"/>
                <c:pt idx="0">
                  <c:v>列3より高い日</c:v>
                </c:pt>
              </c:strCache>
            </c:strRef>
          </c:tx>
          <c:spPr>
            <a:solidFill>
              <a:srgbClr val="E66C64"/>
            </a:solidFill>
            <a:ln w="6350" cap="rnd">
              <a:solidFill>
                <a:srgbClr val="E66C64"/>
              </a:solidFill>
              <a:round/>
            </a:ln>
          </c:spPr>
          <c:invertIfNegative val="0"/>
          <c:cat>
            <c:strRef>
              <c:f>'図02_分析1_列8'!$B$2:$B$48</c:f>
              <c:strCache>
                <c:ptCount val="47"/>
                <c:pt idx="0">
                  <c:v>07-30</c:v>
                </c:pt>
                <c:pt idx="7">
                  <c:v>08-06</c:v>
                </c:pt>
                <c:pt idx="14">
                  <c:v>08-13</c:v>
                </c:pt>
                <c:pt idx="21">
                  <c:v>08-20</c:v>
                </c:pt>
                <c:pt idx="28">
                  <c:v>08-27</c:v>
                </c:pt>
                <c:pt idx="35">
                  <c:v>09-03</c:v>
                </c:pt>
                <c:pt idx="42">
                  <c:v>09-10</c:v>
                </c:pt>
              </c:strCache>
            </c:strRef>
          </c:cat>
          <c:val>
            <c:numRef>
              <c:f>'図02_分析1_列8'!$H$2:$H$48</c:f>
              <c:numCache>
                <c:formatCode>General</c:formatCode>
                <c:ptCount val="47"/>
                <c:pt idx="0">
                  <c:v>0.44900000000000001</c:v>
                </c:pt>
                <c:pt idx="1">
                  <c:v>0.41099999999999998</c:v>
                </c:pt>
                <c:pt idx="4">
                  <c:v>0.121</c:v>
                </c:pt>
                <c:pt idx="5">
                  <c:v>9.2999999999999999E-2</c:v>
                </c:pt>
                <c:pt idx="6">
                  <c:v>3.5999999999999997E-2</c:v>
                </c:pt>
                <c:pt idx="11">
                  <c:v>0.379</c:v>
                </c:pt>
                <c:pt idx="19">
                  <c:v>0.26500000000000001</c:v>
                </c:pt>
                <c:pt idx="20">
                  <c:v>0.25700000000000001</c:v>
                </c:pt>
                <c:pt idx="21">
                  <c:v>0.34</c:v>
                </c:pt>
                <c:pt idx="22">
                  <c:v>9.2999999999999999E-2</c:v>
                </c:pt>
                <c:pt idx="25">
                  <c:v>0.23699999999999999</c:v>
                </c:pt>
                <c:pt idx="26">
                  <c:v>0.311</c:v>
                </c:pt>
                <c:pt idx="27">
                  <c:v>0.47499999999999998</c:v>
                </c:pt>
                <c:pt idx="29">
                  <c:v>0.36599999999999999</c:v>
                </c:pt>
              </c:numCache>
            </c:numRef>
          </c:val>
          <c:extLst>
            <c:ext xmlns:c16="http://schemas.microsoft.com/office/drawing/2014/chart" uri="{C3380CC4-5D6E-409C-BE32-E72D297353CC}">
              <c16:uniqueId val="{00000001-C8BA-7E4E-8086-47EDE47B4EE3}"/>
            </c:ext>
          </c:extLst>
        </c:ser>
        <c:ser>
          <c:idx val="2"/>
          <c:order val="2"/>
          <c:tx>
            <c:strRef>
              <c:f>'図02_分析1_列8'!$I$1</c:f>
              <c:strCache>
                <c:ptCount val="1"/>
                <c:pt idx="0">
                  <c:v>休日</c:v>
                </c:pt>
              </c:strCache>
            </c:strRef>
          </c:tx>
          <c:spPr>
            <a:solidFill>
              <a:srgbClr val="C9D1DB"/>
            </a:solidFill>
            <a:ln w="6350" cap="rnd">
              <a:solidFill>
                <a:srgbClr val="C9D1DB"/>
              </a:solidFill>
              <a:round/>
            </a:ln>
          </c:spPr>
          <c:invertIfNegative val="0"/>
          <c:cat>
            <c:strRef>
              <c:f>'図02_分析1_列8'!$B$2:$B$48</c:f>
              <c:strCache>
                <c:ptCount val="47"/>
                <c:pt idx="0">
                  <c:v>07-30</c:v>
                </c:pt>
                <c:pt idx="7">
                  <c:v>08-06</c:v>
                </c:pt>
                <c:pt idx="14">
                  <c:v>08-13</c:v>
                </c:pt>
                <c:pt idx="21">
                  <c:v>08-20</c:v>
                </c:pt>
                <c:pt idx="28">
                  <c:v>08-27</c:v>
                </c:pt>
                <c:pt idx="35">
                  <c:v>09-03</c:v>
                </c:pt>
                <c:pt idx="42">
                  <c:v>09-10</c:v>
                </c:pt>
              </c:strCache>
            </c:strRef>
          </c:cat>
          <c:val>
            <c:numRef>
              <c:f>'図02_分析1_列8'!$I$2:$I$48</c:f>
              <c:numCache>
                <c:formatCode>General</c:formatCode>
                <c:ptCount val="47"/>
                <c:pt idx="2">
                  <c:v>-2.4E-2</c:v>
                </c:pt>
                <c:pt idx="3">
                  <c:v>0.55200000000000005</c:v>
                </c:pt>
                <c:pt idx="9">
                  <c:v>-0.60699999999999998</c:v>
                </c:pt>
                <c:pt idx="10">
                  <c:v>0.371</c:v>
                </c:pt>
                <c:pt idx="12">
                  <c:v>-0.42899999999999999</c:v>
                </c:pt>
                <c:pt idx="16">
                  <c:v>-0.14399999999999999</c:v>
                </c:pt>
                <c:pt idx="17">
                  <c:v>-0.70799999999999996</c:v>
                </c:pt>
                <c:pt idx="23">
                  <c:v>-0.47299999999999998</c:v>
                </c:pt>
                <c:pt idx="24">
                  <c:v>-0.24399999999999999</c:v>
                </c:pt>
                <c:pt idx="30">
                  <c:v>-0.871</c:v>
                </c:pt>
                <c:pt idx="31">
                  <c:v>-0.754</c:v>
                </c:pt>
                <c:pt idx="37">
                  <c:v>-0.41</c:v>
                </c:pt>
                <c:pt idx="38">
                  <c:v>-1.637</c:v>
                </c:pt>
                <c:pt idx="44">
                  <c:v>-1.5509999999999999</c:v>
                </c:pt>
                <c:pt idx="45">
                  <c:v>-0.95699999999999996</c:v>
                </c:pt>
              </c:numCache>
            </c:numRef>
          </c:val>
          <c:extLst>
            <c:ext xmlns:c16="http://schemas.microsoft.com/office/drawing/2014/chart" uri="{C3380CC4-5D6E-409C-BE32-E72D297353CC}">
              <c16:uniqueId val="{00000002-C8BA-7E4E-8086-47EDE47B4EE3}"/>
            </c:ext>
          </c:extLst>
        </c:ser>
        <c:dLbls>
          <c:showLegendKey val="0"/>
          <c:showVal val="0"/>
          <c:showCatName val="0"/>
          <c:showSerName val="0"/>
          <c:showPercent val="0"/>
          <c:showBubbleSize val="0"/>
        </c:dLbls>
        <c:gapWidth val="40"/>
        <c:overlap val="100"/>
        <c:axId val="10"/>
        <c:axId val="20"/>
      </c:barChart>
      <c:catAx>
        <c:axId val="10"/>
        <c:scaling>
          <c:orientation val="minMax"/>
        </c:scaling>
        <c:delete val="0"/>
        <c:axPos val="b"/>
        <c:numFmt formatCode="General" sourceLinked="1"/>
        <c:majorTickMark val="out"/>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
          <c:min val="-2"/>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1"/>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16"/>
          <c:y val="0.17"/>
          <c:w val="0.8"/>
          <c:h val="0.63"/>
        </c:manualLayout>
      </c:layout>
      <c:lineChart>
        <c:grouping val="standard"/>
        <c:varyColors val="0"/>
        <c:ser>
          <c:idx val="0"/>
          <c:order val="0"/>
          <c:tx>
            <c:strRef>
              <c:f>'図03_分析1_列11'!$D$1</c:f>
              <c:strCache>
                <c:ptCount val="1"/>
                <c:pt idx="0">
                  <c:v>列3（なし）</c:v>
                </c:pt>
              </c:strCache>
            </c:strRef>
          </c:tx>
          <c:spPr>
            <a:ln w="25400" cap="rnd">
              <a:solidFill>
                <a:srgbClr val="5E6B7A"/>
              </a:solidFill>
              <a:round/>
            </a:ln>
          </c:spPr>
          <c:marker>
            <c:symbol val="none"/>
          </c:marker>
          <c:cat>
            <c:strRef>
              <c:f>'図03_分析1_列11'!$B$2:$B$48</c:f>
              <c:strCache>
                <c:ptCount val="47"/>
                <c:pt idx="0">
                  <c:v>07-30</c:v>
                </c:pt>
                <c:pt idx="7">
                  <c:v>08-06</c:v>
                </c:pt>
                <c:pt idx="14">
                  <c:v>08-13</c:v>
                </c:pt>
                <c:pt idx="21">
                  <c:v>08-20</c:v>
                </c:pt>
                <c:pt idx="28">
                  <c:v>08-27</c:v>
                </c:pt>
                <c:pt idx="35">
                  <c:v>09-03</c:v>
                </c:pt>
                <c:pt idx="42">
                  <c:v>09-10</c:v>
                </c:pt>
              </c:strCache>
            </c:strRef>
          </c:cat>
          <c:val>
            <c:numRef>
              <c:f>'図03_分析1_列11'!$D$2:$D$48</c:f>
              <c:numCache>
                <c:formatCode>General</c:formatCode>
                <c:ptCount val="47"/>
                <c:pt idx="0">
                  <c:v>34.857999999999997</c:v>
                </c:pt>
                <c:pt idx="1">
                  <c:v>34.130000000000003</c:v>
                </c:pt>
                <c:pt idx="2">
                  <c:v>34.716999999999999</c:v>
                </c:pt>
                <c:pt idx="3">
                  <c:v>33.253999999999998</c:v>
                </c:pt>
                <c:pt idx="4">
                  <c:v>27.257999999999999</c:v>
                </c:pt>
                <c:pt idx="5">
                  <c:v>29.119</c:v>
                </c:pt>
                <c:pt idx="6">
                  <c:v>30.349</c:v>
                </c:pt>
                <c:pt idx="7">
                  <c:v>30.356000000000002</c:v>
                </c:pt>
                <c:pt idx="8">
                  <c:v>33.072000000000003</c:v>
                </c:pt>
                <c:pt idx="9">
                  <c:v>32.762</c:v>
                </c:pt>
                <c:pt idx="10">
                  <c:v>32.222000000000001</c:v>
                </c:pt>
                <c:pt idx="11">
                  <c:v>30.463999999999999</c:v>
                </c:pt>
                <c:pt idx="12">
                  <c:v>29.016999999999999</c:v>
                </c:pt>
                <c:pt idx="13">
                  <c:v>28.134</c:v>
                </c:pt>
                <c:pt idx="14">
                  <c:v>26.701000000000001</c:v>
                </c:pt>
                <c:pt idx="15">
                  <c:v>29.271999999999998</c:v>
                </c:pt>
                <c:pt idx="16">
                  <c:v>27.72</c:v>
                </c:pt>
                <c:pt idx="17">
                  <c:v>25.856999999999999</c:v>
                </c:pt>
                <c:pt idx="18">
                  <c:v>29.82</c:v>
                </c:pt>
                <c:pt idx="19">
                  <c:v>30.971</c:v>
                </c:pt>
                <c:pt idx="20">
                  <c:v>31.335999999999999</c:v>
                </c:pt>
                <c:pt idx="21">
                  <c:v>31.87</c:v>
                </c:pt>
                <c:pt idx="22">
                  <c:v>31.282</c:v>
                </c:pt>
                <c:pt idx="23">
                  <c:v>29.103999999999999</c:v>
                </c:pt>
                <c:pt idx="24">
                  <c:v>29.702000000000002</c:v>
                </c:pt>
                <c:pt idx="25">
                  <c:v>32.756999999999998</c:v>
                </c:pt>
                <c:pt idx="26">
                  <c:v>34.112000000000002</c:v>
                </c:pt>
                <c:pt idx="27">
                  <c:v>33.654000000000003</c:v>
                </c:pt>
                <c:pt idx="28">
                  <c:v>28.617999999999999</c:v>
                </c:pt>
                <c:pt idx="29">
                  <c:v>32.122</c:v>
                </c:pt>
                <c:pt idx="30">
                  <c:v>23.431999999999999</c:v>
                </c:pt>
                <c:pt idx="31">
                  <c:v>26.294</c:v>
                </c:pt>
                <c:pt idx="32">
                  <c:v>27.663</c:v>
                </c:pt>
                <c:pt idx="33">
                  <c:v>28.524999999999999</c:v>
                </c:pt>
                <c:pt idx="34">
                  <c:v>30.498000000000001</c:v>
                </c:pt>
                <c:pt idx="35">
                  <c:v>30.364999999999998</c:v>
                </c:pt>
                <c:pt idx="36">
                  <c:v>26.608000000000001</c:v>
                </c:pt>
                <c:pt idx="37">
                  <c:v>24.555</c:v>
                </c:pt>
                <c:pt idx="38">
                  <c:v>21.673999999999999</c:v>
                </c:pt>
                <c:pt idx="39">
                  <c:v>24.648</c:v>
                </c:pt>
                <c:pt idx="40">
                  <c:v>28.088000000000001</c:v>
                </c:pt>
                <c:pt idx="41">
                  <c:v>29.533999999999999</c:v>
                </c:pt>
                <c:pt idx="42">
                  <c:v>22.585999999999999</c:v>
                </c:pt>
                <c:pt idx="43">
                  <c:v>20.96</c:v>
                </c:pt>
                <c:pt idx="44">
                  <c:v>23.914999999999999</c:v>
                </c:pt>
                <c:pt idx="45">
                  <c:v>24.683</c:v>
                </c:pt>
                <c:pt idx="46">
                  <c:v>31.315000000000001</c:v>
                </c:pt>
              </c:numCache>
            </c:numRef>
          </c:val>
          <c:smooth val="0"/>
          <c:extLst>
            <c:ext xmlns:c16="http://schemas.microsoft.com/office/drawing/2014/chart" uri="{C3380CC4-5D6E-409C-BE32-E72D297353CC}">
              <c16:uniqueId val="{00000000-B109-DB4E-89F2-6133D8E1B540}"/>
            </c:ext>
          </c:extLst>
        </c:ser>
        <c:ser>
          <c:idx val="1"/>
          <c:order val="1"/>
          <c:tx>
            <c:strRef>
              <c:f>'図03_分析1_列11'!$E$1</c:f>
              <c:strCache>
                <c:ptCount val="1"/>
                <c:pt idx="0">
                  <c:v>列11（あり）</c:v>
                </c:pt>
              </c:strCache>
            </c:strRef>
          </c:tx>
          <c:spPr>
            <a:ln w="25400" cap="rnd">
              <a:solidFill>
                <a:srgbClr val="118DFF"/>
              </a:solidFill>
              <a:round/>
            </a:ln>
          </c:spPr>
          <c:marker>
            <c:symbol val="none"/>
          </c:marker>
          <c:cat>
            <c:strRef>
              <c:f>'図03_分析1_列11'!$B$2:$B$48</c:f>
              <c:strCache>
                <c:ptCount val="47"/>
                <c:pt idx="0">
                  <c:v>07-30</c:v>
                </c:pt>
                <c:pt idx="7">
                  <c:v>08-06</c:v>
                </c:pt>
                <c:pt idx="14">
                  <c:v>08-13</c:v>
                </c:pt>
                <c:pt idx="21">
                  <c:v>08-20</c:v>
                </c:pt>
                <c:pt idx="28">
                  <c:v>08-27</c:v>
                </c:pt>
                <c:pt idx="35">
                  <c:v>09-03</c:v>
                </c:pt>
                <c:pt idx="42">
                  <c:v>09-10</c:v>
                </c:pt>
              </c:strCache>
            </c:strRef>
          </c:cat>
          <c:val>
            <c:numRef>
              <c:f>'図03_分析1_列11'!$E$2:$E$48</c:f>
              <c:numCache>
                <c:formatCode>General</c:formatCode>
                <c:ptCount val="47"/>
                <c:pt idx="0">
                  <c:v>34.929000000000002</c:v>
                </c:pt>
                <c:pt idx="1">
                  <c:v>34.134999999999998</c:v>
                </c:pt>
                <c:pt idx="2">
                  <c:v>34.609000000000002</c:v>
                </c:pt>
                <c:pt idx="3">
                  <c:v>33.31</c:v>
                </c:pt>
                <c:pt idx="4">
                  <c:v>27.207999999999998</c:v>
                </c:pt>
                <c:pt idx="5">
                  <c:v>28.998000000000001</c:v>
                </c:pt>
                <c:pt idx="6">
                  <c:v>30.231999999999999</c:v>
                </c:pt>
                <c:pt idx="7">
                  <c:v>30.116</c:v>
                </c:pt>
                <c:pt idx="8">
                  <c:v>32.380000000000003</c:v>
                </c:pt>
                <c:pt idx="9">
                  <c:v>32.072000000000003</c:v>
                </c:pt>
                <c:pt idx="10">
                  <c:v>32.037999999999997</c:v>
                </c:pt>
                <c:pt idx="11">
                  <c:v>30.390999999999998</c:v>
                </c:pt>
                <c:pt idx="12">
                  <c:v>28.643000000000001</c:v>
                </c:pt>
                <c:pt idx="13">
                  <c:v>27.725999999999999</c:v>
                </c:pt>
                <c:pt idx="14">
                  <c:v>26.056000000000001</c:v>
                </c:pt>
                <c:pt idx="15">
                  <c:v>29.033999999999999</c:v>
                </c:pt>
                <c:pt idx="16">
                  <c:v>27.594000000000001</c:v>
                </c:pt>
                <c:pt idx="17">
                  <c:v>25.263999999999999</c:v>
                </c:pt>
                <c:pt idx="18">
                  <c:v>29.533999999999999</c:v>
                </c:pt>
                <c:pt idx="19">
                  <c:v>30.896999999999998</c:v>
                </c:pt>
                <c:pt idx="20">
                  <c:v>31.283999999999999</c:v>
                </c:pt>
                <c:pt idx="21">
                  <c:v>31.768000000000001</c:v>
                </c:pt>
                <c:pt idx="22">
                  <c:v>30.946000000000002</c:v>
                </c:pt>
                <c:pt idx="23">
                  <c:v>28.803999999999998</c:v>
                </c:pt>
                <c:pt idx="24">
                  <c:v>29.478000000000002</c:v>
                </c:pt>
                <c:pt idx="25">
                  <c:v>32.539000000000001</c:v>
                </c:pt>
                <c:pt idx="26">
                  <c:v>33.966000000000001</c:v>
                </c:pt>
                <c:pt idx="27">
                  <c:v>33.765000000000001</c:v>
                </c:pt>
                <c:pt idx="28">
                  <c:v>28.425999999999998</c:v>
                </c:pt>
                <c:pt idx="29">
                  <c:v>32.183</c:v>
                </c:pt>
                <c:pt idx="30">
                  <c:v>22.870999999999999</c:v>
                </c:pt>
                <c:pt idx="31">
                  <c:v>25.713000000000001</c:v>
                </c:pt>
                <c:pt idx="32">
                  <c:v>27.471</c:v>
                </c:pt>
                <c:pt idx="33">
                  <c:v>28.402999999999999</c:v>
                </c:pt>
                <c:pt idx="34">
                  <c:v>30.151</c:v>
                </c:pt>
                <c:pt idx="35">
                  <c:v>29.989000000000001</c:v>
                </c:pt>
                <c:pt idx="36">
                  <c:v>26.382999999999999</c:v>
                </c:pt>
                <c:pt idx="37">
                  <c:v>24.097000000000001</c:v>
                </c:pt>
                <c:pt idx="38">
                  <c:v>20.308</c:v>
                </c:pt>
                <c:pt idx="39">
                  <c:v>23.721</c:v>
                </c:pt>
                <c:pt idx="40">
                  <c:v>27.696000000000002</c:v>
                </c:pt>
                <c:pt idx="41">
                  <c:v>28.916</c:v>
                </c:pt>
                <c:pt idx="42">
                  <c:v>21.9</c:v>
                </c:pt>
                <c:pt idx="43">
                  <c:v>20.524000000000001</c:v>
                </c:pt>
                <c:pt idx="44">
                  <c:v>22.667999999999999</c:v>
                </c:pt>
                <c:pt idx="45">
                  <c:v>23.850999999999999</c:v>
                </c:pt>
                <c:pt idx="46">
                  <c:v>30.917000000000002</c:v>
                </c:pt>
              </c:numCache>
            </c:numRef>
          </c:val>
          <c:smooth val="0"/>
          <c:extLst>
            <c:ext xmlns:c16="http://schemas.microsoft.com/office/drawing/2014/chart" uri="{C3380CC4-5D6E-409C-BE32-E72D297353CC}">
              <c16:uniqueId val="{00000001-B109-DB4E-89F2-6133D8E1B540}"/>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out"/>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37.5"/>
          <c:min val="20"/>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5"/>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16"/>
          <c:y val="0.05"/>
          <c:w val="0.8"/>
          <c:h val="0.72"/>
        </c:manualLayout>
      </c:layout>
      <c:barChart>
        <c:barDir val="col"/>
        <c:grouping val="clustered"/>
        <c:varyColors val="0"/>
        <c:ser>
          <c:idx val="0"/>
          <c:order val="0"/>
          <c:tx>
            <c:strRef>
              <c:f>'図03_分析1_列11'!$G$1</c:f>
              <c:strCache>
                <c:ptCount val="1"/>
                <c:pt idx="0">
                  <c:v>列3より低い日</c:v>
                </c:pt>
              </c:strCache>
            </c:strRef>
          </c:tx>
          <c:spPr>
            <a:solidFill>
              <a:srgbClr val="118DFF"/>
            </a:solidFill>
            <a:ln w="6350" cap="rnd">
              <a:solidFill>
                <a:srgbClr val="118DFF"/>
              </a:solidFill>
              <a:round/>
            </a:ln>
          </c:spPr>
          <c:invertIfNegative val="0"/>
          <c:cat>
            <c:strRef>
              <c:f>'図03_分析1_列11'!$B$2:$B$48</c:f>
              <c:strCache>
                <c:ptCount val="47"/>
                <c:pt idx="0">
                  <c:v>07-30</c:v>
                </c:pt>
                <c:pt idx="7">
                  <c:v>08-06</c:v>
                </c:pt>
                <c:pt idx="14">
                  <c:v>08-13</c:v>
                </c:pt>
                <c:pt idx="21">
                  <c:v>08-20</c:v>
                </c:pt>
                <c:pt idx="28">
                  <c:v>08-27</c:v>
                </c:pt>
                <c:pt idx="35">
                  <c:v>09-03</c:v>
                </c:pt>
                <c:pt idx="42">
                  <c:v>09-10</c:v>
                </c:pt>
              </c:strCache>
            </c:strRef>
          </c:cat>
          <c:val>
            <c:numRef>
              <c:f>'図03_分析1_列11'!$G$2:$G$48</c:f>
              <c:numCache>
                <c:formatCode>General</c:formatCode>
                <c:ptCount val="47"/>
                <c:pt idx="4">
                  <c:v>-5.0999999999999997E-2</c:v>
                </c:pt>
                <c:pt idx="5">
                  <c:v>-0.122</c:v>
                </c:pt>
                <c:pt idx="6">
                  <c:v>-0.11700000000000001</c:v>
                </c:pt>
                <c:pt idx="7">
                  <c:v>-0.24</c:v>
                </c:pt>
                <c:pt idx="8">
                  <c:v>-0.69199999999999995</c:v>
                </c:pt>
                <c:pt idx="11">
                  <c:v>-7.2999999999999995E-2</c:v>
                </c:pt>
                <c:pt idx="13">
                  <c:v>-0.40799999999999997</c:v>
                </c:pt>
                <c:pt idx="14">
                  <c:v>-0.64500000000000002</c:v>
                </c:pt>
                <c:pt idx="15">
                  <c:v>-0.23899999999999999</c:v>
                </c:pt>
                <c:pt idx="18">
                  <c:v>-0.28599999999999998</c:v>
                </c:pt>
                <c:pt idx="19">
                  <c:v>-7.2999999999999995E-2</c:v>
                </c:pt>
                <c:pt idx="20">
                  <c:v>-5.1999999999999998E-2</c:v>
                </c:pt>
                <c:pt idx="21">
                  <c:v>-0.10299999999999999</c:v>
                </c:pt>
                <c:pt idx="22">
                  <c:v>-0.33600000000000002</c:v>
                </c:pt>
                <c:pt idx="25">
                  <c:v>-0.218</c:v>
                </c:pt>
                <c:pt idx="26">
                  <c:v>-0.14599999999999999</c:v>
                </c:pt>
                <c:pt idx="28">
                  <c:v>-0.192</c:v>
                </c:pt>
                <c:pt idx="32">
                  <c:v>-0.192</c:v>
                </c:pt>
                <c:pt idx="33">
                  <c:v>-0.122</c:v>
                </c:pt>
                <c:pt idx="34">
                  <c:v>-0.34699999999999998</c:v>
                </c:pt>
                <c:pt idx="35">
                  <c:v>-0.376</c:v>
                </c:pt>
                <c:pt idx="36">
                  <c:v>-0.22500000000000001</c:v>
                </c:pt>
                <c:pt idx="39">
                  <c:v>-0.92700000000000005</c:v>
                </c:pt>
                <c:pt idx="40">
                  <c:v>-0.39200000000000002</c:v>
                </c:pt>
                <c:pt idx="41">
                  <c:v>-0.61799999999999999</c:v>
                </c:pt>
                <c:pt idx="42">
                  <c:v>-0.68600000000000005</c:v>
                </c:pt>
                <c:pt idx="43">
                  <c:v>-0.436</c:v>
                </c:pt>
                <c:pt idx="46">
                  <c:v>-0.39800000000000002</c:v>
                </c:pt>
              </c:numCache>
            </c:numRef>
          </c:val>
          <c:extLst>
            <c:ext xmlns:c16="http://schemas.microsoft.com/office/drawing/2014/chart" uri="{C3380CC4-5D6E-409C-BE32-E72D297353CC}">
              <c16:uniqueId val="{00000000-1B95-7942-85BA-96E19B5D1A95}"/>
            </c:ext>
          </c:extLst>
        </c:ser>
        <c:ser>
          <c:idx val="1"/>
          <c:order val="1"/>
          <c:tx>
            <c:strRef>
              <c:f>'図03_分析1_列11'!$H$1</c:f>
              <c:strCache>
                <c:ptCount val="1"/>
                <c:pt idx="0">
                  <c:v>列3より高い日</c:v>
                </c:pt>
              </c:strCache>
            </c:strRef>
          </c:tx>
          <c:spPr>
            <a:solidFill>
              <a:srgbClr val="E66C64"/>
            </a:solidFill>
            <a:ln w="6350" cap="rnd">
              <a:solidFill>
                <a:srgbClr val="E66C64"/>
              </a:solidFill>
              <a:round/>
            </a:ln>
          </c:spPr>
          <c:invertIfNegative val="0"/>
          <c:cat>
            <c:strRef>
              <c:f>'図03_分析1_列11'!$B$2:$B$48</c:f>
              <c:strCache>
                <c:ptCount val="47"/>
                <c:pt idx="0">
                  <c:v>07-30</c:v>
                </c:pt>
                <c:pt idx="7">
                  <c:v>08-06</c:v>
                </c:pt>
                <c:pt idx="14">
                  <c:v>08-13</c:v>
                </c:pt>
                <c:pt idx="21">
                  <c:v>08-20</c:v>
                </c:pt>
                <c:pt idx="28">
                  <c:v>08-27</c:v>
                </c:pt>
                <c:pt idx="35">
                  <c:v>09-03</c:v>
                </c:pt>
                <c:pt idx="42">
                  <c:v>09-10</c:v>
                </c:pt>
              </c:strCache>
            </c:strRef>
          </c:cat>
          <c:val>
            <c:numRef>
              <c:f>'図03_分析1_列11'!$H$2:$H$48</c:f>
              <c:numCache>
                <c:formatCode>General</c:formatCode>
                <c:ptCount val="47"/>
                <c:pt idx="0">
                  <c:v>7.0000000000000007E-2</c:v>
                </c:pt>
                <c:pt idx="1">
                  <c:v>5.0000000000000001E-3</c:v>
                </c:pt>
                <c:pt idx="27">
                  <c:v>0.111</c:v>
                </c:pt>
                <c:pt idx="29">
                  <c:v>6.0999999999999999E-2</c:v>
                </c:pt>
              </c:numCache>
            </c:numRef>
          </c:val>
          <c:extLst>
            <c:ext xmlns:c16="http://schemas.microsoft.com/office/drawing/2014/chart" uri="{C3380CC4-5D6E-409C-BE32-E72D297353CC}">
              <c16:uniqueId val="{00000001-1B95-7942-85BA-96E19B5D1A95}"/>
            </c:ext>
          </c:extLst>
        </c:ser>
        <c:ser>
          <c:idx val="2"/>
          <c:order val="2"/>
          <c:tx>
            <c:strRef>
              <c:f>'図03_分析1_列11'!$I$1</c:f>
              <c:strCache>
                <c:ptCount val="1"/>
                <c:pt idx="0">
                  <c:v>休日</c:v>
                </c:pt>
              </c:strCache>
            </c:strRef>
          </c:tx>
          <c:spPr>
            <a:solidFill>
              <a:srgbClr val="C9D1DB"/>
            </a:solidFill>
            <a:ln w="6350" cap="rnd">
              <a:solidFill>
                <a:srgbClr val="C9D1DB"/>
              </a:solidFill>
              <a:round/>
            </a:ln>
          </c:spPr>
          <c:invertIfNegative val="0"/>
          <c:cat>
            <c:strRef>
              <c:f>'図03_分析1_列11'!$B$2:$B$48</c:f>
              <c:strCache>
                <c:ptCount val="47"/>
                <c:pt idx="0">
                  <c:v>07-30</c:v>
                </c:pt>
                <c:pt idx="7">
                  <c:v>08-06</c:v>
                </c:pt>
                <c:pt idx="14">
                  <c:v>08-13</c:v>
                </c:pt>
                <c:pt idx="21">
                  <c:v>08-20</c:v>
                </c:pt>
                <c:pt idx="28">
                  <c:v>08-27</c:v>
                </c:pt>
                <c:pt idx="35">
                  <c:v>09-03</c:v>
                </c:pt>
                <c:pt idx="42">
                  <c:v>09-10</c:v>
                </c:pt>
              </c:strCache>
            </c:strRef>
          </c:cat>
          <c:val>
            <c:numRef>
              <c:f>'図03_分析1_列11'!$I$2:$I$48</c:f>
              <c:numCache>
                <c:formatCode>General</c:formatCode>
                <c:ptCount val="47"/>
                <c:pt idx="2">
                  <c:v>-0.108</c:v>
                </c:pt>
                <c:pt idx="3">
                  <c:v>5.5E-2</c:v>
                </c:pt>
                <c:pt idx="9">
                  <c:v>-0.69</c:v>
                </c:pt>
                <c:pt idx="10">
                  <c:v>-0.184</c:v>
                </c:pt>
                <c:pt idx="12">
                  <c:v>-0.374</c:v>
                </c:pt>
                <c:pt idx="16">
                  <c:v>-0.126</c:v>
                </c:pt>
                <c:pt idx="17">
                  <c:v>-0.59299999999999997</c:v>
                </c:pt>
                <c:pt idx="23">
                  <c:v>-0.29899999999999999</c:v>
                </c:pt>
                <c:pt idx="24">
                  <c:v>-0.224</c:v>
                </c:pt>
                <c:pt idx="30">
                  <c:v>-0.56100000000000005</c:v>
                </c:pt>
                <c:pt idx="31">
                  <c:v>-0.58099999999999996</c:v>
                </c:pt>
                <c:pt idx="37">
                  <c:v>-0.45700000000000002</c:v>
                </c:pt>
                <c:pt idx="38">
                  <c:v>-1.3660000000000001</c:v>
                </c:pt>
                <c:pt idx="44">
                  <c:v>-1.246</c:v>
                </c:pt>
                <c:pt idx="45">
                  <c:v>-0.83199999999999996</c:v>
                </c:pt>
              </c:numCache>
            </c:numRef>
          </c:val>
          <c:extLst>
            <c:ext xmlns:c16="http://schemas.microsoft.com/office/drawing/2014/chart" uri="{C3380CC4-5D6E-409C-BE32-E72D297353CC}">
              <c16:uniqueId val="{00000002-1B95-7942-85BA-96E19B5D1A95}"/>
            </c:ext>
          </c:extLst>
        </c:ser>
        <c:dLbls>
          <c:showLegendKey val="0"/>
          <c:showVal val="0"/>
          <c:showCatName val="0"/>
          <c:showSerName val="0"/>
          <c:showPercent val="0"/>
          <c:showBubbleSize val="0"/>
        </c:dLbls>
        <c:gapWidth val="40"/>
        <c:overlap val="100"/>
        <c:axId val="10"/>
        <c:axId val="20"/>
      </c:barChart>
      <c:catAx>
        <c:axId val="10"/>
        <c:scaling>
          <c:orientation val="minMax"/>
        </c:scaling>
        <c:delete val="0"/>
        <c:axPos val="b"/>
        <c:numFmt formatCode="General" sourceLinked="1"/>
        <c:majorTickMark val="out"/>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
          <c:min val="-2"/>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1"/>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barChart>
        <c:barDir val="col"/>
        <c:grouping val="clustered"/>
        <c:varyColors val="0"/>
        <c:ser>
          <c:idx val="0"/>
          <c:order val="0"/>
          <c:tx>
            <c:strRef>
              <c:f>'図04_補正した比較'!$B$1</c:f>
              <c:strCache>
                <c:ptCount val="1"/>
                <c:pt idx="0">
                  <c:v>列8</c:v>
                </c:pt>
              </c:strCache>
            </c:strRef>
          </c:tx>
          <c:spPr>
            <a:solidFill>
              <a:srgbClr val="01B8AA"/>
            </a:solidFill>
            <a:ln w="6350" cap="rnd">
              <a:solidFill>
                <a:srgbClr val="01B8AA"/>
              </a:solidFill>
              <a:round/>
            </a:ln>
          </c:spPr>
          <c:invertIfNegative val="0"/>
          <c:errBars>
            <c:errBarType val="both"/>
            <c:errValType val="cust"/>
            <c:noEndCap val="0"/>
            <c:plus>
              <c:numRef>
                <c:f>'図04_補正した比較'!$F$2:$F$5</c:f>
                <c:numCache>
                  <c:formatCode>General</c:formatCode>
                  <c:ptCount val="4"/>
                  <c:pt idx="0">
                    <c:v>0.186</c:v>
                  </c:pt>
                  <c:pt idx="1">
                    <c:v>0.26100000000000001</c:v>
                  </c:pt>
                  <c:pt idx="2">
                    <c:v>5.8000000000000003E-2</c:v>
                  </c:pt>
                  <c:pt idx="3">
                    <c:v>0.16500000000000001</c:v>
                  </c:pt>
                </c:numCache>
              </c:numRef>
            </c:plus>
            <c:minus>
              <c:numRef>
                <c:f>'図04_補正した比較'!$E$2:$E$5</c:f>
                <c:numCache>
                  <c:formatCode>General</c:formatCode>
                  <c:ptCount val="4"/>
                  <c:pt idx="0">
                    <c:v>0.216</c:v>
                  </c:pt>
                  <c:pt idx="1">
                    <c:v>0.27900000000000003</c:v>
                  </c:pt>
                  <c:pt idx="2">
                    <c:v>5.8999999999999997E-2</c:v>
                  </c:pt>
                  <c:pt idx="3">
                    <c:v>0.16500000000000001</c:v>
                  </c:pt>
                </c:numCache>
              </c:numRef>
            </c:minus>
            <c:spPr>
              <a:ln w="15875" cap="rnd">
                <a:solidFill>
                  <a:srgbClr val="172033"/>
                </a:solidFill>
                <a:round/>
              </a:ln>
            </c:spPr>
          </c:errBars>
          <c:cat>
            <c:strRef>
              <c:f>'図04_補正した比較'!$A$2:$A$5</c:f>
              <c:strCache>
                <c:ptCount val="4"/>
                <c:pt idx="0">
                  <c:v>勤務日の日中
（これまで）</c:v>
                </c:pt>
                <c:pt idx="1">
                  <c:v>両方運転中の日中</c:v>
                </c:pt>
                <c:pt idx="2">
                  <c:v>夜間・両方停止
（基準差）</c:v>
                </c:pt>
                <c:pt idx="3">
                  <c:v>運転中−基準差</c:v>
                </c:pt>
              </c:strCache>
            </c:strRef>
          </c:cat>
          <c:val>
            <c:numRef>
              <c:f>'図04_補正した比較'!$B$2:$B$5</c:f>
              <c:numCache>
                <c:formatCode>General</c:formatCode>
                <c:ptCount val="4"/>
                <c:pt idx="0">
                  <c:v>-0.06</c:v>
                </c:pt>
                <c:pt idx="1">
                  <c:v>0.1</c:v>
                </c:pt>
                <c:pt idx="2">
                  <c:v>-9.8000000000000004E-2</c:v>
                </c:pt>
                <c:pt idx="3">
                  <c:v>0.23</c:v>
                </c:pt>
              </c:numCache>
            </c:numRef>
          </c:val>
          <c:extLst>
            <c:ext xmlns:c16="http://schemas.microsoft.com/office/drawing/2014/chart" uri="{C3380CC4-5D6E-409C-BE32-E72D297353CC}">
              <c16:uniqueId val="{00000000-253A-1B40-974F-824F0113029C}"/>
            </c:ext>
          </c:extLst>
        </c:ser>
        <c:ser>
          <c:idx val="1"/>
          <c:order val="1"/>
          <c:tx>
            <c:strRef>
              <c:f>'図04_補正した比較'!$I$1</c:f>
              <c:strCache>
                <c:ptCount val="1"/>
                <c:pt idx="0">
                  <c:v>列11</c:v>
                </c:pt>
              </c:strCache>
            </c:strRef>
          </c:tx>
          <c:spPr>
            <a:solidFill>
              <a:srgbClr val="118DFF"/>
            </a:solidFill>
            <a:ln w="6350" cap="rnd">
              <a:solidFill>
                <a:srgbClr val="118DFF"/>
              </a:solidFill>
              <a:round/>
            </a:ln>
          </c:spPr>
          <c:invertIfNegative val="0"/>
          <c:errBars>
            <c:errBarType val="both"/>
            <c:errValType val="cust"/>
            <c:noEndCap val="0"/>
            <c:plus>
              <c:numRef>
                <c:f>'図04_補正した比較'!$M$2:$M$5</c:f>
                <c:numCache>
                  <c:formatCode>General</c:formatCode>
                  <c:ptCount val="4"/>
                  <c:pt idx="0">
                    <c:v>0.111</c:v>
                  </c:pt>
                  <c:pt idx="1">
                    <c:v>0.107</c:v>
                  </c:pt>
                  <c:pt idx="2">
                    <c:v>6.4000000000000001E-2</c:v>
                  </c:pt>
                  <c:pt idx="3">
                    <c:v>0.126</c:v>
                  </c:pt>
                </c:numCache>
              </c:numRef>
            </c:plus>
            <c:minus>
              <c:numRef>
                <c:f>'図04_補正した比較'!$L$2:$L$5</c:f>
                <c:numCache>
                  <c:formatCode>General</c:formatCode>
                  <c:ptCount val="4"/>
                  <c:pt idx="0">
                    <c:v>0.122</c:v>
                  </c:pt>
                  <c:pt idx="1">
                    <c:v>0.104</c:v>
                  </c:pt>
                  <c:pt idx="2">
                    <c:v>6.2E-2</c:v>
                  </c:pt>
                  <c:pt idx="3">
                    <c:v>0.13600000000000001</c:v>
                  </c:pt>
                </c:numCache>
              </c:numRef>
            </c:minus>
            <c:spPr>
              <a:ln w="15875" cap="rnd">
                <a:solidFill>
                  <a:srgbClr val="172033"/>
                </a:solidFill>
                <a:round/>
              </a:ln>
            </c:spPr>
          </c:errBars>
          <c:cat>
            <c:strRef>
              <c:f>'図04_補正した比較'!$A$2:$A$5</c:f>
              <c:strCache>
                <c:ptCount val="4"/>
                <c:pt idx="0">
                  <c:v>勤務日の日中
（これまで）</c:v>
                </c:pt>
                <c:pt idx="1">
                  <c:v>両方運転中の日中</c:v>
                </c:pt>
                <c:pt idx="2">
                  <c:v>夜間・両方停止
（基準差）</c:v>
                </c:pt>
                <c:pt idx="3">
                  <c:v>運転中−基準差</c:v>
                </c:pt>
              </c:strCache>
            </c:strRef>
          </c:cat>
          <c:val>
            <c:numRef>
              <c:f>'図04_補正した比較'!$I$2:$I$5</c:f>
              <c:numCache>
                <c:formatCode>General</c:formatCode>
                <c:ptCount val="4"/>
                <c:pt idx="0">
                  <c:v>-0.26500000000000001</c:v>
                </c:pt>
                <c:pt idx="1">
                  <c:v>-0.27400000000000002</c:v>
                </c:pt>
                <c:pt idx="2">
                  <c:v>-0.14599999999999999</c:v>
                </c:pt>
                <c:pt idx="3">
                  <c:v>-0.156</c:v>
                </c:pt>
              </c:numCache>
            </c:numRef>
          </c:val>
          <c:extLst>
            <c:ext xmlns:c16="http://schemas.microsoft.com/office/drawing/2014/chart" uri="{C3380CC4-5D6E-409C-BE32-E72D297353CC}">
              <c16:uniqueId val="{00000001-253A-1B40-974F-824F0113029C}"/>
            </c:ext>
          </c:extLst>
        </c:ser>
        <c:dLbls>
          <c:showLegendKey val="0"/>
          <c:showVal val="0"/>
          <c:showCatName val="0"/>
          <c:showSerName val="0"/>
          <c:showPercent val="0"/>
          <c:showBubbleSize val="0"/>
        </c:dLbls>
        <c:gapWidth val="80"/>
        <c:overlap val="-10"/>
        <c:axId val="10"/>
        <c:axId val="20"/>
      </c:barChart>
      <c:catAx>
        <c:axId val="10"/>
        <c:scaling>
          <c:orientation val="minMax"/>
        </c:scaling>
        <c:delete val="0"/>
        <c:axPos val="b"/>
        <c:numFmt formatCode="General" sourceLinked="1"/>
        <c:majorTickMark val="none"/>
        <c:minorTickMark val="none"/>
        <c:tickLblPos val="low"/>
        <c:spPr>
          <a:ln w="15875" cap="rnd">
            <a:solidFill>
              <a:srgbClr val="5E6B7A"/>
            </a:solidFill>
            <a:round/>
          </a:ln>
        </c:spPr>
        <c:txPr>
          <a:bodyPr/>
          <a:lstStyle/>
          <a:p>
            <a:pPr>
              <a:defRPr sz="700"/>
            </a:pPr>
            <a:endParaRPr lang="ja-JP"/>
          </a:p>
        </c:txPr>
        <c:crossAx val="20"/>
        <c:crosses val="autoZero"/>
        <c:auto val="1"/>
        <c:lblAlgn val="ctr"/>
        <c:lblOffset val="100"/>
        <c:noMultiLvlLbl val="0"/>
      </c:catAx>
      <c:valAx>
        <c:axId val="20"/>
        <c:scaling>
          <c:orientation val="minMax"/>
          <c:max val="0.6"/>
          <c:min val="-0.6"/>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2"/>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barChart>
        <c:barDir val="col"/>
        <c:grouping val="clustered"/>
        <c:varyColors val="0"/>
        <c:ser>
          <c:idx val="0"/>
          <c:order val="0"/>
          <c:tx>
            <c:strRef>
              <c:f>'図05_分析2_時刻別'!$J$1</c:f>
              <c:strCache>
                <c:ptCount val="1"/>
                <c:pt idx="0">
                  <c:v>箱（0より下）</c:v>
                </c:pt>
              </c:strCache>
            </c:strRef>
          </c:tx>
          <c:spPr>
            <a:solidFill>
              <a:srgbClr val="01B8AA"/>
            </a:solidFill>
            <a:ln>
              <a:noFill/>
            </a:ln>
          </c:spPr>
          <c:invertIfNegative val="0"/>
          <c:cat>
            <c:strRef>
              <c:f>'図05_分析2_時刻別'!$A$2:$A$10</c:f>
              <c:strCache>
                <c:ptCount val="9"/>
                <c:pt idx="0">
                  <c:v>9時台</c:v>
                </c:pt>
                <c:pt idx="1">
                  <c:v>10時台</c:v>
                </c:pt>
                <c:pt idx="2">
                  <c:v>11時台</c:v>
                </c:pt>
                <c:pt idx="3">
                  <c:v>12時台</c:v>
                </c:pt>
                <c:pt idx="4">
                  <c:v>13時台</c:v>
                </c:pt>
                <c:pt idx="5">
                  <c:v>14時台</c:v>
                </c:pt>
                <c:pt idx="6">
                  <c:v>15時台</c:v>
                </c:pt>
                <c:pt idx="7">
                  <c:v>16時台</c:v>
                </c:pt>
                <c:pt idx="8">
                  <c:v>17時台</c:v>
                </c:pt>
              </c:strCache>
            </c:strRef>
          </c:cat>
          <c:val>
            <c:numRef>
              <c:f>'図05_分析2_時刻別'!$J$2:$J$10</c:f>
              <c:numCache>
                <c:formatCode>General</c:formatCode>
                <c:ptCount val="9"/>
                <c:pt idx="0">
                  <c:v>-0.441</c:v>
                </c:pt>
                <c:pt idx="1">
                  <c:v>-0.315</c:v>
                </c:pt>
                <c:pt idx="2">
                  <c:v>-0.36199999999999999</c:v>
                </c:pt>
                <c:pt idx="3">
                  <c:v>-0.33300000000000002</c:v>
                </c:pt>
                <c:pt idx="4">
                  <c:v>-0.29299999999999998</c:v>
                </c:pt>
                <c:pt idx="5">
                  <c:v>-0.25800000000000001</c:v>
                </c:pt>
                <c:pt idx="6">
                  <c:v>-0.28899999999999998</c:v>
                </c:pt>
                <c:pt idx="7">
                  <c:v>-0.224</c:v>
                </c:pt>
                <c:pt idx="8">
                  <c:v>-0.442</c:v>
                </c:pt>
              </c:numCache>
            </c:numRef>
          </c:val>
          <c:extLst>
            <c:ext xmlns:c16="http://schemas.microsoft.com/office/drawing/2014/chart" uri="{C3380CC4-5D6E-409C-BE32-E72D297353CC}">
              <c16:uniqueId val="{00000000-A459-D84A-B490-6E10CC271C3D}"/>
            </c:ext>
          </c:extLst>
        </c:ser>
        <c:ser>
          <c:idx val="1"/>
          <c:order val="1"/>
          <c:tx>
            <c:strRef>
              <c:f>'図05_分析2_時刻別'!$K$1</c:f>
              <c:strCache>
                <c:ptCount val="1"/>
                <c:pt idx="0">
                  <c:v>箱（0より上）</c:v>
                </c:pt>
              </c:strCache>
            </c:strRef>
          </c:tx>
          <c:spPr>
            <a:solidFill>
              <a:srgbClr val="01B8AA"/>
            </a:solidFill>
            <a:ln>
              <a:noFill/>
            </a:ln>
          </c:spPr>
          <c:invertIfNegative val="0"/>
          <c:cat>
            <c:strRef>
              <c:f>'図05_分析2_時刻別'!$A$2:$A$10</c:f>
              <c:strCache>
                <c:ptCount val="9"/>
                <c:pt idx="0">
                  <c:v>9時台</c:v>
                </c:pt>
                <c:pt idx="1">
                  <c:v>10時台</c:v>
                </c:pt>
                <c:pt idx="2">
                  <c:v>11時台</c:v>
                </c:pt>
                <c:pt idx="3">
                  <c:v>12時台</c:v>
                </c:pt>
                <c:pt idx="4">
                  <c:v>13時台</c:v>
                </c:pt>
                <c:pt idx="5">
                  <c:v>14時台</c:v>
                </c:pt>
                <c:pt idx="6">
                  <c:v>15時台</c:v>
                </c:pt>
                <c:pt idx="7">
                  <c:v>16時台</c:v>
                </c:pt>
                <c:pt idx="8">
                  <c:v>17時台</c:v>
                </c:pt>
              </c:strCache>
            </c:strRef>
          </c:cat>
          <c:val>
            <c:numRef>
              <c:f>'図05_分析2_時刻別'!$K$2:$K$10</c:f>
              <c:numCache>
                <c:formatCode>General</c:formatCode>
                <c:ptCount val="9"/>
                <c:pt idx="0">
                  <c:v>0.19400000000000001</c:v>
                </c:pt>
                <c:pt idx="1">
                  <c:v>0.28899999999999998</c:v>
                </c:pt>
                <c:pt idx="2">
                  <c:v>0.61899999999999999</c:v>
                </c:pt>
                <c:pt idx="3">
                  <c:v>0.50800000000000001</c:v>
                </c:pt>
                <c:pt idx="4">
                  <c:v>0.193</c:v>
                </c:pt>
                <c:pt idx="5">
                  <c:v>0.35</c:v>
                </c:pt>
                <c:pt idx="6">
                  <c:v>0.22500000000000001</c:v>
                </c:pt>
                <c:pt idx="7">
                  <c:v>6.7000000000000004E-2</c:v>
                </c:pt>
                <c:pt idx="8">
                  <c:v>9.4E-2</c:v>
                </c:pt>
              </c:numCache>
            </c:numRef>
          </c:val>
          <c:extLst>
            <c:ext xmlns:c16="http://schemas.microsoft.com/office/drawing/2014/chart" uri="{C3380CC4-5D6E-409C-BE32-E72D297353CC}">
              <c16:uniqueId val="{00000001-A459-D84A-B490-6E10CC271C3D}"/>
            </c:ext>
          </c:extLst>
        </c:ser>
        <c:ser>
          <c:idx val="2"/>
          <c:order val="2"/>
          <c:tx>
            <c:strRef>
              <c:f>'図05_分析2_時刻別'!$L$1</c:f>
              <c:strCache>
                <c:ptCount val="1"/>
                <c:pt idx="0">
                  <c:v>箱の外（白）</c:v>
                </c:pt>
              </c:strCache>
            </c:strRef>
          </c:tx>
          <c:spPr>
            <a:solidFill>
              <a:srgbClr val="FFFFFF"/>
            </a:solidFill>
            <a:ln>
              <a:noFill/>
            </a:ln>
          </c:spPr>
          <c:invertIfNegative val="0"/>
          <c:cat>
            <c:strRef>
              <c:f>'図05_分析2_時刻別'!$A$2:$A$10</c:f>
              <c:strCache>
                <c:ptCount val="9"/>
                <c:pt idx="0">
                  <c:v>9時台</c:v>
                </c:pt>
                <c:pt idx="1">
                  <c:v>10時台</c:v>
                </c:pt>
                <c:pt idx="2">
                  <c:v>11時台</c:v>
                </c:pt>
                <c:pt idx="3">
                  <c:v>12時台</c:v>
                </c:pt>
                <c:pt idx="4">
                  <c:v>13時台</c:v>
                </c:pt>
                <c:pt idx="5">
                  <c:v>14時台</c:v>
                </c:pt>
                <c:pt idx="6">
                  <c:v>15時台</c:v>
                </c:pt>
                <c:pt idx="7">
                  <c:v>16時台</c:v>
                </c:pt>
                <c:pt idx="8">
                  <c:v>17時台</c:v>
                </c:pt>
              </c:strCache>
            </c:strRef>
          </c:cat>
          <c:val>
            <c:numRef>
              <c:f>'図05_分析2_時刻別'!$L$2:$L$10</c:f>
              <c:numCache>
                <c:formatCode>General</c:formatCode>
                <c:ptCount val="9"/>
              </c:numCache>
            </c:numRef>
          </c:val>
          <c:extLst>
            <c:ext xmlns:c16="http://schemas.microsoft.com/office/drawing/2014/chart" uri="{C3380CC4-5D6E-409C-BE32-E72D297353CC}">
              <c16:uniqueId val="{00000002-A459-D84A-B490-6E10CC271C3D}"/>
            </c:ext>
          </c:extLst>
        </c:ser>
        <c:dLbls>
          <c:showLegendKey val="0"/>
          <c:showVal val="0"/>
          <c:showCatName val="0"/>
          <c:showSerName val="0"/>
          <c:showPercent val="0"/>
          <c:showBubbleSize val="0"/>
        </c:dLbls>
        <c:gapWidth val="120"/>
        <c:overlap val="100"/>
        <c:axId val="10"/>
        <c:axId val="20"/>
      </c:barChart>
      <c:lineChart>
        <c:grouping val="standard"/>
        <c:varyColors val="0"/>
        <c:ser>
          <c:idx val="3"/>
          <c:order val="3"/>
          <c:tx>
            <c:strRef>
              <c:f>'図05_分析2_時刻別'!$E$1</c:f>
              <c:strCache>
                <c:ptCount val="1"/>
                <c:pt idx="0">
                  <c:v>中央値</c:v>
                </c:pt>
              </c:strCache>
            </c:strRef>
          </c:tx>
          <c:spPr>
            <a:ln>
              <a:noFill/>
            </a:ln>
          </c:spPr>
          <c:marker>
            <c:symbol val="dash"/>
            <c:size val="16"/>
            <c:spPr>
              <a:solidFill>
                <a:srgbClr val="FFFFFF"/>
              </a:solidFill>
              <a:ln w="9525" cap="rnd">
                <a:solidFill>
                  <a:srgbClr val="FFFFFF"/>
                </a:solidFill>
                <a:round/>
              </a:ln>
            </c:spPr>
          </c:marker>
          <c:errBars>
            <c:errDir val="y"/>
            <c:errBarType val="both"/>
            <c:errValType val="cust"/>
            <c:noEndCap val="0"/>
            <c:plus>
              <c:numRef>
                <c:f>'図05_分析2_時刻別'!$M$2:$M$10</c:f>
                <c:numCache>
                  <c:formatCode>General</c:formatCode>
                  <c:ptCount val="9"/>
                  <c:pt idx="0">
                    <c:v>0.75800000000000001</c:v>
                  </c:pt>
                  <c:pt idx="1">
                    <c:v>0.86699999999999999</c:v>
                  </c:pt>
                  <c:pt idx="2">
                    <c:v>1.5669999999999999</c:v>
                  </c:pt>
                  <c:pt idx="3">
                    <c:v>1.2669999999999999</c:v>
                  </c:pt>
                  <c:pt idx="4">
                    <c:v>0.77200000000000002</c:v>
                  </c:pt>
                  <c:pt idx="5">
                    <c:v>0.75900000000000001</c:v>
                  </c:pt>
                  <c:pt idx="6">
                    <c:v>0.45</c:v>
                  </c:pt>
                  <c:pt idx="7">
                    <c:v>0.36899999999999999</c:v>
                  </c:pt>
                  <c:pt idx="8">
                    <c:v>0.71</c:v>
                  </c:pt>
                </c:numCache>
              </c:numRef>
            </c:plus>
            <c:minus>
              <c:numRef>
                <c:f>'図05_分析2_時刻別'!$N$2:$N$10</c:f>
                <c:numCache>
                  <c:formatCode>General</c:formatCode>
                  <c:ptCount val="9"/>
                  <c:pt idx="0">
                    <c:v>0.73299999999999998</c:v>
                  </c:pt>
                  <c:pt idx="1">
                    <c:v>0.70799999999999996</c:v>
                  </c:pt>
                  <c:pt idx="2">
                    <c:v>0.92400000000000004</c:v>
                  </c:pt>
                  <c:pt idx="3">
                    <c:v>1.1719999999999999</c:v>
                  </c:pt>
                  <c:pt idx="4">
                    <c:v>0.93600000000000005</c:v>
                  </c:pt>
                  <c:pt idx="5">
                    <c:v>0.98199999999999998</c:v>
                  </c:pt>
                  <c:pt idx="6">
                    <c:v>0.92500000000000004</c:v>
                  </c:pt>
                  <c:pt idx="7">
                    <c:v>0.47899999999999998</c:v>
                  </c:pt>
                  <c:pt idx="8">
                    <c:v>0.78800000000000003</c:v>
                  </c:pt>
                </c:numCache>
              </c:numRef>
            </c:minus>
            <c:spPr>
              <a:ln w="15875" cap="rnd">
                <a:solidFill>
                  <a:srgbClr val="01B8AA"/>
                </a:solidFill>
                <a:round/>
              </a:ln>
            </c:spPr>
          </c:errBars>
          <c:cat>
            <c:strRef>
              <c:f>'図05_分析2_時刻別'!$A$2:$A$10</c:f>
              <c:strCache>
                <c:ptCount val="9"/>
                <c:pt idx="0">
                  <c:v>9時台</c:v>
                </c:pt>
                <c:pt idx="1">
                  <c:v>10時台</c:v>
                </c:pt>
                <c:pt idx="2">
                  <c:v>11時台</c:v>
                </c:pt>
                <c:pt idx="3">
                  <c:v>12時台</c:v>
                </c:pt>
                <c:pt idx="4">
                  <c:v>13時台</c:v>
                </c:pt>
                <c:pt idx="5">
                  <c:v>14時台</c:v>
                </c:pt>
                <c:pt idx="6">
                  <c:v>15時台</c:v>
                </c:pt>
                <c:pt idx="7">
                  <c:v>16時台</c:v>
                </c:pt>
                <c:pt idx="8">
                  <c:v>17時台</c:v>
                </c:pt>
              </c:strCache>
            </c:strRef>
          </c:cat>
          <c:val>
            <c:numRef>
              <c:f>'図05_分析2_時刻別'!$E$2:$E$10</c:f>
              <c:numCache>
                <c:formatCode>General</c:formatCode>
                <c:ptCount val="9"/>
                <c:pt idx="0">
                  <c:v>-0.16800000000000001</c:v>
                </c:pt>
                <c:pt idx="1">
                  <c:v>0</c:v>
                </c:pt>
                <c:pt idx="2">
                  <c:v>-0.23300000000000001</c:v>
                </c:pt>
                <c:pt idx="3">
                  <c:v>-8.7999999999999995E-2</c:v>
                </c:pt>
                <c:pt idx="4">
                  <c:v>-1.7000000000000001E-2</c:v>
                </c:pt>
                <c:pt idx="5">
                  <c:v>6.7000000000000004E-2</c:v>
                </c:pt>
                <c:pt idx="6">
                  <c:v>-1.2999999999999999E-2</c:v>
                </c:pt>
                <c:pt idx="7">
                  <c:v>-5.8000000000000003E-2</c:v>
                </c:pt>
                <c:pt idx="8">
                  <c:v>-0.252</c:v>
                </c:pt>
              </c:numCache>
            </c:numRef>
          </c:val>
          <c:smooth val="0"/>
          <c:extLst>
            <c:ext xmlns:c16="http://schemas.microsoft.com/office/drawing/2014/chart" uri="{C3380CC4-5D6E-409C-BE32-E72D297353CC}">
              <c16:uniqueId val="{00000003-A459-D84A-B490-6E10CC271C3D}"/>
            </c:ext>
          </c:extLst>
        </c:ser>
        <c:dLbls>
          <c:showLegendKey val="0"/>
          <c:showVal val="0"/>
          <c:showCatName val="0"/>
          <c:showSerName val="0"/>
          <c:showPercent val="0"/>
          <c:showBubbleSize val="0"/>
        </c:dLbls>
        <c:marker val="1"/>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5"/>
          <c:min val="-1.5"/>
        </c:scaling>
        <c:delete val="0"/>
        <c:axPos val="l"/>
        <c:title>
          <c:tx>
            <c:rich>
              <a:bodyPr rot="-5400000" vert="horz"/>
              <a:lstStyle/>
              <a:p>
                <a:pPr>
                  <a:defRPr sz="900" b="0"/>
                </a:pPr>
                <a:r>
                  <a:rPr lang="ja-JP" sz="900" b="0"/>
                  <a:t>1時間平均の吸気温度差［℃］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barChart>
        <c:barDir val="col"/>
        <c:grouping val="clustered"/>
        <c:varyColors val="0"/>
        <c:ser>
          <c:idx val="0"/>
          <c:order val="0"/>
          <c:tx>
            <c:strRef>
              <c:f>'図05_分析2_時刻別'!$W$1</c:f>
              <c:strCache>
                <c:ptCount val="1"/>
                <c:pt idx="0">
                  <c:v>箱（0より下）</c:v>
                </c:pt>
              </c:strCache>
            </c:strRef>
          </c:tx>
          <c:spPr>
            <a:solidFill>
              <a:srgbClr val="118DFF"/>
            </a:solidFill>
            <a:ln>
              <a:noFill/>
            </a:ln>
          </c:spPr>
          <c:invertIfNegative val="0"/>
          <c:cat>
            <c:strRef>
              <c:f>'図05_分析2_時刻別'!$A$2:$A$10</c:f>
              <c:strCache>
                <c:ptCount val="9"/>
                <c:pt idx="0">
                  <c:v>9時台</c:v>
                </c:pt>
                <c:pt idx="1">
                  <c:v>10時台</c:v>
                </c:pt>
                <c:pt idx="2">
                  <c:v>11時台</c:v>
                </c:pt>
                <c:pt idx="3">
                  <c:v>12時台</c:v>
                </c:pt>
                <c:pt idx="4">
                  <c:v>13時台</c:v>
                </c:pt>
                <c:pt idx="5">
                  <c:v>14時台</c:v>
                </c:pt>
                <c:pt idx="6">
                  <c:v>15時台</c:v>
                </c:pt>
                <c:pt idx="7">
                  <c:v>16時台</c:v>
                </c:pt>
                <c:pt idx="8">
                  <c:v>17時台</c:v>
                </c:pt>
              </c:strCache>
            </c:strRef>
          </c:cat>
          <c:val>
            <c:numRef>
              <c:f>'図05_分析2_時刻別'!$W$2:$W$10</c:f>
              <c:numCache>
                <c:formatCode>General</c:formatCode>
                <c:ptCount val="9"/>
                <c:pt idx="0">
                  <c:v>-0.61199999999999999</c:v>
                </c:pt>
                <c:pt idx="1">
                  <c:v>-0.42799999999999999</c:v>
                </c:pt>
                <c:pt idx="2">
                  <c:v>-0.51100000000000001</c:v>
                </c:pt>
                <c:pt idx="3">
                  <c:v>-0.41</c:v>
                </c:pt>
                <c:pt idx="4">
                  <c:v>-0.49099999999999999</c:v>
                </c:pt>
                <c:pt idx="5">
                  <c:v>-0.36599999999999999</c:v>
                </c:pt>
                <c:pt idx="6">
                  <c:v>-0.36899999999999999</c:v>
                </c:pt>
                <c:pt idx="7">
                  <c:v>-0.34899999999999998</c:v>
                </c:pt>
                <c:pt idx="8">
                  <c:v>-0.45800000000000002</c:v>
                </c:pt>
              </c:numCache>
            </c:numRef>
          </c:val>
          <c:extLst>
            <c:ext xmlns:c16="http://schemas.microsoft.com/office/drawing/2014/chart" uri="{C3380CC4-5D6E-409C-BE32-E72D297353CC}">
              <c16:uniqueId val="{00000000-24FB-9D4C-A481-252506ABE229}"/>
            </c:ext>
          </c:extLst>
        </c:ser>
        <c:ser>
          <c:idx val="1"/>
          <c:order val="1"/>
          <c:tx>
            <c:strRef>
              <c:f>'図05_分析2_時刻別'!$X$1</c:f>
              <c:strCache>
                <c:ptCount val="1"/>
                <c:pt idx="0">
                  <c:v>箱（0より上）</c:v>
                </c:pt>
              </c:strCache>
            </c:strRef>
          </c:tx>
          <c:spPr>
            <a:solidFill>
              <a:srgbClr val="118DFF"/>
            </a:solidFill>
            <a:ln>
              <a:noFill/>
            </a:ln>
          </c:spPr>
          <c:invertIfNegative val="0"/>
          <c:cat>
            <c:strRef>
              <c:f>'図05_分析2_時刻別'!$A$2:$A$10</c:f>
              <c:strCache>
                <c:ptCount val="9"/>
                <c:pt idx="0">
                  <c:v>9時台</c:v>
                </c:pt>
                <c:pt idx="1">
                  <c:v>10時台</c:v>
                </c:pt>
                <c:pt idx="2">
                  <c:v>11時台</c:v>
                </c:pt>
                <c:pt idx="3">
                  <c:v>12時台</c:v>
                </c:pt>
                <c:pt idx="4">
                  <c:v>13時台</c:v>
                </c:pt>
                <c:pt idx="5">
                  <c:v>14時台</c:v>
                </c:pt>
                <c:pt idx="6">
                  <c:v>15時台</c:v>
                </c:pt>
                <c:pt idx="7">
                  <c:v>16時台</c:v>
                </c:pt>
                <c:pt idx="8">
                  <c:v>17時台</c:v>
                </c:pt>
              </c:strCache>
            </c:strRef>
          </c:cat>
          <c:val>
            <c:numRef>
              <c:f>'図05_分析2_時刻別'!$X$2:$X$10</c:f>
              <c:numCache>
                <c:formatCode>General</c:formatCode>
                <c:ptCount val="9"/>
                <c:pt idx="1">
                  <c:v>5.3999999999999999E-2</c:v>
                </c:pt>
                <c:pt idx="2">
                  <c:v>2.5000000000000001E-2</c:v>
                </c:pt>
                <c:pt idx="3">
                  <c:v>0.11600000000000001</c:v>
                </c:pt>
              </c:numCache>
            </c:numRef>
          </c:val>
          <c:extLst>
            <c:ext xmlns:c16="http://schemas.microsoft.com/office/drawing/2014/chart" uri="{C3380CC4-5D6E-409C-BE32-E72D297353CC}">
              <c16:uniqueId val="{00000001-24FB-9D4C-A481-252506ABE229}"/>
            </c:ext>
          </c:extLst>
        </c:ser>
        <c:ser>
          <c:idx val="2"/>
          <c:order val="2"/>
          <c:tx>
            <c:strRef>
              <c:f>'図05_分析2_時刻別'!$Y$1</c:f>
              <c:strCache>
                <c:ptCount val="1"/>
                <c:pt idx="0">
                  <c:v>箱の外（白）</c:v>
                </c:pt>
              </c:strCache>
            </c:strRef>
          </c:tx>
          <c:spPr>
            <a:solidFill>
              <a:srgbClr val="FFFFFF"/>
            </a:solidFill>
            <a:ln>
              <a:noFill/>
            </a:ln>
          </c:spPr>
          <c:invertIfNegative val="0"/>
          <c:cat>
            <c:strRef>
              <c:f>'図05_分析2_時刻別'!$A$2:$A$10</c:f>
              <c:strCache>
                <c:ptCount val="9"/>
                <c:pt idx="0">
                  <c:v>9時台</c:v>
                </c:pt>
                <c:pt idx="1">
                  <c:v>10時台</c:v>
                </c:pt>
                <c:pt idx="2">
                  <c:v>11時台</c:v>
                </c:pt>
                <c:pt idx="3">
                  <c:v>12時台</c:v>
                </c:pt>
                <c:pt idx="4">
                  <c:v>13時台</c:v>
                </c:pt>
                <c:pt idx="5">
                  <c:v>14時台</c:v>
                </c:pt>
                <c:pt idx="6">
                  <c:v>15時台</c:v>
                </c:pt>
                <c:pt idx="7">
                  <c:v>16時台</c:v>
                </c:pt>
                <c:pt idx="8">
                  <c:v>17時台</c:v>
                </c:pt>
              </c:strCache>
            </c:strRef>
          </c:cat>
          <c:val>
            <c:numRef>
              <c:f>'図05_分析2_時刻別'!$Y$2:$Y$10</c:f>
              <c:numCache>
                <c:formatCode>General</c:formatCode>
                <c:ptCount val="9"/>
                <c:pt idx="0">
                  <c:v>-8.8999999999999996E-2</c:v>
                </c:pt>
                <c:pt idx="4">
                  <c:v>-0.108</c:v>
                </c:pt>
                <c:pt idx="5">
                  <c:v>-6.7000000000000004E-2</c:v>
                </c:pt>
                <c:pt idx="6">
                  <c:v>-1.7000000000000001E-2</c:v>
                </c:pt>
                <c:pt idx="7">
                  <c:v>-0.107</c:v>
                </c:pt>
                <c:pt idx="8">
                  <c:v>-0.112</c:v>
                </c:pt>
              </c:numCache>
            </c:numRef>
          </c:val>
          <c:extLst>
            <c:ext xmlns:c16="http://schemas.microsoft.com/office/drawing/2014/chart" uri="{C3380CC4-5D6E-409C-BE32-E72D297353CC}">
              <c16:uniqueId val="{00000002-24FB-9D4C-A481-252506ABE229}"/>
            </c:ext>
          </c:extLst>
        </c:ser>
        <c:dLbls>
          <c:showLegendKey val="0"/>
          <c:showVal val="0"/>
          <c:showCatName val="0"/>
          <c:showSerName val="0"/>
          <c:showPercent val="0"/>
          <c:showBubbleSize val="0"/>
        </c:dLbls>
        <c:gapWidth val="120"/>
        <c:overlap val="100"/>
        <c:axId val="10"/>
        <c:axId val="20"/>
      </c:barChart>
      <c:lineChart>
        <c:grouping val="standard"/>
        <c:varyColors val="0"/>
        <c:ser>
          <c:idx val="3"/>
          <c:order val="3"/>
          <c:tx>
            <c:strRef>
              <c:f>'図05_分析2_時刻別'!$R$1</c:f>
              <c:strCache>
                <c:ptCount val="1"/>
                <c:pt idx="0">
                  <c:v>中央値</c:v>
                </c:pt>
              </c:strCache>
            </c:strRef>
          </c:tx>
          <c:spPr>
            <a:ln>
              <a:noFill/>
            </a:ln>
          </c:spPr>
          <c:marker>
            <c:symbol val="dash"/>
            <c:size val="16"/>
            <c:spPr>
              <a:solidFill>
                <a:srgbClr val="FFFFFF"/>
              </a:solidFill>
              <a:ln w="9525" cap="rnd">
                <a:solidFill>
                  <a:srgbClr val="FFFFFF"/>
                </a:solidFill>
                <a:round/>
              </a:ln>
            </c:spPr>
          </c:marker>
          <c:errBars>
            <c:errDir val="y"/>
            <c:errBarType val="both"/>
            <c:errValType val="cust"/>
            <c:noEndCap val="0"/>
            <c:plus>
              <c:numRef>
                <c:f>'図05_分析2_時刻別'!$Z$2:$Z$10</c:f>
                <c:numCache>
                  <c:formatCode>General</c:formatCode>
                  <c:ptCount val="9"/>
                  <c:pt idx="0">
                    <c:v>0.54400000000000004</c:v>
                  </c:pt>
                  <c:pt idx="1">
                    <c:v>0.49299999999999999</c:v>
                  </c:pt>
                  <c:pt idx="2">
                    <c:v>0.96</c:v>
                  </c:pt>
                  <c:pt idx="3">
                    <c:v>0.60799999999999998</c:v>
                  </c:pt>
                  <c:pt idx="4">
                    <c:v>0.57599999999999996</c:v>
                  </c:pt>
                  <c:pt idx="5">
                    <c:v>0.51700000000000002</c:v>
                  </c:pt>
                  <c:pt idx="6">
                    <c:v>0.51800000000000002</c:v>
                  </c:pt>
                  <c:pt idx="7">
                    <c:v>0.38300000000000001</c:v>
                  </c:pt>
                  <c:pt idx="8">
                    <c:v>0.39</c:v>
                  </c:pt>
                </c:numCache>
              </c:numRef>
            </c:plus>
            <c:minus>
              <c:numRef>
                <c:f>'図05_分析2_時刻別'!$AA$2:$AA$10</c:f>
                <c:numCache>
                  <c:formatCode>General</c:formatCode>
                  <c:ptCount val="9"/>
                  <c:pt idx="0">
                    <c:v>0.82499999999999996</c:v>
                  </c:pt>
                  <c:pt idx="1">
                    <c:v>0.96799999999999997</c:v>
                  </c:pt>
                  <c:pt idx="2">
                    <c:v>1.0469999999999999</c:v>
                  </c:pt>
                  <c:pt idx="3">
                    <c:v>0.98299999999999998</c:v>
                  </c:pt>
                  <c:pt idx="4">
                    <c:v>0.67600000000000005</c:v>
                  </c:pt>
                  <c:pt idx="5">
                    <c:v>0.47199999999999998</c:v>
                  </c:pt>
                  <c:pt idx="6">
                    <c:v>0.52800000000000002</c:v>
                  </c:pt>
                  <c:pt idx="7">
                    <c:v>0.46</c:v>
                  </c:pt>
                  <c:pt idx="8">
                    <c:v>0.4</c:v>
                  </c:pt>
                </c:numCache>
              </c:numRef>
            </c:minus>
            <c:spPr>
              <a:ln w="15875" cap="rnd">
                <a:solidFill>
                  <a:srgbClr val="118DFF"/>
                </a:solidFill>
                <a:round/>
              </a:ln>
            </c:spPr>
          </c:errBars>
          <c:cat>
            <c:strRef>
              <c:f>'図05_分析2_時刻別'!$A$2:$A$10</c:f>
              <c:strCache>
                <c:ptCount val="9"/>
                <c:pt idx="0">
                  <c:v>9時台</c:v>
                </c:pt>
                <c:pt idx="1">
                  <c:v>10時台</c:v>
                </c:pt>
                <c:pt idx="2">
                  <c:v>11時台</c:v>
                </c:pt>
                <c:pt idx="3">
                  <c:v>12時台</c:v>
                </c:pt>
                <c:pt idx="4">
                  <c:v>13時台</c:v>
                </c:pt>
                <c:pt idx="5">
                  <c:v>14時台</c:v>
                </c:pt>
                <c:pt idx="6">
                  <c:v>15時台</c:v>
                </c:pt>
                <c:pt idx="7">
                  <c:v>16時台</c:v>
                </c:pt>
                <c:pt idx="8">
                  <c:v>17時台</c:v>
                </c:pt>
              </c:strCache>
            </c:strRef>
          </c:cat>
          <c:val>
            <c:numRef>
              <c:f>'図05_分析2_時刻別'!$R$2:$R$10</c:f>
              <c:numCache>
                <c:formatCode>General</c:formatCode>
                <c:ptCount val="9"/>
                <c:pt idx="0">
                  <c:v>-0.33300000000000002</c:v>
                </c:pt>
                <c:pt idx="1">
                  <c:v>-0.14799999999999999</c:v>
                </c:pt>
                <c:pt idx="2">
                  <c:v>-0.25</c:v>
                </c:pt>
                <c:pt idx="3">
                  <c:v>-0.14599999999999999</c:v>
                </c:pt>
                <c:pt idx="4">
                  <c:v>-0.29899999999999999</c:v>
                </c:pt>
                <c:pt idx="5">
                  <c:v>-0.223</c:v>
                </c:pt>
                <c:pt idx="6">
                  <c:v>-0.21099999999999999</c:v>
                </c:pt>
                <c:pt idx="7">
                  <c:v>-0.16900000000000001</c:v>
                </c:pt>
                <c:pt idx="8">
                  <c:v>-0.33700000000000002</c:v>
                </c:pt>
              </c:numCache>
            </c:numRef>
          </c:val>
          <c:smooth val="0"/>
          <c:extLst>
            <c:ext xmlns:c16="http://schemas.microsoft.com/office/drawing/2014/chart" uri="{C3380CC4-5D6E-409C-BE32-E72D297353CC}">
              <c16:uniqueId val="{00000003-24FB-9D4C-A481-252506ABE229}"/>
            </c:ext>
          </c:extLst>
        </c:ser>
        <c:dLbls>
          <c:showLegendKey val="0"/>
          <c:showVal val="0"/>
          <c:showCatName val="0"/>
          <c:showSerName val="0"/>
          <c:showPercent val="0"/>
          <c:showBubbleSize val="0"/>
        </c:dLbls>
        <c:marker val="1"/>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5"/>
          <c:min val="-1.5"/>
        </c:scaling>
        <c:delete val="0"/>
        <c:axPos val="l"/>
        <c:title>
          <c:tx>
            <c:rich>
              <a:bodyPr rot="-5400000" vert="horz"/>
              <a:lstStyle/>
              <a:p>
                <a:pPr>
                  <a:defRPr sz="900" b="0"/>
                </a:pPr>
                <a:r>
                  <a:rPr lang="ja-JP" sz="900" b="0"/>
                  <a:t>1時間平均の吸気温度差［℃］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4"/>
          <c:y val="0.2"/>
          <c:w val="0.72"/>
          <c:h val="0.57999999999999996"/>
        </c:manualLayout>
      </c:layout>
      <c:lineChart>
        <c:grouping val="standard"/>
        <c:varyColors val="0"/>
        <c:ser>
          <c:idx val="0"/>
          <c:order val="0"/>
          <c:tx>
            <c:strRef>
              <c:f>'図06_分析3_列8区画別'!$D$1</c:f>
              <c:strCache>
                <c:ptCount val="1"/>
                <c:pt idx="0">
                  <c:v>列3</c:v>
                </c:pt>
              </c:strCache>
            </c:strRef>
          </c:tx>
          <c:spPr>
            <a:ln w="22225" cap="rnd">
              <a:solidFill>
                <a:srgbClr val="5E6B7A"/>
              </a:solidFill>
              <a:round/>
            </a:ln>
          </c:spPr>
          <c:marker>
            <c:symbol val="none"/>
          </c:marker>
          <c:cat>
            <c:strRef>
              <c:f>'図06_分析3_列8区画別'!$B$2:$B$48</c:f>
              <c:strCache>
                <c:ptCount val="47"/>
                <c:pt idx="0">
                  <c:v>07-30</c:v>
                </c:pt>
                <c:pt idx="14">
                  <c:v>08-13</c:v>
                </c:pt>
                <c:pt idx="28">
                  <c:v>08-27</c:v>
                </c:pt>
                <c:pt idx="42">
                  <c:v>09-10</c:v>
                </c:pt>
              </c:strCache>
            </c:strRef>
          </c:cat>
          <c:val>
            <c:numRef>
              <c:f>'図06_分析3_列8区画別'!$D$2:$D$48</c:f>
              <c:numCache>
                <c:formatCode>General</c:formatCode>
                <c:ptCount val="47"/>
                <c:pt idx="0">
                  <c:v>34.844000000000001</c:v>
                </c:pt>
                <c:pt idx="1">
                  <c:v>33.805999999999997</c:v>
                </c:pt>
                <c:pt idx="2">
                  <c:v>34.625999999999998</c:v>
                </c:pt>
                <c:pt idx="3">
                  <c:v>32.926000000000002</c:v>
                </c:pt>
                <c:pt idx="4">
                  <c:v>26.652000000000001</c:v>
                </c:pt>
                <c:pt idx="5">
                  <c:v>28.417000000000002</c:v>
                </c:pt>
                <c:pt idx="6">
                  <c:v>29.794</c:v>
                </c:pt>
                <c:pt idx="7">
                  <c:v>29.934999999999999</c:v>
                </c:pt>
                <c:pt idx="8">
                  <c:v>32.884</c:v>
                </c:pt>
                <c:pt idx="9">
                  <c:v>32.78</c:v>
                </c:pt>
                <c:pt idx="10">
                  <c:v>32.002000000000002</c:v>
                </c:pt>
                <c:pt idx="11">
                  <c:v>29.981000000000002</c:v>
                </c:pt>
                <c:pt idx="12">
                  <c:v>28.672999999999998</c:v>
                </c:pt>
                <c:pt idx="13">
                  <c:v>27.934000000000001</c:v>
                </c:pt>
                <c:pt idx="14">
                  <c:v>26.167999999999999</c:v>
                </c:pt>
                <c:pt idx="15">
                  <c:v>28.777999999999999</c:v>
                </c:pt>
                <c:pt idx="16">
                  <c:v>27.594999999999999</c:v>
                </c:pt>
                <c:pt idx="17">
                  <c:v>25.481999999999999</c:v>
                </c:pt>
                <c:pt idx="18">
                  <c:v>29.571000000000002</c:v>
                </c:pt>
                <c:pt idx="19">
                  <c:v>30.827999999999999</c:v>
                </c:pt>
                <c:pt idx="20">
                  <c:v>31.135999999999999</c:v>
                </c:pt>
                <c:pt idx="21">
                  <c:v>31.835000000000001</c:v>
                </c:pt>
                <c:pt idx="22">
                  <c:v>31.152000000000001</c:v>
                </c:pt>
                <c:pt idx="23">
                  <c:v>29.071000000000002</c:v>
                </c:pt>
                <c:pt idx="24">
                  <c:v>29.478000000000002</c:v>
                </c:pt>
                <c:pt idx="25">
                  <c:v>32.597999999999999</c:v>
                </c:pt>
                <c:pt idx="26">
                  <c:v>33.969000000000001</c:v>
                </c:pt>
                <c:pt idx="27">
                  <c:v>33.707000000000001</c:v>
                </c:pt>
                <c:pt idx="28">
                  <c:v>28.148</c:v>
                </c:pt>
                <c:pt idx="29">
                  <c:v>31.925000000000001</c:v>
                </c:pt>
                <c:pt idx="30">
                  <c:v>23.155000000000001</c:v>
                </c:pt>
                <c:pt idx="31">
                  <c:v>26.053000000000001</c:v>
                </c:pt>
                <c:pt idx="32">
                  <c:v>27.253</c:v>
                </c:pt>
                <c:pt idx="33">
                  <c:v>28.094999999999999</c:v>
                </c:pt>
                <c:pt idx="34">
                  <c:v>30.327000000000002</c:v>
                </c:pt>
                <c:pt idx="35">
                  <c:v>30.018999999999998</c:v>
                </c:pt>
                <c:pt idx="36">
                  <c:v>26.114999999999998</c:v>
                </c:pt>
                <c:pt idx="37">
                  <c:v>24.271999999999998</c:v>
                </c:pt>
                <c:pt idx="38">
                  <c:v>21.812999999999999</c:v>
                </c:pt>
                <c:pt idx="39">
                  <c:v>24.459</c:v>
                </c:pt>
                <c:pt idx="40">
                  <c:v>27.795000000000002</c:v>
                </c:pt>
                <c:pt idx="41">
                  <c:v>29.228999999999999</c:v>
                </c:pt>
                <c:pt idx="42">
                  <c:v>22.538</c:v>
                </c:pt>
                <c:pt idx="43">
                  <c:v>21.032</c:v>
                </c:pt>
                <c:pt idx="44">
                  <c:v>23.79</c:v>
                </c:pt>
                <c:pt idx="45">
                  <c:v>24.433</c:v>
                </c:pt>
                <c:pt idx="46">
                  <c:v>31.122</c:v>
                </c:pt>
              </c:numCache>
            </c:numRef>
          </c:val>
          <c:smooth val="0"/>
          <c:extLst>
            <c:ext xmlns:c16="http://schemas.microsoft.com/office/drawing/2014/chart" uri="{C3380CC4-5D6E-409C-BE32-E72D297353CC}">
              <c16:uniqueId val="{00000000-2FFB-7445-9D4F-E9AF33BD26B4}"/>
            </c:ext>
          </c:extLst>
        </c:ser>
        <c:ser>
          <c:idx val="1"/>
          <c:order val="1"/>
          <c:tx>
            <c:strRef>
              <c:f>'図06_分析3_列8区画別'!$E$1</c:f>
              <c:strCache>
                <c:ptCount val="1"/>
                <c:pt idx="0">
                  <c:v>列8</c:v>
                </c:pt>
              </c:strCache>
            </c:strRef>
          </c:tx>
          <c:spPr>
            <a:ln w="22225" cap="rnd">
              <a:solidFill>
                <a:srgbClr val="01B8AA"/>
              </a:solidFill>
              <a:round/>
            </a:ln>
          </c:spPr>
          <c:marker>
            <c:symbol val="none"/>
          </c:marker>
          <c:cat>
            <c:strRef>
              <c:f>'図06_分析3_列8区画別'!$B$2:$B$48</c:f>
              <c:strCache>
                <c:ptCount val="47"/>
                <c:pt idx="0">
                  <c:v>07-30</c:v>
                </c:pt>
                <c:pt idx="14">
                  <c:v>08-13</c:v>
                </c:pt>
                <c:pt idx="28">
                  <c:v>08-27</c:v>
                </c:pt>
                <c:pt idx="42">
                  <c:v>09-10</c:v>
                </c:pt>
              </c:strCache>
            </c:strRef>
          </c:cat>
          <c:val>
            <c:numRef>
              <c:f>'図06_分析3_列8区画別'!$E$2:$E$48</c:f>
              <c:numCache>
                <c:formatCode>General</c:formatCode>
                <c:ptCount val="47"/>
                <c:pt idx="0">
                  <c:v>36.066000000000003</c:v>
                </c:pt>
                <c:pt idx="1">
                  <c:v>34.780999999999999</c:v>
                </c:pt>
                <c:pt idx="2">
                  <c:v>34.837000000000003</c:v>
                </c:pt>
                <c:pt idx="3">
                  <c:v>33.619999999999997</c:v>
                </c:pt>
                <c:pt idx="4">
                  <c:v>27.462</c:v>
                </c:pt>
                <c:pt idx="5">
                  <c:v>29.132999999999999</c:v>
                </c:pt>
                <c:pt idx="6">
                  <c:v>30.399000000000001</c:v>
                </c:pt>
                <c:pt idx="7">
                  <c:v>30.771999999999998</c:v>
                </c:pt>
                <c:pt idx="8">
                  <c:v>33.453000000000003</c:v>
                </c:pt>
                <c:pt idx="9">
                  <c:v>32.466999999999999</c:v>
                </c:pt>
                <c:pt idx="10">
                  <c:v>32.360999999999997</c:v>
                </c:pt>
                <c:pt idx="11">
                  <c:v>31.042000000000002</c:v>
                </c:pt>
                <c:pt idx="12">
                  <c:v>28.74</c:v>
                </c:pt>
                <c:pt idx="13">
                  <c:v>28.297000000000001</c:v>
                </c:pt>
                <c:pt idx="14">
                  <c:v>26.373999999999999</c:v>
                </c:pt>
                <c:pt idx="15">
                  <c:v>29.187999999999999</c:v>
                </c:pt>
                <c:pt idx="16">
                  <c:v>27.635999999999999</c:v>
                </c:pt>
                <c:pt idx="17">
                  <c:v>25.215</c:v>
                </c:pt>
                <c:pt idx="18">
                  <c:v>30.231000000000002</c:v>
                </c:pt>
                <c:pt idx="19">
                  <c:v>31.75</c:v>
                </c:pt>
                <c:pt idx="20">
                  <c:v>32.008000000000003</c:v>
                </c:pt>
                <c:pt idx="21">
                  <c:v>32.716000000000001</c:v>
                </c:pt>
                <c:pt idx="22">
                  <c:v>31.847000000000001</c:v>
                </c:pt>
                <c:pt idx="23">
                  <c:v>28.917000000000002</c:v>
                </c:pt>
                <c:pt idx="24">
                  <c:v>29.52</c:v>
                </c:pt>
                <c:pt idx="25">
                  <c:v>33.697000000000003</c:v>
                </c:pt>
                <c:pt idx="26">
                  <c:v>35.061</c:v>
                </c:pt>
                <c:pt idx="27">
                  <c:v>35.337000000000003</c:v>
                </c:pt>
                <c:pt idx="28">
                  <c:v>28.763000000000002</c:v>
                </c:pt>
                <c:pt idx="29">
                  <c:v>33.143999999999998</c:v>
                </c:pt>
                <c:pt idx="30">
                  <c:v>22.507000000000001</c:v>
                </c:pt>
                <c:pt idx="31">
                  <c:v>25.722000000000001</c:v>
                </c:pt>
                <c:pt idx="32">
                  <c:v>27.866</c:v>
                </c:pt>
                <c:pt idx="33">
                  <c:v>28.594000000000001</c:v>
                </c:pt>
                <c:pt idx="34">
                  <c:v>30.881</c:v>
                </c:pt>
                <c:pt idx="35">
                  <c:v>30.411999999999999</c:v>
                </c:pt>
                <c:pt idx="36">
                  <c:v>26.434999999999999</c:v>
                </c:pt>
                <c:pt idx="37">
                  <c:v>24.359000000000002</c:v>
                </c:pt>
                <c:pt idx="38">
                  <c:v>20.259</c:v>
                </c:pt>
                <c:pt idx="39">
                  <c:v>24.198</c:v>
                </c:pt>
                <c:pt idx="40">
                  <c:v>28.146000000000001</c:v>
                </c:pt>
                <c:pt idx="41">
                  <c:v>29.254000000000001</c:v>
                </c:pt>
                <c:pt idx="42">
                  <c:v>22.277000000000001</c:v>
                </c:pt>
                <c:pt idx="43">
                  <c:v>20.995000000000001</c:v>
                </c:pt>
                <c:pt idx="44">
                  <c:v>22.992999999999999</c:v>
                </c:pt>
                <c:pt idx="45">
                  <c:v>23.847000000000001</c:v>
                </c:pt>
                <c:pt idx="46">
                  <c:v>31.689</c:v>
                </c:pt>
              </c:numCache>
            </c:numRef>
          </c:val>
          <c:smooth val="0"/>
          <c:extLst>
            <c:ext xmlns:c16="http://schemas.microsoft.com/office/drawing/2014/chart" uri="{C3380CC4-5D6E-409C-BE32-E72D297353CC}">
              <c16:uniqueId val="{00000001-2FFB-7445-9D4F-E9AF33BD26B4}"/>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out"/>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40"/>
          <c:min val="15"/>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5"/>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4"/>
          <c:y val="0.05"/>
          <c:w val="0.72"/>
          <c:h val="0.68"/>
        </c:manualLayout>
      </c:layout>
      <c:barChart>
        <c:barDir val="col"/>
        <c:grouping val="clustered"/>
        <c:varyColors val="0"/>
        <c:ser>
          <c:idx val="0"/>
          <c:order val="0"/>
          <c:tx>
            <c:strRef>
              <c:f>'図06_分析3_列8区画別'!$G$1</c:f>
              <c:strCache>
                <c:ptCount val="1"/>
                <c:pt idx="0">
                  <c:v>区画1_列3より低い日</c:v>
                </c:pt>
              </c:strCache>
            </c:strRef>
          </c:tx>
          <c:spPr>
            <a:solidFill>
              <a:srgbClr val="01B8AA"/>
            </a:solidFill>
            <a:ln w="6350" cap="rnd">
              <a:solidFill>
                <a:srgbClr val="01B8AA"/>
              </a:solidFill>
              <a:round/>
            </a:ln>
          </c:spPr>
          <c:invertIfNegative val="0"/>
          <c:cat>
            <c:strRef>
              <c:f>'図06_分析3_列8区画別'!$B$2:$B$48</c:f>
              <c:strCache>
                <c:ptCount val="47"/>
                <c:pt idx="0">
                  <c:v>07-30</c:v>
                </c:pt>
                <c:pt idx="14">
                  <c:v>08-13</c:v>
                </c:pt>
                <c:pt idx="28">
                  <c:v>08-27</c:v>
                </c:pt>
                <c:pt idx="42">
                  <c:v>09-10</c:v>
                </c:pt>
              </c:strCache>
            </c:strRef>
          </c:cat>
          <c:val>
            <c:numRef>
              <c:f>'図06_分析3_列8区画別'!$G$2:$G$48</c:f>
              <c:numCache>
                <c:formatCode>General</c:formatCode>
                <c:ptCount val="47"/>
                <c:pt idx="39">
                  <c:v>-0.26100000000000001</c:v>
                </c:pt>
                <c:pt idx="42">
                  <c:v>-0.26100000000000001</c:v>
                </c:pt>
                <c:pt idx="43">
                  <c:v>-3.6999999999999998E-2</c:v>
                </c:pt>
              </c:numCache>
            </c:numRef>
          </c:val>
          <c:extLst>
            <c:ext xmlns:c16="http://schemas.microsoft.com/office/drawing/2014/chart" uri="{C3380CC4-5D6E-409C-BE32-E72D297353CC}">
              <c16:uniqueId val="{00000000-C4CB-944D-B1E0-3EA9694E7246}"/>
            </c:ext>
          </c:extLst>
        </c:ser>
        <c:ser>
          <c:idx val="1"/>
          <c:order val="1"/>
          <c:tx>
            <c:strRef>
              <c:f>'図06_分析3_列8区画別'!$H$1</c:f>
              <c:strCache>
                <c:ptCount val="1"/>
                <c:pt idx="0">
                  <c:v>区画1_列3より高い日</c:v>
                </c:pt>
              </c:strCache>
            </c:strRef>
          </c:tx>
          <c:spPr>
            <a:solidFill>
              <a:srgbClr val="E66C64"/>
            </a:solidFill>
            <a:ln w="6350" cap="rnd">
              <a:solidFill>
                <a:srgbClr val="E66C64"/>
              </a:solidFill>
              <a:round/>
            </a:ln>
          </c:spPr>
          <c:invertIfNegative val="0"/>
          <c:cat>
            <c:strRef>
              <c:f>'図06_分析3_列8区画別'!$B$2:$B$48</c:f>
              <c:strCache>
                <c:ptCount val="47"/>
                <c:pt idx="0">
                  <c:v>07-30</c:v>
                </c:pt>
                <c:pt idx="14">
                  <c:v>08-13</c:v>
                </c:pt>
                <c:pt idx="28">
                  <c:v>08-27</c:v>
                </c:pt>
                <c:pt idx="42">
                  <c:v>09-10</c:v>
                </c:pt>
              </c:strCache>
            </c:strRef>
          </c:cat>
          <c:val>
            <c:numRef>
              <c:f>'図06_分析3_列8区画別'!$H$2:$H$48</c:f>
              <c:numCache>
                <c:formatCode>General</c:formatCode>
                <c:ptCount val="47"/>
                <c:pt idx="0">
                  <c:v>1.2210000000000001</c:v>
                </c:pt>
                <c:pt idx="1">
                  <c:v>0.97499999999999998</c:v>
                </c:pt>
                <c:pt idx="4">
                  <c:v>0.81</c:v>
                </c:pt>
                <c:pt idx="5">
                  <c:v>0.71599999999999997</c:v>
                </c:pt>
                <c:pt idx="6">
                  <c:v>0.60499999999999998</c:v>
                </c:pt>
                <c:pt idx="7">
                  <c:v>0.83699999999999997</c:v>
                </c:pt>
                <c:pt idx="8">
                  <c:v>0.56799999999999995</c:v>
                </c:pt>
                <c:pt idx="11">
                  <c:v>1.0609999999999999</c:v>
                </c:pt>
                <c:pt idx="13">
                  <c:v>0.36299999999999999</c:v>
                </c:pt>
                <c:pt idx="14">
                  <c:v>0.20599999999999999</c:v>
                </c:pt>
                <c:pt idx="15">
                  <c:v>0.41</c:v>
                </c:pt>
                <c:pt idx="18">
                  <c:v>0.66</c:v>
                </c:pt>
                <c:pt idx="19">
                  <c:v>0.92200000000000004</c:v>
                </c:pt>
                <c:pt idx="20">
                  <c:v>0.872</c:v>
                </c:pt>
                <c:pt idx="21">
                  <c:v>0.88200000000000001</c:v>
                </c:pt>
                <c:pt idx="22">
                  <c:v>0.69499999999999995</c:v>
                </c:pt>
                <c:pt idx="25">
                  <c:v>1.099</c:v>
                </c:pt>
                <c:pt idx="26">
                  <c:v>1.0920000000000001</c:v>
                </c:pt>
                <c:pt idx="27">
                  <c:v>1.63</c:v>
                </c:pt>
                <c:pt idx="28">
                  <c:v>0.61499999999999999</c:v>
                </c:pt>
                <c:pt idx="29">
                  <c:v>1.2190000000000001</c:v>
                </c:pt>
                <c:pt idx="32">
                  <c:v>0.61299999999999999</c:v>
                </c:pt>
                <c:pt idx="33">
                  <c:v>0.499</c:v>
                </c:pt>
                <c:pt idx="34">
                  <c:v>0.55400000000000005</c:v>
                </c:pt>
                <c:pt idx="35">
                  <c:v>0.39300000000000002</c:v>
                </c:pt>
                <c:pt idx="36">
                  <c:v>0.32</c:v>
                </c:pt>
                <c:pt idx="40">
                  <c:v>0.35099999999999998</c:v>
                </c:pt>
                <c:pt idx="41">
                  <c:v>2.5000000000000001E-2</c:v>
                </c:pt>
                <c:pt idx="46">
                  <c:v>0.56699999999999995</c:v>
                </c:pt>
              </c:numCache>
            </c:numRef>
          </c:val>
          <c:extLst>
            <c:ext xmlns:c16="http://schemas.microsoft.com/office/drawing/2014/chart" uri="{C3380CC4-5D6E-409C-BE32-E72D297353CC}">
              <c16:uniqueId val="{00000001-C4CB-944D-B1E0-3EA9694E7246}"/>
            </c:ext>
          </c:extLst>
        </c:ser>
        <c:ser>
          <c:idx val="2"/>
          <c:order val="2"/>
          <c:tx>
            <c:strRef>
              <c:f>'図06_分析3_列8区画別'!$I$1</c:f>
              <c:strCache>
                <c:ptCount val="1"/>
                <c:pt idx="0">
                  <c:v>区画1_休日</c:v>
                </c:pt>
              </c:strCache>
            </c:strRef>
          </c:tx>
          <c:spPr>
            <a:solidFill>
              <a:srgbClr val="C9D1DB"/>
            </a:solidFill>
            <a:ln w="6350" cap="rnd">
              <a:solidFill>
                <a:srgbClr val="C9D1DB"/>
              </a:solidFill>
              <a:round/>
            </a:ln>
          </c:spPr>
          <c:invertIfNegative val="0"/>
          <c:cat>
            <c:strRef>
              <c:f>'図06_分析3_列8区画別'!$B$2:$B$48</c:f>
              <c:strCache>
                <c:ptCount val="47"/>
                <c:pt idx="0">
                  <c:v>07-30</c:v>
                </c:pt>
                <c:pt idx="14">
                  <c:v>08-13</c:v>
                </c:pt>
                <c:pt idx="28">
                  <c:v>08-27</c:v>
                </c:pt>
                <c:pt idx="42">
                  <c:v>09-10</c:v>
                </c:pt>
              </c:strCache>
            </c:strRef>
          </c:cat>
          <c:val>
            <c:numRef>
              <c:f>'図06_分析3_列8区画別'!$I$2:$I$48</c:f>
              <c:numCache>
                <c:formatCode>General</c:formatCode>
                <c:ptCount val="47"/>
                <c:pt idx="2">
                  <c:v>0.21099999999999999</c:v>
                </c:pt>
                <c:pt idx="3">
                  <c:v>0.69399999999999995</c:v>
                </c:pt>
                <c:pt idx="9">
                  <c:v>-0.314</c:v>
                </c:pt>
                <c:pt idx="10">
                  <c:v>0.35899999999999999</c:v>
                </c:pt>
                <c:pt idx="12">
                  <c:v>6.7000000000000004E-2</c:v>
                </c:pt>
                <c:pt idx="16">
                  <c:v>4.1000000000000002E-2</c:v>
                </c:pt>
                <c:pt idx="17">
                  <c:v>-0.26700000000000002</c:v>
                </c:pt>
                <c:pt idx="23">
                  <c:v>-0.154</c:v>
                </c:pt>
                <c:pt idx="24">
                  <c:v>4.2000000000000003E-2</c:v>
                </c:pt>
                <c:pt idx="30">
                  <c:v>-0.64800000000000002</c:v>
                </c:pt>
                <c:pt idx="31">
                  <c:v>-0.33100000000000002</c:v>
                </c:pt>
                <c:pt idx="37">
                  <c:v>8.5999999999999993E-2</c:v>
                </c:pt>
                <c:pt idx="38">
                  <c:v>-1.5529999999999999</c:v>
                </c:pt>
                <c:pt idx="44">
                  <c:v>-0.79700000000000004</c:v>
                </c:pt>
                <c:pt idx="45">
                  <c:v>-0.58699999999999997</c:v>
                </c:pt>
              </c:numCache>
            </c:numRef>
          </c:val>
          <c:extLst>
            <c:ext xmlns:c16="http://schemas.microsoft.com/office/drawing/2014/chart" uri="{C3380CC4-5D6E-409C-BE32-E72D297353CC}">
              <c16:uniqueId val="{00000002-C4CB-944D-B1E0-3EA9694E7246}"/>
            </c:ext>
          </c:extLst>
        </c:ser>
        <c:dLbls>
          <c:showLegendKey val="0"/>
          <c:showVal val="0"/>
          <c:showCatName val="0"/>
          <c:showSerName val="0"/>
          <c:showPercent val="0"/>
          <c:showBubbleSize val="0"/>
        </c:dLbls>
        <c:gapWidth val="30"/>
        <c:overlap val="100"/>
        <c:axId val="10"/>
        <c:axId val="20"/>
      </c:barChart>
      <c:catAx>
        <c:axId val="10"/>
        <c:scaling>
          <c:orientation val="minMax"/>
        </c:scaling>
        <c:delete val="0"/>
        <c:axPos val="b"/>
        <c:numFmt formatCode="General" sourceLinked="1"/>
        <c:majorTickMark val="out"/>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5"/>
          <c:min val="-2"/>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1"/>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4"/>
          <c:y val="0.2"/>
          <c:w val="0.72"/>
          <c:h val="0.57999999999999996"/>
        </c:manualLayout>
      </c:layout>
      <c:lineChart>
        <c:grouping val="standard"/>
        <c:varyColors val="0"/>
        <c:ser>
          <c:idx val="0"/>
          <c:order val="0"/>
          <c:tx>
            <c:strRef>
              <c:f>'図06_分析3_列8区画別'!$J$1</c:f>
              <c:strCache>
                <c:ptCount val="1"/>
                <c:pt idx="0">
                  <c:v>列3</c:v>
                </c:pt>
              </c:strCache>
            </c:strRef>
          </c:tx>
          <c:spPr>
            <a:ln w="22225" cap="rnd">
              <a:solidFill>
                <a:srgbClr val="5E6B7A"/>
              </a:solidFill>
              <a:round/>
            </a:ln>
          </c:spPr>
          <c:marker>
            <c:symbol val="none"/>
          </c:marker>
          <c:cat>
            <c:strRef>
              <c:f>'図06_分析3_列8区画別'!$B$2:$B$48</c:f>
              <c:strCache>
                <c:ptCount val="47"/>
                <c:pt idx="0">
                  <c:v>07-30</c:v>
                </c:pt>
                <c:pt idx="14">
                  <c:v>08-13</c:v>
                </c:pt>
                <c:pt idx="28">
                  <c:v>08-27</c:v>
                </c:pt>
                <c:pt idx="42">
                  <c:v>09-10</c:v>
                </c:pt>
              </c:strCache>
            </c:strRef>
          </c:cat>
          <c:val>
            <c:numRef>
              <c:f>'図06_分析3_列8区画別'!$J$2:$J$48</c:f>
              <c:numCache>
                <c:formatCode>General</c:formatCode>
                <c:ptCount val="47"/>
                <c:pt idx="0">
                  <c:v>34.892000000000003</c:v>
                </c:pt>
                <c:pt idx="1">
                  <c:v>34.249000000000002</c:v>
                </c:pt>
                <c:pt idx="2">
                  <c:v>34.884999999999998</c:v>
                </c:pt>
                <c:pt idx="3">
                  <c:v>33.555999999999997</c:v>
                </c:pt>
                <c:pt idx="4">
                  <c:v>28.042000000000002</c:v>
                </c:pt>
                <c:pt idx="5">
                  <c:v>29.693999999999999</c:v>
                </c:pt>
                <c:pt idx="6">
                  <c:v>30.736999999999998</c:v>
                </c:pt>
                <c:pt idx="7">
                  <c:v>30.626999999999999</c:v>
                </c:pt>
                <c:pt idx="8">
                  <c:v>33.420999999999999</c:v>
                </c:pt>
                <c:pt idx="9">
                  <c:v>33.005000000000003</c:v>
                </c:pt>
                <c:pt idx="10">
                  <c:v>32.478000000000002</c:v>
                </c:pt>
                <c:pt idx="11">
                  <c:v>30.707000000000001</c:v>
                </c:pt>
                <c:pt idx="12">
                  <c:v>29.466000000000001</c:v>
                </c:pt>
                <c:pt idx="13">
                  <c:v>28.381</c:v>
                </c:pt>
                <c:pt idx="14">
                  <c:v>27.306999999999999</c:v>
                </c:pt>
                <c:pt idx="15">
                  <c:v>29.608000000000001</c:v>
                </c:pt>
                <c:pt idx="16">
                  <c:v>28.14</c:v>
                </c:pt>
                <c:pt idx="17">
                  <c:v>26.5</c:v>
                </c:pt>
                <c:pt idx="18">
                  <c:v>30.108000000000001</c:v>
                </c:pt>
                <c:pt idx="19">
                  <c:v>31.35</c:v>
                </c:pt>
                <c:pt idx="20">
                  <c:v>31.670999999999999</c:v>
                </c:pt>
                <c:pt idx="21">
                  <c:v>32.180999999999997</c:v>
                </c:pt>
                <c:pt idx="22">
                  <c:v>31.542000000000002</c:v>
                </c:pt>
                <c:pt idx="23">
                  <c:v>29.323</c:v>
                </c:pt>
                <c:pt idx="24">
                  <c:v>29.948</c:v>
                </c:pt>
                <c:pt idx="25">
                  <c:v>33.033000000000001</c:v>
                </c:pt>
                <c:pt idx="26">
                  <c:v>34.332000000000001</c:v>
                </c:pt>
                <c:pt idx="27">
                  <c:v>33.746000000000002</c:v>
                </c:pt>
                <c:pt idx="28">
                  <c:v>29.282</c:v>
                </c:pt>
                <c:pt idx="29">
                  <c:v>32.112000000000002</c:v>
                </c:pt>
                <c:pt idx="30">
                  <c:v>24.12</c:v>
                </c:pt>
                <c:pt idx="31">
                  <c:v>26.832999999999998</c:v>
                </c:pt>
                <c:pt idx="32">
                  <c:v>28.137</c:v>
                </c:pt>
                <c:pt idx="33">
                  <c:v>28.908999999999999</c:v>
                </c:pt>
                <c:pt idx="34">
                  <c:v>30.832000000000001</c:v>
                </c:pt>
                <c:pt idx="35">
                  <c:v>30.835999999999999</c:v>
                </c:pt>
                <c:pt idx="36">
                  <c:v>27.242999999999999</c:v>
                </c:pt>
                <c:pt idx="37">
                  <c:v>24.931000000000001</c:v>
                </c:pt>
                <c:pt idx="38">
                  <c:v>21.806000000000001</c:v>
                </c:pt>
                <c:pt idx="39">
                  <c:v>25.096</c:v>
                </c:pt>
                <c:pt idx="40">
                  <c:v>28.431999999999999</c:v>
                </c:pt>
                <c:pt idx="41">
                  <c:v>29.92</c:v>
                </c:pt>
                <c:pt idx="42">
                  <c:v>22.946999999999999</c:v>
                </c:pt>
                <c:pt idx="43">
                  <c:v>21.277999999999999</c:v>
                </c:pt>
                <c:pt idx="44">
                  <c:v>24.355</c:v>
                </c:pt>
                <c:pt idx="45">
                  <c:v>25.335000000000001</c:v>
                </c:pt>
                <c:pt idx="46">
                  <c:v>31.681999999999999</c:v>
                </c:pt>
              </c:numCache>
            </c:numRef>
          </c:val>
          <c:smooth val="0"/>
          <c:extLst>
            <c:ext xmlns:c16="http://schemas.microsoft.com/office/drawing/2014/chart" uri="{C3380CC4-5D6E-409C-BE32-E72D297353CC}">
              <c16:uniqueId val="{00000000-A866-774D-93A2-F26FBDE9F343}"/>
            </c:ext>
          </c:extLst>
        </c:ser>
        <c:ser>
          <c:idx val="1"/>
          <c:order val="1"/>
          <c:tx>
            <c:strRef>
              <c:f>'図06_分析3_列8区画別'!$K$1</c:f>
              <c:strCache>
                <c:ptCount val="1"/>
                <c:pt idx="0">
                  <c:v>列8</c:v>
                </c:pt>
              </c:strCache>
            </c:strRef>
          </c:tx>
          <c:spPr>
            <a:ln w="22225" cap="rnd">
              <a:solidFill>
                <a:srgbClr val="01B8AA"/>
              </a:solidFill>
              <a:round/>
            </a:ln>
          </c:spPr>
          <c:marker>
            <c:symbol val="none"/>
          </c:marker>
          <c:cat>
            <c:strRef>
              <c:f>'図06_分析3_列8区画別'!$B$2:$B$48</c:f>
              <c:strCache>
                <c:ptCount val="47"/>
                <c:pt idx="0">
                  <c:v>07-30</c:v>
                </c:pt>
                <c:pt idx="14">
                  <c:v>08-13</c:v>
                </c:pt>
                <c:pt idx="28">
                  <c:v>08-27</c:v>
                </c:pt>
                <c:pt idx="42">
                  <c:v>09-10</c:v>
                </c:pt>
              </c:strCache>
            </c:strRef>
          </c:cat>
          <c:val>
            <c:numRef>
              <c:f>'図06_分析3_列8区画別'!$K$2:$K$48</c:f>
              <c:numCache>
                <c:formatCode>General</c:formatCode>
                <c:ptCount val="47"/>
                <c:pt idx="0">
                  <c:v>34.982999999999997</c:v>
                </c:pt>
                <c:pt idx="1">
                  <c:v>34.591999999999999</c:v>
                </c:pt>
                <c:pt idx="2">
                  <c:v>34.581000000000003</c:v>
                </c:pt>
                <c:pt idx="3">
                  <c:v>33.671999999999997</c:v>
                </c:pt>
                <c:pt idx="4">
                  <c:v>27.763000000000002</c:v>
                </c:pt>
                <c:pt idx="5">
                  <c:v>29.385999999999999</c:v>
                </c:pt>
                <c:pt idx="6">
                  <c:v>30.454000000000001</c:v>
                </c:pt>
                <c:pt idx="7">
                  <c:v>30.172000000000001</c:v>
                </c:pt>
                <c:pt idx="8">
                  <c:v>32.85</c:v>
                </c:pt>
                <c:pt idx="9">
                  <c:v>32.232999999999997</c:v>
                </c:pt>
                <c:pt idx="10">
                  <c:v>32.527000000000001</c:v>
                </c:pt>
                <c:pt idx="11">
                  <c:v>30.89</c:v>
                </c:pt>
                <c:pt idx="12">
                  <c:v>28.527000000000001</c:v>
                </c:pt>
                <c:pt idx="13">
                  <c:v>28.041</c:v>
                </c:pt>
                <c:pt idx="14">
                  <c:v>26.477</c:v>
                </c:pt>
                <c:pt idx="15">
                  <c:v>29.189</c:v>
                </c:pt>
                <c:pt idx="16">
                  <c:v>27.491</c:v>
                </c:pt>
                <c:pt idx="17">
                  <c:v>25.023</c:v>
                </c:pt>
                <c:pt idx="18">
                  <c:v>29.555</c:v>
                </c:pt>
                <c:pt idx="19">
                  <c:v>31.195</c:v>
                </c:pt>
                <c:pt idx="20">
                  <c:v>31.486000000000001</c:v>
                </c:pt>
                <c:pt idx="21">
                  <c:v>32.25</c:v>
                </c:pt>
                <c:pt idx="22">
                  <c:v>31.364000000000001</c:v>
                </c:pt>
                <c:pt idx="23">
                  <c:v>28.748000000000001</c:v>
                </c:pt>
                <c:pt idx="24">
                  <c:v>29.471</c:v>
                </c:pt>
                <c:pt idx="25">
                  <c:v>32.972999999999999</c:v>
                </c:pt>
                <c:pt idx="26">
                  <c:v>34.421999999999997</c:v>
                </c:pt>
                <c:pt idx="27">
                  <c:v>33.893000000000001</c:v>
                </c:pt>
                <c:pt idx="28">
                  <c:v>28.565000000000001</c:v>
                </c:pt>
                <c:pt idx="29">
                  <c:v>32.101999999999997</c:v>
                </c:pt>
                <c:pt idx="30">
                  <c:v>22.872</c:v>
                </c:pt>
                <c:pt idx="31">
                  <c:v>25.516999999999999</c:v>
                </c:pt>
                <c:pt idx="32">
                  <c:v>27.462</c:v>
                </c:pt>
                <c:pt idx="33">
                  <c:v>28.446000000000002</c:v>
                </c:pt>
                <c:pt idx="34">
                  <c:v>30.225999999999999</c:v>
                </c:pt>
                <c:pt idx="35">
                  <c:v>30.068000000000001</c:v>
                </c:pt>
                <c:pt idx="36">
                  <c:v>26.463999999999999</c:v>
                </c:pt>
                <c:pt idx="37">
                  <c:v>24.227</c:v>
                </c:pt>
                <c:pt idx="38">
                  <c:v>20.425000000000001</c:v>
                </c:pt>
                <c:pt idx="39">
                  <c:v>23.907</c:v>
                </c:pt>
                <c:pt idx="40">
                  <c:v>27.388999999999999</c:v>
                </c:pt>
                <c:pt idx="41">
                  <c:v>28.902999999999999</c:v>
                </c:pt>
                <c:pt idx="42">
                  <c:v>22.276</c:v>
                </c:pt>
                <c:pt idx="43">
                  <c:v>21.009</c:v>
                </c:pt>
                <c:pt idx="44">
                  <c:v>22.709</c:v>
                </c:pt>
                <c:pt idx="45">
                  <c:v>23.936</c:v>
                </c:pt>
                <c:pt idx="46">
                  <c:v>31.308</c:v>
                </c:pt>
              </c:numCache>
            </c:numRef>
          </c:val>
          <c:smooth val="0"/>
          <c:extLst>
            <c:ext xmlns:c16="http://schemas.microsoft.com/office/drawing/2014/chart" uri="{C3380CC4-5D6E-409C-BE32-E72D297353CC}">
              <c16:uniqueId val="{00000001-A866-774D-93A2-F26FBDE9F343}"/>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out"/>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40"/>
          <c:min val="15"/>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5"/>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4"/>
          <c:y val="0.05"/>
          <c:w val="0.72"/>
          <c:h val="0.68"/>
        </c:manualLayout>
      </c:layout>
      <c:barChart>
        <c:barDir val="col"/>
        <c:grouping val="clustered"/>
        <c:varyColors val="0"/>
        <c:ser>
          <c:idx val="0"/>
          <c:order val="0"/>
          <c:tx>
            <c:strRef>
              <c:f>'図06_分析3_列8区画別'!$M$1</c:f>
              <c:strCache>
                <c:ptCount val="1"/>
                <c:pt idx="0">
                  <c:v>区画2_列3より低い日</c:v>
                </c:pt>
              </c:strCache>
            </c:strRef>
          </c:tx>
          <c:spPr>
            <a:solidFill>
              <a:srgbClr val="01B8AA"/>
            </a:solidFill>
            <a:ln w="6350" cap="rnd">
              <a:solidFill>
                <a:srgbClr val="01B8AA"/>
              </a:solidFill>
              <a:round/>
            </a:ln>
          </c:spPr>
          <c:invertIfNegative val="0"/>
          <c:cat>
            <c:strRef>
              <c:f>'図06_分析3_列8区画別'!$B$2:$B$48</c:f>
              <c:strCache>
                <c:ptCount val="47"/>
                <c:pt idx="0">
                  <c:v>07-30</c:v>
                </c:pt>
                <c:pt idx="14">
                  <c:v>08-13</c:v>
                </c:pt>
                <c:pt idx="28">
                  <c:v>08-27</c:v>
                </c:pt>
                <c:pt idx="42">
                  <c:v>09-10</c:v>
                </c:pt>
              </c:strCache>
            </c:strRef>
          </c:cat>
          <c:val>
            <c:numRef>
              <c:f>'図06_分析3_列8区画別'!$M$2:$M$48</c:f>
              <c:numCache>
                <c:formatCode>General</c:formatCode>
                <c:ptCount val="47"/>
                <c:pt idx="4">
                  <c:v>-0.27900000000000003</c:v>
                </c:pt>
                <c:pt idx="5">
                  <c:v>-0.308</c:v>
                </c:pt>
                <c:pt idx="6">
                  <c:v>-0.28299999999999997</c:v>
                </c:pt>
                <c:pt idx="7">
                  <c:v>-0.45500000000000002</c:v>
                </c:pt>
                <c:pt idx="8">
                  <c:v>-0.56999999999999995</c:v>
                </c:pt>
                <c:pt idx="13">
                  <c:v>-0.34100000000000003</c:v>
                </c:pt>
                <c:pt idx="14">
                  <c:v>-0.83</c:v>
                </c:pt>
                <c:pt idx="15">
                  <c:v>-0.41899999999999998</c:v>
                </c:pt>
                <c:pt idx="18">
                  <c:v>-0.55300000000000005</c:v>
                </c:pt>
                <c:pt idx="19">
                  <c:v>-0.155</c:v>
                </c:pt>
                <c:pt idx="20">
                  <c:v>-0.185</c:v>
                </c:pt>
                <c:pt idx="22">
                  <c:v>-0.17799999999999999</c:v>
                </c:pt>
                <c:pt idx="25">
                  <c:v>-0.06</c:v>
                </c:pt>
                <c:pt idx="28">
                  <c:v>-0.71699999999999997</c:v>
                </c:pt>
                <c:pt idx="29">
                  <c:v>-0.01</c:v>
                </c:pt>
                <c:pt idx="32">
                  <c:v>-0.67500000000000004</c:v>
                </c:pt>
                <c:pt idx="33">
                  <c:v>-0.46300000000000002</c:v>
                </c:pt>
                <c:pt idx="34">
                  <c:v>-0.60599999999999998</c:v>
                </c:pt>
                <c:pt idx="35">
                  <c:v>-0.76800000000000002</c:v>
                </c:pt>
                <c:pt idx="36">
                  <c:v>-0.77900000000000003</c:v>
                </c:pt>
                <c:pt idx="39">
                  <c:v>-1.1890000000000001</c:v>
                </c:pt>
                <c:pt idx="40">
                  <c:v>-1.0429999999999999</c:v>
                </c:pt>
                <c:pt idx="41">
                  <c:v>-1.0169999999999999</c:v>
                </c:pt>
                <c:pt idx="42">
                  <c:v>-0.67100000000000004</c:v>
                </c:pt>
                <c:pt idx="43">
                  <c:v>-0.26900000000000002</c:v>
                </c:pt>
                <c:pt idx="46">
                  <c:v>-0.374</c:v>
                </c:pt>
              </c:numCache>
            </c:numRef>
          </c:val>
          <c:extLst>
            <c:ext xmlns:c16="http://schemas.microsoft.com/office/drawing/2014/chart" uri="{C3380CC4-5D6E-409C-BE32-E72D297353CC}">
              <c16:uniqueId val="{00000000-F31F-D149-887F-43F1946F13A8}"/>
            </c:ext>
          </c:extLst>
        </c:ser>
        <c:ser>
          <c:idx val="1"/>
          <c:order val="1"/>
          <c:tx>
            <c:strRef>
              <c:f>'図06_分析3_列8区画別'!$N$1</c:f>
              <c:strCache>
                <c:ptCount val="1"/>
                <c:pt idx="0">
                  <c:v>区画2_列3より高い日</c:v>
                </c:pt>
              </c:strCache>
            </c:strRef>
          </c:tx>
          <c:spPr>
            <a:solidFill>
              <a:srgbClr val="E66C64"/>
            </a:solidFill>
            <a:ln w="6350" cap="rnd">
              <a:solidFill>
                <a:srgbClr val="E66C64"/>
              </a:solidFill>
              <a:round/>
            </a:ln>
          </c:spPr>
          <c:invertIfNegative val="0"/>
          <c:cat>
            <c:strRef>
              <c:f>'図06_分析3_列8区画別'!$B$2:$B$48</c:f>
              <c:strCache>
                <c:ptCount val="47"/>
                <c:pt idx="0">
                  <c:v>07-30</c:v>
                </c:pt>
                <c:pt idx="14">
                  <c:v>08-13</c:v>
                </c:pt>
                <c:pt idx="28">
                  <c:v>08-27</c:v>
                </c:pt>
                <c:pt idx="42">
                  <c:v>09-10</c:v>
                </c:pt>
              </c:strCache>
            </c:strRef>
          </c:cat>
          <c:val>
            <c:numRef>
              <c:f>'図06_分析3_列8区画別'!$N$2:$N$48</c:f>
              <c:numCache>
                <c:formatCode>General</c:formatCode>
                <c:ptCount val="47"/>
                <c:pt idx="0">
                  <c:v>9.0999999999999998E-2</c:v>
                </c:pt>
                <c:pt idx="1">
                  <c:v>0.34300000000000003</c:v>
                </c:pt>
                <c:pt idx="11">
                  <c:v>0.182</c:v>
                </c:pt>
                <c:pt idx="21">
                  <c:v>6.9000000000000006E-2</c:v>
                </c:pt>
                <c:pt idx="26">
                  <c:v>8.8999999999999996E-2</c:v>
                </c:pt>
                <c:pt idx="27">
                  <c:v>0.14599999999999999</c:v>
                </c:pt>
              </c:numCache>
            </c:numRef>
          </c:val>
          <c:extLst>
            <c:ext xmlns:c16="http://schemas.microsoft.com/office/drawing/2014/chart" uri="{C3380CC4-5D6E-409C-BE32-E72D297353CC}">
              <c16:uniqueId val="{00000001-F31F-D149-887F-43F1946F13A8}"/>
            </c:ext>
          </c:extLst>
        </c:ser>
        <c:ser>
          <c:idx val="2"/>
          <c:order val="2"/>
          <c:tx>
            <c:strRef>
              <c:f>'図06_分析3_列8区画別'!$O$1</c:f>
              <c:strCache>
                <c:ptCount val="1"/>
                <c:pt idx="0">
                  <c:v>区画2_休日</c:v>
                </c:pt>
              </c:strCache>
            </c:strRef>
          </c:tx>
          <c:spPr>
            <a:solidFill>
              <a:srgbClr val="C9D1DB"/>
            </a:solidFill>
            <a:ln w="6350" cap="rnd">
              <a:solidFill>
                <a:srgbClr val="C9D1DB"/>
              </a:solidFill>
              <a:round/>
            </a:ln>
          </c:spPr>
          <c:invertIfNegative val="0"/>
          <c:cat>
            <c:strRef>
              <c:f>'図06_分析3_列8区画別'!$B$2:$B$48</c:f>
              <c:strCache>
                <c:ptCount val="47"/>
                <c:pt idx="0">
                  <c:v>07-30</c:v>
                </c:pt>
                <c:pt idx="14">
                  <c:v>08-13</c:v>
                </c:pt>
                <c:pt idx="28">
                  <c:v>08-27</c:v>
                </c:pt>
                <c:pt idx="42">
                  <c:v>09-10</c:v>
                </c:pt>
              </c:strCache>
            </c:strRef>
          </c:cat>
          <c:val>
            <c:numRef>
              <c:f>'図06_分析3_列8区画別'!$O$2:$O$48</c:f>
              <c:numCache>
                <c:formatCode>General</c:formatCode>
                <c:ptCount val="47"/>
                <c:pt idx="2">
                  <c:v>-0.30299999999999999</c:v>
                </c:pt>
                <c:pt idx="3">
                  <c:v>0.11700000000000001</c:v>
                </c:pt>
                <c:pt idx="9">
                  <c:v>-0.77200000000000002</c:v>
                </c:pt>
                <c:pt idx="10">
                  <c:v>4.9000000000000002E-2</c:v>
                </c:pt>
                <c:pt idx="12">
                  <c:v>-0.93899999999999995</c:v>
                </c:pt>
                <c:pt idx="16">
                  <c:v>-0.64900000000000002</c:v>
                </c:pt>
                <c:pt idx="17">
                  <c:v>-1.4770000000000001</c:v>
                </c:pt>
                <c:pt idx="23">
                  <c:v>-0.57499999999999996</c:v>
                </c:pt>
                <c:pt idx="24">
                  <c:v>-0.47699999999999998</c:v>
                </c:pt>
                <c:pt idx="30">
                  <c:v>-1.248</c:v>
                </c:pt>
                <c:pt idx="31">
                  <c:v>-1.3160000000000001</c:v>
                </c:pt>
                <c:pt idx="37">
                  <c:v>-0.70499999999999996</c:v>
                </c:pt>
                <c:pt idx="38">
                  <c:v>-1.381</c:v>
                </c:pt>
                <c:pt idx="44">
                  <c:v>-1.6459999999999999</c:v>
                </c:pt>
                <c:pt idx="45">
                  <c:v>-1.399</c:v>
                </c:pt>
              </c:numCache>
            </c:numRef>
          </c:val>
          <c:extLst>
            <c:ext xmlns:c16="http://schemas.microsoft.com/office/drawing/2014/chart" uri="{C3380CC4-5D6E-409C-BE32-E72D297353CC}">
              <c16:uniqueId val="{00000002-F31F-D149-887F-43F1946F13A8}"/>
            </c:ext>
          </c:extLst>
        </c:ser>
        <c:dLbls>
          <c:showLegendKey val="0"/>
          <c:showVal val="0"/>
          <c:showCatName val="0"/>
          <c:showSerName val="0"/>
          <c:showPercent val="0"/>
          <c:showBubbleSize val="0"/>
        </c:dLbls>
        <c:gapWidth val="30"/>
        <c:overlap val="100"/>
        <c:axId val="10"/>
        <c:axId val="20"/>
      </c:barChart>
      <c:catAx>
        <c:axId val="10"/>
        <c:scaling>
          <c:orientation val="minMax"/>
        </c:scaling>
        <c:delete val="0"/>
        <c:axPos val="b"/>
        <c:numFmt formatCode="General" sourceLinked="1"/>
        <c:majorTickMark val="out"/>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5"/>
          <c:min val="-2"/>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1"/>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4"/>
          <c:y val="0.2"/>
          <c:w val="0.72"/>
          <c:h val="0.57999999999999996"/>
        </c:manualLayout>
      </c:layout>
      <c:lineChart>
        <c:grouping val="standard"/>
        <c:varyColors val="0"/>
        <c:ser>
          <c:idx val="0"/>
          <c:order val="0"/>
          <c:tx>
            <c:strRef>
              <c:f>'図06_分析3_列8区画別'!$P$1</c:f>
              <c:strCache>
                <c:ptCount val="1"/>
                <c:pt idx="0">
                  <c:v>列3</c:v>
                </c:pt>
              </c:strCache>
            </c:strRef>
          </c:tx>
          <c:spPr>
            <a:ln w="22225" cap="rnd">
              <a:solidFill>
                <a:srgbClr val="5E6B7A"/>
              </a:solidFill>
              <a:round/>
            </a:ln>
          </c:spPr>
          <c:marker>
            <c:symbol val="none"/>
          </c:marker>
          <c:cat>
            <c:strRef>
              <c:f>'図06_分析3_列8区画別'!$B$2:$B$48</c:f>
              <c:strCache>
                <c:ptCount val="47"/>
                <c:pt idx="0">
                  <c:v>07-30</c:v>
                </c:pt>
                <c:pt idx="14">
                  <c:v>08-13</c:v>
                </c:pt>
                <c:pt idx="28">
                  <c:v>08-27</c:v>
                </c:pt>
                <c:pt idx="42">
                  <c:v>09-10</c:v>
                </c:pt>
              </c:strCache>
            </c:strRef>
          </c:cat>
          <c:val>
            <c:numRef>
              <c:f>'図06_分析3_列8区画別'!$P$2:$P$48</c:f>
              <c:numCache>
                <c:formatCode>General</c:formatCode>
                <c:ptCount val="47"/>
                <c:pt idx="0">
                  <c:v>35.040999999999997</c:v>
                </c:pt>
                <c:pt idx="1">
                  <c:v>34.564</c:v>
                </c:pt>
                <c:pt idx="2">
                  <c:v>34.747</c:v>
                </c:pt>
                <c:pt idx="3">
                  <c:v>33.383000000000003</c:v>
                </c:pt>
                <c:pt idx="4">
                  <c:v>27.244</c:v>
                </c:pt>
                <c:pt idx="5">
                  <c:v>29.440999999999999</c:v>
                </c:pt>
                <c:pt idx="6">
                  <c:v>30.736000000000001</c:v>
                </c:pt>
                <c:pt idx="7">
                  <c:v>30.905000000000001</c:v>
                </c:pt>
                <c:pt idx="8">
                  <c:v>33.073999999999998</c:v>
                </c:pt>
                <c:pt idx="9">
                  <c:v>32.686</c:v>
                </c:pt>
                <c:pt idx="10">
                  <c:v>32.366</c:v>
                </c:pt>
                <c:pt idx="11">
                  <c:v>30.956</c:v>
                </c:pt>
                <c:pt idx="12">
                  <c:v>28.986000000000001</c:v>
                </c:pt>
                <c:pt idx="13">
                  <c:v>28.247</c:v>
                </c:pt>
                <c:pt idx="14">
                  <c:v>26.754999999999999</c:v>
                </c:pt>
                <c:pt idx="15">
                  <c:v>29.62</c:v>
                </c:pt>
                <c:pt idx="16">
                  <c:v>27.440999999999999</c:v>
                </c:pt>
                <c:pt idx="17">
                  <c:v>25.599</c:v>
                </c:pt>
                <c:pt idx="18">
                  <c:v>29.951000000000001</c:v>
                </c:pt>
                <c:pt idx="19">
                  <c:v>30.785</c:v>
                </c:pt>
                <c:pt idx="20">
                  <c:v>31.327999999999999</c:v>
                </c:pt>
                <c:pt idx="21">
                  <c:v>31.731999999999999</c:v>
                </c:pt>
                <c:pt idx="22">
                  <c:v>31.417999999999999</c:v>
                </c:pt>
                <c:pt idx="23">
                  <c:v>29.587</c:v>
                </c:pt>
                <c:pt idx="24">
                  <c:v>29.934999999999999</c:v>
                </c:pt>
                <c:pt idx="25">
                  <c:v>33.003</c:v>
                </c:pt>
                <c:pt idx="26">
                  <c:v>34.567999999999998</c:v>
                </c:pt>
                <c:pt idx="27">
                  <c:v>34.286000000000001</c:v>
                </c:pt>
                <c:pt idx="28">
                  <c:v>29.141999999999999</c:v>
                </c:pt>
                <c:pt idx="29">
                  <c:v>32.283999999999999</c:v>
                </c:pt>
                <c:pt idx="30">
                  <c:v>23.245000000000001</c:v>
                </c:pt>
                <c:pt idx="31">
                  <c:v>26.206</c:v>
                </c:pt>
                <c:pt idx="32">
                  <c:v>27.78</c:v>
                </c:pt>
                <c:pt idx="33">
                  <c:v>28.847999999999999</c:v>
                </c:pt>
                <c:pt idx="34">
                  <c:v>30.611999999999998</c:v>
                </c:pt>
                <c:pt idx="35">
                  <c:v>30.327000000000002</c:v>
                </c:pt>
                <c:pt idx="36">
                  <c:v>26.843</c:v>
                </c:pt>
                <c:pt idx="37">
                  <c:v>24.658999999999999</c:v>
                </c:pt>
                <c:pt idx="38">
                  <c:v>22.251000000000001</c:v>
                </c:pt>
                <c:pt idx="39">
                  <c:v>24.846</c:v>
                </c:pt>
                <c:pt idx="40">
                  <c:v>28.591000000000001</c:v>
                </c:pt>
                <c:pt idx="41">
                  <c:v>29.783999999999999</c:v>
                </c:pt>
                <c:pt idx="42">
                  <c:v>23.16</c:v>
                </c:pt>
                <c:pt idx="43">
                  <c:v>21.38</c:v>
                </c:pt>
                <c:pt idx="44">
                  <c:v>24.716999999999999</c:v>
                </c:pt>
                <c:pt idx="45">
                  <c:v>24.783000000000001</c:v>
                </c:pt>
                <c:pt idx="46">
                  <c:v>31.449000000000002</c:v>
                </c:pt>
              </c:numCache>
            </c:numRef>
          </c:val>
          <c:smooth val="0"/>
          <c:extLst>
            <c:ext xmlns:c16="http://schemas.microsoft.com/office/drawing/2014/chart" uri="{C3380CC4-5D6E-409C-BE32-E72D297353CC}">
              <c16:uniqueId val="{00000000-24FE-EE41-95E4-A2EBB6B9C76C}"/>
            </c:ext>
          </c:extLst>
        </c:ser>
        <c:ser>
          <c:idx val="1"/>
          <c:order val="1"/>
          <c:tx>
            <c:strRef>
              <c:f>'図06_分析3_列8区画別'!$Q$1</c:f>
              <c:strCache>
                <c:ptCount val="1"/>
                <c:pt idx="0">
                  <c:v>列8</c:v>
                </c:pt>
              </c:strCache>
            </c:strRef>
          </c:tx>
          <c:spPr>
            <a:ln w="22225" cap="rnd">
              <a:solidFill>
                <a:srgbClr val="01B8AA"/>
              </a:solidFill>
              <a:round/>
            </a:ln>
          </c:spPr>
          <c:marker>
            <c:symbol val="none"/>
          </c:marker>
          <c:cat>
            <c:strRef>
              <c:f>'図06_分析3_列8区画別'!$B$2:$B$48</c:f>
              <c:strCache>
                <c:ptCount val="47"/>
                <c:pt idx="0">
                  <c:v>07-30</c:v>
                </c:pt>
                <c:pt idx="14">
                  <c:v>08-13</c:v>
                </c:pt>
                <c:pt idx="28">
                  <c:v>08-27</c:v>
                </c:pt>
                <c:pt idx="42">
                  <c:v>09-10</c:v>
                </c:pt>
              </c:strCache>
            </c:strRef>
          </c:cat>
          <c:val>
            <c:numRef>
              <c:f>'図06_分析3_列8区画別'!$Q$2:$Q$48</c:f>
              <c:numCache>
                <c:formatCode>General</c:formatCode>
                <c:ptCount val="47"/>
                <c:pt idx="0">
                  <c:v>35.073999999999998</c:v>
                </c:pt>
                <c:pt idx="1">
                  <c:v>34.479999999999997</c:v>
                </c:pt>
                <c:pt idx="2">
                  <c:v>34.767000000000003</c:v>
                </c:pt>
                <c:pt idx="3">
                  <c:v>34.228999999999999</c:v>
                </c:pt>
                <c:pt idx="4">
                  <c:v>27.074999999999999</c:v>
                </c:pt>
                <c:pt idx="5">
                  <c:v>29.312999999999999</c:v>
                </c:pt>
                <c:pt idx="6">
                  <c:v>30.521999999999998</c:v>
                </c:pt>
                <c:pt idx="7">
                  <c:v>30.303000000000001</c:v>
                </c:pt>
                <c:pt idx="8">
                  <c:v>32.328000000000003</c:v>
                </c:pt>
                <c:pt idx="9">
                  <c:v>31.952000000000002</c:v>
                </c:pt>
                <c:pt idx="10">
                  <c:v>33.070999999999998</c:v>
                </c:pt>
                <c:pt idx="11">
                  <c:v>30.85</c:v>
                </c:pt>
                <c:pt idx="12">
                  <c:v>28.573</c:v>
                </c:pt>
                <c:pt idx="13">
                  <c:v>27.786999999999999</c:v>
                </c:pt>
                <c:pt idx="14">
                  <c:v>26.390999999999998</c:v>
                </c:pt>
                <c:pt idx="15">
                  <c:v>29.266999999999999</c:v>
                </c:pt>
                <c:pt idx="16">
                  <c:v>27.617999999999999</c:v>
                </c:pt>
                <c:pt idx="17">
                  <c:v>25.22</c:v>
                </c:pt>
                <c:pt idx="18">
                  <c:v>29.469000000000001</c:v>
                </c:pt>
                <c:pt idx="19">
                  <c:v>30.811</c:v>
                </c:pt>
                <c:pt idx="20">
                  <c:v>31.413</c:v>
                </c:pt>
                <c:pt idx="21">
                  <c:v>31.8</c:v>
                </c:pt>
                <c:pt idx="22">
                  <c:v>31.181000000000001</c:v>
                </c:pt>
                <c:pt idx="23">
                  <c:v>28.896999999999998</c:v>
                </c:pt>
                <c:pt idx="24">
                  <c:v>29.637</c:v>
                </c:pt>
                <c:pt idx="25">
                  <c:v>32.673999999999999</c:v>
                </c:pt>
                <c:pt idx="26">
                  <c:v>34.32</c:v>
                </c:pt>
                <c:pt idx="27">
                  <c:v>34.146999999999998</c:v>
                </c:pt>
                <c:pt idx="28">
                  <c:v>28.395</c:v>
                </c:pt>
                <c:pt idx="29">
                  <c:v>32.171999999999997</c:v>
                </c:pt>
                <c:pt idx="30">
                  <c:v>22.527000000000001</c:v>
                </c:pt>
                <c:pt idx="31">
                  <c:v>25.591999999999999</c:v>
                </c:pt>
                <c:pt idx="32">
                  <c:v>27.305</c:v>
                </c:pt>
                <c:pt idx="33">
                  <c:v>28.414000000000001</c:v>
                </c:pt>
                <c:pt idx="34">
                  <c:v>29.948</c:v>
                </c:pt>
                <c:pt idx="35">
                  <c:v>29.838999999999999</c:v>
                </c:pt>
                <c:pt idx="36">
                  <c:v>26.137</c:v>
                </c:pt>
                <c:pt idx="37">
                  <c:v>24.047000000000001</c:v>
                </c:pt>
                <c:pt idx="38">
                  <c:v>20.273</c:v>
                </c:pt>
                <c:pt idx="39">
                  <c:v>23.792999999999999</c:v>
                </c:pt>
                <c:pt idx="40">
                  <c:v>27.623999999999999</c:v>
                </c:pt>
                <c:pt idx="41">
                  <c:v>28.907</c:v>
                </c:pt>
                <c:pt idx="42">
                  <c:v>21.844999999999999</c:v>
                </c:pt>
                <c:pt idx="43">
                  <c:v>20.483000000000001</c:v>
                </c:pt>
                <c:pt idx="44">
                  <c:v>22.507000000000001</c:v>
                </c:pt>
                <c:pt idx="45">
                  <c:v>23.896000000000001</c:v>
                </c:pt>
                <c:pt idx="46">
                  <c:v>31.125</c:v>
                </c:pt>
              </c:numCache>
            </c:numRef>
          </c:val>
          <c:smooth val="0"/>
          <c:extLst>
            <c:ext xmlns:c16="http://schemas.microsoft.com/office/drawing/2014/chart" uri="{C3380CC4-5D6E-409C-BE32-E72D297353CC}">
              <c16:uniqueId val="{00000001-24FE-EE41-95E4-A2EBB6B9C76C}"/>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out"/>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40"/>
          <c:min val="15"/>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5"/>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4"/>
          <c:y val="0.05"/>
          <c:w val="0.72"/>
          <c:h val="0.68"/>
        </c:manualLayout>
      </c:layout>
      <c:barChart>
        <c:barDir val="col"/>
        <c:grouping val="clustered"/>
        <c:varyColors val="0"/>
        <c:ser>
          <c:idx val="0"/>
          <c:order val="0"/>
          <c:tx>
            <c:strRef>
              <c:f>'図06_分析3_列8区画別'!$S$1</c:f>
              <c:strCache>
                <c:ptCount val="1"/>
                <c:pt idx="0">
                  <c:v>区画3_列3より低い日</c:v>
                </c:pt>
              </c:strCache>
            </c:strRef>
          </c:tx>
          <c:spPr>
            <a:solidFill>
              <a:srgbClr val="01B8AA"/>
            </a:solidFill>
            <a:ln w="6350" cap="rnd">
              <a:solidFill>
                <a:srgbClr val="01B8AA"/>
              </a:solidFill>
              <a:round/>
            </a:ln>
          </c:spPr>
          <c:invertIfNegative val="0"/>
          <c:cat>
            <c:strRef>
              <c:f>'図06_分析3_列8区画別'!$B$2:$B$48</c:f>
              <c:strCache>
                <c:ptCount val="47"/>
                <c:pt idx="0">
                  <c:v>07-30</c:v>
                </c:pt>
                <c:pt idx="14">
                  <c:v>08-13</c:v>
                </c:pt>
                <c:pt idx="28">
                  <c:v>08-27</c:v>
                </c:pt>
                <c:pt idx="42">
                  <c:v>09-10</c:v>
                </c:pt>
              </c:strCache>
            </c:strRef>
          </c:cat>
          <c:val>
            <c:numRef>
              <c:f>'図06_分析3_列8区画別'!$S$2:$S$48</c:f>
              <c:numCache>
                <c:formatCode>General</c:formatCode>
                <c:ptCount val="47"/>
                <c:pt idx="1">
                  <c:v>-8.5000000000000006E-2</c:v>
                </c:pt>
                <c:pt idx="4">
                  <c:v>-0.16900000000000001</c:v>
                </c:pt>
                <c:pt idx="5">
                  <c:v>-0.129</c:v>
                </c:pt>
                <c:pt idx="6">
                  <c:v>-0.215</c:v>
                </c:pt>
                <c:pt idx="7">
                  <c:v>-0.60199999999999998</c:v>
                </c:pt>
                <c:pt idx="8">
                  <c:v>-0.746</c:v>
                </c:pt>
                <c:pt idx="11">
                  <c:v>-0.106</c:v>
                </c:pt>
                <c:pt idx="13">
                  <c:v>-0.46</c:v>
                </c:pt>
                <c:pt idx="14">
                  <c:v>-0.36499999999999999</c:v>
                </c:pt>
                <c:pt idx="15">
                  <c:v>-0.35299999999999998</c:v>
                </c:pt>
                <c:pt idx="18">
                  <c:v>-0.48199999999999998</c:v>
                </c:pt>
                <c:pt idx="22">
                  <c:v>-0.23699999999999999</c:v>
                </c:pt>
                <c:pt idx="25">
                  <c:v>-0.32900000000000001</c:v>
                </c:pt>
                <c:pt idx="26">
                  <c:v>-0.248</c:v>
                </c:pt>
                <c:pt idx="27">
                  <c:v>-0.13900000000000001</c:v>
                </c:pt>
                <c:pt idx="28">
                  <c:v>-0.747</c:v>
                </c:pt>
                <c:pt idx="29">
                  <c:v>-0.112</c:v>
                </c:pt>
                <c:pt idx="32">
                  <c:v>-0.47499999999999998</c:v>
                </c:pt>
                <c:pt idx="33">
                  <c:v>-0.434</c:v>
                </c:pt>
                <c:pt idx="34">
                  <c:v>-0.66400000000000003</c:v>
                </c:pt>
                <c:pt idx="35">
                  <c:v>-0.48799999999999999</c:v>
                </c:pt>
                <c:pt idx="36">
                  <c:v>-0.70599999999999996</c:v>
                </c:pt>
                <c:pt idx="39">
                  <c:v>-1.0529999999999999</c:v>
                </c:pt>
                <c:pt idx="40">
                  <c:v>-0.96699999999999997</c:v>
                </c:pt>
                <c:pt idx="41">
                  <c:v>-0.877</c:v>
                </c:pt>
                <c:pt idx="42">
                  <c:v>-1.3149999999999999</c:v>
                </c:pt>
                <c:pt idx="43">
                  <c:v>-0.89700000000000002</c:v>
                </c:pt>
                <c:pt idx="46">
                  <c:v>-0.32400000000000001</c:v>
                </c:pt>
              </c:numCache>
            </c:numRef>
          </c:val>
          <c:extLst>
            <c:ext xmlns:c16="http://schemas.microsoft.com/office/drawing/2014/chart" uri="{C3380CC4-5D6E-409C-BE32-E72D297353CC}">
              <c16:uniqueId val="{00000000-5A9B-3840-9B1D-60F91731E23E}"/>
            </c:ext>
          </c:extLst>
        </c:ser>
        <c:ser>
          <c:idx val="1"/>
          <c:order val="1"/>
          <c:tx>
            <c:strRef>
              <c:f>'図06_分析3_列8区画別'!$T$1</c:f>
              <c:strCache>
                <c:ptCount val="1"/>
                <c:pt idx="0">
                  <c:v>区画3_列3より高い日</c:v>
                </c:pt>
              </c:strCache>
            </c:strRef>
          </c:tx>
          <c:spPr>
            <a:solidFill>
              <a:srgbClr val="E66C64"/>
            </a:solidFill>
            <a:ln w="6350" cap="rnd">
              <a:solidFill>
                <a:srgbClr val="E66C64"/>
              </a:solidFill>
              <a:round/>
            </a:ln>
          </c:spPr>
          <c:invertIfNegative val="0"/>
          <c:cat>
            <c:strRef>
              <c:f>'図06_分析3_列8区画別'!$B$2:$B$48</c:f>
              <c:strCache>
                <c:ptCount val="47"/>
                <c:pt idx="0">
                  <c:v>07-30</c:v>
                </c:pt>
                <c:pt idx="14">
                  <c:v>08-13</c:v>
                </c:pt>
                <c:pt idx="28">
                  <c:v>08-27</c:v>
                </c:pt>
                <c:pt idx="42">
                  <c:v>09-10</c:v>
                </c:pt>
              </c:strCache>
            </c:strRef>
          </c:cat>
          <c:val>
            <c:numRef>
              <c:f>'図06_分析3_列8区画別'!$T$2:$T$48</c:f>
              <c:numCache>
                <c:formatCode>General</c:formatCode>
                <c:ptCount val="47"/>
                <c:pt idx="0">
                  <c:v>3.4000000000000002E-2</c:v>
                </c:pt>
                <c:pt idx="19">
                  <c:v>2.7E-2</c:v>
                </c:pt>
                <c:pt idx="20">
                  <c:v>8.5000000000000006E-2</c:v>
                </c:pt>
                <c:pt idx="21">
                  <c:v>6.8000000000000005E-2</c:v>
                </c:pt>
              </c:numCache>
            </c:numRef>
          </c:val>
          <c:extLst>
            <c:ext xmlns:c16="http://schemas.microsoft.com/office/drawing/2014/chart" uri="{C3380CC4-5D6E-409C-BE32-E72D297353CC}">
              <c16:uniqueId val="{00000001-5A9B-3840-9B1D-60F91731E23E}"/>
            </c:ext>
          </c:extLst>
        </c:ser>
        <c:ser>
          <c:idx val="2"/>
          <c:order val="2"/>
          <c:tx>
            <c:strRef>
              <c:f>'図06_分析3_列8区画別'!$U$1</c:f>
              <c:strCache>
                <c:ptCount val="1"/>
                <c:pt idx="0">
                  <c:v>区画3_休日</c:v>
                </c:pt>
              </c:strCache>
            </c:strRef>
          </c:tx>
          <c:spPr>
            <a:solidFill>
              <a:srgbClr val="C9D1DB"/>
            </a:solidFill>
            <a:ln w="6350" cap="rnd">
              <a:solidFill>
                <a:srgbClr val="C9D1DB"/>
              </a:solidFill>
              <a:round/>
            </a:ln>
          </c:spPr>
          <c:invertIfNegative val="0"/>
          <c:cat>
            <c:strRef>
              <c:f>'図06_分析3_列8区画別'!$B$2:$B$48</c:f>
              <c:strCache>
                <c:ptCount val="47"/>
                <c:pt idx="0">
                  <c:v>07-30</c:v>
                </c:pt>
                <c:pt idx="14">
                  <c:v>08-13</c:v>
                </c:pt>
                <c:pt idx="28">
                  <c:v>08-27</c:v>
                </c:pt>
                <c:pt idx="42">
                  <c:v>09-10</c:v>
                </c:pt>
              </c:strCache>
            </c:strRef>
          </c:cat>
          <c:val>
            <c:numRef>
              <c:f>'図06_分析3_列8区画別'!$U$2:$U$48</c:f>
              <c:numCache>
                <c:formatCode>General</c:formatCode>
                <c:ptCount val="47"/>
                <c:pt idx="2">
                  <c:v>0.02</c:v>
                </c:pt>
                <c:pt idx="3">
                  <c:v>0.84699999999999998</c:v>
                </c:pt>
                <c:pt idx="9">
                  <c:v>-0.73399999999999999</c:v>
                </c:pt>
                <c:pt idx="10">
                  <c:v>0.70499999999999996</c:v>
                </c:pt>
                <c:pt idx="12">
                  <c:v>-0.41299999999999998</c:v>
                </c:pt>
                <c:pt idx="16">
                  <c:v>0.17799999999999999</c:v>
                </c:pt>
                <c:pt idx="17">
                  <c:v>-0.379</c:v>
                </c:pt>
                <c:pt idx="23">
                  <c:v>-0.69</c:v>
                </c:pt>
                <c:pt idx="24">
                  <c:v>-0.29799999999999999</c:v>
                </c:pt>
                <c:pt idx="30">
                  <c:v>-0.71799999999999997</c:v>
                </c:pt>
                <c:pt idx="31">
                  <c:v>-0.61399999999999999</c:v>
                </c:pt>
                <c:pt idx="37">
                  <c:v>-0.61199999999999999</c:v>
                </c:pt>
                <c:pt idx="38">
                  <c:v>-1.978</c:v>
                </c:pt>
                <c:pt idx="44">
                  <c:v>-2.21</c:v>
                </c:pt>
                <c:pt idx="45">
                  <c:v>-0.88700000000000001</c:v>
                </c:pt>
              </c:numCache>
            </c:numRef>
          </c:val>
          <c:extLst>
            <c:ext xmlns:c16="http://schemas.microsoft.com/office/drawing/2014/chart" uri="{C3380CC4-5D6E-409C-BE32-E72D297353CC}">
              <c16:uniqueId val="{00000002-5A9B-3840-9B1D-60F91731E23E}"/>
            </c:ext>
          </c:extLst>
        </c:ser>
        <c:dLbls>
          <c:showLegendKey val="0"/>
          <c:showVal val="0"/>
          <c:showCatName val="0"/>
          <c:showSerName val="0"/>
          <c:showPercent val="0"/>
          <c:showBubbleSize val="0"/>
        </c:dLbls>
        <c:gapWidth val="30"/>
        <c:overlap val="100"/>
        <c:axId val="10"/>
        <c:axId val="20"/>
      </c:barChart>
      <c:catAx>
        <c:axId val="10"/>
        <c:scaling>
          <c:orientation val="minMax"/>
        </c:scaling>
        <c:delete val="0"/>
        <c:axPos val="b"/>
        <c:numFmt formatCode="General" sourceLinked="1"/>
        <c:majorTickMark val="out"/>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5"/>
          <c:min val="-2"/>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1"/>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4"/>
          <c:y val="0.2"/>
          <c:w val="0.72"/>
          <c:h val="0.57999999999999996"/>
        </c:manualLayout>
      </c:layout>
      <c:lineChart>
        <c:grouping val="standard"/>
        <c:varyColors val="0"/>
        <c:ser>
          <c:idx val="0"/>
          <c:order val="0"/>
          <c:tx>
            <c:strRef>
              <c:f>'図07_分析3_列11区画別'!$D$1</c:f>
              <c:strCache>
                <c:ptCount val="1"/>
                <c:pt idx="0">
                  <c:v>列3</c:v>
                </c:pt>
              </c:strCache>
            </c:strRef>
          </c:tx>
          <c:spPr>
            <a:ln w="22225" cap="rnd">
              <a:solidFill>
                <a:srgbClr val="5E6B7A"/>
              </a:solidFill>
              <a:round/>
            </a:ln>
          </c:spPr>
          <c:marker>
            <c:symbol val="none"/>
          </c:marker>
          <c:cat>
            <c:strRef>
              <c:f>'図07_分析3_列11区画別'!$B$2:$B$48</c:f>
              <c:strCache>
                <c:ptCount val="47"/>
                <c:pt idx="0">
                  <c:v>07-30</c:v>
                </c:pt>
                <c:pt idx="14">
                  <c:v>08-13</c:v>
                </c:pt>
                <c:pt idx="28">
                  <c:v>08-27</c:v>
                </c:pt>
                <c:pt idx="42">
                  <c:v>09-10</c:v>
                </c:pt>
              </c:strCache>
            </c:strRef>
          </c:cat>
          <c:val>
            <c:numRef>
              <c:f>'図07_分析3_列11区画別'!$D$2:$D$48</c:f>
              <c:numCache>
                <c:formatCode>General</c:formatCode>
                <c:ptCount val="47"/>
                <c:pt idx="0">
                  <c:v>34.844000000000001</c:v>
                </c:pt>
                <c:pt idx="1">
                  <c:v>33.805999999999997</c:v>
                </c:pt>
                <c:pt idx="2">
                  <c:v>34.625999999999998</c:v>
                </c:pt>
                <c:pt idx="3">
                  <c:v>32.926000000000002</c:v>
                </c:pt>
                <c:pt idx="4">
                  <c:v>26.652000000000001</c:v>
                </c:pt>
                <c:pt idx="5">
                  <c:v>28.417000000000002</c:v>
                </c:pt>
                <c:pt idx="6">
                  <c:v>29.794</c:v>
                </c:pt>
                <c:pt idx="7">
                  <c:v>29.934999999999999</c:v>
                </c:pt>
                <c:pt idx="8">
                  <c:v>32.884</c:v>
                </c:pt>
                <c:pt idx="9">
                  <c:v>32.78</c:v>
                </c:pt>
                <c:pt idx="10">
                  <c:v>32.002000000000002</c:v>
                </c:pt>
                <c:pt idx="11">
                  <c:v>29.981000000000002</c:v>
                </c:pt>
                <c:pt idx="12">
                  <c:v>28.672999999999998</c:v>
                </c:pt>
                <c:pt idx="13">
                  <c:v>27.934000000000001</c:v>
                </c:pt>
                <c:pt idx="14">
                  <c:v>26.167999999999999</c:v>
                </c:pt>
                <c:pt idx="15">
                  <c:v>28.777999999999999</c:v>
                </c:pt>
                <c:pt idx="16">
                  <c:v>27.594999999999999</c:v>
                </c:pt>
                <c:pt idx="17">
                  <c:v>25.481999999999999</c:v>
                </c:pt>
                <c:pt idx="18">
                  <c:v>29.571000000000002</c:v>
                </c:pt>
                <c:pt idx="19">
                  <c:v>30.827999999999999</c:v>
                </c:pt>
                <c:pt idx="20">
                  <c:v>31.135999999999999</c:v>
                </c:pt>
                <c:pt idx="21">
                  <c:v>31.835000000000001</c:v>
                </c:pt>
                <c:pt idx="22">
                  <c:v>31.152000000000001</c:v>
                </c:pt>
                <c:pt idx="23">
                  <c:v>29.071000000000002</c:v>
                </c:pt>
                <c:pt idx="24">
                  <c:v>29.478000000000002</c:v>
                </c:pt>
                <c:pt idx="25">
                  <c:v>32.597999999999999</c:v>
                </c:pt>
                <c:pt idx="26">
                  <c:v>33.969000000000001</c:v>
                </c:pt>
                <c:pt idx="27">
                  <c:v>33.707000000000001</c:v>
                </c:pt>
                <c:pt idx="28">
                  <c:v>28.148</c:v>
                </c:pt>
                <c:pt idx="29">
                  <c:v>31.984999999999999</c:v>
                </c:pt>
                <c:pt idx="30">
                  <c:v>23.155000000000001</c:v>
                </c:pt>
                <c:pt idx="31">
                  <c:v>26.053000000000001</c:v>
                </c:pt>
                <c:pt idx="32">
                  <c:v>27.253</c:v>
                </c:pt>
                <c:pt idx="33">
                  <c:v>28.094999999999999</c:v>
                </c:pt>
                <c:pt idx="34">
                  <c:v>30.327000000000002</c:v>
                </c:pt>
                <c:pt idx="35">
                  <c:v>30.018999999999998</c:v>
                </c:pt>
                <c:pt idx="36">
                  <c:v>26.114000000000001</c:v>
                </c:pt>
                <c:pt idx="37">
                  <c:v>24.273</c:v>
                </c:pt>
                <c:pt idx="38">
                  <c:v>21.812999999999999</c:v>
                </c:pt>
                <c:pt idx="39">
                  <c:v>24.459</c:v>
                </c:pt>
                <c:pt idx="40">
                  <c:v>27.795000000000002</c:v>
                </c:pt>
                <c:pt idx="41">
                  <c:v>29.227</c:v>
                </c:pt>
                <c:pt idx="42">
                  <c:v>22.54</c:v>
                </c:pt>
                <c:pt idx="43">
                  <c:v>21.032</c:v>
                </c:pt>
                <c:pt idx="44">
                  <c:v>23.791</c:v>
                </c:pt>
                <c:pt idx="45">
                  <c:v>24.433</c:v>
                </c:pt>
                <c:pt idx="46">
                  <c:v>31.113</c:v>
                </c:pt>
              </c:numCache>
            </c:numRef>
          </c:val>
          <c:smooth val="0"/>
          <c:extLst>
            <c:ext xmlns:c16="http://schemas.microsoft.com/office/drawing/2014/chart" uri="{C3380CC4-5D6E-409C-BE32-E72D297353CC}">
              <c16:uniqueId val="{00000000-7D6F-3F49-B5E5-E747D0B9B18D}"/>
            </c:ext>
          </c:extLst>
        </c:ser>
        <c:ser>
          <c:idx val="1"/>
          <c:order val="1"/>
          <c:tx>
            <c:strRef>
              <c:f>'図07_分析3_列11区画別'!$E$1</c:f>
              <c:strCache>
                <c:ptCount val="1"/>
                <c:pt idx="0">
                  <c:v>列11</c:v>
                </c:pt>
              </c:strCache>
            </c:strRef>
          </c:tx>
          <c:spPr>
            <a:ln w="22225" cap="rnd">
              <a:solidFill>
                <a:srgbClr val="118DFF"/>
              </a:solidFill>
              <a:round/>
            </a:ln>
          </c:spPr>
          <c:marker>
            <c:symbol val="none"/>
          </c:marker>
          <c:cat>
            <c:strRef>
              <c:f>'図07_分析3_列11区画別'!$B$2:$B$48</c:f>
              <c:strCache>
                <c:ptCount val="47"/>
                <c:pt idx="0">
                  <c:v>07-30</c:v>
                </c:pt>
                <c:pt idx="14">
                  <c:v>08-13</c:v>
                </c:pt>
                <c:pt idx="28">
                  <c:v>08-27</c:v>
                </c:pt>
                <c:pt idx="42">
                  <c:v>09-10</c:v>
                </c:pt>
              </c:strCache>
            </c:strRef>
          </c:cat>
          <c:val>
            <c:numRef>
              <c:f>'図07_分析3_列11区画別'!$E$2:$E$48</c:f>
              <c:numCache>
                <c:formatCode>General</c:formatCode>
                <c:ptCount val="47"/>
                <c:pt idx="0">
                  <c:v>35.207999999999998</c:v>
                </c:pt>
                <c:pt idx="1">
                  <c:v>34.15</c:v>
                </c:pt>
                <c:pt idx="2">
                  <c:v>34.694000000000003</c:v>
                </c:pt>
                <c:pt idx="3">
                  <c:v>33.372</c:v>
                </c:pt>
                <c:pt idx="4">
                  <c:v>27.189</c:v>
                </c:pt>
                <c:pt idx="5">
                  <c:v>28.917999999999999</c:v>
                </c:pt>
                <c:pt idx="6">
                  <c:v>30.081</c:v>
                </c:pt>
                <c:pt idx="7">
                  <c:v>30.295999999999999</c:v>
                </c:pt>
                <c:pt idx="8">
                  <c:v>32.694000000000003</c:v>
                </c:pt>
                <c:pt idx="9">
                  <c:v>32.386000000000003</c:v>
                </c:pt>
                <c:pt idx="10">
                  <c:v>32.183999999999997</c:v>
                </c:pt>
                <c:pt idx="11">
                  <c:v>30.367999999999999</c:v>
                </c:pt>
                <c:pt idx="12">
                  <c:v>28.654</c:v>
                </c:pt>
                <c:pt idx="13">
                  <c:v>27.911999999999999</c:v>
                </c:pt>
                <c:pt idx="14">
                  <c:v>26.012</c:v>
                </c:pt>
                <c:pt idx="15">
                  <c:v>28.916</c:v>
                </c:pt>
                <c:pt idx="16">
                  <c:v>27.611000000000001</c:v>
                </c:pt>
                <c:pt idx="17">
                  <c:v>25.111999999999998</c:v>
                </c:pt>
                <c:pt idx="18">
                  <c:v>29.744</c:v>
                </c:pt>
                <c:pt idx="19">
                  <c:v>31.271000000000001</c:v>
                </c:pt>
                <c:pt idx="20">
                  <c:v>31.56</c:v>
                </c:pt>
                <c:pt idx="21">
                  <c:v>32.106000000000002</c:v>
                </c:pt>
                <c:pt idx="22">
                  <c:v>31.196000000000002</c:v>
                </c:pt>
                <c:pt idx="23">
                  <c:v>28.852</c:v>
                </c:pt>
                <c:pt idx="24">
                  <c:v>29.609000000000002</c:v>
                </c:pt>
                <c:pt idx="25">
                  <c:v>32.82</c:v>
                </c:pt>
                <c:pt idx="26">
                  <c:v>34.289000000000001</c:v>
                </c:pt>
                <c:pt idx="27">
                  <c:v>34.335000000000001</c:v>
                </c:pt>
                <c:pt idx="28">
                  <c:v>28.347999999999999</c:v>
                </c:pt>
                <c:pt idx="29">
                  <c:v>32.435000000000002</c:v>
                </c:pt>
                <c:pt idx="30">
                  <c:v>22.920999999999999</c:v>
                </c:pt>
                <c:pt idx="31">
                  <c:v>25.789000000000001</c:v>
                </c:pt>
                <c:pt idx="32">
                  <c:v>27.55</c:v>
                </c:pt>
                <c:pt idx="33">
                  <c:v>28.399000000000001</c:v>
                </c:pt>
                <c:pt idx="34">
                  <c:v>30.440999999999999</c:v>
                </c:pt>
                <c:pt idx="35">
                  <c:v>30.007999999999999</c:v>
                </c:pt>
                <c:pt idx="36">
                  <c:v>26.323</c:v>
                </c:pt>
                <c:pt idx="37">
                  <c:v>24.111000000000001</c:v>
                </c:pt>
                <c:pt idx="38">
                  <c:v>20.181000000000001</c:v>
                </c:pt>
                <c:pt idx="39">
                  <c:v>23.727</c:v>
                </c:pt>
                <c:pt idx="40">
                  <c:v>27.75</c:v>
                </c:pt>
                <c:pt idx="41">
                  <c:v>28.814</c:v>
                </c:pt>
                <c:pt idx="42">
                  <c:v>21.702999999999999</c:v>
                </c:pt>
                <c:pt idx="43">
                  <c:v>20.405999999999999</c:v>
                </c:pt>
                <c:pt idx="44">
                  <c:v>22.603000000000002</c:v>
                </c:pt>
                <c:pt idx="45">
                  <c:v>23.927</c:v>
                </c:pt>
                <c:pt idx="46">
                  <c:v>31.183</c:v>
                </c:pt>
              </c:numCache>
            </c:numRef>
          </c:val>
          <c:smooth val="0"/>
          <c:extLst>
            <c:ext xmlns:c16="http://schemas.microsoft.com/office/drawing/2014/chart" uri="{C3380CC4-5D6E-409C-BE32-E72D297353CC}">
              <c16:uniqueId val="{00000001-7D6F-3F49-B5E5-E747D0B9B18D}"/>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out"/>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40"/>
          <c:min val="15"/>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5"/>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4"/>
          <c:y val="0.05"/>
          <c:w val="0.72"/>
          <c:h val="0.68"/>
        </c:manualLayout>
      </c:layout>
      <c:barChart>
        <c:barDir val="col"/>
        <c:grouping val="clustered"/>
        <c:varyColors val="0"/>
        <c:ser>
          <c:idx val="0"/>
          <c:order val="0"/>
          <c:tx>
            <c:strRef>
              <c:f>'図07_分析3_列11区画別'!$G$1</c:f>
              <c:strCache>
                <c:ptCount val="1"/>
                <c:pt idx="0">
                  <c:v>区画1_列3より低い日</c:v>
                </c:pt>
              </c:strCache>
            </c:strRef>
          </c:tx>
          <c:spPr>
            <a:solidFill>
              <a:srgbClr val="118DFF"/>
            </a:solidFill>
            <a:ln w="6350" cap="rnd">
              <a:solidFill>
                <a:srgbClr val="118DFF"/>
              </a:solidFill>
              <a:round/>
            </a:ln>
          </c:spPr>
          <c:invertIfNegative val="0"/>
          <c:cat>
            <c:strRef>
              <c:f>'図07_分析3_列11区画別'!$B$2:$B$48</c:f>
              <c:strCache>
                <c:ptCount val="47"/>
                <c:pt idx="0">
                  <c:v>07-30</c:v>
                </c:pt>
                <c:pt idx="14">
                  <c:v>08-13</c:v>
                </c:pt>
                <c:pt idx="28">
                  <c:v>08-27</c:v>
                </c:pt>
                <c:pt idx="42">
                  <c:v>09-10</c:v>
                </c:pt>
              </c:strCache>
            </c:strRef>
          </c:cat>
          <c:val>
            <c:numRef>
              <c:f>'図07_分析3_列11区画別'!$G$2:$G$48</c:f>
              <c:numCache>
                <c:formatCode>General</c:formatCode>
                <c:ptCount val="47"/>
                <c:pt idx="8">
                  <c:v>-0.19</c:v>
                </c:pt>
                <c:pt idx="13">
                  <c:v>-2.1999999999999999E-2</c:v>
                </c:pt>
                <c:pt idx="14">
                  <c:v>-0.157</c:v>
                </c:pt>
                <c:pt idx="35">
                  <c:v>-1.0999999999999999E-2</c:v>
                </c:pt>
                <c:pt idx="39">
                  <c:v>-0.73199999999999998</c:v>
                </c:pt>
                <c:pt idx="40">
                  <c:v>-4.4999999999999998E-2</c:v>
                </c:pt>
                <c:pt idx="41">
                  <c:v>-0.41399999999999998</c:v>
                </c:pt>
                <c:pt idx="42">
                  <c:v>-0.83699999999999997</c:v>
                </c:pt>
                <c:pt idx="43">
                  <c:v>-0.627</c:v>
                </c:pt>
              </c:numCache>
            </c:numRef>
          </c:val>
          <c:extLst>
            <c:ext xmlns:c16="http://schemas.microsoft.com/office/drawing/2014/chart" uri="{C3380CC4-5D6E-409C-BE32-E72D297353CC}">
              <c16:uniqueId val="{00000000-C492-504B-883B-86DC2977C358}"/>
            </c:ext>
          </c:extLst>
        </c:ser>
        <c:ser>
          <c:idx val="1"/>
          <c:order val="1"/>
          <c:tx>
            <c:strRef>
              <c:f>'図07_分析3_列11区画別'!$H$1</c:f>
              <c:strCache>
                <c:ptCount val="1"/>
                <c:pt idx="0">
                  <c:v>区画1_列3より高い日</c:v>
                </c:pt>
              </c:strCache>
            </c:strRef>
          </c:tx>
          <c:spPr>
            <a:solidFill>
              <a:srgbClr val="E66C64"/>
            </a:solidFill>
            <a:ln w="6350" cap="rnd">
              <a:solidFill>
                <a:srgbClr val="E66C64"/>
              </a:solidFill>
              <a:round/>
            </a:ln>
          </c:spPr>
          <c:invertIfNegative val="0"/>
          <c:cat>
            <c:strRef>
              <c:f>'図07_分析3_列11区画別'!$B$2:$B$48</c:f>
              <c:strCache>
                <c:ptCount val="47"/>
                <c:pt idx="0">
                  <c:v>07-30</c:v>
                </c:pt>
                <c:pt idx="14">
                  <c:v>08-13</c:v>
                </c:pt>
                <c:pt idx="28">
                  <c:v>08-27</c:v>
                </c:pt>
                <c:pt idx="42">
                  <c:v>09-10</c:v>
                </c:pt>
              </c:strCache>
            </c:strRef>
          </c:cat>
          <c:val>
            <c:numRef>
              <c:f>'図07_分析3_列11区画別'!$H$2:$H$48</c:f>
              <c:numCache>
                <c:formatCode>General</c:formatCode>
                <c:ptCount val="47"/>
                <c:pt idx="0">
                  <c:v>0.36399999999999999</c:v>
                </c:pt>
                <c:pt idx="1">
                  <c:v>0.34399999999999997</c:v>
                </c:pt>
                <c:pt idx="4">
                  <c:v>0.53600000000000003</c:v>
                </c:pt>
                <c:pt idx="5">
                  <c:v>0.501</c:v>
                </c:pt>
                <c:pt idx="6">
                  <c:v>0.28699999999999998</c:v>
                </c:pt>
                <c:pt idx="7">
                  <c:v>0.36099999999999999</c:v>
                </c:pt>
                <c:pt idx="11">
                  <c:v>0.38700000000000001</c:v>
                </c:pt>
                <c:pt idx="15">
                  <c:v>0.13800000000000001</c:v>
                </c:pt>
                <c:pt idx="18">
                  <c:v>0.17299999999999999</c:v>
                </c:pt>
                <c:pt idx="19">
                  <c:v>0.443</c:v>
                </c:pt>
                <c:pt idx="20">
                  <c:v>0.42299999999999999</c:v>
                </c:pt>
                <c:pt idx="21">
                  <c:v>0.27100000000000002</c:v>
                </c:pt>
                <c:pt idx="22">
                  <c:v>4.3999999999999997E-2</c:v>
                </c:pt>
                <c:pt idx="25">
                  <c:v>0.222</c:v>
                </c:pt>
                <c:pt idx="26">
                  <c:v>0.32</c:v>
                </c:pt>
                <c:pt idx="27">
                  <c:v>0.628</c:v>
                </c:pt>
                <c:pt idx="28">
                  <c:v>0.2</c:v>
                </c:pt>
                <c:pt idx="29">
                  <c:v>0.45</c:v>
                </c:pt>
                <c:pt idx="32">
                  <c:v>0.29799999999999999</c:v>
                </c:pt>
                <c:pt idx="33">
                  <c:v>0.30399999999999999</c:v>
                </c:pt>
                <c:pt idx="34">
                  <c:v>0.114</c:v>
                </c:pt>
                <c:pt idx="36">
                  <c:v>0.20899999999999999</c:v>
                </c:pt>
                <c:pt idx="46">
                  <c:v>7.0000000000000007E-2</c:v>
                </c:pt>
              </c:numCache>
            </c:numRef>
          </c:val>
          <c:extLst>
            <c:ext xmlns:c16="http://schemas.microsoft.com/office/drawing/2014/chart" uri="{C3380CC4-5D6E-409C-BE32-E72D297353CC}">
              <c16:uniqueId val="{00000001-C492-504B-883B-86DC2977C358}"/>
            </c:ext>
          </c:extLst>
        </c:ser>
        <c:ser>
          <c:idx val="2"/>
          <c:order val="2"/>
          <c:tx>
            <c:strRef>
              <c:f>'図07_分析3_列11区画別'!$I$1</c:f>
              <c:strCache>
                <c:ptCount val="1"/>
                <c:pt idx="0">
                  <c:v>区画1_休日</c:v>
                </c:pt>
              </c:strCache>
            </c:strRef>
          </c:tx>
          <c:spPr>
            <a:solidFill>
              <a:srgbClr val="C9D1DB"/>
            </a:solidFill>
            <a:ln w="6350" cap="rnd">
              <a:solidFill>
                <a:srgbClr val="C9D1DB"/>
              </a:solidFill>
              <a:round/>
            </a:ln>
          </c:spPr>
          <c:invertIfNegative val="0"/>
          <c:cat>
            <c:strRef>
              <c:f>'図07_分析3_列11区画別'!$B$2:$B$48</c:f>
              <c:strCache>
                <c:ptCount val="47"/>
                <c:pt idx="0">
                  <c:v>07-30</c:v>
                </c:pt>
                <c:pt idx="14">
                  <c:v>08-13</c:v>
                </c:pt>
                <c:pt idx="28">
                  <c:v>08-27</c:v>
                </c:pt>
                <c:pt idx="42">
                  <c:v>09-10</c:v>
                </c:pt>
              </c:strCache>
            </c:strRef>
          </c:cat>
          <c:val>
            <c:numRef>
              <c:f>'図07_分析3_列11区画別'!$I$2:$I$48</c:f>
              <c:numCache>
                <c:formatCode>General</c:formatCode>
                <c:ptCount val="47"/>
                <c:pt idx="2">
                  <c:v>6.8000000000000005E-2</c:v>
                </c:pt>
                <c:pt idx="3">
                  <c:v>0.44600000000000001</c:v>
                </c:pt>
                <c:pt idx="9">
                  <c:v>-0.39400000000000002</c:v>
                </c:pt>
                <c:pt idx="10">
                  <c:v>0.18099999999999999</c:v>
                </c:pt>
                <c:pt idx="12">
                  <c:v>-1.9E-2</c:v>
                </c:pt>
                <c:pt idx="16">
                  <c:v>1.6E-2</c:v>
                </c:pt>
                <c:pt idx="17">
                  <c:v>-0.37</c:v>
                </c:pt>
                <c:pt idx="23">
                  <c:v>-0.219</c:v>
                </c:pt>
                <c:pt idx="24">
                  <c:v>0.13100000000000001</c:v>
                </c:pt>
                <c:pt idx="30">
                  <c:v>-0.23400000000000001</c:v>
                </c:pt>
                <c:pt idx="31">
                  <c:v>-0.26400000000000001</c:v>
                </c:pt>
                <c:pt idx="37">
                  <c:v>-0.16200000000000001</c:v>
                </c:pt>
                <c:pt idx="38">
                  <c:v>-1.6319999999999999</c:v>
                </c:pt>
                <c:pt idx="44">
                  <c:v>-1.1890000000000001</c:v>
                </c:pt>
                <c:pt idx="45">
                  <c:v>-0.50600000000000001</c:v>
                </c:pt>
              </c:numCache>
            </c:numRef>
          </c:val>
          <c:extLst>
            <c:ext xmlns:c16="http://schemas.microsoft.com/office/drawing/2014/chart" uri="{C3380CC4-5D6E-409C-BE32-E72D297353CC}">
              <c16:uniqueId val="{00000002-C492-504B-883B-86DC2977C358}"/>
            </c:ext>
          </c:extLst>
        </c:ser>
        <c:dLbls>
          <c:showLegendKey val="0"/>
          <c:showVal val="0"/>
          <c:showCatName val="0"/>
          <c:showSerName val="0"/>
          <c:showPercent val="0"/>
          <c:showBubbleSize val="0"/>
        </c:dLbls>
        <c:gapWidth val="30"/>
        <c:overlap val="100"/>
        <c:axId val="10"/>
        <c:axId val="20"/>
      </c:barChart>
      <c:catAx>
        <c:axId val="10"/>
        <c:scaling>
          <c:orientation val="minMax"/>
        </c:scaling>
        <c:delete val="0"/>
        <c:axPos val="b"/>
        <c:numFmt formatCode="General" sourceLinked="1"/>
        <c:majorTickMark val="out"/>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5"/>
          <c:min val="-2"/>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1"/>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4"/>
          <c:y val="0.2"/>
          <c:w val="0.72"/>
          <c:h val="0.57999999999999996"/>
        </c:manualLayout>
      </c:layout>
      <c:lineChart>
        <c:grouping val="standard"/>
        <c:varyColors val="0"/>
        <c:ser>
          <c:idx val="0"/>
          <c:order val="0"/>
          <c:tx>
            <c:strRef>
              <c:f>'図07_分析3_列11区画別'!$J$1</c:f>
              <c:strCache>
                <c:ptCount val="1"/>
                <c:pt idx="0">
                  <c:v>列3</c:v>
                </c:pt>
              </c:strCache>
            </c:strRef>
          </c:tx>
          <c:spPr>
            <a:ln w="22225" cap="rnd">
              <a:solidFill>
                <a:srgbClr val="5E6B7A"/>
              </a:solidFill>
              <a:round/>
            </a:ln>
          </c:spPr>
          <c:marker>
            <c:symbol val="none"/>
          </c:marker>
          <c:cat>
            <c:strRef>
              <c:f>'図07_分析3_列11区画別'!$B$2:$B$48</c:f>
              <c:strCache>
                <c:ptCount val="47"/>
                <c:pt idx="0">
                  <c:v>07-30</c:v>
                </c:pt>
                <c:pt idx="14">
                  <c:v>08-13</c:v>
                </c:pt>
                <c:pt idx="28">
                  <c:v>08-27</c:v>
                </c:pt>
                <c:pt idx="42">
                  <c:v>09-10</c:v>
                </c:pt>
              </c:strCache>
            </c:strRef>
          </c:cat>
          <c:val>
            <c:numRef>
              <c:f>'図07_分析3_列11区画別'!$J$2:$J$48</c:f>
              <c:numCache>
                <c:formatCode>General</c:formatCode>
                <c:ptCount val="47"/>
                <c:pt idx="0">
                  <c:v>34.892000000000003</c:v>
                </c:pt>
                <c:pt idx="1">
                  <c:v>34.249000000000002</c:v>
                </c:pt>
                <c:pt idx="2">
                  <c:v>34.884999999999998</c:v>
                </c:pt>
                <c:pt idx="3">
                  <c:v>33.555999999999997</c:v>
                </c:pt>
                <c:pt idx="4">
                  <c:v>28.042000000000002</c:v>
                </c:pt>
                <c:pt idx="5">
                  <c:v>29.693999999999999</c:v>
                </c:pt>
                <c:pt idx="6">
                  <c:v>30.736999999999998</c:v>
                </c:pt>
                <c:pt idx="7">
                  <c:v>30.626999999999999</c:v>
                </c:pt>
                <c:pt idx="8">
                  <c:v>33.420999999999999</c:v>
                </c:pt>
                <c:pt idx="9">
                  <c:v>33.005000000000003</c:v>
                </c:pt>
                <c:pt idx="10">
                  <c:v>32.478000000000002</c:v>
                </c:pt>
                <c:pt idx="11">
                  <c:v>30.707000000000001</c:v>
                </c:pt>
                <c:pt idx="12">
                  <c:v>29.466000000000001</c:v>
                </c:pt>
                <c:pt idx="13">
                  <c:v>28.381</c:v>
                </c:pt>
                <c:pt idx="14">
                  <c:v>27.306000000000001</c:v>
                </c:pt>
                <c:pt idx="15">
                  <c:v>29.609000000000002</c:v>
                </c:pt>
                <c:pt idx="16">
                  <c:v>28.14</c:v>
                </c:pt>
                <c:pt idx="17">
                  <c:v>26.5</c:v>
                </c:pt>
                <c:pt idx="18">
                  <c:v>30.108000000000001</c:v>
                </c:pt>
                <c:pt idx="19">
                  <c:v>31.35</c:v>
                </c:pt>
                <c:pt idx="20">
                  <c:v>31.670999999999999</c:v>
                </c:pt>
                <c:pt idx="21">
                  <c:v>32.180999999999997</c:v>
                </c:pt>
                <c:pt idx="22">
                  <c:v>31.542000000000002</c:v>
                </c:pt>
                <c:pt idx="23">
                  <c:v>29.323</c:v>
                </c:pt>
                <c:pt idx="24">
                  <c:v>29.948</c:v>
                </c:pt>
                <c:pt idx="25">
                  <c:v>33.033000000000001</c:v>
                </c:pt>
                <c:pt idx="26">
                  <c:v>34.332000000000001</c:v>
                </c:pt>
                <c:pt idx="27">
                  <c:v>33.746000000000002</c:v>
                </c:pt>
                <c:pt idx="28">
                  <c:v>29.282</c:v>
                </c:pt>
                <c:pt idx="29">
                  <c:v>32.206000000000003</c:v>
                </c:pt>
                <c:pt idx="30">
                  <c:v>24.122</c:v>
                </c:pt>
                <c:pt idx="31">
                  <c:v>26.832000000000001</c:v>
                </c:pt>
                <c:pt idx="32">
                  <c:v>28.137</c:v>
                </c:pt>
                <c:pt idx="33">
                  <c:v>28.908999999999999</c:v>
                </c:pt>
                <c:pt idx="34">
                  <c:v>30.832000000000001</c:v>
                </c:pt>
                <c:pt idx="35">
                  <c:v>30.835999999999999</c:v>
                </c:pt>
                <c:pt idx="36">
                  <c:v>27.242999999999999</c:v>
                </c:pt>
                <c:pt idx="37">
                  <c:v>24.931000000000001</c:v>
                </c:pt>
                <c:pt idx="38">
                  <c:v>21.806000000000001</c:v>
                </c:pt>
                <c:pt idx="39">
                  <c:v>25.096</c:v>
                </c:pt>
                <c:pt idx="40">
                  <c:v>28.431000000000001</c:v>
                </c:pt>
                <c:pt idx="41">
                  <c:v>29.919</c:v>
                </c:pt>
                <c:pt idx="42">
                  <c:v>22.946999999999999</c:v>
                </c:pt>
                <c:pt idx="43">
                  <c:v>21.274999999999999</c:v>
                </c:pt>
                <c:pt idx="44">
                  <c:v>24.353999999999999</c:v>
                </c:pt>
                <c:pt idx="45">
                  <c:v>25.335000000000001</c:v>
                </c:pt>
                <c:pt idx="46">
                  <c:v>31.673999999999999</c:v>
                </c:pt>
              </c:numCache>
            </c:numRef>
          </c:val>
          <c:smooth val="0"/>
          <c:extLst>
            <c:ext xmlns:c16="http://schemas.microsoft.com/office/drawing/2014/chart" uri="{C3380CC4-5D6E-409C-BE32-E72D297353CC}">
              <c16:uniqueId val="{00000000-995F-2A4A-90E9-4E8AB998D81E}"/>
            </c:ext>
          </c:extLst>
        </c:ser>
        <c:ser>
          <c:idx val="1"/>
          <c:order val="1"/>
          <c:tx>
            <c:strRef>
              <c:f>'図07_分析3_列11区画別'!$K$1</c:f>
              <c:strCache>
                <c:ptCount val="1"/>
                <c:pt idx="0">
                  <c:v>列11</c:v>
                </c:pt>
              </c:strCache>
            </c:strRef>
          </c:tx>
          <c:spPr>
            <a:ln w="22225" cap="rnd">
              <a:solidFill>
                <a:srgbClr val="118DFF"/>
              </a:solidFill>
              <a:round/>
            </a:ln>
          </c:spPr>
          <c:marker>
            <c:symbol val="none"/>
          </c:marker>
          <c:cat>
            <c:strRef>
              <c:f>'図07_分析3_列11区画別'!$B$2:$B$48</c:f>
              <c:strCache>
                <c:ptCount val="47"/>
                <c:pt idx="0">
                  <c:v>07-30</c:v>
                </c:pt>
                <c:pt idx="14">
                  <c:v>08-13</c:v>
                </c:pt>
                <c:pt idx="28">
                  <c:v>08-27</c:v>
                </c:pt>
                <c:pt idx="42">
                  <c:v>09-10</c:v>
                </c:pt>
              </c:strCache>
            </c:strRef>
          </c:cat>
          <c:val>
            <c:numRef>
              <c:f>'図07_分析3_列11区画別'!$K$2:$K$48</c:f>
              <c:numCache>
                <c:formatCode>General</c:formatCode>
                <c:ptCount val="47"/>
                <c:pt idx="0">
                  <c:v>34.698</c:v>
                </c:pt>
                <c:pt idx="1">
                  <c:v>34.145000000000003</c:v>
                </c:pt>
                <c:pt idx="2">
                  <c:v>34.651000000000003</c:v>
                </c:pt>
                <c:pt idx="3">
                  <c:v>33.479999999999997</c:v>
                </c:pt>
                <c:pt idx="4">
                  <c:v>27.515999999999998</c:v>
                </c:pt>
                <c:pt idx="5">
                  <c:v>29.149000000000001</c:v>
                </c:pt>
                <c:pt idx="6">
                  <c:v>30.4</c:v>
                </c:pt>
                <c:pt idx="7">
                  <c:v>29.942</c:v>
                </c:pt>
                <c:pt idx="8">
                  <c:v>32.356000000000002</c:v>
                </c:pt>
                <c:pt idx="9">
                  <c:v>32.177999999999997</c:v>
                </c:pt>
                <c:pt idx="10">
                  <c:v>32.023000000000003</c:v>
                </c:pt>
                <c:pt idx="11">
                  <c:v>30.539000000000001</c:v>
                </c:pt>
                <c:pt idx="12">
                  <c:v>28.748000000000001</c:v>
                </c:pt>
                <c:pt idx="13">
                  <c:v>27.791</c:v>
                </c:pt>
                <c:pt idx="14">
                  <c:v>26.190999999999999</c:v>
                </c:pt>
                <c:pt idx="15">
                  <c:v>29.24</c:v>
                </c:pt>
                <c:pt idx="16">
                  <c:v>27.861000000000001</c:v>
                </c:pt>
                <c:pt idx="17">
                  <c:v>25.622</c:v>
                </c:pt>
                <c:pt idx="18">
                  <c:v>29.5</c:v>
                </c:pt>
                <c:pt idx="19">
                  <c:v>30.768000000000001</c:v>
                </c:pt>
                <c:pt idx="20">
                  <c:v>31.132999999999999</c:v>
                </c:pt>
                <c:pt idx="21">
                  <c:v>31.515999999999998</c:v>
                </c:pt>
                <c:pt idx="22">
                  <c:v>30.885000000000002</c:v>
                </c:pt>
                <c:pt idx="23">
                  <c:v>28.981999999999999</c:v>
                </c:pt>
                <c:pt idx="24">
                  <c:v>29.436</c:v>
                </c:pt>
                <c:pt idx="25">
                  <c:v>32.405999999999999</c:v>
                </c:pt>
                <c:pt idx="26">
                  <c:v>33.817</c:v>
                </c:pt>
                <c:pt idx="27">
                  <c:v>33.426000000000002</c:v>
                </c:pt>
                <c:pt idx="28">
                  <c:v>28.6</c:v>
                </c:pt>
                <c:pt idx="29">
                  <c:v>32.020000000000003</c:v>
                </c:pt>
                <c:pt idx="30">
                  <c:v>23.071999999999999</c:v>
                </c:pt>
                <c:pt idx="31">
                  <c:v>25.902999999999999</c:v>
                </c:pt>
                <c:pt idx="32">
                  <c:v>27.664000000000001</c:v>
                </c:pt>
                <c:pt idx="33">
                  <c:v>28.527000000000001</c:v>
                </c:pt>
                <c:pt idx="34">
                  <c:v>30.045999999999999</c:v>
                </c:pt>
                <c:pt idx="35">
                  <c:v>30.138999999999999</c:v>
                </c:pt>
                <c:pt idx="36">
                  <c:v>26.702999999999999</c:v>
                </c:pt>
                <c:pt idx="37">
                  <c:v>24.119</c:v>
                </c:pt>
                <c:pt idx="38">
                  <c:v>20.291</c:v>
                </c:pt>
                <c:pt idx="39">
                  <c:v>23.715</c:v>
                </c:pt>
                <c:pt idx="40">
                  <c:v>27.82</c:v>
                </c:pt>
                <c:pt idx="41">
                  <c:v>29.175999999999998</c:v>
                </c:pt>
                <c:pt idx="42">
                  <c:v>22.228000000000002</c:v>
                </c:pt>
                <c:pt idx="43">
                  <c:v>20.727</c:v>
                </c:pt>
                <c:pt idx="44">
                  <c:v>22.573</c:v>
                </c:pt>
                <c:pt idx="45">
                  <c:v>23.891999999999999</c:v>
                </c:pt>
                <c:pt idx="46">
                  <c:v>30.83</c:v>
                </c:pt>
              </c:numCache>
            </c:numRef>
          </c:val>
          <c:smooth val="0"/>
          <c:extLst>
            <c:ext xmlns:c16="http://schemas.microsoft.com/office/drawing/2014/chart" uri="{C3380CC4-5D6E-409C-BE32-E72D297353CC}">
              <c16:uniqueId val="{00000001-995F-2A4A-90E9-4E8AB998D81E}"/>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out"/>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40"/>
          <c:min val="15"/>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5"/>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4"/>
          <c:y val="0.05"/>
          <c:w val="0.72"/>
          <c:h val="0.68"/>
        </c:manualLayout>
      </c:layout>
      <c:barChart>
        <c:barDir val="col"/>
        <c:grouping val="clustered"/>
        <c:varyColors val="0"/>
        <c:ser>
          <c:idx val="0"/>
          <c:order val="0"/>
          <c:tx>
            <c:strRef>
              <c:f>'図07_分析3_列11区画別'!$M$1</c:f>
              <c:strCache>
                <c:ptCount val="1"/>
                <c:pt idx="0">
                  <c:v>区画2_列3より低い日</c:v>
                </c:pt>
              </c:strCache>
            </c:strRef>
          </c:tx>
          <c:spPr>
            <a:solidFill>
              <a:srgbClr val="118DFF"/>
            </a:solidFill>
            <a:ln w="6350" cap="rnd">
              <a:solidFill>
                <a:srgbClr val="118DFF"/>
              </a:solidFill>
              <a:round/>
            </a:ln>
          </c:spPr>
          <c:invertIfNegative val="0"/>
          <c:cat>
            <c:strRef>
              <c:f>'図07_分析3_列11区画別'!$B$2:$B$48</c:f>
              <c:strCache>
                <c:ptCount val="47"/>
                <c:pt idx="0">
                  <c:v>07-30</c:v>
                </c:pt>
                <c:pt idx="14">
                  <c:v>08-13</c:v>
                </c:pt>
                <c:pt idx="28">
                  <c:v>08-27</c:v>
                </c:pt>
                <c:pt idx="42">
                  <c:v>09-10</c:v>
                </c:pt>
              </c:strCache>
            </c:strRef>
          </c:cat>
          <c:val>
            <c:numRef>
              <c:f>'図07_分析3_列11区画別'!$M$2:$M$48</c:f>
              <c:numCache>
                <c:formatCode>General</c:formatCode>
                <c:ptCount val="47"/>
                <c:pt idx="0">
                  <c:v>-0.19500000000000001</c:v>
                </c:pt>
                <c:pt idx="1">
                  <c:v>-0.104</c:v>
                </c:pt>
                <c:pt idx="4">
                  <c:v>-0.52600000000000002</c:v>
                </c:pt>
                <c:pt idx="5">
                  <c:v>-0.54500000000000004</c:v>
                </c:pt>
                <c:pt idx="6">
                  <c:v>-0.33700000000000002</c:v>
                </c:pt>
                <c:pt idx="7">
                  <c:v>-0.68500000000000005</c:v>
                </c:pt>
                <c:pt idx="8">
                  <c:v>-1.0649999999999999</c:v>
                </c:pt>
                <c:pt idx="11">
                  <c:v>-0.16800000000000001</c:v>
                </c:pt>
                <c:pt idx="13">
                  <c:v>-0.59</c:v>
                </c:pt>
                <c:pt idx="14">
                  <c:v>-1.115</c:v>
                </c:pt>
                <c:pt idx="15">
                  <c:v>-0.36799999999999999</c:v>
                </c:pt>
                <c:pt idx="18">
                  <c:v>-0.60799999999999998</c:v>
                </c:pt>
                <c:pt idx="19">
                  <c:v>-0.58099999999999996</c:v>
                </c:pt>
                <c:pt idx="20">
                  <c:v>-0.53900000000000003</c:v>
                </c:pt>
                <c:pt idx="21">
                  <c:v>-0.66400000000000003</c:v>
                </c:pt>
                <c:pt idx="22">
                  <c:v>-0.65600000000000003</c:v>
                </c:pt>
                <c:pt idx="25">
                  <c:v>-0.627</c:v>
                </c:pt>
                <c:pt idx="26">
                  <c:v>-0.51500000000000001</c:v>
                </c:pt>
                <c:pt idx="27">
                  <c:v>-0.32</c:v>
                </c:pt>
                <c:pt idx="28">
                  <c:v>-0.68200000000000005</c:v>
                </c:pt>
                <c:pt idx="29">
                  <c:v>-0.186</c:v>
                </c:pt>
                <c:pt idx="32">
                  <c:v>-0.47299999999999998</c:v>
                </c:pt>
                <c:pt idx="33">
                  <c:v>-0.38200000000000001</c:v>
                </c:pt>
                <c:pt idx="34">
                  <c:v>-0.78700000000000003</c:v>
                </c:pt>
                <c:pt idx="35">
                  <c:v>-0.69699999999999995</c:v>
                </c:pt>
                <c:pt idx="36">
                  <c:v>-0.54100000000000004</c:v>
                </c:pt>
                <c:pt idx="39">
                  <c:v>-1.381</c:v>
                </c:pt>
                <c:pt idx="40">
                  <c:v>-0.61099999999999999</c:v>
                </c:pt>
                <c:pt idx="41">
                  <c:v>-0.74399999999999999</c:v>
                </c:pt>
                <c:pt idx="42">
                  <c:v>-0.71799999999999997</c:v>
                </c:pt>
                <c:pt idx="43">
                  <c:v>-0.54800000000000004</c:v>
                </c:pt>
                <c:pt idx="46">
                  <c:v>-0.84399999999999997</c:v>
                </c:pt>
              </c:numCache>
            </c:numRef>
          </c:val>
          <c:extLst>
            <c:ext xmlns:c16="http://schemas.microsoft.com/office/drawing/2014/chart" uri="{C3380CC4-5D6E-409C-BE32-E72D297353CC}">
              <c16:uniqueId val="{00000000-3258-0F48-AAC3-DCF0463BD5C9}"/>
            </c:ext>
          </c:extLst>
        </c:ser>
        <c:ser>
          <c:idx val="1"/>
          <c:order val="1"/>
          <c:tx>
            <c:strRef>
              <c:f>'図07_分析3_列11区画別'!$N$1</c:f>
              <c:strCache>
                <c:ptCount val="1"/>
                <c:pt idx="0">
                  <c:v>区画2_列3より高い日</c:v>
                </c:pt>
              </c:strCache>
            </c:strRef>
          </c:tx>
          <c:spPr>
            <a:solidFill>
              <a:srgbClr val="E66C64"/>
            </a:solidFill>
            <a:ln w="6350" cap="rnd">
              <a:solidFill>
                <a:srgbClr val="E66C64"/>
              </a:solidFill>
              <a:round/>
            </a:ln>
          </c:spPr>
          <c:invertIfNegative val="0"/>
          <c:cat>
            <c:strRef>
              <c:f>'図07_分析3_列11区画別'!$B$2:$B$48</c:f>
              <c:strCache>
                <c:ptCount val="47"/>
                <c:pt idx="0">
                  <c:v>07-30</c:v>
                </c:pt>
                <c:pt idx="14">
                  <c:v>08-13</c:v>
                </c:pt>
                <c:pt idx="28">
                  <c:v>08-27</c:v>
                </c:pt>
                <c:pt idx="42">
                  <c:v>09-10</c:v>
                </c:pt>
              </c:strCache>
            </c:strRef>
          </c:cat>
          <c:val>
            <c:numRef>
              <c:f>'図07_分析3_列11区画別'!$N$2:$N$48</c:f>
              <c:numCache>
                <c:formatCode>General</c:formatCode>
                <c:ptCount val="47"/>
              </c:numCache>
            </c:numRef>
          </c:val>
          <c:extLst>
            <c:ext xmlns:c16="http://schemas.microsoft.com/office/drawing/2014/chart" uri="{C3380CC4-5D6E-409C-BE32-E72D297353CC}">
              <c16:uniqueId val="{00000001-3258-0F48-AAC3-DCF0463BD5C9}"/>
            </c:ext>
          </c:extLst>
        </c:ser>
        <c:ser>
          <c:idx val="2"/>
          <c:order val="2"/>
          <c:tx>
            <c:strRef>
              <c:f>'図07_分析3_列11区画別'!$O$1</c:f>
              <c:strCache>
                <c:ptCount val="1"/>
                <c:pt idx="0">
                  <c:v>区画2_休日</c:v>
                </c:pt>
              </c:strCache>
            </c:strRef>
          </c:tx>
          <c:spPr>
            <a:solidFill>
              <a:srgbClr val="C9D1DB"/>
            </a:solidFill>
            <a:ln w="6350" cap="rnd">
              <a:solidFill>
                <a:srgbClr val="C9D1DB"/>
              </a:solidFill>
              <a:round/>
            </a:ln>
          </c:spPr>
          <c:invertIfNegative val="0"/>
          <c:cat>
            <c:strRef>
              <c:f>'図07_分析3_列11区画別'!$B$2:$B$48</c:f>
              <c:strCache>
                <c:ptCount val="47"/>
                <c:pt idx="0">
                  <c:v>07-30</c:v>
                </c:pt>
                <c:pt idx="14">
                  <c:v>08-13</c:v>
                </c:pt>
                <c:pt idx="28">
                  <c:v>08-27</c:v>
                </c:pt>
                <c:pt idx="42">
                  <c:v>09-10</c:v>
                </c:pt>
              </c:strCache>
            </c:strRef>
          </c:cat>
          <c:val>
            <c:numRef>
              <c:f>'図07_分析3_列11区画別'!$O$2:$O$48</c:f>
              <c:numCache>
                <c:formatCode>General</c:formatCode>
                <c:ptCount val="47"/>
                <c:pt idx="2">
                  <c:v>-0.23300000000000001</c:v>
                </c:pt>
                <c:pt idx="3">
                  <c:v>-7.4999999999999997E-2</c:v>
                </c:pt>
                <c:pt idx="9">
                  <c:v>-0.82699999999999996</c:v>
                </c:pt>
                <c:pt idx="10">
                  <c:v>-0.45500000000000002</c:v>
                </c:pt>
                <c:pt idx="12">
                  <c:v>-0.71799999999999997</c:v>
                </c:pt>
                <c:pt idx="16">
                  <c:v>-0.27900000000000003</c:v>
                </c:pt>
                <c:pt idx="17">
                  <c:v>-0.878</c:v>
                </c:pt>
                <c:pt idx="23">
                  <c:v>-0.34100000000000003</c:v>
                </c:pt>
                <c:pt idx="24">
                  <c:v>-0.51200000000000001</c:v>
                </c:pt>
                <c:pt idx="30">
                  <c:v>-1.05</c:v>
                </c:pt>
                <c:pt idx="31">
                  <c:v>-0.92900000000000005</c:v>
                </c:pt>
                <c:pt idx="37">
                  <c:v>-0.81299999999999994</c:v>
                </c:pt>
                <c:pt idx="38">
                  <c:v>-1.514</c:v>
                </c:pt>
                <c:pt idx="44">
                  <c:v>-1.7809999999999999</c:v>
                </c:pt>
                <c:pt idx="45">
                  <c:v>-1.4430000000000001</c:v>
                </c:pt>
              </c:numCache>
            </c:numRef>
          </c:val>
          <c:extLst>
            <c:ext xmlns:c16="http://schemas.microsoft.com/office/drawing/2014/chart" uri="{C3380CC4-5D6E-409C-BE32-E72D297353CC}">
              <c16:uniqueId val="{00000002-3258-0F48-AAC3-DCF0463BD5C9}"/>
            </c:ext>
          </c:extLst>
        </c:ser>
        <c:dLbls>
          <c:showLegendKey val="0"/>
          <c:showVal val="0"/>
          <c:showCatName val="0"/>
          <c:showSerName val="0"/>
          <c:showPercent val="0"/>
          <c:showBubbleSize val="0"/>
        </c:dLbls>
        <c:gapWidth val="30"/>
        <c:overlap val="100"/>
        <c:axId val="10"/>
        <c:axId val="20"/>
      </c:barChart>
      <c:catAx>
        <c:axId val="10"/>
        <c:scaling>
          <c:orientation val="minMax"/>
        </c:scaling>
        <c:delete val="0"/>
        <c:axPos val="b"/>
        <c:numFmt formatCode="General" sourceLinked="1"/>
        <c:majorTickMark val="out"/>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5"/>
          <c:min val="-2"/>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1"/>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4"/>
          <c:y val="0.2"/>
          <c:w val="0.72"/>
          <c:h val="0.57999999999999996"/>
        </c:manualLayout>
      </c:layout>
      <c:lineChart>
        <c:grouping val="standard"/>
        <c:varyColors val="0"/>
        <c:ser>
          <c:idx val="0"/>
          <c:order val="0"/>
          <c:tx>
            <c:strRef>
              <c:f>'図07_分析3_列11区画別'!$P$1</c:f>
              <c:strCache>
                <c:ptCount val="1"/>
                <c:pt idx="0">
                  <c:v>列3</c:v>
                </c:pt>
              </c:strCache>
            </c:strRef>
          </c:tx>
          <c:spPr>
            <a:ln w="22225" cap="rnd">
              <a:solidFill>
                <a:srgbClr val="5E6B7A"/>
              </a:solidFill>
              <a:round/>
            </a:ln>
          </c:spPr>
          <c:marker>
            <c:symbol val="none"/>
          </c:marker>
          <c:cat>
            <c:strRef>
              <c:f>'図07_分析3_列11区画別'!$B$2:$B$48</c:f>
              <c:strCache>
                <c:ptCount val="47"/>
                <c:pt idx="0">
                  <c:v>07-30</c:v>
                </c:pt>
                <c:pt idx="14">
                  <c:v>08-13</c:v>
                </c:pt>
                <c:pt idx="28">
                  <c:v>08-27</c:v>
                </c:pt>
                <c:pt idx="42">
                  <c:v>09-10</c:v>
                </c:pt>
              </c:strCache>
            </c:strRef>
          </c:cat>
          <c:val>
            <c:numRef>
              <c:f>'図07_分析3_列11区画別'!$P$2:$P$48</c:f>
              <c:numCache>
                <c:formatCode>General</c:formatCode>
                <c:ptCount val="47"/>
                <c:pt idx="0">
                  <c:v>34.829000000000001</c:v>
                </c:pt>
                <c:pt idx="1">
                  <c:v>34.438000000000002</c:v>
                </c:pt>
                <c:pt idx="2">
                  <c:v>34.6</c:v>
                </c:pt>
                <c:pt idx="3">
                  <c:v>33.293999999999997</c:v>
                </c:pt>
                <c:pt idx="4">
                  <c:v>26.992000000000001</c:v>
                </c:pt>
                <c:pt idx="5">
                  <c:v>29.311</c:v>
                </c:pt>
                <c:pt idx="6">
                  <c:v>30.597999999999999</c:v>
                </c:pt>
                <c:pt idx="7">
                  <c:v>30.582000000000001</c:v>
                </c:pt>
                <c:pt idx="8">
                  <c:v>32.829000000000001</c:v>
                </c:pt>
                <c:pt idx="9">
                  <c:v>32.369</c:v>
                </c:pt>
                <c:pt idx="10">
                  <c:v>32.167000000000002</c:v>
                </c:pt>
                <c:pt idx="11">
                  <c:v>30.824999999999999</c:v>
                </c:pt>
                <c:pt idx="12">
                  <c:v>28.86</c:v>
                </c:pt>
                <c:pt idx="13">
                  <c:v>28.062999999999999</c:v>
                </c:pt>
                <c:pt idx="14">
                  <c:v>26.593</c:v>
                </c:pt>
                <c:pt idx="15">
                  <c:v>29.51</c:v>
                </c:pt>
                <c:pt idx="16">
                  <c:v>27.277000000000001</c:v>
                </c:pt>
                <c:pt idx="17">
                  <c:v>25.454999999999998</c:v>
                </c:pt>
                <c:pt idx="18">
                  <c:v>29.835000000000001</c:v>
                </c:pt>
                <c:pt idx="19">
                  <c:v>30.616</c:v>
                </c:pt>
                <c:pt idx="20">
                  <c:v>31.132999999999999</c:v>
                </c:pt>
                <c:pt idx="21">
                  <c:v>31.457999999999998</c:v>
                </c:pt>
                <c:pt idx="22">
                  <c:v>31.088000000000001</c:v>
                </c:pt>
                <c:pt idx="23">
                  <c:v>28.824000000000002</c:v>
                </c:pt>
                <c:pt idx="24">
                  <c:v>29.670999999999999</c:v>
                </c:pt>
                <c:pt idx="25">
                  <c:v>32.581000000000003</c:v>
                </c:pt>
                <c:pt idx="26">
                  <c:v>33.994</c:v>
                </c:pt>
                <c:pt idx="27">
                  <c:v>33.624000000000002</c:v>
                </c:pt>
                <c:pt idx="28">
                  <c:v>28.327999999999999</c:v>
                </c:pt>
                <c:pt idx="29">
                  <c:v>32.201999999999998</c:v>
                </c:pt>
                <c:pt idx="30">
                  <c:v>22.812000000000001</c:v>
                </c:pt>
                <c:pt idx="31">
                  <c:v>25.847000000000001</c:v>
                </c:pt>
                <c:pt idx="32">
                  <c:v>27.565000000000001</c:v>
                </c:pt>
                <c:pt idx="33">
                  <c:v>28.591999999999999</c:v>
                </c:pt>
                <c:pt idx="34">
                  <c:v>30.254999999999999</c:v>
                </c:pt>
                <c:pt idx="35">
                  <c:v>30.177</c:v>
                </c:pt>
                <c:pt idx="36">
                  <c:v>26.396999999999998</c:v>
                </c:pt>
                <c:pt idx="37">
                  <c:v>24.411999999999999</c:v>
                </c:pt>
                <c:pt idx="38">
                  <c:v>21.268000000000001</c:v>
                </c:pt>
                <c:pt idx="39">
                  <c:v>24.262</c:v>
                </c:pt>
                <c:pt idx="40">
                  <c:v>28.012</c:v>
                </c:pt>
                <c:pt idx="41">
                  <c:v>29.417000000000002</c:v>
                </c:pt>
                <c:pt idx="42">
                  <c:v>22.114999999999998</c:v>
                </c:pt>
                <c:pt idx="43">
                  <c:v>20.38</c:v>
                </c:pt>
                <c:pt idx="44">
                  <c:v>23.440999999999999</c:v>
                </c:pt>
                <c:pt idx="45">
                  <c:v>24.081</c:v>
                </c:pt>
                <c:pt idx="46">
                  <c:v>31.079000000000001</c:v>
                </c:pt>
              </c:numCache>
            </c:numRef>
          </c:val>
          <c:smooth val="0"/>
          <c:extLst>
            <c:ext xmlns:c16="http://schemas.microsoft.com/office/drawing/2014/chart" uri="{C3380CC4-5D6E-409C-BE32-E72D297353CC}">
              <c16:uniqueId val="{00000000-CA0B-DF4B-980D-113D9D6BBE5F}"/>
            </c:ext>
          </c:extLst>
        </c:ser>
        <c:ser>
          <c:idx val="1"/>
          <c:order val="1"/>
          <c:tx>
            <c:strRef>
              <c:f>'図07_分析3_列11区画別'!$Q$1</c:f>
              <c:strCache>
                <c:ptCount val="1"/>
                <c:pt idx="0">
                  <c:v>列11</c:v>
                </c:pt>
              </c:strCache>
            </c:strRef>
          </c:tx>
          <c:spPr>
            <a:ln w="22225" cap="rnd">
              <a:solidFill>
                <a:srgbClr val="118DFF"/>
              </a:solidFill>
              <a:round/>
            </a:ln>
          </c:spPr>
          <c:marker>
            <c:symbol val="none"/>
          </c:marker>
          <c:cat>
            <c:strRef>
              <c:f>'図07_分析3_列11区画別'!$B$2:$B$48</c:f>
              <c:strCache>
                <c:ptCount val="47"/>
                <c:pt idx="0">
                  <c:v>07-30</c:v>
                </c:pt>
                <c:pt idx="14">
                  <c:v>08-13</c:v>
                </c:pt>
                <c:pt idx="28">
                  <c:v>08-27</c:v>
                </c:pt>
                <c:pt idx="42">
                  <c:v>09-10</c:v>
                </c:pt>
              </c:strCache>
            </c:strRef>
          </c:cat>
          <c:val>
            <c:numRef>
              <c:f>'図07_分析3_列11区画別'!$Q$2:$Q$48</c:f>
              <c:numCache>
                <c:formatCode>General</c:formatCode>
                <c:ptCount val="47"/>
                <c:pt idx="0">
                  <c:v>34.856000000000002</c:v>
                </c:pt>
                <c:pt idx="1">
                  <c:v>34.097000000000001</c:v>
                </c:pt>
                <c:pt idx="2">
                  <c:v>34.417000000000002</c:v>
                </c:pt>
                <c:pt idx="3">
                  <c:v>32.96</c:v>
                </c:pt>
                <c:pt idx="4">
                  <c:v>26.774999999999999</c:v>
                </c:pt>
                <c:pt idx="5">
                  <c:v>28.89</c:v>
                </c:pt>
                <c:pt idx="6">
                  <c:v>30.204999999999998</c:v>
                </c:pt>
                <c:pt idx="7">
                  <c:v>30.106999999999999</c:v>
                </c:pt>
                <c:pt idx="8">
                  <c:v>31.943999999999999</c:v>
                </c:pt>
                <c:pt idx="9">
                  <c:v>31.440999999999999</c:v>
                </c:pt>
                <c:pt idx="10">
                  <c:v>31.84</c:v>
                </c:pt>
                <c:pt idx="11">
                  <c:v>30.204999999999998</c:v>
                </c:pt>
                <c:pt idx="12">
                  <c:v>28.47</c:v>
                </c:pt>
                <c:pt idx="13">
                  <c:v>27.350999999999999</c:v>
                </c:pt>
                <c:pt idx="14">
                  <c:v>25.922000000000001</c:v>
                </c:pt>
                <c:pt idx="15">
                  <c:v>28.9</c:v>
                </c:pt>
                <c:pt idx="16">
                  <c:v>27.167000000000002</c:v>
                </c:pt>
                <c:pt idx="17">
                  <c:v>24.954999999999998</c:v>
                </c:pt>
                <c:pt idx="18">
                  <c:v>29.294</c:v>
                </c:pt>
                <c:pt idx="19">
                  <c:v>30.53</c:v>
                </c:pt>
                <c:pt idx="20">
                  <c:v>31.097999999999999</c:v>
                </c:pt>
                <c:pt idx="21">
                  <c:v>31.637</c:v>
                </c:pt>
                <c:pt idx="22">
                  <c:v>30.661999999999999</c:v>
                </c:pt>
                <c:pt idx="23">
                  <c:v>28.468</c:v>
                </c:pt>
                <c:pt idx="24">
                  <c:v>29.346</c:v>
                </c:pt>
                <c:pt idx="25">
                  <c:v>32.316000000000003</c:v>
                </c:pt>
                <c:pt idx="26">
                  <c:v>33.704000000000001</c:v>
                </c:pt>
                <c:pt idx="27">
                  <c:v>33.762999999999998</c:v>
                </c:pt>
                <c:pt idx="28">
                  <c:v>28.282</c:v>
                </c:pt>
                <c:pt idx="29">
                  <c:v>32.049999999999997</c:v>
                </c:pt>
                <c:pt idx="30">
                  <c:v>22.494</c:v>
                </c:pt>
                <c:pt idx="31">
                  <c:v>25.314</c:v>
                </c:pt>
                <c:pt idx="32">
                  <c:v>27.062000000000001</c:v>
                </c:pt>
                <c:pt idx="33">
                  <c:v>28.22</c:v>
                </c:pt>
                <c:pt idx="34">
                  <c:v>29.875</c:v>
                </c:pt>
                <c:pt idx="35">
                  <c:v>29.734999999999999</c:v>
                </c:pt>
                <c:pt idx="36">
                  <c:v>25.992999999999999</c:v>
                </c:pt>
                <c:pt idx="37">
                  <c:v>24.044</c:v>
                </c:pt>
                <c:pt idx="38">
                  <c:v>20.521999999999998</c:v>
                </c:pt>
                <c:pt idx="39">
                  <c:v>23.722000000000001</c:v>
                </c:pt>
                <c:pt idx="40">
                  <c:v>27.428999999999998</c:v>
                </c:pt>
                <c:pt idx="41">
                  <c:v>28.681000000000001</c:v>
                </c:pt>
                <c:pt idx="42">
                  <c:v>21.704000000000001</c:v>
                </c:pt>
                <c:pt idx="43">
                  <c:v>20.399000000000001</c:v>
                </c:pt>
                <c:pt idx="44">
                  <c:v>22.91</c:v>
                </c:pt>
                <c:pt idx="45">
                  <c:v>23.675000000000001</c:v>
                </c:pt>
                <c:pt idx="46">
                  <c:v>30.646999999999998</c:v>
                </c:pt>
              </c:numCache>
            </c:numRef>
          </c:val>
          <c:smooth val="0"/>
          <c:extLst>
            <c:ext xmlns:c16="http://schemas.microsoft.com/office/drawing/2014/chart" uri="{C3380CC4-5D6E-409C-BE32-E72D297353CC}">
              <c16:uniqueId val="{00000001-CA0B-DF4B-980D-113D9D6BBE5F}"/>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out"/>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40"/>
          <c:min val="15"/>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5"/>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4"/>
          <c:y val="0.05"/>
          <c:w val="0.72"/>
          <c:h val="0.68"/>
        </c:manualLayout>
      </c:layout>
      <c:barChart>
        <c:barDir val="col"/>
        <c:grouping val="clustered"/>
        <c:varyColors val="0"/>
        <c:ser>
          <c:idx val="0"/>
          <c:order val="0"/>
          <c:tx>
            <c:strRef>
              <c:f>'図07_分析3_列11区画別'!$S$1</c:f>
              <c:strCache>
                <c:ptCount val="1"/>
                <c:pt idx="0">
                  <c:v>区画3_列3より低い日</c:v>
                </c:pt>
              </c:strCache>
            </c:strRef>
          </c:tx>
          <c:spPr>
            <a:solidFill>
              <a:srgbClr val="118DFF"/>
            </a:solidFill>
            <a:ln w="6350" cap="rnd">
              <a:solidFill>
                <a:srgbClr val="118DFF"/>
              </a:solidFill>
              <a:round/>
            </a:ln>
          </c:spPr>
          <c:invertIfNegative val="0"/>
          <c:cat>
            <c:strRef>
              <c:f>'図07_分析3_列11区画別'!$B$2:$B$48</c:f>
              <c:strCache>
                <c:ptCount val="47"/>
                <c:pt idx="0">
                  <c:v>07-30</c:v>
                </c:pt>
                <c:pt idx="14">
                  <c:v>08-13</c:v>
                </c:pt>
                <c:pt idx="28">
                  <c:v>08-27</c:v>
                </c:pt>
                <c:pt idx="42">
                  <c:v>09-10</c:v>
                </c:pt>
              </c:strCache>
            </c:strRef>
          </c:cat>
          <c:val>
            <c:numRef>
              <c:f>'図07_分析3_列11区画別'!$S$2:$S$48</c:f>
              <c:numCache>
                <c:formatCode>General</c:formatCode>
                <c:ptCount val="47"/>
                <c:pt idx="1">
                  <c:v>-0.34100000000000003</c:v>
                </c:pt>
                <c:pt idx="4">
                  <c:v>-0.217</c:v>
                </c:pt>
                <c:pt idx="5">
                  <c:v>-0.42199999999999999</c:v>
                </c:pt>
                <c:pt idx="6">
                  <c:v>-0.39300000000000002</c:v>
                </c:pt>
                <c:pt idx="7">
                  <c:v>-0.47499999999999998</c:v>
                </c:pt>
                <c:pt idx="8">
                  <c:v>-0.88500000000000001</c:v>
                </c:pt>
                <c:pt idx="11">
                  <c:v>-0.621</c:v>
                </c:pt>
                <c:pt idx="13">
                  <c:v>-0.71299999999999997</c:v>
                </c:pt>
                <c:pt idx="14">
                  <c:v>-0.67100000000000004</c:v>
                </c:pt>
                <c:pt idx="15">
                  <c:v>-0.61</c:v>
                </c:pt>
                <c:pt idx="18">
                  <c:v>-0.54</c:v>
                </c:pt>
                <c:pt idx="19">
                  <c:v>-8.5999999999999993E-2</c:v>
                </c:pt>
                <c:pt idx="20">
                  <c:v>-3.4000000000000002E-2</c:v>
                </c:pt>
                <c:pt idx="22">
                  <c:v>-0.42599999999999999</c:v>
                </c:pt>
                <c:pt idx="25">
                  <c:v>-0.26600000000000001</c:v>
                </c:pt>
                <c:pt idx="26">
                  <c:v>-0.28999999999999998</c:v>
                </c:pt>
                <c:pt idx="28">
                  <c:v>-4.4999999999999998E-2</c:v>
                </c:pt>
                <c:pt idx="29">
                  <c:v>-0.153</c:v>
                </c:pt>
                <c:pt idx="32">
                  <c:v>-0.504</c:v>
                </c:pt>
                <c:pt idx="33">
                  <c:v>-0.372</c:v>
                </c:pt>
                <c:pt idx="34">
                  <c:v>-0.38</c:v>
                </c:pt>
                <c:pt idx="35">
                  <c:v>-0.442</c:v>
                </c:pt>
                <c:pt idx="36">
                  <c:v>-0.40400000000000003</c:v>
                </c:pt>
                <c:pt idx="39">
                  <c:v>-0.53900000000000003</c:v>
                </c:pt>
                <c:pt idx="40">
                  <c:v>-0.58299999999999996</c:v>
                </c:pt>
                <c:pt idx="41">
                  <c:v>-0.73599999999999999</c:v>
                </c:pt>
                <c:pt idx="42">
                  <c:v>-0.41099999999999998</c:v>
                </c:pt>
                <c:pt idx="46">
                  <c:v>-0.432</c:v>
                </c:pt>
              </c:numCache>
            </c:numRef>
          </c:val>
          <c:extLst>
            <c:ext xmlns:c16="http://schemas.microsoft.com/office/drawing/2014/chart" uri="{C3380CC4-5D6E-409C-BE32-E72D297353CC}">
              <c16:uniqueId val="{00000000-8ACA-834E-B61E-161943D68DBB}"/>
            </c:ext>
          </c:extLst>
        </c:ser>
        <c:ser>
          <c:idx val="1"/>
          <c:order val="1"/>
          <c:tx>
            <c:strRef>
              <c:f>'図07_分析3_列11区画別'!$T$1</c:f>
              <c:strCache>
                <c:ptCount val="1"/>
                <c:pt idx="0">
                  <c:v>区画3_列3より高い日</c:v>
                </c:pt>
              </c:strCache>
            </c:strRef>
          </c:tx>
          <c:spPr>
            <a:solidFill>
              <a:srgbClr val="E66C64"/>
            </a:solidFill>
            <a:ln w="6350" cap="rnd">
              <a:solidFill>
                <a:srgbClr val="E66C64"/>
              </a:solidFill>
              <a:round/>
            </a:ln>
          </c:spPr>
          <c:invertIfNegative val="0"/>
          <c:cat>
            <c:strRef>
              <c:f>'図07_分析3_列11区画別'!$B$2:$B$48</c:f>
              <c:strCache>
                <c:ptCount val="47"/>
                <c:pt idx="0">
                  <c:v>07-30</c:v>
                </c:pt>
                <c:pt idx="14">
                  <c:v>08-13</c:v>
                </c:pt>
                <c:pt idx="28">
                  <c:v>08-27</c:v>
                </c:pt>
                <c:pt idx="42">
                  <c:v>09-10</c:v>
                </c:pt>
              </c:strCache>
            </c:strRef>
          </c:cat>
          <c:val>
            <c:numRef>
              <c:f>'図07_分析3_列11区画別'!$T$2:$T$48</c:f>
              <c:numCache>
                <c:formatCode>General</c:formatCode>
                <c:ptCount val="47"/>
                <c:pt idx="0">
                  <c:v>2.7E-2</c:v>
                </c:pt>
                <c:pt idx="21">
                  <c:v>0.18</c:v>
                </c:pt>
                <c:pt idx="27">
                  <c:v>0.13900000000000001</c:v>
                </c:pt>
                <c:pt idx="43">
                  <c:v>1.7999999999999999E-2</c:v>
                </c:pt>
              </c:numCache>
            </c:numRef>
          </c:val>
          <c:extLst>
            <c:ext xmlns:c16="http://schemas.microsoft.com/office/drawing/2014/chart" uri="{C3380CC4-5D6E-409C-BE32-E72D297353CC}">
              <c16:uniqueId val="{00000001-8ACA-834E-B61E-161943D68DBB}"/>
            </c:ext>
          </c:extLst>
        </c:ser>
        <c:ser>
          <c:idx val="2"/>
          <c:order val="2"/>
          <c:tx>
            <c:strRef>
              <c:f>'図07_分析3_列11区画別'!$U$1</c:f>
              <c:strCache>
                <c:ptCount val="1"/>
                <c:pt idx="0">
                  <c:v>区画3_休日</c:v>
                </c:pt>
              </c:strCache>
            </c:strRef>
          </c:tx>
          <c:spPr>
            <a:solidFill>
              <a:srgbClr val="C9D1DB"/>
            </a:solidFill>
            <a:ln w="6350" cap="rnd">
              <a:solidFill>
                <a:srgbClr val="C9D1DB"/>
              </a:solidFill>
              <a:round/>
            </a:ln>
          </c:spPr>
          <c:invertIfNegative val="0"/>
          <c:cat>
            <c:strRef>
              <c:f>'図07_分析3_列11区画別'!$B$2:$B$48</c:f>
              <c:strCache>
                <c:ptCount val="47"/>
                <c:pt idx="0">
                  <c:v>07-30</c:v>
                </c:pt>
                <c:pt idx="14">
                  <c:v>08-13</c:v>
                </c:pt>
                <c:pt idx="28">
                  <c:v>08-27</c:v>
                </c:pt>
                <c:pt idx="42">
                  <c:v>09-10</c:v>
                </c:pt>
              </c:strCache>
            </c:strRef>
          </c:cat>
          <c:val>
            <c:numRef>
              <c:f>'図07_分析3_列11区画別'!$U$2:$U$48</c:f>
              <c:numCache>
                <c:formatCode>General</c:formatCode>
                <c:ptCount val="47"/>
                <c:pt idx="2">
                  <c:v>-0.182</c:v>
                </c:pt>
                <c:pt idx="3">
                  <c:v>-0.33400000000000002</c:v>
                </c:pt>
                <c:pt idx="9">
                  <c:v>-0.92800000000000005</c:v>
                </c:pt>
                <c:pt idx="10">
                  <c:v>-0.32800000000000001</c:v>
                </c:pt>
                <c:pt idx="12">
                  <c:v>-0.39</c:v>
                </c:pt>
                <c:pt idx="16">
                  <c:v>-0.11</c:v>
                </c:pt>
                <c:pt idx="17">
                  <c:v>-0.5</c:v>
                </c:pt>
                <c:pt idx="23">
                  <c:v>-0.35599999999999998</c:v>
                </c:pt>
                <c:pt idx="24">
                  <c:v>-0.32500000000000001</c:v>
                </c:pt>
                <c:pt idx="30">
                  <c:v>-0.318</c:v>
                </c:pt>
                <c:pt idx="31">
                  <c:v>-0.53300000000000003</c:v>
                </c:pt>
                <c:pt idx="37">
                  <c:v>-0.36799999999999999</c:v>
                </c:pt>
                <c:pt idx="38">
                  <c:v>-0.746</c:v>
                </c:pt>
                <c:pt idx="44">
                  <c:v>-0.53100000000000003</c:v>
                </c:pt>
                <c:pt idx="45">
                  <c:v>-0.40600000000000003</c:v>
                </c:pt>
              </c:numCache>
            </c:numRef>
          </c:val>
          <c:extLst>
            <c:ext xmlns:c16="http://schemas.microsoft.com/office/drawing/2014/chart" uri="{C3380CC4-5D6E-409C-BE32-E72D297353CC}">
              <c16:uniqueId val="{00000002-8ACA-834E-B61E-161943D68DBB}"/>
            </c:ext>
          </c:extLst>
        </c:ser>
        <c:dLbls>
          <c:showLegendKey val="0"/>
          <c:showVal val="0"/>
          <c:showCatName val="0"/>
          <c:showSerName val="0"/>
          <c:showPercent val="0"/>
          <c:showBubbleSize val="0"/>
        </c:dLbls>
        <c:gapWidth val="30"/>
        <c:overlap val="100"/>
        <c:axId val="10"/>
        <c:axId val="20"/>
      </c:barChart>
      <c:catAx>
        <c:axId val="10"/>
        <c:scaling>
          <c:orientation val="minMax"/>
        </c:scaling>
        <c:delete val="0"/>
        <c:axPos val="b"/>
        <c:numFmt formatCode="General" sourceLinked="1"/>
        <c:majorTickMark val="out"/>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5"/>
          <c:min val="-2"/>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1"/>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barChart>
        <c:barDir val="col"/>
        <c:grouping val="clustered"/>
        <c:varyColors val="0"/>
        <c:ser>
          <c:idx val="0"/>
          <c:order val="0"/>
          <c:tx>
            <c:strRef>
              <c:f>'図08_分析3_区画別箱ひげ'!$J$1</c:f>
              <c:strCache>
                <c:ptCount val="1"/>
                <c:pt idx="0">
                  <c:v>箱（0より下）</c:v>
                </c:pt>
              </c:strCache>
            </c:strRef>
          </c:tx>
          <c:spPr>
            <a:solidFill>
              <a:srgbClr val="01B8AA"/>
            </a:solidFill>
            <a:ln>
              <a:noFill/>
            </a:ln>
          </c:spPr>
          <c:invertIfNegative val="0"/>
          <c:cat>
            <c:strRef>
              <c:f>'図08_分析3_区画別箱ひげ'!$A$2:$A$4</c:f>
              <c:strCache>
                <c:ptCount val="3"/>
                <c:pt idx="0">
                  <c:v>区画1（左）</c:v>
                </c:pt>
                <c:pt idx="1">
                  <c:v>区画2（中央）</c:v>
                </c:pt>
                <c:pt idx="2">
                  <c:v>区画3（右）</c:v>
                </c:pt>
              </c:strCache>
            </c:strRef>
          </c:cat>
          <c:val>
            <c:numRef>
              <c:f>'図08_分析3_区画別箱ひげ'!$J$2:$J$4</c:f>
              <c:numCache>
                <c:formatCode>General</c:formatCode>
                <c:ptCount val="3"/>
                <c:pt idx="1">
                  <c:v>-0.76300000000000001</c:v>
                </c:pt>
                <c:pt idx="2">
                  <c:v>-0.753</c:v>
                </c:pt>
              </c:numCache>
            </c:numRef>
          </c:val>
          <c:extLst>
            <c:ext xmlns:c16="http://schemas.microsoft.com/office/drawing/2014/chart" uri="{C3380CC4-5D6E-409C-BE32-E72D297353CC}">
              <c16:uniqueId val="{00000000-78A3-8B4B-8872-6BA84C9D7BDB}"/>
            </c:ext>
          </c:extLst>
        </c:ser>
        <c:ser>
          <c:idx val="1"/>
          <c:order val="1"/>
          <c:tx>
            <c:strRef>
              <c:f>'図08_分析3_区画別箱ひげ'!$K$1</c:f>
              <c:strCache>
                <c:ptCount val="1"/>
                <c:pt idx="0">
                  <c:v>箱（0より上）</c:v>
                </c:pt>
              </c:strCache>
            </c:strRef>
          </c:tx>
          <c:spPr>
            <a:solidFill>
              <a:srgbClr val="01B8AA"/>
            </a:solidFill>
            <a:ln>
              <a:noFill/>
            </a:ln>
          </c:spPr>
          <c:invertIfNegative val="0"/>
          <c:cat>
            <c:strRef>
              <c:f>'図08_分析3_区画別箱ひげ'!$A$2:$A$4</c:f>
              <c:strCache>
                <c:ptCount val="3"/>
                <c:pt idx="0">
                  <c:v>区画1（左）</c:v>
                </c:pt>
                <c:pt idx="1">
                  <c:v>区画2（中央）</c:v>
                </c:pt>
                <c:pt idx="2">
                  <c:v>区画3（右）</c:v>
                </c:pt>
              </c:strCache>
            </c:strRef>
          </c:cat>
          <c:val>
            <c:numRef>
              <c:f>'図08_分析3_区画別箱ひげ'!$K$2:$K$4</c:f>
              <c:numCache>
                <c:formatCode>General</c:formatCode>
                <c:ptCount val="3"/>
                <c:pt idx="0">
                  <c:v>0.90900000000000003</c:v>
                </c:pt>
              </c:numCache>
            </c:numRef>
          </c:val>
          <c:extLst>
            <c:ext xmlns:c16="http://schemas.microsoft.com/office/drawing/2014/chart" uri="{C3380CC4-5D6E-409C-BE32-E72D297353CC}">
              <c16:uniqueId val="{00000001-78A3-8B4B-8872-6BA84C9D7BDB}"/>
            </c:ext>
          </c:extLst>
        </c:ser>
        <c:ser>
          <c:idx val="2"/>
          <c:order val="2"/>
          <c:tx>
            <c:strRef>
              <c:f>'図08_分析3_区画別箱ひげ'!$L$1</c:f>
              <c:strCache>
                <c:ptCount val="1"/>
                <c:pt idx="0">
                  <c:v>箱の外（白）</c:v>
                </c:pt>
              </c:strCache>
            </c:strRef>
          </c:tx>
          <c:spPr>
            <a:solidFill>
              <a:srgbClr val="FFFFFF"/>
            </a:solidFill>
            <a:ln>
              <a:noFill/>
            </a:ln>
          </c:spPr>
          <c:invertIfNegative val="0"/>
          <c:cat>
            <c:strRef>
              <c:f>'図08_分析3_区画別箱ひげ'!$A$2:$A$4</c:f>
              <c:strCache>
                <c:ptCount val="3"/>
                <c:pt idx="0">
                  <c:v>区画1（左）</c:v>
                </c:pt>
                <c:pt idx="1">
                  <c:v>区画2（中央）</c:v>
                </c:pt>
                <c:pt idx="2">
                  <c:v>区画3（右）</c:v>
                </c:pt>
              </c:strCache>
            </c:strRef>
          </c:cat>
          <c:val>
            <c:numRef>
              <c:f>'図08_分析3_区画別箱ひげ'!$L$2:$L$4</c:f>
              <c:numCache>
                <c:formatCode>General</c:formatCode>
                <c:ptCount val="3"/>
                <c:pt idx="0">
                  <c:v>0.33200000000000002</c:v>
                </c:pt>
                <c:pt idx="1">
                  <c:v>-2.1999999999999999E-2</c:v>
                </c:pt>
                <c:pt idx="2">
                  <c:v>-9.4E-2</c:v>
                </c:pt>
              </c:numCache>
            </c:numRef>
          </c:val>
          <c:extLst>
            <c:ext xmlns:c16="http://schemas.microsoft.com/office/drawing/2014/chart" uri="{C3380CC4-5D6E-409C-BE32-E72D297353CC}">
              <c16:uniqueId val="{00000002-78A3-8B4B-8872-6BA84C9D7BDB}"/>
            </c:ext>
          </c:extLst>
        </c:ser>
        <c:dLbls>
          <c:showLegendKey val="0"/>
          <c:showVal val="0"/>
          <c:showCatName val="0"/>
          <c:showSerName val="0"/>
          <c:showPercent val="0"/>
          <c:showBubbleSize val="0"/>
        </c:dLbls>
        <c:gapWidth val="120"/>
        <c:overlap val="100"/>
        <c:axId val="10"/>
        <c:axId val="20"/>
      </c:barChart>
      <c:lineChart>
        <c:grouping val="standard"/>
        <c:varyColors val="0"/>
        <c:ser>
          <c:idx val="3"/>
          <c:order val="3"/>
          <c:tx>
            <c:strRef>
              <c:f>'図08_分析3_区画別箱ひげ'!$E$1</c:f>
              <c:strCache>
                <c:ptCount val="1"/>
                <c:pt idx="0">
                  <c:v>中央値</c:v>
                </c:pt>
              </c:strCache>
            </c:strRef>
          </c:tx>
          <c:spPr>
            <a:ln>
              <a:noFill/>
            </a:ln>
          </c:spPr>
          <c:marker>
            <c:symbol val="dash"/>
            <c:size val="16"/>
            <c:spPr>
              <a:solidFill>
                <a:srgbClr val="FFFFFF"/>
              </a:solidFill>
              <a:ln w="9525" cap="rnd">
                <a:solidFill>
                  <a:srgbClr val="FFFFFF"/>
                </a:solidFill>
                <a:round/>
              </a:ln>
            </c:spPr>
          </c:marker>
          <c:errBars>
            <c:errDir val="y"/>
            <c:errBarType val="both"/>
            <c:errValType val="cust"/>
            <c:noEndCap val="0"/>
            <c:plus>
              <c:numRef>
                <c:f>'図08_分析3_区画別箱ひげ'!$M$2:$M$4</c:f>
                <c:numCache>
                  <c:formatCode>General</c:formatCode>
                  <c:ptCount val="3"/>
                  <c:pt idx="0">
                    <c:v>1.093</c:v>
                  </c:pt>
                  <c:pt idx="1">
                    <c:v>1.278</c:v>
                  </c:pt>
                  <c:pt idx="2">
                    <c:v>1.147</c:v>
                  </c:pt>
                </c:numCache>
              </c:numRef>
            </c:plus>
            <c:minus>
              <c:numRef>
                <c:f>'図08_分析3_区画別箱ひげ'!$N$2:$N$4</c:f>
                <c:numCache>
                  <c:formatCode>General</c:formatCode>
                  <c:ptCount val="3"/>
                  <c:pt idx="0">
                    <c:v>1.1279999999999999</c:v>
                  </c:pt>
                  <c:pt idx="1">
                    <c:v>1.502</c:v>
                  </c:pt>
                  <c:pt idx="2">
                    <c:v>1.2729999999999999</c:v>
                  </c:pt>
                </c:numCache>
              </c:numRef>
            </c:minus>
            <c:spPr>
              <a:ln w="15875" cap="rnd">
                <a:solidFill>
                  <a:srgbClr val="01B8AA"/>
                </a:solidFill>
                <a:round/>
              </a:ln>
            </c:spPr>
          </c:errBars>
          <c:cat>
            <c:strRef>
              <c:f>'図08_分析3_区画別箱ひげ'!$A$2:$A$4</c:f>
              <c:strCache>
                <c:ptCount val="3"/>
                <c:pt idx="0">
                  <c:v>区画1（左）</c:v>
                </c:pt>
                <c:pt idx="1">
                  <c:v>区画2（中央）</c:v>
                </c:pt>
                <c:pt idx="2">
                  <c:v>区画3（右）</c:v>
                </c:pt>
              </c:strCache>
            </c:strRef>
          </c:cat>
          <c:val>
            <c:numRef>
              <c:f>'図08_分析3_区画別箱ひげ'!$E$2:$E$4</c:f>
              <c:numCache>
                <c:formatCode>General</c:formatCode>
                <c:ptCount val="3"/>
                <c:pt idx="0">
                  <c:v>0.61599999999999999</c:v>
                </c:pt>
                <c:pt idx="1">
                  <c:v>-0.34799999999999998</c:v>
                </c:pt>
                <c:pt idx="2">
                  <c:v>-0.38800000000000001</c:v>
                </c:pt>
              </c:numCache>
            </c:numRef>
          </c:val>
          <c:smooth val="0"/>
          <c:extLst>
            <c:ext xmlns:c16="http://schemas.microsoft.com/office/drawing/2014/chart" uri="{C3380CC4-5D6E-409C-BE32-E72D297353CC}">
              <c16:uniqueId val="{00000003-78A3-8B4B-8872-6BA84C9D7BDB}"/>
            </c:ext>
          </c:extLst>
        </c:ser>
        <c:dLbls>
          <c:showLegendKey val="0"/>
          <c:showVal val="0"/>
          <c:showCatName val="0"/>
          <c:showSerName val="0"/>
          <c:showPercent val="0"/>
          <c:showBubbleSize val="0"/>
        </c:dLbls>
        <c:marker val="1"/>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2"/>
          <c:min val="-2"/>
        </c:scaling>
        <c:delete val="0"/>
        <c:axPos val="l"/>
        <c:title>
          <c:tx>
            <c:rich>
              <a:bodyPr rot="-5400000" vert="horz"/>
              <a:lstStyle/>
              <a:p>
                <a:pPr>
                  <a:defRPr sz="900" b="0"/>
                </a:pPr>
                <a:r>
                  <a:rPr lang="ja-JP" sz="900" b="0"/>
                  <a:t>1時間平均の吸気温度差［℃］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barChart>
        <c:barDir val="col"/>
        <c:grouping val="clustered"/>
        <c:varyColors val="0"/>
        <c:ser>
          <c:idx val="0"/>
          <c:order val="0"/>
          <c:tx>
            <c:strRef>
              <c:f>'図08_分析3_区画別箱ひげ'!$W$1</c:f>
              <c:strCache>
                <c:ptCount val="1"/>
                <c:pt idx="0">
                  <c:v>箱（0より下）</c:v>
                </c:pt>
              </c:strCache>
            </c:strRef>
          </c:tx>
          <c:spPr>
            <a:solidFill>
              <a:srgbClr val="118DFF"/>
            </a:solidFill>
            <a:ln>
              <a:noFill/>
            </a:ln>
          </c:spPr>
          <c:invertIfNegative val="0"/>
          <c:cat>
            <c:strRef>
              <c:f>'図08_分析3_区画別箱ひげ'!$A$2:$A$4</c:f>
              <c:strCache>
                <c:ptCount val="3"/>
                <c:pt idx="0">
                  <c:v>区画1（左）</c:v>
                </c:pt>
                <c:pt idx="1">
                  <c:v>区画2（中央）</c:v>
                </c:pt>
                <c:pt idx="2">
                  <c:v>区画3（右）</c:v>
                </c:pt>
              </c:strCache>
            </c:strRef>
          </c:cat>
          <c:val>
            <c:numRef>
              <c:f>'図08_分析3_区画別箱ひげ'!$W$2:$W$4</c:f>
              <c:numCache>
                <c:formatCode>General</c:formatCode>
                <c:ptCount val="3"/>
                <c:pt idx="0">
                  <c:v>-9.4E-2</c:v>
                </c:pt>
                <c:pt idx="1">
                  <c:v>-0.86299999999999999</c:v>
                </c:pt>
                <c:pt idx="2">
                  <c:v>-0.63800000000000001</c:v>
                </c:pt>
              </c:numCache>
            </c:numRef>
          </c:val>
          <c:extLst>
            <c:ext xmlns:c16="http://schemas.microsoft.com/office/drawing/2014/chart" uri="{C3380CC4-5D6E-409C-BE32-E72D297353CC}">
              <c16:uniqueId val="{00000000-8F7F-194A-8263-318EE77CF1EF}"/>
            </c:ext>
          </c:extLst>
        </c:ser>
        <c:ser>
          <c:idx val="1"/>
          <c:order val="1"/>
          <c:tx>
            <c:strRef>
              <c:f>'図08_分析3_区画別箱ひげ'!$X$1</c:f>
              <c:strCache>
                <c:ptCount val="1"/>
                <c:pt idx="0">
                  <c:v>箱（0より上）</c:v>
                </c:pt>
              </c:strCache>
            </c:strRef>
          </c:tx>
          <c:spPr>
            <a:solidFill>
              <a:srgbClr val="118DFF"/>
            </a:solidFill>
            <a:ln>
              <a:noFill/>
            </a:ln>
          </c:spPr>
          <c:invertIfNegative val="0"/>
          <c:cat>
            <c:strRef>
              <c:f>'図08_分析3_区画別箱ひげ'!$A$2:$A$4</c:f>
              <c:strCache>
                <c:ptCount val="3"/>
                <c:pt idx="0">
                  <c:v>区画1（左）</c:v>
                </c:pt>
                <c:pt idx="1">
                  <c:v>区画2（中央）</c:v>
                </c:pt>
                <c:pt idx="2">
                  <c:v>区画3（右）</c:v>
                </c:pt>
              </c:strCache>
            </c:strRef>
          </c:cat>
          <c:val>
            <c:numRef>
              <c:f>'図08_分析3_区画別箱ひげ'!$X$2:$X$4</c:f>
              <c:numCache>
                <c:formatCode>General</c:formatCode>
                <c:ptCount val="3"/>
                <c:pt idx="0">
                  <c:v>0.436</c:v>
                </c:pt>
              </c:numCache>
            </c:numRef>
          </c:val>
          <c:extLst>
            <c:ext xmlns:c16="http://schemas.microsoft.com/office/drawing/2014/chart" uri="{C3380CC4-5D6E-409C-BE32-E72D297353CC}">
              <c16:uniqueId val="{00000001-8F7F-194A-8263-318EE77CF1EF}"/>
            </c:ext>
          </c:extLst>
        </c:ser>
        <c:ser>
          <c:idx val="2"/>
          <c:order val="2"/>
          <c:tx>
            <c:strRef>
              <c:f>'図08_分析3_区画別箱ひげ'!$Y$1</c:f>
              <c:strCache>
                <c:ptCount val="1"/>
                <c:pt idx="0">
                  <c:v>箱の外（白）</c:v>
                </c:pt>
              </c:strCache>
            </c:strRef>
          </c:tx>
          <c:spPr>
            <a:solidFill>
              <a:srgbClr val="FFFFFF"/>
            </a:solidFill>
            <a:ln>
              <a:noFill/>
            </a:ln>
          </c:spPr>
          <c:invertIfNegative val="0"/>
          <c:cat>
            <c:strRef>
              <c:f>'図08_分析3_区画別箱ひげ'!$A$2:$A$4</c:f>
              <c:strCache>
                <c:ptCount val="3"/>
                <c:pt idx="0">
                  <c:v>区画1（左）</c:v>
                </c:pt>
                <c:pt idx="1">
                  <c:v>区画2（中央）</c:v>
                </c:pt>
                <c:pt idx="2">
                  <c:v>区画3（右）</c:v>
                </c:pt>
              </c:strCache>
            </c:strRef>
          </c:cat>
          <c:val>
            <c:numRef>
              <c:f>'図08_分析3_区画別箱ひげ'!$Y$2:$Y$4</c:f>
              <c:numCache>
                <c:formatCode>General</c:formatCode>
                <c:ptCount val="3"/>
                <c:pt idx="1">
                  <c:v>-0.26</c:v>
                </c:pt>
                <c:pt idx="2">
                  <c:v>-0.13700000000000001</c:v>
                </c:pt>
              </c:numCache>
            </c:numRef>
          </c:val>
          <c:extLst>
            <c:ext xmlns:c16="http://schemas.microsoft.com/office/drawing/2014/chart" uri="{C3380CC4-5D6E-409C-BE32-E72D297353CC}">
              <c16:uniqueId val="{00000002-8F7F-194A-8263-318EE77CF1EF}"/>
            </c:ext>
          </c:extLst>
        </c:ser>
        <c:dLbls>
          <c:showLegendKey val="0"/>
          <c:showVal val="0"/>
          <c:showCatName val="0"/>
          <c:showSerName val="0"/>
          <c:showPercent val="0"/>
          <c:showBubbleSize val="0"/>
        </c:dLbls>
        <c:gapWidth val="120"/>
        <c:overlap val="100"/>
        <c:axId val="10"/>
        <c:axId val="20"/>
      </c:barChart>
      <c:lineChart>
        <c:grouping val="standard"/>
        <c:varyColors val="0"/>
        <c:ser>
          <c:idx val="3"/>
          <c:order val="3"/>
          <c:tx>
            <c:strRef>
              <c:f>'図08_分析3_区画別箱ひげ'!$R$1</c:f>
              <c:strCache>
                <c:ptCount val="1"/>
                <c:pt idx="0">
                  <c:v>中央値</c:v>
                </c:pt>
              </c:strCache>
            </c:strRef>
          </c:tx>
          <c:spPr>
            <a:ln>
              <a:noFill/>
            </a:ln>
          </c:spPr>
          <c:marker>
            <c:symbol val="dash"/>
            <c:size val="16"/>
            <c:spPr>
              <a:solidFill>
                <a:srgbClr val="FFFFFF"/>
              </a:solidFill>
              <a:ln w="9525" cap="rnd">
                <a:solidFill>
                  <a:srgbClr val="FFFFFF"/>
                </a:solidFill>
                <a:round/>
              </a:ln>
            </c:spPr>
          </c:marker>
          <c:errBars>
            <c:errDir val="y"/>
            <c:errBarType val="both"/>
            <c:errValType val="cust"/>
            <c:noEndCap val="0"/>
            <c:plus>
              <c:numRef>
                <c:f>'図08_分析3_区画別箱ひげ'!$Z$2:$Z$4</c:f>
                <c:numCache>
                  <c:formatCode>General</c:formatCode>
                  <c:ptCount val="3"/>
                  <c:pt idx="0">
                    <c:v>1.0449999999999999</c:v>
                  </c:pt>
                  <c:pt idx="1">
                    <c:v>0.85199999999999998</c:v>
                  </c:pt>
                  <c:pt idx="2">
                    <c:v>0.99199999999999999</c:v>
                  </c:pt>
                </c:numCache>
              </c:numRef>
            </c:plus>
            <c:minus>
              <c:numRef>
                <c:f>'図08_分析3_区画別箱ひげ'!$AA$2:$AA$4</c:f>
                <c:numCache>
                  <c:formatCode>General</c:formatCode>
                  <c:ptCount val="3"/>
                  <c:pt idx="0">
                    <c:v>1.0429999999999999</c:v>
                  </c:pt>
                  <c:pt idx="1">
                    <c:v>1.1619999999999999</c:v>
                  </c:pt>
                  <c:pt idx="2">
                    <c:v>0.84099999999999997</c:v>
                  </c:pt>
                </c:numCache>
              </c:numRef>
            </c:minus>
            <c:spPr>
              <a:ln w="15875" cap="rnd">
                <a:solidFill>
                  <a:srgbClr val="118DFF"/>
                </a:solidFill>
                <a:round/>
              </a:ln>
            </c:spPr>
          </c:errBars>
          <c:cat>
            <c:strRef>
              <c:f>'図08_分析3_区画別箱ひげ'!$A$2:$A$4</c:f>
              <c:strCache>
                <c:ptCount val="3"/>
                <c:pt idx="0">
                  <c:v>区画1（左）</c:v>
                </c:pt>
                <c:pt idx="1">
                  <c:v>区画2（中央）</c:v>
                </c:pt>
                <c:pt idx="2">
                  <c:v>区画3（右）</c:v>
                </c:pt>
              </c:strCache>
            </c:strRef>
          </c:cat>
          <c:val>
            <c:numRef>
              <c:f>'図08_分析3_区画別箱ひげ'!$R$2:$R$4</c:f>
              <c:numCache>
                <c:formatCode>General</c:formatCode>
                <c:ptCount val="3"/>
                <c:pt idx="0">
                  <c:v>0.17199999999999999</c:v>
                </c:pt>
                <c:pt idx="1">
                  <c:v>-0.54600000000000004</c:v>
                </c:pt>
                <c:pt idx="2">
                  <c:v>-0.39700000000000002</c:v>
                </c:pt>
              </c:numCache>
            </c:numRef>
          </c:val>
          <c:smooth val="0"/>
          <c:extLst>
            <c:ext xmlns:c16="http://schemas.microsoft.com/office/drawing/2014/chart" uri="{C3380CC4-5D6E-409C-BE32-E72D297353CC}">
              <c16:uniqueId val="{00000003-8F7F-194A-8263-318EE77CF1EF}"/>
            </c:ext>
          </c:extLst>
        </c:ser>
        <c:dLbls>
          <c:showLegendKey val="0"/>
          <c:showVal val="0"/>
          <c:showCatName val="0"/>
          <c:showSerName val="0"/>
          <c:showPercent val="0"/>
          <c:showBubbleSize val="0"/>
        </c:dLbls>
        <c:marker val="1"/>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2"/>
          <c:min val="-2"/>
        </c:scaling>
        <c:delete val="0"/>
        <c:axPos val="l"/>
        <c:title>
          <c:tx>
            <c:rich>
              <a:bodyPr rot="-5400000" vert="horz"/>
              <a:lstStyle/>
              <a:p>
                <a:pPr>
                  <a:defRPr sz="900" b="0"/>
                </a:pPr>
                <a:r>
                  <a:rPr lang="ja-JP" sz="900" b="0"/>
                  <a:t>1時間平均の吸気温度差［℃］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13"/>
          <c:y val="0.17"/>
          <c:w val="0.83"/>
          <c:h val="0.63"/>
        </c:manualLayout>
      </c:layout>
      <c:lineChart>
        <c:grouping val="standard"/>
        <c:varyColors val="0"/>
        <c:ser>
          <c:idx val="0"/>
          <c:order val="0"/>
          <c:tx>
            <c:strRef>
              <c:f>'図09_分析4_天気と吸気温度差'!$G$1</c:f>
              <c:strCache>
                <c:ptCount val="1"/>
                <c:pt idx="0">
                  <c:v>列3（なし）</c:v>
                </c:pt>
              </c:strCache>
            </c:strRef>
          </c:tx>
          <c:spPr>
            <a:ln w="25400" cap="rnd">
              <a:solidFill>
                <a:srgbClr val="5E6B7A"/>
              </a:solidFill>
              <a:round/>
            </a:ln>
          </c:spPr>
          <c:marker>
            <c:symbol val="none"/>
          </c:marker>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'図09_分析4_天気と吸気温度差'!$G$2:$G$48</c:f>
              <c:numCache>
                <c:formatCode>General</c:formatCode>
                <c:ptCount val="47"/>
                <c:pt idx="0">
                  <c:v>34.926000000000002</c:v>
                </c:pt>
                <c:pt idx="1">
                  <c:v>34.206000000000003</c:v>
                </c:pt>
                <c:pt idx="2">
                  <c:v>34.753</c:v>
                </c:pt>
                <c:pt idx="3">
                  <c:v>33.287999999999997</c:v>
                </c:pt>
                <c:pt idx="4">
                  <c:v>27.312999999999999</c:v>
                </c:pt>
                <c:pt idx="5">
                  <c:v>29.184000000000001</c:v>
                </c:pt>
                <c:pt idx="6">
                  <c:v>30.422000000000001</c:v>
                </c:pt>
                <c:pt idx="7">
                  <c:v>30.489000000000001</c:v>
                </c:pt>
                <c:pt idx="8">
                  <c:v>33.125999999999998</c:v>
                </c:pt>
                <c:pt idx="9">
                  <c:v>32.823999999999998</c:v>
                </c:pt>
                <c:pt idx="10">
                  <c:v>32.281999999999996</c:v>
                </c:pt>
                <c:pt idx="11">
                  <c:v>30.547999999999998</c:v>
                </c:pt>
                <c:pt idx="12">
                  <c:v>29.041</c:v>
                </c:pt>
                <c:pt idx="13">
                  <c:v>28.187000000000001</c:v>
                </c:pt>
                <c:pt idx="14">
                  <c:v>26.742999999999999</c:v>
                </c:pt>
                <c:pt idx="15">
                  <c:v>29.335000000000001</c:v>
                </c:pt>
                <c:pt idx="16">
                  <c:v>27.725000000000001</c:v>
                </c:pt>
                <c:pt idx="17">
                  <c:v>25.86</c:v>
                </c:pt>
                <c:pt idx="18">
                  <c:v>29.876999999999999</c:v>
                </c:pt>
                <c:pt idx="19">
                  <c:v>30.986999999999998</c:v>
                </c:pt>
                <c:pt idx="20">
                  <c:v>31.379000000000001</c:v>
                </c:pt>
                <c:pt idx="21">
                  <c:v>31.916</c:v>
                </c:pt>
                <c:pt idx="22">
                  <c:v>31.370999999999999</c:v>
                </c:pt>
                <c:pt idx="23">
                  <c:v>29.327000000000002</c:v>
                </c:pt>
                <c:pt idx="24">
                  <c:v>29.786999999999999</c:v>
                </c:pt>
                <c:pt idx="25">
                  <c:v>32.878</c:v>
                </c:pt>
                <c:pt idx="26">
                  <c:v>34.29</c:v>
                </c:pt>
                <c:pt idx="27">
                  <c:v>33.878</c:v>
                </c:pt>
                <c:pt idx="28">
                  <c:v>28.856999999999999</c:v>
                </c:pt>
                <c:pt idx="29">
                  <c:v>32.106999999999999</c:v>
                </c:pt>
                <c:pt idx="30">
                  <c:v>23.507000000000001</c:v>
                </c:pt>
                <c:pt idx="31">
                  <c:v>26.364000000000001</c:v>
                </c:pt>
                <c:pt idx="32">
                  <c:v>27.722999999999999</c:v>
                </c:pt>
                <c:pt idx="33">
                  <c:v>28.617999999999999</c:v>
                </c:pt>
                <c:pt idx="34">
                  <c:v>30.59</c:v>
                </c:pt>
                <c:pt idx="35">
                  <c:v>30.393999999999998</c:v>
                </c:pt>
                <c:pt idx="36">
                  <c:v>26.734000000000002</c:v>
                </c:pt>
                <c:pt idx="37">
                  <c:v>24.620999999999999</c:v>
                </c:pt>
                <c:pt idx="38">
                  <c:v>21.956</c:v>
                </c:pt>
                <c:pt idx="39">
                  <c:v>24.8</c:v>
                </c:pt>
                <c:pt idx="40">
                  <c:v>28.273</c:v>
                </c:pt>
                <c:pt idx="41">
                  <c:v>29.643999999999998</c:v>
                </c:pt>
                <c:pt idx="42">
                  <c:v>22.882000000000001</c:v>
                </c:pt>
                <c:pt idx="43">
                  <c:v>21.23</c:v>
                </c:pt>
                <c:pt idx="44">
                  <c:v>24.288</c:v>
                </c:pt>
                <c:pt idx="45">
                  <c:v>24.85</c:v>
                </c:pt>
                <c:pt idx="46">
                  <c:v>31.417000000000002</c:v>
                </c:pt>
              </c:numCache>
            </c:numRef>
          </c:val>
          <c:smooth val="0"/>
          <c:extLst>
            <c:ext xmlns:c16="http://schemas.microsoft.com/office/drawing/2014/chart" uri="{C3380CC4-5D6E-409C-BE32-E72D297353CC}">
              <c16:uniqueId val="{00000000-8463-1E4A-9EB0-528241184090}"/>
            </c:ext>
          </c:extLst>
        </c:ser>
        <c:ser>
          <c:idx val="1"/>
          <c:order val="1"/>
          <c:tx>
            <c:strRef>
              <c:f>'図09_分析4_天気と吸気温度差'!$H$1</c:f>
              <c:strCache>
                <c:ptCount val="1"/>
                <c:pt idx="0">
                  <c:v>列8（あり）</c:v>
                </c:pt>
              </c:strCache>
            </c:strRef>
          </c:tx>
          <c:spPr>
            <a:ln w="25400" cap="rnd">
              <a:solidFill>
                <a:srgbClr val="01B8AA"/>
              </a:solidFill>
              <a:round/>
            </a:ln>
          </c:spPr>
          <c:marker>
            <c:symbol val="none"/>
          </c:marker>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'図09_分析4_天気と吸気温度差'!$H$2:$H$48</c:f>
              <c:numCache>
                <c:formatCode>General</c:formatCode>
                <c:ptCount val="47"/>
                <c:pt idx="0">
                  <c:v>35.374000000000002</c:v>
                </c:pt>
                <c:pt idx="1">
                  <c:v>34.618000000000002</c:v>
                </c:pt>
                <c:pt idx="2">
                  <c:v>34.728000000000002</c:v>
                </c:pt>
                <c:pt idx="3">
                  <c:v>33.840000000000003</c:v>
                </c:pt>
                <c:pt idx="4">
                  <c:v>27.433</c:v>
                </c:pt>
                <c:pt idx="5">
                  <c:v>29.277000000000001</c:v>
                </c:pt>
                <c:pt idx="6">
                  <c:v>30.457999999999998</c:v>
                </c:pt>
                <c:pt idx="7">
                  <c:v>30.416</c:v>
                </c:pt>
                <c:pt idx="8">
                  <c:v>32.877000000000002</c:v>
                </c:pt>
                <c:pt idx="9">
                  <c:v>32.216999999999999</c:v>
                </c:pt>
                <c:pt idx="10">
                  <c:v>32.652999999999999</c:v>
                </c:pt>
                <c:pt idx="11">
                  <c:v>30.927</c:v>
                </c:pt>
                <c:pt idx="12">
                  <c:v>28.613</c:v>
                </c:pt>
                <c:pt idx="13">
                  <c:v>28.042000000000002</c:v>
                </c:pt>
                <c:pt idx="14">
                  <c:v>26.414000000000001</c:v>
                </c:pt>
                <c:pt idx="15">
                  <c:v>29.215</c:v>
                </c:pt>
                <c:pt idx="16">
                  <c:v>27.582000000000001</c:v>
                </c:pt>
                <c:pt idx="17">
                  <c:v>25.152999999999999</c:v>
                </c:pt>
                <c:pt idx="18">
                  <c:v>29.751999999999999</c:v>
                </c:pt>
                <c:pt idx="19">
                  <c:v>31.251999999999999</c:v>
                </c:pt>
                <c:pt idx="20">
                  <c:v>31.635999999999999</c:v>
                </c:pt>
                <c:pt idx="21">
                  <c:v>32.255000000000003</c:v>
                </c:pt>
                <c:pt idx="22">
                  <c:v>31.463999999999999</c:v>
                </c:pt>
                <c:pt idx="23">
                  <c:v>28.853999999999999</c:v>
                </c:pt>
                <c:pt idx="24">
                  <c:v>29.542999999999999</c:v>
                </c:pt>
                <c:pt idx="25">
                  <c:v>33.115000000000002</c:v>
                </c:pt>
                <c:pt idx="26">
                  <c:v>34.600999999999999</c:v>
                </c:pt>
                <c:pt idx="27">
                  <c:v>34.353000000000002</c:v>
                </c:pt>
                <c:pt idx="28">
                  <c:v>28.574000000000002</c:v>
                </c:pt>
                <c:pt idx="29">
                  <c:v>32.472999999999999</c:v>
                </c:pt>
                <c:pt idx="30">
                  <c:v>22.635000000000002</c:v>
                </c:pt>
                <c:pt idx="31">
                  <c:v>25.61</c:v>
                </c:pt>
                <c:pt idx="32">
                  <c:v>27.544</c:v>
                </c:pt>
                <c:pt idx="33">
                  <c:v>28.484999999999999</c:v>
                </c:pt>
                <c:pt idx="34">
                  <c:v>30.352</c:v>
                </c:pt>
                <c:pt idx="35">
                  <c:v>30.106000000000002</c:v>
                </c:pt>
                <c:pt idx="36">
                  <c:v>26.344999999999999</c:v>
                </c:pt>
                <c:pt idx="37">
                  <c:v>24.210999999999999</c:v>
                </c:pt>
                <c:pt idx="38">
                  <c:v>20.318999999999999</c:v>
                </c:pt>
                <c:pt idx="39">
                  <c:v>23.966000000000001</c:v>
                </c:pt>
                <c:pt idx="40">
                  <c:v>27.719000000000001</c:v>
                </c:pt>
                <c:pt idx="41">
                  <c:v>29.021000000000001</c:v>
                </c:pt>
                <c:pt idx="42">
                  <c:v>22.132999999999999</c:v>
                </c:pt>
                <c:pt idx="43">
                  <c:v>20.829000000000001</c:v>
                </c:pt>
                <c:pt idx="44">
                  <c:v>22.736000000000001</c:v>
                </c:pt>
                <c:pt idx="45">
                  <c:v>23.893000000000001</c:v>
                </c:pt>
                <c:pt idx="46">
                  <c:v>31.373999999999999</c:v>
                </c:pt>
              </c:numCache>
            </c:numRef>
          </c:val>
          <c:smooth val="0"/>
          <c:extLst>
            <c:ext xmlns:c16="http://schemas.microsoft.com/office/drawing/2014/chart" uri="{C3380CC4-5D6E-409C-BE32-E72D297353CC}">
              <c16:uniqueId val="{00000001-8463-1E4A-9EB0-528241184090}"/>
            </c:ext>
          </c:extLst>
        </c:ser>
        <c:ser>
          <c:idx val="2"/>
          <c:order val="2"/>
          <c:tx>
            <c:strRef>
              <c:f>'図09_分析4_天気と吸気温度差'!$I$1</c:f>
              <c:strCache>
                <c:ptCount val="1"/>
                <c:pt idx="0">
                  <c:v>列11（あり）</c:v>
                </c:pt>
              </c:strCache>
            </c:strRef>
          </c:tx>
          <c:spPr>
            <a:ln w="25400" cap="rnd">
              <a:solidFill>
                <a:srgbClr val="118DFF"/>
              </a:solidFill>
              <a:round/>
            </a:ln>
          </c:spPr>
          <c:marker>
            <c:symbol val="none"/>
          </c:marker>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'図09_分析4_天気と吸気温度差'!$I$2:$I$48</c:f>
              <c:numCache>
                <c:formatCode>General</c:formatCode>
                <c:ptCount val="47"/>
                <c:pt idx="0">
                  <c:v>34.929000000000002</c:v>
                </c:pt>
                <c:pt idx="1">
                  <c:v>34.134999999999998</c:v>
                </c:pt>
                <c:pt idx="2">
                  <c:v>34.609000000000002</c:v>
                </c:pt>
                <c:pt idx="3">
                  <c:v>33.31</c:v>
                </c:pt>
                <c:pt idx="4">
                  <c:v>27.207999999999998</c:v>
                </c:pt>
                <c:pt idx="5">
                  <c:v>28.998000000000001</c:v>
                </c:pt>
                <c:pt idx="6">
                  <c:v>30.231999999999999</c:v>
                </c:pt>
                <c:pt idx="7">
                  <c:v>30.116</c:v>
                </c:pt>
                <c:pt idx="8">
                  <c:v>32.380000000000003</c:v>
                </c:pt>
                <c:pt idx="9">
                  <c:v>32.072000000000003</c:v>
                </c:pt>
                <c:pt idx="10">
                  <c:v>32.037999999999997</c:v>
                </c:pt>
                <c:pt idx="11">
                  <c:v>30.390999999999998</c:v>
                </c:pt>
                <c:pt idx="12">
                  <c:v>28.643000000000001</c:v>
                </c:pt>
                <c:pt idx="13">
                  <c:v>27.725999999999999</c:v>
                </c:pt>
                <c:pt idx="14">
                  <c:v>26.056000000000001</c:v>
                </c:pt>
                <c:pt idx="15">
                  <c:v>29.033999999999999</c:v>
                </c:pt>
                <c:pt idx="16">
                  <c:v>27.594000000000001</c:v>
                </c:pt>
                <c:pt idx="17">
                  <c:v>25.263999999999999</c:v>
                </c:pt>
                <c:pt idx="18">
                  <c:v>29.533999999999999</c:v>
                </c:pt>
                <c:pt idx="19">
                  <c:v>30.896999999999998</c:v>
                </c:pt>
                <c:pt idx="20">
                  <c:v>31.283999999999999</c:v>
                </c:pt>
                <c:pt idx="21">
                  <c:v>31.768000000000001</c:v>
                </c:pt>
                <c:pt idx="22">
                  <c:v>30.946000000000002</c:v>
                </c:pt>
                <c:pt idx="23">
                  <c:v>28.803999999999998</c:v>
                </c:pt>
                <c:pt idx="24">
                  <c:v>29.478000000000002</c:v>
                </c:pt>
                <c:pt idx="25">
                  <c:v>32.539000000000001</c:v>
                </c:pt>
                <c:pt idx="26">
                  <c:v>33.966000000000001</c:v>
                </c:pt>
                <c:pt idx="27">
                  <c:v>33.765000000000001</c:v>
                </c:pt>
                <c:pt idx="28">
                  <c:v>28.425999999999998</c:v>
                </c:pt>
                <c:pt idx="29">
                  <c:v>32.183</c:v>
                </c:pt>
                <c:pt idx="30">
                  <c:v>22.870999999999999</c:v>
                </c:pt>
                <c:pt idx="31">
                  <c:v>25.713000000000001</c:v>
                </c:pt>
                <c:pt idx="32">
                  <c:v>27.471</c:v>
                </c:pt>
                <c:pt idx="33">
                  <c:v>28.402999999999999</c:v>
                </c:pt>
                <c:pt idx="34">
                  <c:v>30.151</c:v>
                </c:pt>
                <c:pt idx="35">
                  <c:v>29.989000000000001</c:v>
                </c:pt>
                <c:pt idx="36">
                  <c:v>26.382999999999999</c:v>
                </c:pt>
                <c:pt idx="37">
                  <c:v>24.097000000000001</c:v>
                </c:pt>
                <c:pt idx="38">
                  <c:v>20.308</c:v>
                </c:pt>
                <c:pt idx="39">
                  <c:v>23.721</c:v>
                </c:pt>
                <c:pt idx="40">
                  <c:v>27.696000000000002</c:v>
                </c:pt>
                <c:pt idx="41">
                  <c:v>28.916</c:v>
                </c:pt>
                <c:pt idx="42">
                  <c:v>21.9</c:v>
                </c:pt>
                <c:pt idx="43">
                  <c:v>20.524000000000001</c:v>
                </c:pt>
                <c:pt idx="44">
                  <c:v>22.667999999999999</c:v>
                </c:pt>
                <c:pt idx="45">
                  <c:v>23.850999999999999</c:v>
                </c:pt>
                <c:pt idx="46">
                  <c:v>30.917000000000002</c:v>
                </c:pt>
              </c:numCache>
            </c:numRef>
          </c:val>
          <c:smooth val="0"/>
          <c:extLst>
            <c:ext xmlns:c16="http://schemas.microsoft.com/office/drawing/2014/chart" uri="{C3380CC4-5D6E-409C-BE32-E72D297353CC}">
              <c16:uniqueId val="{00000002-8463-1E4A-9EB0-528241184090}"/>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out"/>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37.5"/>
          <c:min val="20"/>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5"/>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13"/>
          <c:y val="0.13"/>
          <c:w val="0.83"/>
          <c:h val="0.62"/>
        </c:manualLayout>
      </c:layout>
      <c:barChart>
        <c:barDir val="col"/>
        <c:grouping val="clustered"/>
        <c:varyColors val="0"/>
        <c:ser>
          <c:idx val="0"/>
          <c:order val="0"/>
          <c:tx>
            <c:strRef>
              <c:f>'図09_分析4_天気と吸気温度差'!$J$1</c:f>
              <c:strCache>
                <c:ptCount val="1"/>
                <c:pt idx="0">
                  <c:v>列8</c:v>
                </c:pt>
              </c:strCache>
            </c:strRef>
          </c:tx>
          <c:spPr>
            <a:solidFill>
              <a:srgbClr val="01B8AA"/>
            </a:solidFill>
            <a:ln w="6350" cap="rnd">
              <a:solidFill>
                <a:srgbClr val="01B8AA"/>
              </a:solidFill>
              <a:round/>
            </a:ln>
          </c:spPr>
          <c:invertIfNegative val="0"/>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'図09_分析4_天気と吸気温度差'!$J$2:$J$48</c:f>
              <c:numCache>
                <c:formatCode>General</c:formatCode>
                <c:ptCount val="47"/>
                <c:pt idx="0">
                  <c:v>0.44900000000000001</c:v>
                </c:pt>
                <c:pt idx="1">
                  <c:v>0.41099999999999998</c:v>
                </c:pt>
                <c:pt idx="2">
                  <c:v>-2.4E-2</c:v>
                </c:pt>
                <c:pt idx="3">
                  <c:v>0.55200000000000005</c:v>
                </c:pt>
                <c:pt idx="4">
                  <c:v>0.121</c:v>
                </c:pt>
                <c:pt idx="5">
                  <c:v>9.2999999999999999E-2</c:v>
                </c:pt>
                <c:pt idx="6">
                  <c:v>3.5999999999999997E-2</c:v>
                </c:pt>
                <c:pt idx="7">
                  <c:v>-7.2999999999999995E-2</c:v>
                </c:pt>
                <c:pt idx="8">
                  <c:v>-0.249</c:v>
                </c:pt>
                <c:pt idx="9">
                  <c:v>-0.60699999999999998</c:v>
                </c:pt>
                <c:pt idx="10">
                  <c:v>0.371</c:v>
                </c:pt>
                <c:pt idx="11">
                  <c:v>0.379</c:v>
                </c:pt>
                <c:pt idx="12">
                  <c:v>-0.42899999999999999</c:v>
                </c:pt>
                <c:pt idx="13">
                  <c:v>-0.14599999999999999</c:v>
                </c:pt>
                <c:pt idx="14">
                  <c:v>-0.32900000000000001</c:v>
                </c:pt>
                <c:pt idx="15">
                  <c:v>-0.121</c:v>
                </c:pt>
                <c:pt idx="16">
                  <c:v>-0.14399999999999999</c:v>
                </c:pt>
                <c:pt idx="17">
                  <c:v>-0.70799999999999996</c:v>
                </c:pt>
                <c:pt idx="18">
                  <c:v>-0.125</c:v>
                </c:pt>
                <c:pt idx="19">
                  <c:v>0.26500000000000001</c:v>
                </c:pt>
                <c:pt idx="20">
                  <c:v>0.25700000000000001</c:v>
                </c:pt>
                <c:pt idx="21">
                  <c:v>0.34</c:v>
                </c:pt>
                <c:pt idx="22">
                  <c:v>9.2999999999999999E-2</c:v>
                </c:pt>
                <c:pt idx="23">
                  <c:v>-0.47299999999999998</c:v>
                </c:pt>
                <c:pt idx="24">
                  <c:v>-0.24399999999999999</c:v>
                </c:pt>
                <c:pt idx="25">
                  <c:v>0.23699999999999999</c:v>
                </c:pt>
                <c:pt idx="26">
                  <c:v>0.311</c:v>
                </c:pt>
                <c:pt idx="27">
                  <c:v>0.47499999999999998</c:v>
                </c:pt>
                <c:pt idx="28">
                  <c:v>-0.28299999999999997</c:v>
                </c:pt>
                <c:pt idx="29">
                  <c:v>0.36599999999999999</c:v>
                </c:pt>
                <c:pt idx="30">
                  <c:v>-0.871</c:v>
                </c:pt>
                <c:pt idx="31">
                  <c:v>-0.754</c:v>
                </c:pt>
                <c:pt idx="32">
                  <c:v>-0.17899999999999999</c:v>
                </c:pt>
                <c:pt idx="33">
                  <c:v>-0.13300000000000001</c:v>
                </c:pt>
                <c:pt idx="34">
                  <c:v>-0.23899999999999999</c:v>
                </c:pt>
                <c:pt idx="35">
                  <c:v>-0.28799999999999998</c:v>
                </c:pt>
                <c:pt idx="36">
                  <c:v>-0.38800000000000001</c:v>
                </c:pt>
                <c:pt idx="37">
                  <c:v>-0.41</c:v>
                </c:pt>
                <c:pt idx="38">
                  <c:v>-1.637</c:v>
                </c:pt>
                <c:pt idx="39">
                  <c:v>-0.83499999999999996</c:v>
                </c:pt>
                <c:pt idx="40">
                  <c:v>-0.55300000000000005</c:v>
                </c:pt>
                <c:pt idx="41">
                  <c:v>-0.623</c:v>
                </c:pt>
                <c:pt idx="42">
                  <c:v>-0.749</c:v>
                </c:pt>
                <c:pt idx="43">
                  <c:v>-0.40100000000000002</c:v>
                </c:pt>
                <c:pt idx="44">
                  <c:v>-1.5509999999999999</c:v>
                </c:pt>
                <c:pt idx="45">
                  <c:v>-0.95699999999999996</c:v>
                </c:pt>
                <c:pt idx="46">
                  <c:v>-4.3999999999999997E-2</c:v>
                </c:pt>
              </c:numCache>
            </c:numRef>
          </c:val>
          <c:extLst>
            <c:ext xmlns:c16="http://schemas.microsoft.com/office/drawing/2014/chart" uri="{C3380CC4-5D6E-409C-BE32-E72D297353CC}">
              <c16:uniqueId val="{00000000-BC95-6144-B59E-47AAEE5C1F75}"/>
            </c:ext>
          </c:extLst>
        </c:ser>
        <c:ser>
          <c:idx val="1"/>
          <c:order val="1"/>
          <c:tx>
            <c:strRef>
              <c:f>'図09_分析4_天気と吸気温度差'!$K$1</c:f>
              <c:strCache>
                <c:ptCount val="1"/>
                <c:pt idx="0">
                  <c:v>列11</c:v>
                </c:pt>
              </c:strCache>
            </c:strRef>
          </c:tx>
          <c:spPr>
            <a:solidFill>
              <a:srgbClr val="118DFF"/>
            </a:solidFill>
            <a:ln w="6350" cap="rnd">
              <a:solidFill>
                <a:srgbClr val="118DFF"/>
              </a:solidFill>
              <a:round/>
            </a:ln>
          </c:spPr>
          <c:invertIfNegative val="0"/>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'図09_分析4_天気と吸気温度差'!$K$2:$K$48</c:f>
              <c:numCache>
                <c:formatCode>General</c:formatCode>
                <c:ptCount val="47"/>
                <c:pt idx="0">
                  <c:v>7.0000000000000007E-2</c:v>
                </c:pt>
                <c:pt idx="1">
                  <c:v>5.0000000000000001E-3</c:v>
                </c:pt>
                <c:pt idx="2">
                  <c:v>-0.108</c:v>
                </c:pt>
                <c:pt idx="3">
                  <c:v>5.5E-2</c:v>
                </c:pt>
                <c:pt idx="4">
                  <c:v>-5.0999999999999997E-2</c:v>
                </c:pt>
                <c:pt idx="5">
                  <c:v>-0.122</c:v>
                </c:pt>
                <c:pt idx="6">
                  <c:v>-0.11700000000000001</c:v>
                </c:pt>
                <c:pt idx="7">
                  <c:v>-0.24</c:v>
                </c:pt>
                <c:pt idx="8">
                  <c:v>-0.69199999999999995</c:v>
                </c:pt>
                <c:pt idx="9">
                  <c:v>-0.69</c:v>
                </c:pt>
                <c:pt idx="10">
                  <c:v>-0.184</c:v>
                </c:pt>
                <c:pt idx="11">
                  <c:v>-7.2999999999999995E-2</c:v>
                </c:pt>
                <c:pt idx="12">
                  <c:v>-0.374</c:v>
                </c:pt>
                <c:pt idx="13">
                  <c:v>-0.40799999999999997</c:v>
                </c:pt>
                <c:pt idx="14">
                  <c:v>-0.64500000000000002</c:v>
                </c:pt>
                <c:pt idx="15">
                  <c:v>-0.23899999999999999</c:v>
                </c:pt>
                <c:pt idx="16">
                  <c:v>-0.126</c:v>
                </c:pt>
                <c:pt idx="17">
                  <c:v>-0.59299999999999997</c:v>
                </c:pt>
                <c:pt idx="18">
                  <c:v>-0.28599999999999998</c:v>
                </c:pt>
                <c:pt idx="19">
                  <c:v>-7.2999999999999995E-2</c:v>
                </c:pt>
                <c:pt idx="20">
                  <c:v>-5.1999999999999998E-2</c:v>
                </c:pt>
                <c:pt idx="21">
                  <c:v>-0.10299999999999999</c:v>
                </c:pt>
                <c:pt idx="22">
                  <c:v>-0.33600000000000002</c:v>
                </c:pt>
                <c:pt idx="23">
                  <c:v>-0.29899999999999999</c:v>
                </c:pt>
                <c:pt idx="24">
                  <c:v>-0.224</c:v>
                </c:pt>
                <c:pt idx="25">
                  <c:v>-0.218</c:v>
                </c:pt>
                <c:pt idx="26">
                  <c:v>-0.14599999999999999</c:v>
                </c:pt>
                <c:pt idx="27">
                  <c:v>0.111</c:v>
                </c:pt>
                <c:pt idx="28">
                  <c:v>-0.192</c:v>
                </c:pt>
                <c:pt idx="29">
                  <c:v>6.0999999999999999E-2</c:v>
                </c:pt>
                <c:pt idx="30">
                  <c:v>-0.56100000000000005</c:v>
                </c:pt>
                <c:pt idx="31">
                  <c:v>-0.58099999999999996</c:v>
                </c:pt>
                <c:pt idx="32">
                  <c:v>-0.192</c:v>
                </c:pt>
                <c:pt idx="33">
                  <c:v>-0.122</c:v>
                </c:pt>
                <c:pt idx="34">
                  <c:v>-0.34699999999999998</c:v>
                </c:pt>
                <c:pt idx="35">
                  <c:v>-0.376</c:v>
                </c:pt>
                <c:pt idx="36">
                  <c:v>-0.22500000000000001</c:v>
                </c:pt>
                <c:pt idx="37">
                  <c:v>-0.45700000000000002</c:v>
                </c:pt>
                <c:pt idx="38">
                  <c:v>-1.3660000000000001</c:v>
                </c:pt>
                <c:pt idx="39">
                  <c:v>-0.92700000000000005</c:v>
                </c:pt>
                <c:pt idx="40">
                  <c:v>-0.39200000000000002</c:v>
                </c:pt>
                <c:pt idx="41">
                  <c:v>-0.61799999999999999</c:v>
                </c:pt>
                <c:pt idx="42">
                  <c:v>-0.68600000000000005</c:v>
                </c:pt>
                <c:pt idx="43">
                  <c:v>-0.436</c:v>
                </c:pt>
                <c:pt idx="44">
                  <c:v>-1.246</c:v>
                </c:pt>
                <c:pt idx="45">
                  <c:v>-0.83199999999999996</c:v>
                </c:pt>
                <c:pt idx="46">
                  <c:v>-0.39800000000000002</c:v>
                </c:pt>
              </c:numCache>
            </c:numRef>
          </c:val>
          <c:extLst>
            <c:ext xmlns:c16="http://schemas.microsoft.com/office/drawing/2014/chart" uri="{C3380CC4-5D6E-409C-BE32-E72D297353CC}">
              <c16:uniqueId val="{00000001-BC95-6144-B59E-47AAEE5C1F75}"/>
            </c:ext>
          </c:extLst>
        </c:ser>
        <c:dLbls>
          <c:showLegendKey val="0"/>
          <c:showVal val="0"/>
          <c:showCatName val="0"/>
          <c:showSerName val="0"/>
          <c:showPercent val="0"/>
          <c:showBubbleSize val="0"/>
        </c:dLbls>
        <c:gapWidth val="30"/>
        <c:axId val="10"/>
        <c:axId val="20"/>
      </c:barChart>
      <c:catAx>
        <c:axId val="10"/>
        <c:scaling>
          <c:orientation val="minMax"/>
        </c:scaling>
        <c:delete val="0"/>
        <c:axPos val="b"/>
        <c:numFmt formatCode="General" sourceLinked="1"/>
        <c:majorTickMark val="out"/>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
          <c:min val="-2"/>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1"/>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13"/>
          <c:y val="0.05"/>
          <c:w val="0.83"/>
          <c:h val="0.4"/>
        </c:manualLayout>
      </c:layout>
      <c:barChart>
        <c:barDir val="col"/>
        <c:grouping val="clustered"/>
        <c:varyColors val="0"/>
        <c:ser>
          <c:idx val="0"/>
          <c:order val="0"/>
          <c:tx>
            <c:strRef>
              <c:f>'図09_分析4_天気と吸気温度差'!$L$1</c:f>
              <c:strCache>
                <c:ptCount val="1"/>
                <c:pt idx="0">
                  <c:v>晴れ</c:v>
                </c:pt>
              </c:strCache>
            </c:strRef>
          </c:tx>
          <c:spPr>
            <a:solidFill>
              <a:srgbClr val="E66C64"/>
            </a:solidFill>
            <a:ln w="6350" cap="rnd">
              <a:solidFill>
                <a:srgbClr val="E66C64"/>
              </a:solidFill>
              <a:round/>
            </a:ln>
          </c:spPr>
          <c:invertIfNegative val="0"/>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'図09_分析4_天気と吸気温度差'!$L$2:$L$48</c:f>
              <c:numCache>
                <c:formatCode>General</c:formatCode>
                <c:ptCount val="47"/>
                <c:pt idx="0">
                  <c:v>1</c:v>
                </c:pt>
                <c:pt idx="1">
                  <c:v>1</c:v>
                </c:pt>
                <c:pt idx="5">
                  <c:v>1</c:v>
                </c:pt>
                <c:pt idx="6">
                  <c:v>1</c:v>
                </c:pt>
                <c:pt idx="8">
                  <c:v>1</c:v>
                </c:pt>
                <c:pt idx="11">
                  <c:v>1</c:v>
                </c:pt>
                <c:pt idx="18">
                  <c:v>1</c:v>
                </c:pt>
                <c:pt idx="19">
                  <c:v>1</c:v>
                </c:pt>
                <c:pt idx="20">
                  <c:v>1</c:v>
                </c:pt>
                <c:pt idx="21">
                  <c:v>1</c:v>
                </c:pt>
                <c:pt idx="22">
                  <c:v>1</c:v>
                </c:pt>
                <c:pt idx="25">
                  <c:v>1</c:v>
                </c:pt>
                <c:pt idx="26">
                  <c:v>1</c:v>
                </c:pt>
                <c:pt idx="27">
                  <c:v>1</c:v>
                </c:pt>
                <c:pt idx="29">
                  <c:v>1</c:v>
                </c:pt>
              </c:numCache>
            </c:numRef>
          </c:val>
          <c:extLst>
            <c:ext xmlns:c16="http://schemas.microsoft.com/office/drawing/2014/chart" uri="{C3380CC4-5D6E-409C-BE32-E72D297353CC}">
              <c16:uniqueId val="{00000000-C851-8043-B61D-3A41802C16F1}"/>
            </c:ext>
          </c:extLst>
        </c:ser>
        <c:ser>
          <c:idx val="1"/>
          <c:order val="1"/>
          <c:tx>
            <c:strRef>
              <c:f>'図09_分析4_天気と吸気温度差'!$M$1</c:f>
              <c:strCache>
                <c:ptCount val="1"/>
                <c:pt idx="0">
                  <c:v>曇り</c:v>
                </c:pt>
              </c:strCache>
            </c:strRef>
          </c:tx>
          <c:spPr>
            <a:solidFill>
              <a:srgbClr val="8A949E"/>
            </a:solidFill>
            <a:ln w="6350" cap="rnd">
              <a:solidFill>
                <a:srgbClr val="8A949E"/>
              </a:solidFill>
              <a:round/>
            </a:ln>
          </c:spPr>
          <c:invertIfNegative val="0"/>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'図09_分析4_天気と吸気温度差'!$M$2:$M$48</c:f>
              <c:numCache>
                <c:formatCode>General</c:formatCode>
                <c:ptCount val="47"/>
                <c:pt idx="4">
                  <c:v>1</c:v>
                </c:pt>
                <c:pt idx="32">
                  <c:v>1</c:v>
                </c:pt>
                <c:pt idx="33">
                  <c:v>1</c:v>
                </c:pt>
                <c:pt idx="34">
                  <c:v>1</c:v>
                </c:pt>
                <c:pt idx="35">
                  <c:v>1</c:v>
                </c:pt>
                <c:pt idx="36">
                  <c:v>1</c:v>
                </c:pt>
                <c:pt idx="42">
                  <c:v>1</c:v>
                </c:pt>
                <c:pt idx="43">
                  <c:v>1</c:v>
                </c:pt>
              </c:numCache>
            </c:numRef>
          </c:val>
          <c:extLst>
            <c:ext xmlns:c16="http://schemas.microsoft.com/office/drawing/2014/chart" uri="{C3380CC4-5D6E-409C-BE32-E72D297353CC}">
              <c16:uniqueId val="{00000001-C851-8043-B61D-3A41802C16F1}"/>
            </c:ext>
          </c:extLst>
        </c:ser>
        <c:ser>
          <c:idx val="2"/>
          <c:order val="2"/>
          <c:tx>
            <c:strRef>
              <c:f>'図09_分析4_天気と吸気温度差'!$N$1</c:f>
              <c:strCache>
                <c:ptCount val="1"/>
                <c:pt idx="0">
                  <c:v>雨</c:v>
                </c:pt>
              </c:strCache>
            </c:strRef>
          </c:tx>
          <c:spPr>
            <a:solidFill>
              <a:srgbClr val="118DFF"/>
            </a:solidFill>
            <a:ln w="6350" cap="rnd">
              <a:solidFill>
                <a:srgbClr val="118DFF"/>
              </a:solidFill>
              <a:round/>
            </a:ln>
          </c:spPr>
          <c:invertIfNegative val="0"/>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'図09_分析4_天気と吸気温度差'!$N$2:$N$48</c:f>
              <c:numCache>
                <c:formatCode>General</c:formatCode>
                <c:ptCount val="47"/>
                <c:pt idx="7">
                  <c:v>1</c:v>
                </c:pt>
                <c:pt idx="13">
                  <c:v>1</c:v>
                </c:pt>
                <c:pt idx="14">
                  <c:v>1</c:v>
                </c:pt>
                <c:pt idx="15">
                  <c:v>1</c:v>
                </c:pt>
                <c:pt idx="28">
                  <c:v>1</c:v>
                </c:pt>
                <c:pt idx="39">
                  <c:v>1</c:v>
                </c:pt>
                <c:pt idx="40">
                  <c:v>1</c:v>
                </c:pt>
                <c:pt idx="41">
                  <c:v>1</c:v>
                </c:pt>
              </c:numCache>
            </c:numRef>
          </c:val>
          <c:extLst>
            <c:ext xmlns:c16="http://schemas.microsoft.com/office/drawing/2014/chart" uri="{C3380CC4-5D6E-409C-BE32-E72D297353CC}">
              <c16:uniqueId val="{00000002-C851-8043-B61D-3A41802C16F1}"/>
            </c:ext>
          </c:extLst>
        </c:ser>
        <c:ser>
          <c:idx val="3"/>
          <c:order val="3"/>
          <c:tx>
            <c:strRef>
              <c:f>'図09_分析4_天気と吸気温度差'!$O$1</c:f>
              <c:strCache>
                <c:ptCount val="1"/>
                <c:pt idx="0">
                  <c:v>晴れ（休日）</c:v>
                </c:pt>
              </c:strCache>
            </c:strRef>
          </c:tx>
          <c:spPr>
            <a:solidFill>
              <a:srgbClr val="F6C3BF"/>
            </a:solidFill>
            <a:ln w="6350" cap="rnd">
              <a:solidFill>
                <a:srgbClr val="F6C3BF"/>
              </a:solidFill>
              <a:round/>
            </a:ln>
          </c:spPr>
          <c:invertIfNegative val="0"/>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'図09_分析4_天気と吸気温度差'!$O$2:$O$48</c:f>
              <c:numCache>
                <c:formatCode>General</c:formatCode>
                <c:ptCount val="47"/>
                <c:pt idx="2">
                  <c:v>1</c:v>
                </c:pt>
                <c:pt idx="3">
                  <c:v>1</c:v>
                </c:pt>
                <c:pt idx="9">
                  <c:v>1</c:v>
                </c:pt>
                <c:pt idx="10">
                  <c:v>1</c:v>
                </c:pt>
              </c:numCache>
            </c:numRef>
          </c:val>
          <c:extLst>
            <c:ext xmlns:c16="http://schemas.microsoft.com/office/drawing/2014/chart" uri="{C3380CC4-5D6E-409C-BE32-E72D297353CC}">
              <c16:uniqueId val="{00000003-C851-8043-B61D-3A41802C16F1}"/>
            </c:ext>
          </c:extLst>
        </c:ser>
        <c:ser>
          <c:idx val="4"/>
          <c:order val="4"/>
          <c:tx>
            <c:strRef>
              <c:f>'図09_分析4_天気と吸気温度差'!$P$1</c:f>
              <c:strCache>
                <c:ptCount val="1"/>
                <c:pt idx="0">
                  <c:v>曇り（休日）</c:v>
                </c:pt>
              </c:strCache>
            </c:strRef>
          </c:tx>
          <c:spPr>
            <a:solidFill>
              <a:srgbClr val="D3D8DD"/>
            </a:solidFill>
            <a:ln w="6350" cap="rnd">
              <a:solidFill>
                <a:srgbClr val="D3D8DD"/>
              </a:solidFill>
              <a:round/>
            </a:ln>
          </c:spPr>
          <c:invertIfNegative val="0"/>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'図09_分析4_天気と吸気温度差'!$P$2:$P$48</c:f>
              <c:numCache>
                <c:formatCode>General</c:formatCode>
                <c:ptCount val="47"/>
                <c:pt idx="12">
                  <c:v>1</c:v>
                </c:pt>
                <c:pt idx="16">
                  <c:v>1</c:v>
                </c:pt>
                <c:pt idx="24">
                  <c:v>1</c:v>
                </c:pt>
                <c:pt idx="31">
                  <c:v>1</c:v>
                </c:pt>
                <c:pt idx="37">
                  <c:v>1</c:v>
                </c:pt>
                <c:pt idx="44">
                  <c:v>1</c:v>
                </c:pt>
                <c:pt idx="45">
                  <c:v>1</c:v>
                </c:pt>
              </c:numCache>
            </c:numRef>
          </c:val>
          <c:extLst>
            <c:ext xmlns:c16="http://schemas.microsoft.com/office/drawing/2014/chart" uri="{C3380CC4-5D6E-409C-BE32-E72D297353CC}">
              <c16:uniqueId val="{00000004-C851-8043-B61D-3A41802C16F1}"/>
            </c:ext>
          </c:extLst>
        </c:ser>
        <c:ser>
          <c:idx val="5"/>
          <c:order val="5"/>
          <c:tx>
            <c:strRef>
              <c:f>'図09_分析4_天気と吸気温度差'!$Q$1</c:f>
              <c:strCache>
                <c:ptCount val="1"/>
                <c:pt idx="0">
                  <c:v>雨（休日）</c:v>
                </c:pt>
              </c:strCache>
            </c:strRef>
          </c:tx>
          <c:spPr>
            <a:solidFill>
              <a:srgbClr val="A8D3FF"/>
            </a:solidFill>
            <a:ln w="6350" cap="rnd">
              <a:solidFill>
                <a:srgbClr val="A8D3FF"/>
              </a:solidFill>
              <a:round/>
            </a:ln>
          </c:spPr>
          <c:invertIfNegative val="0"/>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'図09_分析4_天気と吸気温度差'!$Q$2:$Q$48</c:f>
              <c:numCache>
                <c:formatCode>General</c:formatCode>
                <c:ptCount val="47"/>
                <c:pt idx="17">
                  <c:v>1</c:v>
                </c:pt>
                <c:pt idx="23">
                  <c:v>1</c:v>
                </c:pt>
                <c:pt idx="30">
                  <c:v>1</c:v>
                </c:pt>
                <c:pt idx="38">
                  <c:v>1</c:v>
                </c:pt>
              </c:numCache>
            </c:numRef>
          </c:val>
          <c:extLst>
            <c:ext xmlns:c16="http://schemas.microsoft.com/office/drawing/2014/chart" uri="{C3380CC4-5D6E-409C-BE32-E72D297353CC}">
              <c16:uniqueId val="{00000005-C851-8043-B61D-3A41802C16F1}"/>
            </c:ext>
          </c:extLst>
        </c:ser>
        <c:ser>
          <c:idx val="6"/>
          <c:order val="6"/>
          <c:tx>
            <c:strRef>
              <c:f>'図09_分析4_天気と吸気温度差'!$R$1</c:f>
              <c:strCache>
                <c:ptCount val="1"/>
                <c:pt idx="0">
                  <c:v>データなし</c:v>
                </c:pt>
              </c:strCache>
            </c:strRef>
          </c:tx>
          <c:spPr>
            <a:solidFill>
              <a:srgbClr val="FFFFFF"/>
            </a:solidFill>
            <a:ln w="6350" cap="rnd">
              <a:solidFill>
                <a:srgbClr val="FFFFFF"/>
              </a:solidFill>
              <a:round/>
            </a:ln>
          </c:spPr>
          <c:invertIfNegative val="0"/>
          <c:cat>
            <c:strRef>
              <c:f>'図09_分析4_天気と吸気温度差'!$B$2:$B$48</c:f>
              <c:strCache>
                <c:ptCount val="47"/>
                <c:pt idx="0">
                  <c:v>07-30</c:v>
                </c:pt>
                <c:pt idx="7">
                  <c:v>08-06</c:v>
                </c:pt>
                <c:pt idx="14">
                  <c:v>08-13</c:v>
                </c:pt>
                <c:pt idx="21">
                  <c:v>08-20</c:v>
                </c:pt>
                <c:pt idx="28">
                  <c:v>08-27</c:v>
                </c:pt>
                <c:pt idx="35">
                  <c:v>09-03</c:v>
                </c:pt>
                <c:pt idx="42">
                  <c:v>09-10</c:v>
                </c:pt>
              </c:strCache>
            </c:strRef>
          </c:cat>
          <c:val>
            <c:numRef>
              <c:f>'図09_分析4_天気と吸気温度差'!$R$2:$R$48</c:f>
              <c:numCache>
                <c:formatCode>General</c:formatCode>
                <c:ptCount val="47"/>
                <c:pt idx="46">
                  <c:v>1</c:v>
                </c:pt>
              </c:numCache>
            </c:numRef>
          </c:val>
          <c:extLst>
            <c:ext xmlns:c16="http://schemas.microsoft.com/office/drawing/2014/chart" uri="{C3380CC4-5D6E-409C-BE32-E72D297353CC}">
              <c16:uniqueId val="{00000006-C851-8043-B61D-3A41802C16F1}"/>
            </c:ext>
          </c:extLst>
        </c:ser>
        <c:dLbls>
          <c:showLegendKey val="0"/>
          <c:showVal val="0"/>
          <c:showCatName val="0"/>
          <c:showSerName val="0"/>
          <c:showPercent val="0"/>
          <c:showBubbleSize val="0"/>
        </c:dLbls>
        <c:gapWidth val="8"/>
        <c:overlap val="100"/>
        <c:axId val="10"/>
        <c:axId val="20"/>
      </c:barChart>
      <c:catAx>
        <c:axId val="10"/>
        <c:scaling>
          <c:orientation val="minMax"/>
        </c:scaling>
        <c:delete val="0"/>
        <c:axPos val="b"/>
        <c:numFmt formatCode="General" sourceLinked="1"/>
        <c:majorTickMark val="out"/>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1"/>
          <c:min val="0"/>
        </c:scaling>
        <c:delete val="1"/>
        <c:axPos val="l"/>
        <c:title>
          <c:tx>
            <c:rich>
              <a:bodyPr rot="-5400000" vert="horz"/>
              <a:lstStyle/>
              <a:p>
                <a:pPr>
                  <a:defRPr sz="900" b="0"/>
                </a:pPr>
                <a:r>
                  <a:rPr lang="ja-JP" sz="900" b="0"/>
                  <a:t>天気</a:t>
                </a:r>
              </a:p>
            </c:rich>
          </c:tx>
          <c:overlay val="0"/>
        </c:title>
        <c:numFmt formatCode="0.0" sourceLinked="0"/>
        <c:majorTickMark val="out"/>
        <c:minorTickMark val="none"/>
        <c:tickLblPos val="nextTo"/>
        <c:crossAx val="10"/>
        <c:crosses val="autoZero"/>
        <c:crossBetween val="between"/>
        <c:majorUnit val="1"/>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barChart>
        <c:barDir val="col"/>
        <c:grouping val="clustered"/>
        <c:varyColors val="0"/>
        <c:ser>
          <c:idx val="0"/>
          <c:order val="0"/>
          <c:tx>
            <c:strRef>
              <c:f>'図10_分析4_天気別'!$J$1</c:f>
              <c:strCache>
                <c:ptCount val="1"/>
                <c:pt idx="0">
                  <c:v>箱（0より下）</c:v>
                </c:pt>
              </c:strCache>
            </c:strRef>
          </c:tx>
          <c:spPr>
            <a:solidFill>
              <a:srgbClr val="01B8AA"/>
            </a:solidFill>
            <a:ln>
              <a:noFill/>
            </a:ln>
          </c:spPr>
          <c:invertIfNegative val="0"/>
          <c:cat>
            <c:strRef>
              <c:f>'図10_分析4_天気別'!$A$2:$A$4</c:f>
              <c:strCache>
                <c:ptCount val="3"/>
                <c:pt idx="0">
                  <c:v>晴れ</c:v>
                </c:pt>
                <c:pt idx="1">
                  <c:v>曇り</c:v>
                </c:pt>
                <c:pt idx="2">
                  <c:v>雨</c:v>
                </c:pt>
              </c:strCache>
            </c:strRef>
          </c:cat>
          <c:val>
            <c:numRef>
              <c:f>'図10_分析4_天気別'!$J$2:$J$4</c:f>
              <c:numCache>
                <c:formatCode>General</c:formatCode>
                <c:ptCount val="3"/>
                <c:pt idx="1">
                  <c:v>-0.39100000000000001</c:v>
                </c:pt>
                <c:pt idx="2">
                  <c:v>-0.57099999999999995</c:v>
                </c:pt>
              </c:numCache>
            </c:numRef>
          </c:val>
          <c:extLst>
            <c:ext xmlns:c16="http://schemas.microsoft.com/office/drawing/2014/chart" uri="{C3380CC4-5D6E-409C-BE32-E72D297353CC}">
              <c16:uniqueId val="{00000000-CD20-2E45-9F0C-B748732DD51A}"/>
            </c:ext>
          </c:extLst>
        </c:ser>
        <c:ser>
          <c:idx val="1"/>
          <c:order val="1"/>
          <c:tx>
            <c:strRef>
              <c:f>'図10_分析4_天気別'!$K$1</c:f>
              <c:strCache>
                <c:ptCount val="1"/>
                <c:pt idx="0">
                  <c:v>箱（0より上）</c:v>
                </c:pt>
              </c:strCache>
            </c:strRef>
          </c:tx>
          <c:spPr>
            <a:solidFill>
              <a:srgbClr val="01B8AA"/>
            </a:solidFill>
            <a:ln>
              <a:noFill/>
            </a:ln>
          </c:spPr>
          <c:invertIfNegative val="0"/>
          <c:cat>
            <c:strRef>
              <c:f>'図10_分析4_天気別'!$A$2:$A$4</c:f>
              <c:strCache>
                <c:ptCount val="3"/>
                <c:pt idx="0">
                  <c:v>晴れ</c:v>
                </c:pt>
                <c:pt idx="1">
                  <c:v>曇り</c:v>
                </c:pt>
                <c:pt idx="2">
                  <c:v>雨</c:v>
                </c:pt>
              </c:strCache>
            </c:strRef>
          </c:cat>
          <c:val>
            <c:numRef>
              <c:f>'図10_分析4_天気別'!$K$2:$K$4</c:f>
              <c:numCache>
                <c:formatCode>General</c:formatCode>
                <c:ptCount val="3"/>
                <c:pt idx="0">
                  <c:v>0.372</c:v>
                </c:pt>
              </c:numCache>
            </c:numRef>
          </c:val>
          <c:extLst>
            <c:ext xmlns:c16="http://schemas.microsoft.com/office/drawing/2014/chart" uri="{C3380CC4-5D6E-409C-BE32-E72D297353CC}">
              <c16:uniqueId val="{00000001-CD20-2E45-9F0C-B748732DD51A}"/>
            </c:ext>
          </c:extLst>
        </c:ser>
        <c:ser>
          <c:idx val="2"/>
          <c:order val="2"/>
          <c:tx>
            <c:strRef>
              <c:f>'図10_分析4_天気別'!$L$1</c:f>
              <c:strCache>
                <c:ptCount val="1"/>
                <c:pt idx="0">
                  <c:v>箱の外（白）</c:v>
                </c:pt>
              </c:strCache>
            </c:strRef>
          </c:tx>
          <c:spPr>
            <a:solidFill>
              <a:srgbClr val="FFFFFF"/>
            </a:solidFill>
            <a:ln>
              <a:noFill/>
            </a:ln>
          </c:spPr>
          <c:invertIfNegative val="0"/>
          <c:cat>
            <c:strRef>
              <c:f>'図10_分析4_天気別'!$A$2:$A$4</c:f>
              <c:strCache>
                <c:ptCount val="3"/>
                <c:pt idx="0">
                  <c:v>晴れ</c:v>
                </c:pt>
                <c:pt idx="1">
                  <c:v>曇り</c:v>
                </c:pt>
                <c:pt idx="2">
                  <c:v>雨</c:v>
                </c:pt>
              </c:strCache>
            </c:strRef>
          </c:cat>
          <c:val>
            <c:numRef>
              <c:f>'図10_分析4_天気別'!$L$2:$L$4</c:f>
              <c:numCache>
                <c:formatCode>General</c:formatCode>
                <c:ptCount val="3"/>
                <c:pt idx="0">
                  <c:v>9.2999999999999999E-2</c:v>
                </c:pt>
                <c:pt idx="1">
                  <c:v>-0.16700000000000001</c:v>
                </c:pt>
                <c:pt idx="2">
                  <c:v>-0.14000000000000001</c:v>
                </c:pt>
              </c:numCache>
            </c:numRef>
          </c:val>
          <c:extLst>
            <c:ext xmlns:c16="http://schemas.microsoft.com/office/drawing/2014/chart" uri="{C3380CC4-5D6E-409C-BE32-E72D297353CC}">
              <c16:uniqueId val="{00000002-CD20-2E45-9F0C-B748732DD51A}"/>
            </c:ext>
          </c:extLst>
        </c:ser>
        <c:dLbls>
          <c:showLegendKey val="0"/>
          <c:showVal val="0"/>
          <c:showCatName val="0"/>
          <c:showSerName val="0"/>
          <c:showPercent val="0"/>
          <c:showBubbleSize val="0"/>
        </c:dLbls>
        <c:gapWidth val="120"/>
        <c:overlap val="100"/>
        <c:axId val="10"/>
        <c:axId val="20"/>
      </c:barChart>
      <c:lineChart>
        <c:grouping val="standard"/>
        <c:varyColors val="0"/>
        <c:ser>
          <c:idx val="3"/>
          <c:order val="3"/>
          <c:tx>
            <c:strRef>
              <c:f>'図10_分析4_天気別'!$E$1</c:f>
              <c:strCache>
                <c:ptCount val="1"/>
                <c:pt idx="0">
                  <c:v>中央値</c:v>
                </c:pt>
              </c:strCache>
            </c:strRef>
          </c:tx>
          <c:spPr>
            <a:ln>
              <a:noFill/>
            </a:ln>
          </c:spPr>
          <c:marker>
            <c:symbol val="dash"/>
            <c:size val="16"/>
            <c:spPr>
              <a:solidFill>
                <a:srgbClr val="FFFFFF"/>
              </a:solidFill>
              <a:ln w="9525" cap="rnd">
                <a:solidFill>
                  <a:srgbClr val="FFFFFF"/>
                </a:solidFill>
                <a:round/>
              </a:ln>
            </c:spPr>
          </c:marker>
          <c:errBars>
            <c:errDir val="y"/>
            <c:errBarType val="both"/>
            <c:errValType val="cust"/>
            <c:noEndCap val="0"/>
            <c:plus>
              <c:numRef>
                <c:f>'図10_分析4_天気別'!$M$2:$M$4</c:f>
                <c:numCache>
                  <c:formatCode>General</c:formatCode>
                  <c:ptCount val="3"/>
                  <c:pt idx="0">
                    <c:v>0.21</c:v>
                  </c:pt>
                  <c:pt idx="1">
                    <c:v>0.38400000000000001</c:v>
                  </c:pt>
                  <c:pt idx="2">
                    <c:v>0.23300000000000001</c:v>
                  </c:pt>
                </c:numCache>
              </c:numRef>
            </c:plus>
            <c:minus>
              <c:numRef>
                <c:f>'図10_分析4_天気別'!$N$2:$N$4</c:f>
                <c:numCache>
                  <c:formatCode>General</c:formatCode>
                  <c:ptCount val="3"/>
                  <c:pt idx="0">
                    <c:v>0.51400000000000001</c:v>
                  </c:pt>
                  <c:pt idx="1">
                    <c:v>0.13800000000000001</c:v>
                  </c:pt>
                  <c:pt idx="2">
                    <c:v>0.52800000000000002</c:v>
                  </c:pt>
                </c:numCache>
              </c:numRef>
            </c:minus>
            <c:spPr>
              <a:ln w="15875" cap="rnd">
                <a:solidFill>
                  <a:srgbClr val="01B8AA"/>
                </a:solidFill>
                <a:round/>
              </a:ln>
            </c:spPr>
          </c:errBars>
          <c:cat>
            <c:strRef>
              <c:f>'図10_分析4_天気別'!$A$2:$A$4</c:f>
              <c:strCache>
                <c:ptCount val="3"/>
                <c:pt idx="0">
                  <c:v>晴れ</c:v>
                </c:pt>
                <c:pt idx="1">
                  <c:v>曇り</c:v>
                </c:pt>
                <c:pt idx="2">
                  <c:v>雨</c:v>
                </c:pt>
              </c:strCache>
            </c:strRef>
          </c:cat>
          <c:val>
            <c:numRef>
              <c:f>'図10_分析4_天気別'!$E$2:$E$4</c:f>
              <c:numCache>
                <c:formatCode>General</c:formatCode>
                <c:ptCount val="3"/>
                <c:pt idx="0">
                  <c:v>0.26500000000000001</c:v>
                </c:pt>
                <c:pt idx="1">
                  <c:v>-0.26300000000000001</c:v>
                </c:pt>
                <c:pt idx="2">
                  <c:v>-0.30599999999999999</c:v>
                </c:pt>
              </c:numCache>
            </c:numRef>
          </c:val>
          <c:smooth val="0"/>
          <c:extLst>
            <c:ext xmlns:c16="http://schemas.microsoft.com/office/drawing/2014/chart" uri="{C3380CC4-5D6E-409C-BE32-E72D297353CC}">
              <c16:uniqueId val="{00000003-CD20-2E45-9F0C-B748732DD51A}"/>
            </c:ext>
          </c:extLst>
        </c:ser>
        <c:dLbls>
          <c:showLegendKey val="0"/>
          <c:showVal val="0"/>
          <c:showCatName val="0"/>
          <c:showSerName val="0"/>
          <c:showPercent val="0"/>
          <c:showBubbleSize val="0"/>
        </c:dLbls>
        <c:marker val="1"/>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
          <c:min val="-1"/>
        </c:scaling>
        <c:delete val="0"/>
        <c:axPos val="l"/>
        <c:title>
          <c:tx>
            <c:rich>
              <a:bodyPr rot="-5400000" vert="horz"/>
              <a:lstStyle/>
              <a:p>
                <a:pPr>
                  <a:defRPr sz="900" b="0"/>
                </a:pPr>
                <a:r>
                  <a:rPr lang="ja-JP" sz="900" b="0"/>
                  <a:t>日中平均の吸気温度差［℃］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barChart>
        <c:barDir val="col"/>
        <c:grouping val="clustered"/>
        <c:varyColors val="0"/>
        <c:ser>
          <c:idx val="0"/>
          <c:order val="0"/>
          <c:tx>
            <c:strRef>
              <c:f>'図10_分析4_天気別'!$W$1</c:f>
              <c:strCache>
                <c:ptCount val="1"/>
                <c:pt idx="0">
                  <c:v>箱（0より下）</c:v>
                </c:pt>
              </c:strCache>
            </c:strRef>
          </c:tx>
          <c:spPr>
            <a:solidFill>
              <a:srgbClr val="118DFF"/>
            </a:solidFill>
            <a:ln>
              <a:noFill/>
            </a:ln>
          </c:spPr>
          <c:invertIfNegative val="0"/>
          <c:cat>
            <c:strRef>
              <c:f>'図10_分析4_天気別'!$A$2:$A$4</c:f>
              <c:strCache>
                <c:ptCount val="3"/>
                <c:pt idx="0">
                  <c:v>晴れ</c:v>
                </c:pt>
                <c:pt idx="1">
                  <c:v>曇り</c:v>
                </c:pt>
                <c:pt idx="2">
                  <c:v>雨</c:v>
                </c:pt>
              </c:strCache>
            </c:strRef>
          </c:cat>
          <c:val>
            <c:numRef>
              <c:f>'図10_分析4_天気別'!$W$2:$W$4</c:f>
              <c:numCache>
                <c:formatCode>General</c:formatCode>
                <c:ptCount val="3"/>
                <c:pt idx="0">
                  <c:v>-0.182</c:v>
                </c:pt>
                <c:pt idx="1">
                  <c:v>-0.39100000000000001</c:v>
                </c:pt>
                <c:pt idx="2">
                  <c:v>-0.625</c:v>
                </c:pt>
              </c:numCache>
            </c:numRef>
          </c:val>
          <c:extLst>
            <c:ext xmlns:c16="http://schemas.microsoft.com/office/drawing/2014/chart" uri="{C3380CC4-5D6E-409C-BE32-E72D297353CC}">
              <c16:uniqueId val="{00000000-800C-BB45-95E7-1110D2D07D6C}"/>
            </c:ext>
          </c:extLst>
        </c:ser>
        <c:ser>
          <c:idx val="1"/>
          <c:order val="1"/>
          <c:tx>
            <c:strRef>
              <c:f>'図10_分析4_天気別'!$X$1</c:f>
              <c:strCache>
                <c:ptCount val="1"/>
                <c:pt idx="0">
                  <c:v>箱（0より上）</c:v>
                </c:pt>
              </c:strCache>
            </c:strRef>
          </c:tx>
          <c:spPr>
            <a:solidFill>
              <a:srgbClr val="118DFF"/>
            </a:solidFill>
            <a:ln>
              <a:noFill/>
            </a:ln>
          </c:spPr>
          <c:invertIfNegative val="0"/>
          <c:cat>
            <c:strRef>
              <c:f>'図10_分析4_天気別'!$A$2:$A$4</c:f>
              <c:strCache>
                <c:ptCount val="3"/>
                <c:pt idx="0">
                  <c:v>晴れ</c:v>
                </c:pt>
                <c:pt idx="1">
                  <c:v>曇り</c:v>
                </c:pt>
                <c:pt idx="2">
                  <c:v>雨</c:v>
                </c:pt>
              </c:strCache>
            </c:strRef>
          </c:cat>
          <c:val>
            <c:numRef>
              <c:f>'図10_分析4_天気別'!$X$2:$X$4</c:f>
              <c:numCache>
                <c:formatCode>General</c:formatCode>
                <c:ptCount val="3"/>
              </c:numCache>
            </c:numRef>
          </c:val>
          <c:extLst>
            <c:ext xmlns:c16="http://schemas.microsoft.com/office/drawing/2014/chart" uri="{C3380CC4-5D6E-409C-BE32-E72D297353CC}">
              <c16:uniqueId val="{00000001-800C-BB45-95E7-1110D2D07D6C}"/>
            </c:ext>
          </c:extLst>
        </c:ser>
        <c:ser>
          <c:idx val="2"/>
          <c:order val="2"/>
          <c:tx>
            <c:strRef>
              <c:f>'図10_分析4_天気別'!$Y$1</c:f>
              <c:strCache>
                <c:ptCount val="1"/>
                <c:pt idx="0">
                  <c:v>箱の外（白）</c:v>
                </c:pt>
              </c:strCache>
            </c:strRef>
          </c:tx>
          <c:spPr>
            <a:solidFill>
              <a:srgbClr val="FFFFFF"/>
            </a:solidFill>
            <a:ln>
              <a:noFill/>
            </a:ln>
          </c:spPr>
          <c:invertIfNegative val="0"/>
          <c:cat>
            <c:strRef>
              <c:f>'図10_分析4_天気別'!$A$2:$A$4</c:f>
              <c:strCache>
                <c:ptCount val="3"/>
                <c:pt idx="0">
                  <c:v>晴れ</c:v>
                </c:pt>
                <c:pt idx="1">
                  <c:v>曇り</c:v>
                </c:pt>
                <c:pt idx="2">
                  <c:v>雨</c:v>
                </c:pt>
              </c:strCache>
            </c:strRef>
          </c:cat>
          <c:val>
            <c:numRef>
              <c:f>'図10_分析4_天気別'!$Y$2:$Y$4</c:f>
              <c:numCache>
                <c:formatCode>General</c:formatCode>
                <c:ptCount val="3"/>
                <c:pt idx="0">
                  <c:v>-2.3E-2</c:v>
                </c:pt>
                <c:pt idx="1">
                  <c:v>-0.17399999999999999</c:v>
                </c:pt>
                <c:pt idx="2">
                  <c:v>-0.24</c:v>
                </c:pt>
              </c:numCache>
            </c:numRef>
          </c:val>
          <c:extLst>
            <c:ext xmlns:c16="http://schemas.microsoft.com/office/drawing/2014/chart" uri="{C3380CC4-5D6E-409C-BE32-E72D297353CC}">
              <c16:uniqueId val="{00000002-800C-BB45-95E7-1110D2D07D6C}"/>
            </c:ext>
          </c:extLst>
        </c:ser>
        <c:dLbls>
          <c:showLegendKey val="0"/>
          <c:showVal val="0"/>
          <c:showCatName val="0"/>
          <c:showSerName val="0"/>
          <c:showPercent val="0"/>
          <c:showBubbleSize val="0"/>
        </c:dLbls>
        <c:gapWidth val="120"/>
        <c:overlap val="100"/>
        <c:axId val="10"/>
        <c:axId val="20"/>
      </c:barChart>
      <c:lineChart>
        <c:grouping val="standard"/>
        <c:varyColors val="0"/>
        <c:ser>
          <c:idx val="3"/>
          <c:order val="3"/>
          <c:tx>
            <c:strRef>
              <c:f>'図10_分析4_天気別'!$R$1</c:f>
              <c:strCache>
                <c:ptCount val="1"/>
                <c:pt idx="0">
                  <c:v>中央値</c:v>
                </c:pt>
              </c:strCache>
            </c:strRef>
          </c:tx>
          <c:spPr>
            <a:ln>
              <a:noFill/>
            </a:ln>
          </c:spPr>
          <c:marker>
            <c:symbol val="dash"/>
            <c:size val="16"/>
            <c:spPr>
              <a:solidFill>
                <a:srgbClr val="FFFFFF"/>
              </a:solidFill>
              <a:ln w="9525" cap="rnd">
                <a:solidFill>
                  <a:srgbClr val="FFFFFF"/>
                </a:solidFill>
                <a:round/>
              </a:ln>
            </c:spPr>
          </c:marker>
          <c:errBars>
            <c:errDir val="y"/>
            <c:errBarType val="both"/>
            <c:errValType val="cust"/>
            <c:noEndCap val="0"/>
            <c:plus>
              <c:numRef>
                <c:f>'図10_分析4_天気別'!$Z$2:$Z$4</c:f>
                <c:numCache>
                  <c:formatCode>General</c:formatCode>
                  <c:ptCount val="3"/>
                  <c:pt idx="0">
                    <c:v>0.21299999999999999</c:v>
                  </c:pt>
                  <c:pt idx="1">
                    <c:v>0.23599999999999999</c:v>
                  </c:pt>
                  <c:pt idx="2">
                    <c:v>0.20799999999999999</c:v>
                  </c:pt>
                </c:numCache>
              </c:numRef>
            </c:plus>
            <c:minus>
              <c:numRef>
                <c:f>'図10_分析4_天気別'!$AA$2:$AA$4</c:f>
                <c:numCache>
                  <c:formatCode>General</c:formatCode>
                  <c:ptCount val="3"/>
                  <c:pt idx="0">
                    <c:v>0.23400000000000001</c:v>
                  </c:pt>
                  <c:pt idx="1">
                    <c:v>0.4</c:v>
                  </c:pt>
                  <c:pt idx="2">
                    <c:v>0.52700000000000002</c:v>
                  </c:pt>
                </c:numCache>
              </c:numRef>
            </c:minus>
            <c:spPr>
              <a:ln w="15875" cap="rnd">
                <a:solidFill>
                  <a:srgbClr val="118DFF"/>
                </a:solidFill>
                <a:round/>
              </a:ln>
            </c:spPr>
          </c:errBars>
          <c:cat>
            <c:strRef>
              <c:f>'図10_分析4_天気別'!$A$2:$A$4</c:f>
              <c:strCache>
                <c:ptCount val="3"/>
                <c:pt idx="0">
                  <c:v>晴れ</c:v>
                </c:pt>
                <c:pt idx="1">
                  <c:v>曇り</c:v>
                </c:pt>
                <c:pt idx="2">
                  <c:v>雨</c:v>
                </c:pt>
              </c:strCache>
            </c:strRef>
          </c:cat>
          <c:val>
            <c:numRef>
              <c:f>'図10_分析4_天気別'!$R$2:$R$4</c:f>
              <c:numCache>
                <c:formatCode>General</c:formatCode>
                <c:ptCount val="3"/>
                <c:pt idx="0">
                  <c:v>-0.10299999999999999</c:v>
                </c:pt>
                <c:pt idx="1">
                  <c:v>-0.28599999999999998</c:v>
                </c:pt>
                <c:pt idx="2">
                  <c:v>-0.4</c:v>
                </c:pt>
              </c:numCache>
            </c:numRef>
          </c:val>
          <c:smooth val="0"/>
          <c:extLst>
            <c:ext xmlns:c16="http://schemas.microsoft.com/office/drawing/2014/chart" uri="{C3380CC4-5D6E-409C-BE32-E72D297353CC}">
              <c16:uniqueId val="{00000003-800C-BB45-95E7-1110D2D07D6C}"/>
            </c:ext>
          </c:extLst>
        </c:ser>
        <c:dLbls>
          <c:showLegendKey val="0"/>
          <c:showVal val="0"/>
          <c:showCatName val="0"/>
          <c:showSerName val="0"/>
          <c:showPercent val="0"/>
          <c:showBubbleSize val="0"/>
        </c:dLbls>
        <c:marker val="1"/>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
          <c:min val="-1"/>
        </c:scaling>
        <c:delete val="0"/>
        <c:axPos val="l"/>
        <c:title>
          <c:tx>
            <c:rich>
              <a:bodyPr rot="-5400000" vert="horz"/>
              <a:lstStyle/>
              <a:p>
                <a:pPr>
                  <a:defRPr sz="900" b="0"/>
                </a:pPr>
                <a:r>
                  <a:rPr lang="ja-JP" sz="900" b="0"/>
                  <a:t>日中平均の吸気温度差［℃］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barChart>
        <c:barDir val="col"/>
        <c:grouping val="clustered"/>
        <c:varyColors val="0"/>
        <c:ser>
          <c:idx val="0"/>
          <c:order val="0"/>
          <c:tx>
            <c:strRef>
              <c:f>'図11_分析4_気温区分'!$J$1</c:f>
              <c:strCache>
                <c:ptCount val="1"/>
                <c:pt idx="0">
                  <c:v>箱（0より下）</c:v>
                </c:pt>
              </c:strCache>
            </c:strRef>
          </c:tx>
          <c:spPr>
            <a:solidFill>
              <a:srgbClr val="01B8AA"/>
            </a:solidFill>
            <a:ln>
              <a:noFill/>
            </a:ln>
          </c:spPr>
          <c:invertIfNegative val="0"/>
          <c:cat>
            <c:strRef>
              <c:f>'図11_分析4_気温区分'!$A$2:$A$4</c:f>
              <c:strCache>
                <c:ptCount val="3"/>
                <c:pt idx="0">
                  <c:v>28.0℃未満</c:v>
                </c:pt>
                <c:pt idx="1">
                  <c:v>28.0〜31.0℃</c:v>
                </c:pt>
                <c:pt idx="2">
                  <c:v>31.0℃以上</c:v>
                </c:pt>
              </c:strCache>
            </c:strRef>
          </c:cat>
          <c:val>
            <c:numRef>
              <c:f>'図11_分析4_気温区分'!$J$2:$J$4</c:f>
              <c:numCache>
                <c:formatCode>General</c:formatCode>
                <c:ptCount val="3"/>
                <c:pt idx="0">
                  <c:v>-0.40100000000000002</c:v>
                </c:pt>
                <c:pt idx="1">
                  <c:v>-0.28499999999999998</c:v>
                </c:pt>
              </c:numCache>
            </c:numRef>
          </c:val>
          <c:extLst>
            <c:ext xmlns:c16="http://schemas.microsoft.com/office/drawing/2014/chart" uri="{C3380CC4-5D6E-409C-BE32-E72D297353CC}">
              <c16:uniqueId val="{00000000-ADA3-E24C-8AF9-97BFA520333E}"/>
            </c:ext>
          </c:extLst>
        </c:ser>
        <c:ser>
          <c:idx val="1"/>
          <c:order val="1"/>
          <c:tx>
            <c:strRef>
              <c:f>'図11_分析4_気温区分'!$K$1</c:f>
              <c:strCache>
                <c:ptCount val="1"/>
                <c:pt idx="0">
                  <c:v>箱（0より上）</c:v>
                </c:pt>
              </c:strCache>
            </c:strRef>
          </c:tx>
          <c:spPr>
            <a:solidFill>
              <a:srgbClr val="01B8AA"/>
            </a:solidFill>
            <a:ln>
              <a:noFill/>
            </a:ln>
          </c:spPr>
          <c:invertIfNegative val="0"/>
          <c:cat>
            <c:strRef>
              <c:f>'図11_分析4_気温区分'!$A$2:$A$4</c:f>
              <c:strCache>
                <c:ptCount val="3"/>
                <c:pt idx="0">
                  <c:v>28.0℃未満</c:v>
                </c:pt>
                <c:pt idx="1">
                  <c:v>28.0〜31.0℃</c:v>
                </c:pt>
                <c:pt idx="2">
                  <c:v>31.0℃以上</c:v>
                </c:pt>
              </c:strCache>
            </c:strRef>
          </c:cat>
          <c:val>
            <c:numRef>
              <c:f>'図11_分析4_気温区分'!$K$2:$K$4</c:f>
              <c:numCache>
                <c:formatCode>General</c:formatCode>
                <c:ptCount val="3"/>
                <c:pt idx="2">
                  <c:v>0.38800000000000001</c:v>
                </c:pt>
              </c:numCache>
            </c:numRef>
          </c:val>
          <c:extLst>
            <c:ext xmlns:c16="http://schemas.microsoft.com/office/drawing/2014/chart" uri="{C3380CC4-5D6E-409C-BE32-E72D297353CC}">
              <c16:uniqueId val="{00000001-ADA3-E24C-8AF9-97BFA520333E}"/>
            </c:ext>
          </c:extLst>
        </c:ser>
        <c:ser>
          <c:idx val="2"/>
          <c:order val="2"/>
          <c:tx>
            <c:strRef>
              <c:f>'図11_分析4_気温区分'!$L$1</c:f>
              <c:strCache>
                <c:ptCount val="1"/>
                <c:pt idx="0">
                  <c:v>箱の外（白）</c:v>
                </c:pt>
              </c:strCache>
            </c:strRef>
          </c:tx>
          <c:spPr>
            <a:solidFill>
              <a:srgbClr val="FFFFFF"/>
            </a:solidFill>
            <a:ln>
              <a:noFill/>
            </a:ln>
          </c:spPr>
          <c:invertIfNegative val="0"/>
          <c:cat>
            <c:strRef>
              <c:f>'図11_分析4_気温区分'!$A$2:$A$4</c:f>
              <c:strCache>
                <c:ptCount val="3"/>
                <c:pt idx="0">
                  <c:v>28.0℃未満</c:v>
                </c:pt>
                <c:pt idx="1">
                  <c:v>28.0〜31.0℃</c:v>
                </c:pt>
                <c:pt idx="2">
                  <c:v>31.0℃以上</c:v>
                </c:pt>
              </c:strCache>
            </c:strRef>
          </c:cat>
          <c:val>
            <c:numRef>
              <c:f>'図11_分析4_気温区分'!$L$2:$L$4</c:f>
              <c:numCache>
                <c:formatCode>General</c:formatCode>
                <c:ptCount val="3"/>
                <c:pt idx="0">
                  <c:v>-0.14599999999999999</c:v>
                </c:pt>
                <c:pt idx="1">
                  <c:v>-1.9E-2</c:v>
                </c:pt>
                <c:pt idx="2">
                  <c:v>0.247</c:v>
                </c:pt>
              </c:numCache>
            </c:numRef>
          </c:val>
          <c:extLst>
            <c:ext xmlns:c16="http://schemas.microsoft.com/office/drawing/2014/chart" uri="{C3380CC4-5D6E-409C-BE32-E72D297353CC}">
              <c16:uniqueId val="{00000002-ADA3-E24C-8AF9-97BFA520333E}"/>
            </c:ext>
          </c:extLst>
        </c:ser>
        <c:dLbls>
          <c:showLegendKey val="0"/>
          <c:showVal val="0"/>
          <c:showCatName val="0"/>
          <c:showSerName val="0"/>
          <c:showPercent val="0"/>
          <c:showBubbleSize val="0"/>
        </c:dLbls>
        <c:gapWidth val="120"/>
        <c:overlap val="100"/>
        <c:axId val="10"/>
        <c:axId val="20"/>
      </c:barChart>
      <c:lineChart>
        <c:grouping val="standard"/>
        <c:varyColors val="0"/>
        <c:ser>
          <c:idx val="3"/>
          <c:order val="3"/>
          <c:tx>
            <c:strRef>
              <c:f>'図11_分析4_気温区分'!$E$1</c:f>
              <c:strCache>
                <c:ptCount val="1"/>
                <c:pt idx="0">
                  <c:v>中央値</c:v>
                </c:pt>
              </c:strCache>
            </c:strRef>
          </c:tx>
          <c:spPr>
            <a:ln>
              <a:noFill/>
            </a:ln>
          </c:spPr>
          <c:marker>
            <c:symbol val="dash"/>
            <c:size val="16"/>
            <c:spPr>
              <a:solidFill>
                <a:srgbClr val="FFFFFF"/>
              </a:solidFill>
              <a:ln w="9525" cap="rnd">
                <a:solidFill>
                  <a:srgbClr val="FFFFFF"/>
                </a:solidFill>
                <a:round/>
              </a:ln>
            </c:spPr>
          </c:marker>
          <c:errBars>
            <c:errDir val="y"/>
            <c:errBarType val="both"/>
            <c:errValType val="cust"/>
            <c:noEndCap val="0"/>
            <c:plus>
              <c:numRef>
                <c:f>'図11_分析4_気温区分'!$M$2:$M$4</c:f>
                <c:numCache>
                  <c:formatCode>General</c:formatCode>
                  <c:ptCount val="3"/>
                  <c:pt idx="0">
                    <c:v>0.45</c:v>
                  </c:pt>
                  <c:pt idx="1">
                    <c:v>0.504</c:v>
                  </c:pt>
                  <c:pt idx="2">
                    <c:v>0.16400000000000001</c:v>
                  </c:pt>
                </c:numCache>
              </c:numRef>
            </c:plus>
            <c:minus>
              <c:numRef>
                <c:f>'図11_分析4_気温区分'!$N$2:$N$4</c:f>
                <c:numCache>
                  <c:formatCode>General</c:formatCode>
                  <c:ptCount val="3"/>
                  <c:pt idx="0">
                    <c:v>0.42</c:v>
                  </c:pt>
                  <c:pt idx="1">
                    <c:v>0.498</c:v>
                  </c:pt>
                  <c:pt idx="2">
                    <c:v>0.218</c:v>
                  </c:pt>
                </c:numCache>
              </c:numRef>
            </c:minus>
            <c:spPr>
              <a:ln w="15875" cap="rnd">
                <a:solidFill>
                  <a:srgbClr val="01B8AA"/>
                </a:solidFill>
                <a:round/>
              </a:ln>
            </c:spPr>
          </c:errBars>
          <c:cat>
            <c:strRef>
              <c:f>'図11_分析4_気温区分'!$A$2:$A$4</c:f>
              <c:strCache>
                <c:ptCount val="3"/>
                <c:pt idx="0">
                  <c:v>28.0℃未満</c:v>
                </c:pt>
                <c:pt idx="1">
                  <c:v>28.0〜31.0℃</c:v>
                </c:pt>
                <c:pt idx="2">
                  <c:v>31.0℃以上</c:v>
                </c:pt>
              </c:strCache>
            </c:strRef>
          </c:cat>
          <c:val>
            <c:numRef>
              <c:f>'図11_分析4_気温区分'!$E$2:$E$4</c:f>
              <c:numCache>
                <c:formatCode>General</c:formatCode>
                <c:ptCount val="3"/>
                <c:pt idx="0">
                  <c:v>-0.32900000000000001</c:v>
                </c:pt>
                <c:pt idx="1">
                  <c:v>-0.125</c:v>
                </c:pt>
                <c:pt idx="2">
                  <c:v>0.311</c:v>
                </c:pt>
              </c:numCache>
            </c:numRef>
          </c:val>
          <c:smooth val="0"/>
          <c:extLst>
            <c:ext xmlns:c16="http://schemas.microsoft.com/office/drawing/2014/chart" uri="{C3380CC4-5D6E-409C-BE32-E72D297353CC}">
              <c16:uniqueId val="{00000003-ADA3-E24C-8AF9-97BFA520333E}"/>
            </c:ext>
          </c:extLst>
        </c:ser>
        <c:dLbls>
          <c:showLegendKey val="0"/>
          <c:showVal val="0"/>
          <c:showCatName val="0"/>
          <c:showSerName val="0"/>
          <c:showPercent val="0"/>
          <c:showBubbleSize val="0"/>
        </c:dLbls>
        <c:marker val="1"/>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
          <c:min val="-1"/>
        </c:scaling>
        <c:delete val="0"/>
        <c:axPos val="l"/>
        <c:title>
          <c:tx>
            <c:rich>
              <a:bodyPr rot="-5400000" vert="horz"/>
              <a:lstStyle/>
              <a:p>
                <a:pPr>
                  <a:defRPr sz="900" b="0"/>
                </a:pPr>
                <a:r>
                  <a:rPr lang="ja-JP" sz="900" b="0"/>
                  <a:t>日中平均の吸気温度差［℃］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barChart>
        <c:barDir val="col"/>
        <c:grouping val="clustered"/>
        <c:varyColors val="0"/>
        <c:ser>
          <c:idx val="0"/>
          <c:order val="0"/>
          <c:tx>
            <c:strRef>
              <c:f>'図11_分析4_気温区分'!$W$1</c:f>
              <c:strCache>
                <c:ptCount val="1"/>
                <c:pt idx="0">
                  <c:v>箱（0より下）</c:v>
                </c:pt>
              </c:strCache>
            </c:strRef>
          </c:tx>
          <c:spPr>
            <a:solidFill>
              <a:srgbClr val="118DFF"/>
            </a:solidFill>
            <a:ln>
              <a:noFill/>
            </a:ln>
          </c:spPr>
          <c:invertIfNegative val="0"/>
          <c:cat>
            <c:strRef>
              <c:f>'図11_分析4_気温区分'!$A$2:$A$4</c:f>
              <c:strCache>
                <c:ptCount val="3"/>
                <c:pt idx="0">
                  <c:v>28.0℃未満</c:v>
                </c:pt>
                <c:pt idx="1">
                  <c:v>28.0〜31.0℃</c:v>
                </c:pt>
                <c:pt idx="2">
                  <c:v>31.0℃以上</c:v>
                </c:pt>
              </c:strCache>
            </c:strRef>
          </c:cat>
          <c:val>
            <c:numRef>
              <c:f>'図11_分析4_気温区分'!$W$2:$W$4</c:f>
              <c:numCache>
                <c:formatCode>General</c:formatCode>
                <c:ptCount val="3"/>
                <c:pt idx="0">
                  <c:v>-0.64500000000000002</c:v>
                </c:pt>
                <c:pt idx="1">
                  <c:v>-0.36199999999999999</c:v>
                </c:pt>
                <c:pt idx="2">
                  <c:v>-0.182</c:v>
                </c:pt>
              </c:numCache>
            </c:numRef>
          </c:val>
          <c:extLst>
            <c:ext xmlns:c16="http://schemas.microsoft.com/office/drawing/2014/chart" uri="{C3380CC4-5D6E-409C-BE32-E72D297353CC}">
              <c16:uniqueId val="{00000000-0B6B-C34C-8B62-D411D2B12863}"/>
            </c:ext>
          </c:extLst>
        </c:ser>
        <c:ser>
          <c:idx val="1"/>
          <c:order val="1"/>
          <c:tx>
            <c:strRef>
              <c:f>'図11_分析4_気温区分'!$X$1</c:f>
              <c:strCache>
                <c:ptCount val="1"/>
                <c:pt idx="0">
                  <c:v>箱（0より上）</c:v>
                </c:pt>
              </c:strCache>
            </c:strRef>
          </c:tx>
          <c:spPr>
            <a:solidFill>
              <a:srgbClr val="118DFF"/>
            </a:solidFill>
            <a:ln>
              <a:noFill/>
            </a:ln>
          </c:spPr>
          <c:invertIfNegative val="0"/>
          <c:cat>
            <c:strRef>
              <c:f>'図11_分析4_気温区分'!$A$2:$A$4</c:f>
              <c:strCache>
                <c:ptCount val="3"/>
                <c:pt idx="0">
                  <c:v>28.0℃未満</c:v>
                </c:pt>
                <c:pt idx="1">
                  <c:v>28.0〜31.0℃</c:v>
                </c:pt>
                <c:pt idx="2">
                  <c:v>31.0℃以上</c:v>
                </c:pt>
              </c:strCache>
            </c:strRef>
          </c:cat>
          <c:val>
            <c:numRef>
              <c:f>'図11_分析4_気温区分'!$X$2:$X$4</c:f>
              <c:numCache>
                <c:formatCode>General</c:formatCode>
                <c:ptCount val="3"/>
                <c:pt idx="2">
                  <c:v>3.3000000000000002E-2</c:v>
                </c:pt>
              </c:numCache>
            </c:numRef>
          </c:val>
          <c:extLst>
            <c:ext xmlns:c16="http://schemas.microsoft.com/office/drawing/2014/chart" uri="{C3380CC4-5D6E-409C-BE32-E72D297353CC}">
              <c16:uniqueId val="{00000001-0B6B-C34C-8B62-D411D2B12863}"/>
            </c:ext>
          </c:extLst>
        </c:ser>
        <c:ser>
          <c:idx val="2"/>
          <c:order val="2"/>
          <c:tx>
            <c:strRef>
              <c:f>'図11_分析4_気温区分'!$Y$1</c:f>
              <c:strCache>
                <c:ptCount val="1"/>
                <c:pt idx="0">
                  <c:v>箱の外（白）</c:v>
                </c:pt>
              </c:strCache>
            </c:strRef>
          </c:tx>
          <c:spPr>
            <a:solidFill>
              <a:srgbClr val="FFFFFF"/>
            </a:solidFill>
            <a:ln>
              <a:noFill/>
            </a:ln>
          </c:spPr>
          <c:invertIfNegative val="0"/>
          <c:cat>
            <c:strRef>
              <c:f>'図11_分析4_気温区分'!$A$2:$A$4</c:f>
              <c:strCache>
                <c:ptCount val="3"/>
                <c:pt idx="0">
                  <c:v>28.0℃未満</c:v>
                </c:pt>
                <c:pt idx="1">
                  <c:v>28.0〜31.0℃</c:v>
                </c:pt>
                <c:pt idx="2">
                  <c:v>31.0℃以上</c:v>
                </c:pt>
              </c:strCache>
            </c:strRef>
          </c:cat>
          <c:val>
            <c:numRef>
              <c:f>'図11_分析4_気温区分'!$Y$2:$Y$4</c:f>
              <c:numCache>
                <c:formatCode>General</c:formatCode>
                <c:ptCount val="3"/>
                <c:pt idx="0">
                  <c:v>-0.192</c:v>
                </c:pt>
                <c:pt idx="1">
                  <c:v>-0.157</c:v>
                </c:pt>
              </c:numCache>
            </c:numRef>
          </c:val>
          <c:extLst>
            <c:ext xmlns:c16="http://schemas.microsoft.com/office/drawing/2014/chart" uri="{C3380CC4-5D6E-409C-BE32-E72D297353CC}">
              <c16:uniqueId val="{00000002-0B6B-C34C-8B62-D411D2B12863}"/>
            </c:ext>
          </c:extLst>
        </c:ser>
        <c:dLbls>
          <c:showLegendKey val="0"/>
          <c:showVal val="0"/>
          <c:showCatName val="0"/>
          <c:showSerName val="0"/>
          <c:showPercent val="0"/>
          <c:showBubbleSize val="0"/>
        </c:dLbls>
        <c:gapWidth val="120"/>
        <c:overlap val="100"/>
        <c:axId val="10"/>
        <c:axId val="20"/>
      </c:barChart>
      <c:lineChart>
        <c:grouping val="standard"/>
        <c:varyColors val="0"/>
        <c:ser>
          <c:idx val="3"/>
          <c:order val="3"/>
          <c:tx>
            <c:strRef>
              <c:f>'図11_分析4_気温区分'!$R$1</c:f>
              <c:strCache>
                <c:ptCount val="1"/>
                <c:pt idx="0">
                  <c:v>中央値</c:v>
                </c:pt>
              </c:strCache>
            </c:strRef>
          </c:tx>
          <c:spPr>
            <a:ln>
              <a:noFill/>
            </a:ln>
          </c:spPr>
          <c:marker>
            <c:symbol val="dash"/>
            <c:size val="16"/>
            <c:spPr>
              <a:solidFill>
                <a:srgbClr val="FFFFFF"/>
              </a:solidFill>
              <a:ln w="9525" cap="rnd">
                <a:solidFill>
                  <a:srgbClr val="FFFFFF"/>
                </a:solidFill>
                <a:round/>
              </a:ln>
            </c:spPr>
          </c:marker>
          <c:errBars>
            <c:errDir val="y"/>
            <c:errBarType val="both"/>
            <c:errValType val="cust"/>
            <c:noEndCap val="0"/>
            <c:plus>
              <c:numRef>
                <c:f>'図11_分析4_気温区分'!$Z$2:$Z$4</c:f>
                <c:numCache>
                  <c:formatCode>General</c:formatCode>
                  <c:ptCount val="3"/>
                  <c:pt idx="0">
                    <c:v>0.35699999999999998</c:v>
                  </c:pt>
                  <c:pt idx="1">
                    <c:v>0.16700000000000001</c:v>
                  </c:pt>
                  <c:pt idx="2">
                    <c:v>0.184</c:v>
                  </c:pt>
                </c:numCache>
              </c:numRef>
            </c:plus>
            <c:minus>
              <c:numRef>
                <c:f>'図11_分析4_気温区分'!$AA$2:$AA$4</c:f>
                <c:numCache>
                  <c:formatCode>General</c:formatCode>
                  <c:ptCount val="3"/>
                  <c:pt idx="0">
                    <c:v>0.51900000000000002</c:v>
                  </c:pt>
                  <c:pt idx="1">
                    <c:v>0.378</c:v>
                  </c:pt>
                  <c:pt idx="2">
                    <c:v>0.26300000000000001</c:v>
                  </c:pt>
                </c:numCache>
              </c:numRef>
            </c:minus>
            <c:spPr>
              <a:ln w="15875" cap="rnd">
                <a:solidFill>
                  <a:srgbClr val="118DFF"/>
                </a:solidFill>
                <a:round/>
              </a:ln>
            </c:spPr>
          </c:errBars>
          <c:cat>
            <c:strRef>
              <c:f>'図11_分析4_気温区分'!$A$2:$A$4</c:f>
              <c:strCache>
                <c:ptCount val="3"/>
                <c:pt idx="0">
                  <c:v>28.0℃未満</c:v>
                </c:pt>
                <c:pt idx="1">
                  <c:v>28.0〜31.0℃</c:v>
                </c:pt>
                <c:pt idx="2">
                  <c:v>31.0℃以上</c:v>
                </c:pt>
              </c:strCache>
            </c:strRef>
          </c:cat>
          <c:val>
            <c:numRef>
              <c:f>'図11_分析4_気温区分'!$R$2:$R$4</c:f>
              <c:numCache>
                <c:formatCode>General</c:formatCode>
                <c:ptCount val="3"/>
                <c:pt idx="0">
                  <c:v>-0.40799999999999997</c:v>
                </c:pt>
                <c:pt idx="1">
                  <c:v>-0.24</c:v>
                </c:pt>
                <c:pt idx="2">
                  <c:v>-7.2999999999999995E-2</c:v>
                </c:pt>
              </c:numCache>
            </c:numRef>
          </c:val>
          <c:smooth val="0"/>
          <c:extLst>
            <c:ext xmlns:c16="http://schemas.microsoft.com/office/drawing/2014/chart" uri="{C3380CC4-5D6E-409C-BE32-E72D297353CC}">
              <c16:uniqueId val="{00000003-0B6B-C34C-8B62-D411D2B12863}"/>
            </c:ext>
          </c:extLst>
        </c:ser>
        <c:dLbls>
          <c:showLegendKey val="0"/>
          <c:showVal val="0"/>
          <c:showCatName val="0"/>
          <c:showSerName val="0"/>
          <c:showPercent val="0"/>
          <c:showBubbleSize val="0"/>
        </c:dLbls>
        <c:marker val="1"/>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
          <c:min val="-1"/>
        </c:scaling>
        <c:delete val="0"/>
        <c:axPos val="l"/>
        <c:title>
          <c:tx>
            <c:rich>
              <a:bodyPr rot="-5400000" vert="horz"/>
              <a:lstStyle/>
              <a:p>
                <a:pPr>
                  <a:defRPr sz="900" b="0"/>
                </a:pPr>
                <a:r>
                  <a:rPr lang="ja-JP" sz="900" b="0"/>
                  <a:t>日中平均の吸気温度差［℃］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barChart>
        <c:barDir val="col"/>
        <c:grouping val="clustered"/>
        <c:varyColors val="0"/>
        <c:ser>
          <c:idx val="0"/>
          <c:order val="0"/>
          <c:tx>
            <c:strRef>
              <c:f>'図12_分析4_回帰'!$B$1</c:f>
              <c:strCache>
                <c:ptCount val="1"/>
                <c:pt idx="0">
                  <c:v>列8</c:v>
                </c:pt>
              </c:strCache>
            </c:strRef>
          </c:tx>
          <c:spPr>
            <a:solidFill>
              <a:srgbClr val="01B8AA"/>
            </a:solidFill>
            <a:ln w="6350" cap="rnd">
              <a:solidFill>
                <a:srgbClr val="01B8AA"/>
              </a:solidFill>
              <a:round/>
            </a:ln>
          </c:spPr>
          <c:invertIfNegative val="0"/>
          <c:errBars>
            <c:errBarType val="both"/>
            <c:errValType val="cust"/>
            <c:noEndCap val="0"/>
            <c:plus>
              <c:numRef>
                <c:f>'図12_分析4_回帰'!$F$2:$F$5</c:f>
                <c:numCache>
                  <c:formatCode>General</c:formatCode>
                  <c:ptCount val="4"/>
                  <c:pt idx="0">
                    <c:v>0.27400000000000002</c:v>
                  </c:pt>
                  <c:pt idx="1">
                    <c:v>0.16500000000000001</c:v>
                  </c:pt>
                  <c:pt idx="2">
                    <c:v>0.114</c:v>
                  </c:pt>
                  <c:pt idx="3">
                    <c:v>0.157</c:v>
                  </c:pt>
                </c:numCache>
              </c:numRef>
            </c:plus>
            <c:minus>
              <c:numRef>
                <c:f>'図12_分析4_回帰'!$E$2:$E$5</c:f>
                <c:numCache>
                  <c:formatCode>General</c:formatCode>
                  <c:ptCount val="4"/>
                  <c:pt idx="0">
                    <c:v>0.16600000000000001</c:v>
                  </c:pt>
                  <c:pt idx="1">
                    <c:v>0.191</c:v>
                  </c:pt>
                  <c:pt idx="2">
                    <c:v>0.13200000000000001</c:v>
                  </c:pt>
                  <c:pt idx="3">
                    <c:v>0.14499999999999999</c:v>
                  </c:pt>
                </c:numCache>
              </c:numRef>
            </c:minus>
            <c:spPr>
              <a:ln w="15875" cap="rnd">
                <a:solidFill>
                  <a:srgbClr val="172033"/>
                </a:solidFill>
                <a:round/>
              </a:ln>
            </c:spPr>
          </c:errBars>
          <c:cat>
            <c:strRef>
              <c:f>'図12_分析4_回帰'!$A$2:$A$5</c:f>
              <c:strCache>
                <c:ptCount val="4"/>
                <c:pt idx="0">
                  <c:v>気温</c:v>
                </c:pt>
                <c:pt idx="1">
                  <c:v>照度比</c:v>
                </c:pt>
                <c:pt idx="2">
                  <c:v>風速</c:v>
                </c:pt>
                <c:pt idx="3">
                  <c:v>経過日数</c:v>
                </c:pt>
              </c:strCache>
            </c:strRef>
          </c:cat>
          <c:val>
            <c:numRef>
              <c:f>'図12_分析4_回帰'!$B$2:$B$5</c:f>
              <c:numCache>
                <c:formatCode>General</c:formatCode>
                <c:ptCount val="4"/>
                <c:pt idx="0">
                  <c:v>0.191</c:v>
                </c:pt>
                <c:pt idx="1">
                  <c:v>7.2999999999999995E-2</c:v>
                </c:pt>
                <c:pt idx="2">
                  <c:v>-3.5999999999999997E-2</c:v>
                </c:pt>
                <c:pt idx="3">
                  <c:v>-9.2999999999999999E-2</c:v>
                </c:pt>
              </c:numCache>
            </c:numRef>
          </c:val>
          <c:extLst>
            <c:ext xmlns:c16="http://schemas.microsoft.com/office/drawing/2014/chart" uri="{C3380CC4-5D6E-409C-BE32-E72D297353CC}">
              <c16:uniqueId val="{00000000-CACA-BC4D-B824-29A45B8AFE5B}"/>
            </c:ext>
          </c:extLst>
        </c:ser>
        <c:ser>
          <c:idx val="1"/>
          <c:order val="1"/>
          <c:tx>
            <c:strRef>
              <c:f>'図12_分析4_回帰'!$G$1</c:f>
              <c:strCache>
                <c:ptCount val="1"/>
                <c:pt idx="0">
                  <c:v>列11</c:v>
                </c:pt>
              </c:strCache>
            </c:strRef>
          </c:tx>
          <c:spPr>
            <a:solidFill>
              <a:srgbClr val="118DFF"/>
            </a:solidFill>
            <a:ln w="6350" cap="rnd">
              <a:solidFill>
                <a:srgbClr val="118DFF"/>
              </a:solidFill>
              <a:round/>
            </a:ln>
          </c:spPr>
          <c:invertIfNegative val="0"/>
          <c:errBars>
            <c:errBarType val="both"/>
            <c:errValType val="cust"/>
            <c:noEndCap val="0"/>
            <c:plus>
              <c:numRef>
                <c:f>'図12_分析4_回帰'!$K$2:$K$5</c:f>
                <c:numCache>
                  <c:formatCode>General</c:formatCode>
                  <c:ptCount val="4"/>
                  <c:pt idx="0">
                    <c:v>0.23200000000000001</c:v>
                  </c:pt>
                  <c:pt idx="1">
                    <c:v>0.17599999999999999</c:v>
                  </c:pt>
                  <c:pt idx="2">
                    <c:v>9.2999999999999999E-2</c:v>
                  </c:pt>
                  <c:pt idx="3">
                    <c:v>0.16600000000000001</c:v>
                  </c:pt>
                </c:numCache>
              </c:numRef>
            </c:plus>
            <c:minus>
              <c:numRef>
                <c:f>'図12_分析4_回帰'!$J$2:$J$5</c:f>
                <c:numCache>
                  <c:formatCode>General</c:formatCode>
                  <c:ptCount val="4"/>
                  <c:pt idx="0">
                    <c:v>0.13300000000000001</c:v>
                  </c:pt>
                  <c:pt idx="1">
                    <c:v>0.16900000000000001</c:v>
                  </c:pt>
                  <c:pt idx="2">
                    <c:v>0.114</c:v>
                  </c:pt>
                  <c:pt idx="3">
                    <c:v>0.122</c:v>
                  </c:pt>
                </c:numCache>
              </c:numRef>
            </c:minus>
            <c:spPr>
              <a:ln w="15875" cap="rnd">
                <a:solidFill>
                  <a:srgbClr val="172033"/>
                </a:solidFill>
                <a:round/>
              </a:ln>
            </c:spPr>
          </c:errBars>
          <c:cat>
            <c:strRef>
              <c:f>'図12_分析4_回帰'!$A$2:$A$5</c:f>
              <c:strCache>
                <c:ptCount val="4"/>
                <c:pt idx="0">
                  <c:v>気温</c:v>
                </c:pt>
                <c:pt idx="1">
                  <c:v>照度比</c:v>
                </c:pt>
                <c:pt idx="2">
                  <c:v>風速</c:v>
                </c:pt>
                <c:pt idx="3">
                  <c:v>経過日数</c:v>
                </c:pt>
              </c:strCache>
            </c:strRef>
          </c:cat>
          <c:val>
            <c:numRef>
              <c:f>'図12_分析4_回帰'!$G$2:$G$5</c:f>
              <c:numCache>
                <c:formatCode>General</c:formatCode>
                <c:ptCount val="4"/>
                <c:pt idx="0">
                  <c:v>0.17299999999999999</c:v>
                </c:pt>
                <c:pt idx="1">
                  <c:v>-7.0000000000000001E-3</c:v>
                </c:pt>
                <c:pt idx="2">
                  <c:v>-7.8E-2</c:v>
                </c:pt>
                <c:pt idx="3">
                  <c:v>-3.1E-2</c:v>
                </c:pt>
              </c:numCache>
            </c:numRef>
          </c:val>
          <c:extLst>
            <c:ext xmlns:c16="http://schemas.microsoft.com/office/drawing/2014/chart" uri="{C3380CC4-5D6E-409C-BE32-E72D297353CC}">
              <c16:uniqueId val="{00000001-CACA-BC4D-B824-29A45B8AFE5B}"/>
            </c:ext>
          </c:extLst>
        </c:ser>
        <c:dLbls>
          <c:showLegendKey val="0"/>
          <c:showVal val="0"/>
          <c:showCatName val="0"/>
          <c:showSerName val="0"/>
          <c:showPercent val="0"/>
          <c:showBubbleSize val="0"/>
        </c:dLbls>
        <c:gapWidth val="80"/>
        <c:overlap val="-10"/>
        <c:axId val="10"/>
        <c:axId val="20"/>
      </c:bar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0.6"/>
          <c:min val="-0.4"/>
        </c:scaling>
        <c:delete val="0"/>
        <c:axPos val="l"/>
        <c:majorGridlines>
          <c:spPr>
            <a:ln w="9525" cap="rnd">
              <a:solidFill>
                <a:srgbClr val="E3E7EC"/>
              </a:solidFill>
              <a:round/>
            </a:ln>
          </c:spPr>
        </c:majorGridlines>
        <c:title>
          <c:tx>
            <c:rich>
              <a:bodyPr rot="-5400000" vert="horz"/>
              <a:lstStyle/>
              <a:p>
                <a:pPr>
                  <a:defRPr sz="900" b="0"/>
                </a:pPr>
                <a:r>
                  <a:rPr lang="ja-JP" sz="900" b="0"/>
                  <a:t>1標準偏差あたりの影響［℃］</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2"/>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barChart>
        <c:barDir val="col"/>
        <c:grouping val="clustered"/>
        <c:varyColors val="0"/>
        <c:ser>
          <c:idx val="0"/>
          <c:order val="0"/>
          <c:tx>
            <c:strRef>
              <c:f>'図13_分析5_風速'!$J$1</c:f>
              <c:strCache>
                <c:ptCount val="1"/>
                <c:pt idx="0">
                  <c:v>箱（0より下）</c:v>
                </c:pt>
              </c:strCache>
            </c:strRef>
          </c:tx>
          <c:spPr>
            <a:solidFill>
              <a:srgbClr val="01B8AA"/>
            </a:solidFill>
            <a:ln>
              <a:noFill/>
            </a:ln>
          </c:spPr>
          <c:invertIfNegative val="0"/>
          <c:cat>
            <c:strRef>
              <c:f>'図13_分析5_風速'!$A$2:$A$5</c:f>
              <c:strCache>
                <c:ptCount val="4"/>
                <c:pt idx="0">
                  <c:v>区分1（1.0m/s未満）</c:v>
                </c:pt>
                <c:pt idx="1">
                  <c:v>区分2（1.0〜2.0）</c:v>
                </c:pt>
                <c:pt idx="2">
                  <c:v>区分3（2.0〜3.0）</c:v>
                </c:pt>
                <c:pt idx="3">
                  <c:v>区分4（3.0m/s以上）</c:v>
                </c:pt>
              </c:strCache>
            </c:strRef>
          </c:cat>
          <c:val>
            <c:numRef>
              <c:f>'図13_分析5_風速'!$J$2:$J$5</c:f>
              <c:numCache>
                <c:formatCode>General</c:formatCode>
                <c:ptCount val="4"/>
                <c:pt idx="0">
                  <c:v>-0.20499999999999999</c:v>
                </c:pt>
                <c:pt idx="1">
                  <c:v>-0.45600000000000002</c:v>
                </c:pt>
                <c:pt idx="2">
                  <c:v>-0.34100000000000003</c:v>
                </c:pt>
                <c:pt idx="3">
                  <c:v>-0.251</c:v>
                </c:pt>
              </c:numCache>
            </c:numRef>
          </c:val>
          <c:extLst>
            <c:ext xmlns:c16="http://schemas.microsoft.com/office/drawing/2014/chart" uri="{C3380CC4-5D6E-409C-BE32-E72D297353CC}">
              <c16:uniqueId val="{00000000-7267-B74B-82A7-E5F9CEC3A336}"/>
            </c:ext>
          </c:extLst>
        </c:ser>
        <c:ser>
          <c:idx val="1"/>
          <c:order val="1"/>
          <c:tx>
            <c:strRef>
              <c:f>'図13_分析5_風速'!$K$1</c:f>
              <c:strCache>
                <c:ptCount val="1"/>
                <c:pt idx="0">
                  <c:v>箱（0より上）</c:v>
                </c:pt>
              </c:strCache>
            </c:strRef>
          </c:tx>
          <c:spPr>
            <a:solidFill>
              <a:srgbClr val="01B8AA"/>
            </a:solidFill>
            <a:ln>
              <a:noFill/>
            </a:ln>
          </c:spPr>
          <c:invertIfNegative val="0"/>
          <c:cat>
            <c:strRef>
              <c:f>'図13_分析5_風速'!$A$2:$A$5</c:f>
              <c:strCache>
                <c:ptCount val="4"/>
                <c:pt idx="0">
                  <c:v>区分1（1.0m/s未満）</c:v>
                </c:pt>
                <c:pt idx="1">
                  <c:v>区分2（1.0〜2.0）</c:v>
                </c:pt>
                <c:pt idx="2">
                  <c:v>区分3（2.0〜3.0）</c:v>
                </c:pt>
                <c:pt idx="3">
                  <c:v>区分4（3.0m/s以上）</c:v>
                </c:pt>
              </c:strCache>
            </c:strRef>
          </c:cat>
          <c:val>
            <c:numRef>
              <c:f>'図13_分析5_風速'!$K$2:$K$5</c:f>
              <c:numCache>
                <c:formatCode>General</c:formatCode>
                <c:ptCount val="4"/>
                <c:pt idx="0">
                  <c:v>8.3000000000000004E-2</c:v>
                </c:pt>
                <c:pt idx="1">
                  <c:v>0.222</c:v>
                </c:pt>
                <c:pt idx="2">
                  <c:v>0.36</c:v>
                </c:pt>
                <c:pt idx="3">
                  <c:v>0.37</c:v>
                </c:pt>
              </c:numCache>
            </c:numRef>
          </c:val>
          <c:extLst>
            <c:ext xmlns:c16="http://schemas.microsoft.com/office/drawing/2014/chart" uri="{C3380CC4-5D6E-409C-BE32-E72D297353CC}">
              <c16:uniqueId val="{00000001-7267-B74B-82A7-E5F9CEC3A336}"/>
            </c:ext>
          </c:extLst>
        </c:ser>
        <c:ser>
          <c:idx val="2"/>
          <c:order val="2"/>
          <c:tx>
            <c:strRef>
              <c:f>'図13_分析5_風速'!$L$1</c:f>
              <c:strCache>
                <c:ptCount val="1"/>
                <c:pt idx="0">
                  <c:v>箱の外（白）</c:v>
                </c:pt>
              </c:strCache>
            </c:strRef>
          </c:tx>
          <c:spPr>
            <a:solidFill>
              <a:srgbClr val="FFFFFF"/>
            </a:solidFill>
            <a:ln>
              <a:noFill/>
            </a:ln>
          </c:spPr>
          <c:invertIfNegative val="0"/>
          <c:cat>
            <c:strRef>
              <c:f>'図13_分析5_風速'!$A$2:$A$5</c:f>
              <c:strCache>
                <c:ptCount val="4"/>
                <c:pt idx="0">
                  <c:v>区分1（1.0m/s未満）</c:v>
                </c:pt>
                <c:pt idx="1">
                  <c:v>区分2（1.0〜2.0）</c:v>
                </c:pt>
                <c:pt idx="2">
                  <c:v>区分3（2.0〜3.0）</c:v>
                </c:pt>
                <c:pt idx="3">
                  <c:v>区分4（3.0m/s以上）</c:v>
                </c:pt>
              </c:strCache>
            </c:strRef>
          </c:cat>
          <c:val>
            <c:numRef>
              <c:f>'図13_分析5_風速'!$L$2:$L$5</c:f>
              <c:numCache>
                <c:formatCode>General</c:formatCode>
                <c:ptCount val="4"/>
              </c:numCache>
            </c:numRef>
          </c:val>
          <c:extLst>
            <c:ext xmlns:c16="http://schemas.microsoft.com/office/drawing/2014/chart" uri="{C3380CC4-5D6E-409C-BE32-E72D297353CC}">
              <c16:uniqueId val="{00000002-7267-B74B-82A7-E5F9CEC3A336}"/>
            </c:ext>
          </c:extLst>
        </c:ser>
        <c:dLbls>
          <c:showLegendKey val="0"/>
          <c:showVal val="0"/>
          <c:showCatName val="0"/>
          <c:showSerName val="0"/>
          <c:showPercent val="0"/>
          <c:showBubbleSize val="0"/>
        </c:dLbls>
        <c:gapWidth val="120"/>
        <c:overlap val="100"/>
        <c:axId val="10"/>
        <c:axId val="20"/>
      </c:barChart>
      <c:lineChart>
        <c:grouping val="standard"/>
        <c:varyColors val="0"/>
        <c:ser>
          <c:idx val="3"/>
          <c:order val="3"/>
          <c:tx>
            <c:strRef>
              <c:f>'図13_分析5_風速'!$E$1</c:f>
              <c:strCache>
                <c:ptCount val="1"/>
                <c:pt idx="0">
                  <c:v>中央値</c:v>
                </c:pt>
              </c:strCache>
            </c:strRef>
          </c:tx>
          <c:spPr>
            <a:ln>
              <a:noFill/>
            </a:ln>
          </c:spPr>
          <c:marker>
            <c:symbol val="dash"/>
            <c:size val="16"/>
            <c:spPr>
              <a:solidFill>
                <a:srgbClr val="FFFFFF"/>
              </a:solidFill>
              <a:ln w="9525" cap="rnd">
                <a:solidFill>
                  <a:srgbClr val="FFFFFF"/>
                </a:solidFill>
                <a:round/>
              </a:ln>
            </c:spPr>
          </c:marker>
          <c:errBars>
            <c:errDir val="y"/>
            <c:errBarType val="both"/>
            <c:errValType val="cust"/>
            <c:noEndCap val="0"/>
            <c:plus>
              <c:numRef>
                <c:f>'図13_分析5_風速'!$M$2:$M$5</c:f>
                <c:numCache>
                  <c:formatCode>General</c:formatCode>
                  <c:ptCount val="4"/>
                  <c:pt idx="0">
                    <c:v>0.56599999999999995</c:v>
                  </c:pt>
                  <c:pt idx="1">
                    <c:v>0.97499999999999998</c:v>
                  </c:pt>
                  <c:pt idx="2">
                    <c:v>1.423</c:v>
                  </c:pt>
                  <c:pt idx="3">
                    <c:v>1.1870000000000001</c:v>
                  </c:pt>
                </c:numCache>
              </c:numRef>
            </c:plus>
            <c:minus>
              <c:numRef>
                <c:f>'図13_分析5_風速'!$N$2:$N$5</c:f>
                <c:numCache>
                  <c:formatCode>General</c:formatCode>
                  <c:ptCount val="4"/>
                  <c:pt idx="0">
                    <c:v>0.36799999999999999</c:v>
                  </c:pt>
                  <c:pt idx="1">
                    <c:v>1.071</c:v>
                  </c:pt>
                  <c:pt idx="2">
                    <c:v>1.3160000000000001</c:v>
                  </c:pt>
                  <c:pt idx="3">
                    <c:v>0.65600000000000003</c:v>
                  </c:pt>
                </c:numCache>
              </c:numRef>
            </c:minus>
            <c:spPr>
              <a:ln w="15875" cap="rnd">
                <a:solidFill>
                  <a:srgbClr val="01B8AA"/>
                </a:solidFill>
                <a:round/>
              </a:ln>
            </c:spPr>
          </c:errBars>
          <c:cat>
            <c:strRef>
              <c:f>'図13_分析5_風速'!$A$2:$A$5</c:f>
              <c:strCache>
                <c:ptCount val="4"/>
                <c:pt idx="0">
                  <c:v>区分1（1.0m/s未満）</c:v>
                </c:pt>
                <c:pt idx="1">
                  <c:v>区分2（1.0〜2.0）</c:v>
                </c:pt>
                <c:pt idx="2">
                  <c:v>区分3（2.0〜3.0）</c:v>
                </c:pt>
                <c:pt idx="3">
                  <c:v>区分4（3.0m/s以上）</c:v>
                </c:pt>
              </c:strCache>
            </c:strRef>
          </c:cat>
          <c:val>
            <c:numRef>
              <c:f>'図13_分析5_風速'!$E$2:$E$5</c:f>
              <c:numCache>
                <c:formatCode>General</c:formatCode>
                <c:ptCount val="4"/>
                <c:pt idx="0">
                  <c:v>-0.13800000000000001</c:v>
                </c:pt>
                <c:pt idx="1">
                  <c:v>-0.189</c:v>
                </c:pt>
                <c:pt idx="2">
                  <c:v>-4.7E-2</c:v>
                </c:pt>
                <c:pt idx="3">
                  <c:v>0.02</c:v>
                </c:pt>
              </c:numCache>
            </c:numRef>
          </c:val>
          <c:smooth val="0"/>
          <c:extLst>
            <c:ext xmlns:c16="http://schemas.microsoft.com/office/drawing/2014/chart" uri="{C3380CC4-5D6E-409C-BE32-E72D297353CC}">
              <c16:uniqueId val="{00000003-7267-B74B-82A7-E5F9CEC3A336}"/>
            </c:ext>
          </c:extLst>
        </c:ser>
        <c:dLbls>
          <c:showLegendKey val="0"/>
          <c:showVal val="0"/>
          <c:showCatName val="0"/>
          <c:showSerName val="0"/>
          <c:showPercent val="0"/>
          <c:showBubbleSize val="0"/>
        </c:dLbls>
        <c:marker val="1"/>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txPr>
          <a:bodyPr/>
          <a:lstStyle/>
          <a:p>
            <a:pPr>
              <a:defRPr sz="700"/>
            </a:pPr>
            <a:endParaRPr lang="ja-JP"/>
          </a:p>
        </c:txPr>
        <c:crossAx val="20"/>
        <c:crosses val="autoZero"/>
        <c:auto val="1"/>
        <c:lblAlgn val="ctr"/>
        <c:lblOffset val="100"/>
        <c:noMultiLvlLbl val="0"/>
      </c:catAx>
      <c:valAx>
        <c:axId val="20"/>
        <c:scaling>
          <c:orientation val="minMax"/>
          <c:max val="1.5"/>
          <c:min val="-1.5"/>
        </c:scaling>
        <c:delete val="0"/>
        <c:axPos val="l"/>
        <c:title>
          <c:tx>
            <c:rich>
              <a:bodyPr rot="-5400000" vert="horz"/>
              <a:lstStyle/>
              <a:p>
                <a:pPr>
                  <a:defRPr sz="900" b="0"/>
                </a:pPr>
                <a:r>
                  <a:rPr lang="ja-JP" sz="900" b="0"/>
                  <a:t>1時間平均の吸気温度差［℃］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barChart>
        <c:barDir val="col"/>
        <c:grouping val="clustered"/>
        <c:varyColors val="0"/>
        <c:ser>
          <c:idx val="0"/>
          <c:order val="0"/>
          <c:tx>
            <c:strRef>
              <c:f>'図13_分析5_風速'!$W$1</c:f>
              <c:strCache>
                <c:ptCount val="1"/>
                <c:pt idx="0">
                  <c:v>箱（0より下）</c:v>
                </c:pt>
              </c:strCache>
            </c:strRef>
          </c:tx>
          <c:spPr>
            <a:solidFill>
              <a:srgbClr val="118DFF"/>
            </a:solidFill>
            <a:ln>
              <a:noFill/>
            </a:ln>
          </c:spPr>
          <c:invertIfNegative val="0"/>
          <c:cat>
            <c:strRef>
              <c:f>'図13_分析5_風速'!$A$2:$A$5</c:f>
              <c:strCache>
                <c:ptCount val="4"/>
                <c:pt idx="0">
                  <c:v>区分1（1.0m/s未満）</c:v>
                </c:pt>
                <c:pt idx="1">
                  <c:v>区分2（1.0〜2.0）</c:v>
                </c:pt>
                <c:pt idx="2">
                  <c:v>区分3（2.0〜3.0）</c:v>
                </c:pt>
                <c:pt idx="3">
                  <c:v>区分4（3.0m/s以上）</c:v>
                </c:pt>
              </c:strCache>
            </c:strRef>
          </c:cat>
          <c:val>
            <c:numRef>
              <c:f>'図13_分析5_風速'!$W$2:$W$5</c:f>
              <c:numCache>
                <c:formatCode>General</c:formatCode>
                <c:ptCount val="4"/>
                <c:pt idx="0">
                  <c:v>-0.33200000000000002</c:v>
                </c:pt>
                <c:pt idx="1">
                  <c:v>-0.46899999999999997</c:v>
                </c:pt>
                <c:pt idx="2">
                  <c:v>-0.46</c:v>
                </c:pt>
                <c:pt idx="3">
                  <c:v>-0.48099999999999998</c:v>
                </c:pt>
              </c:numCache>
            </c:numRef>
          </c:val>
          <c:extLst>
            <c:ext xmlns:c16="http://schemas.microsoft.com/office/drawing/2014/chart" uri="{C3380CC4-5D6E-409C-BE32-E72D297353CC}">
              <c16:uniqueId val="{00000000-8044-724C-9489-7028D10188ED}"/>
            </c:ext>
          </c:extLst>
        </c:ser>
        <c:ser>
          <c:idx val="1"/>
          <c:order val="1"/>
          <c:tx>
            <c:strRef>
              <c:f>'図13_分析5_風速'!$X$1</c:f>
              <c:strCache>
                <c:ptCount val="1"/>
                <c:pt idx="0">
                  <c:v>箱（0より上）</c:v>
                </c:pt>
              </c:strCache>
            </c:strRef>
          </c:tx>
          <c:spPr>
            <a:solidFill>
              <a:srgbClr val="118DFF"/>
            </a:solidFill>
            <a:ln>
              <a:noFill/>
            </a:ln>
          </c:spPr>
          <c:invertIfNegative val="0"/>
          <c:cat>
            <c:strRef>
              <c:f>'図13_分析5_風速'!$A$2:$A$5</c:f>
              <c:strCache>
                <c:ptCount val="4"/>
                <c:pt idx="0">
                  <c:v>区分1（1.0m/s未満）</c:v>
                </c:pt>
                <c:pt idx="1">
                  <c:v>区分2（1.0〜2.0）</c:v>
                </c:pt>
                <c:pt idx="2">
                  <c:v>区分3（2.0〜3.0）</c:v>
                </c:pt>
                <c:pt idx="3">
                  <c:v>区分4（3.0m/s以上）</c:v>
                </c:pt>
              </c:strCache>
            </c:strRef>
          </c:cat>
          <c:val>
            <c:numRef>
              <c:f>'図13_分析5_風速'!$X$2:$X$5</c:f>
              <c:numCache>
                <c:formatCode>General</c:formatCode>
                <c:ptCount val="4"/>
                <c:pt idx="2">
                  <c:v>7.5999999999999998E-2</c:v>
                </c:pt>
              </c:numCache>
            </c:numRef>
          </c:val>
          <c:extLst>
            <c:ext xmlns:c16="http://schemas.microsoft.com/office/drawing/2014/chart" uri="{C3380CC4-5D6E-409C-BE32-E72D297353CC}">
              <c16:uniqueId val="{00000001-8044-724C-9489-7028D10188ED}"/>
            </c:ext>
          </c:extLst>
        </c:ser>
        <c:ser>
          <c:idx val="2"/>
          <c:order val="2"/>
          <c:tx>
            <c:strRef>
              <c:f>'図13_分析5_風速'!$Y$1</c:f>
              <c:strCache>
                <c:ptCount val="1"/>
                <c:pt idx="0">
                  <c:v>箱の外（白）</c:v>
                </c:pt>
              </c:strCache>
            </c:strRef>
          </c:tx>
          <c:spPr>
            <a:solidFill>
              <a:srgbClr val="FFFFFF"/>
            </a:solidFill>
            <a:ln>
              <a:noFill/>
            </a:ln>
          </c:spPr>
          <c:invertIfNegative val="0"/>
          <c:cat>
            <c:strRef>
              <c:f>'図13_分析5_風速'!$A$2:$A$5</c:f>
              <c:strCache>
                <c:ptCount val="4"/>
                <c:pt idx="0">
                  <c:v>区分1（1.0m/s未満）</c:v>
                </c:pt>
                <c:pt idx="1">
                  <c:v>区分2（1.0〜2.0）</c:v>
                </c:pt>
                <c:pt idx="2">
                  <c:v>区分3（2.0〜3.0）</c:v>
                </c:pt>
                <c:pt idx="3">
                  <c:v>区分4（3.0m/s以上）</c:v>
                </c:pt>
              </c:strCache>
            </c:strRef>
          </c:cat>
          <c:val>
            <c:numRef>
              <c:f>'図13_分析5_風速'!$Y$2:$Y$5</c:f>
              <c:numCache>
                <c:formatCode>General</c:formatCode>
                <c:ptCount val="4"/>
                <c:pt idx="0">
                  <c:v>-6.0999999999999999E-2</c:v>
                </c:pt>
                <c:pt idx="1">
                  <c:v>-3.1E-2</c:v>
                </c:pt>
                <c:pt idx="3">
                  <c:v>-8.6999999999999994E-2</c:v>
                </c:pt>
              </c:numCache>
            </c:numRef>
          </c:val>
          <c:extLst>
            <c:ext xmlns:c16="http://schemas.microsoft.com/office/drawing/2014/chart" uri="{C3380CC4-5D6E-409C-BE32-E72D297353CC}">
              <c16:uniqueId val="{00000002-8044-724C-9489-7028D10188ED}"/>
            </c:ext>
          </c:extLst>
        </c:ser>
        <c:dLbls>
          <c:showLegendKey val="0"/>
          <c:showVal val="0"/>
          <c:showCatName val="0"/>
          <c:showSerName val="0"/>
          <c:showPercent val="0"/>
          <c:showBubbleSize val="0"/>
        </c:dLbls>
        <c:gapWidth val="120"/>
        <c:overlap val="100"/>
        <c:axId val="10"/>
        <c:axId val="20"/>
      </c:barChart>
      <c:lineChart>
        <c:grouping val="standard"/>
        <c:varyColors val="0"/>
        <c:ser>
          <c:idx val="3"/>
          <c:order val="3"/>
          <c:tx>
            <c:strRef>
              <c:f>'図13_分析5_風速'!$R$1</c:f>
              <c:strCache>
                <c:ptCount val="1"/>
                <c:pt idx="0">
                  <c:v>中央値</c:v>
                </c:pt>
              </c:strCache>
            </c:strRef>
          </c:tx>
          <c:spPr>
            <a:ln>
              <a:noFill/>
            </a:ln>
          </c:spPr>
          <c:marker>
            <c:symbol val="dash"/>
            <c:size val="16"/>
            <c:spPr>
              <a:solidFill>
                <a:srgbClr val="FFFFFF"/>
              </a:solidFill>
              <a:ln w="9525" cap="rnd">
                <a:solidFill>
                  <a:srgbClr val="FFFFFF"/>
                </a:solidFill>
                <a:round/>
              </a:ln>
            </c:spPr>
          </c:marker>
          <c:errBars>
            <c:errDir val="y"/>
            <c:errBarType val="both"/>
            <c:errValType val="cust"/>
            <c:noEndCap val="0"/>
            <c:plus>
              <c:numRef>
                <c:f>'図13_分析5_風速'!$Z$2:$Z$5</c:f>
                <c:numCache>
                  <c:formatCode>General</c:formatCode>
                  <c:ptCount val="4"/>
                  <c:pt idx="0">
                    <c:v>0.33700000000000002</c:v>
                  </c:pt>
                  <c:pt idx="1">
                    <c:v>0.55700000000000005</c:v>
                  </c:pt>
                  <c:pt idx="2">
                    <c:v>0.83499999999999996</c:v>
                  </c:pt>
                  <c:pt idx="3">
                    <c:v>0.66700000000000004</c:v>
                  </c:pt>
                </c:numCache>
              </c:numRef>
            </c:plus>
            <c:minus>
              <c:numRef>
                <c:f>'図13_分析5_風速'!$AA$2:$AA$5</c:f>
                <c:numCache>
                  <c:formatCode>General</c:formatCode>
                  <c:ptCount val="4"/>
                  <c:pt idx="0">
                    <c:v>0.56899999999999995</c:v>
                  </c:pt>
                  <c:pt idx="1">
                    <c:v>0.80600000000000005</c:v>
                  </c:pt>
                  <c:pt idx="2">
                    <c:v>0.88200000000000001</c:v>
                  </c:pt>
                  <c:pt idx="3">
                    <c:v>0.76100000000000001</c:v>
                  </c:pt>
                </c:numCache>
              </c:numRef>
            </c:minus>
            <c:spPr>
              <a:ln w="15875" cap="rnd">
                <a:solidFill>
                  <a:srgbClr val="118DFF"/>
                </a:solidFill>
                <a:round/>
              </a:ln>
            </c:spPr>
          </c:errBars>
          <c:cat>
            <c:strRef>
              <c:f>'図13_分析5_風速'!$A$2:$A$5</c:f>
              <c:strCache>
                <c:ptCount val="4"/>
                <c:pt idx="0">
                  <c:v>区分1（1.0m/s未満）</c:v>
                </c:pt>
                <c:pt idx="1">
                  <c:v>区分2（1.0〜2.0）</c:v>
                </c:pt>
                <c:pt idx="2">
                  <c:v>区分3（2.0〜3.0）</c:v>
                </c:pt>
                <c:pt idx="3">
                  <c:v>区分4（3.0m/s以上）</c:v>
                </c:pt>
              </c:strCache>
            </c:strRef>
          </c:cat>
          <c:val>
            <c:numRef>
              <c:f>'図13_分析5_風速'!$R$2:$R$5</c:f>
              <c:numCache>
                <c:formatCode>General</c:formatCode>
                <c:ptCount val="4"/>
                <c:pt idx="0">
                  <c:v>-0.154</c:v>
                </c:pt>
                <c:pt idx="1">
                  <c:v>-0.25</c:v>
                </c:pt>
                <c:pt idx="2">
                  <c:v>-0.253</c:v>
                </c:pt>
                <c:pt idx="3">
                  <c:v>-0.20499999999999999</c:v>
                </c:pt>
              </c:numCache>
            </c:numRef>
          </c:val>
          <c:smooth val="0"/>
          <c:extLst>
            <c:ext xmlns:c16="http://schemas.microsoft.com/office/drawing/2014/chart" uri="{C3380CC4-5D6E-409C-BE32-E72D297353CC}">
              <c16:uniqueId val="{00000003-8044-724C-9489-7028D10188ED}"/>
            </c:ext>
          </c:extLst>
        </c:ser>
        <c:dLbls>
          <c:showLegendKey val="0"/>
          <c:showVal val="0"/>
          <c:showCatName val="0"/>
          <c:showSerName val="0"/>
          <c:showPercent val="0"/>
          <c:showBubbleSize val="0"/>
        </c:dLbls>
        <c:marker val="1"/>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txPr>
          <a:bodyPr/>
          <a:lstStyle/>
          <a:p>
            <a:pPr>
              <a:defRPr sz="700"/>
            </a:pPr>
            <a:endParaRPr lang="ja-JP"/>
          </a:p>
        </c:txPr>
        <c:crossAx val="20"/>
        <c:crosses val="autoZero"/>
        <c:auto val="1"/>
        <c:lblAlgn val="ctr"/>
        <c:lblOffset val="100"/>
        <c:noMultiLvlLbl val="0"/>
      </c:catAx>
      <c:valAx>
        <c:axId val="20"/>
        <c:scaling>
          <c:orientation val="minMax"/>
          <c:max val="1.5"/>
          <c:min val="-1.5"/>
        </c:scaling>
        <c:delete val="0"/>
        <c:axPos val="l"/>
        <c:title>
          <c:tx>
            <c:rich>
              <a:bodyPr rot="-5400000" vert="horz"/>
              <a:lstStyle/>
              <a:p>
                <a:pPr>
                  <a:defRPr sz="900" b="0"/>
                </a:pPr>
                <a:r>
                  <a:rPr lang="ja-JP" sz="900" b="0"/>
                  <a:t>1時間平均の吸気温度差［℃］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lineChart>
        <c:grouping val="standard"/>
        <c:varyColors val="0"/>
        <c:ser>
          <c:idx val="0"/>
          <c:order val="0"/>
          <c:tx>
            <c:strRef>
              <c:f>'図14_分析7_推移'!$C$1</c:f>
              <c:strCache>
                <c:ptCount val="1"/>
                <c:pt idx="0">
                  <c:v>列8（日中平均）</c:v>
                </c:pt>
              </c:strCache>
            </c:strRef>
          </c:tx>
          <c:spPr>
            <a:ln>
              <a:noFill/>
            </a:ln>
          </c:spPr>
          <c:marker>
            <c:symbol val="circle"/>
            <c:size val="4"/>
            <c:spPr>
              <a:solidFill>
                <a:srgbClr val="9FE3DB"/>
              </a:solidFill>
              <a:ln w="9525" cap="rnd">
                <a:solidFill>
                  <a:srgbClr val="9FE3DB"/>
                </a:solidFill>
                <a:round/>
              </a:ln>
            </c:spPr>
          </c:marker>
          <c:cat>
            <c:strRef>
              <c:f>'図14_分析7_推移'!$B$2:$B$48</c:f>
              <c:strCache>
                <c:ptCount val="47"/>
                <c:pt idx="0">
                  <c:v>07-30</c:v>
                </c:pt>
                <c:pt idx="7">
                  <c:v>08-06</c:v>
                </c:pt>
                <c:pt idx="14">
                  <c:v>08-13</c:v>
                </c:pt>
                <c:pt idx="21">
                  <c:v>08-20</c:v>
                </c:pt>
                <c:pt idx="28">
                  <c:v>08-27</c:v>
                </c:pt>
                <c:pt idx="35">
                  <c:v>09-03</c:v>
                </c:pt>
                <c:pt idx="42">
                  <c:v>09-10</c:v>
                </c:pt>
              </c:strCache>
            </c:strRef>
          </c:cat>
          <c:val>
            <c:numRef>
              <c:f>'図14_分析7_推移'!$C$2:$C$48</c:f>
              <c:numCache>
                <c:formatCode>General</c:formatCode>
                <c:ptCount val="47"/>
                <c:pt idx="0">
                  <c:v>0.44900000000000001</c:v>
                </c:pt>
                <c:pt idx="1">
                  <c:v>0.41099999999999998</c:v>
                </c:pt>
                <c:pt idx="4">
                  <c:v>0.121</c:v>
                </c:pt>
                <c:pt idx="5">
                  <c:v>9.2999999999999999E-2</c:v>
                </c:pt>
                <c:pt idx="6">
                  <c:v>3.5999999999999997E-2</c:v>
                </c:pt>
                <c:pt idx="7">
                  <c:v>-7.2999999999999995E-2</c:v>
                </c:pt>
                <c:pt idx="8">
                  <c:v>-0.249</c:v>
                </c:pt>
                <c:pt idx="11">
                  <c:v>0.379</c:v>
                </c:pt>
                <c:pt idx="13">
                  <c:v>-0.14599999999999999</c:v>
                </c:pt>
                <c:pt idx="14">
                  <c:v>-0.32900000000000001</c:v>
                </c:pt>
                <c:pt idx="15">
                  <c:v>-0.121</c:v>
                </c:pt>
                <c:pt idx="18">
                  <c:v>-0.125</c:v>
                </c:pt>
                <c:pt idx="19">
                  <c:v>0.26500000000000001</c:v>
                </c:pt>
                <c:pt idx="20">
                  <c:v>0.25700000000000001</c:v>
                </c:pt>
                <c:pt idx="21">
                  <c:v>0.34</c:v>
                </c:pt>
                <c:pt idx="22">
                  <c:v>9.2999999999999999E-2</c:v>
                </c:pt>
                <c:pt idx="25">
                  <c:v>0.23699999999999999</c:v>
                </c:pt>
                <c:pt idx="26">
                  <c:v>0.311</c:v>
                </c:pt>
                <c:pt idx="27">
                  <c:v>0.47499999999999998</c:v>
                </c:pt>
                <c:pt idx="28">
                  <c:v>-0.28299999999999997</c:v>
                </c:pt>
                <c:pt idx="29">
                  <c:v>0.36599999999999999</c:v>
                </c:pt>
                <c:pt idx="32">
                  <c:v>-0.17899999999999999</c:v>
                </c:pt>
                <c:pt idx="33">
                  <c:v>-0.13300000000000001</c:v>
                </c:pt>
                <c:pt idx="34">
                  <c:v>-0.23899999999999999</c:v>
                </c:pt>
                <c:pt idx="35">
                  <c:v>-0.28799999999999998</c:v>
                </c:pt>
                <c:pt idx="36">
                  <c:v>-0.38800000000000001</c:v>
                </c:pt>
                <c:pt idx="39">
                  <c:v>-0.83499999999999996</c:v>
                </c:pt>
                <c:pt idx="40">
                  <c:v>-0.55300000000000005</c:v>
                </c:pt>
                <c:pt idx="41">
                  <c:v>-0.623</c:v>
                </c:pt>
                <c:pt idx="42">
                  <c:v>-0.749</c:v>
                </c:pt>
                <c:pt idx="43">
                  <c:v>-0.40100000000000002</c:v>
                </c:pt>
                <c:pt idx="46">
                  <c:v>-4.3999999999999997E-2</c:v>
                </c:pt>
              </c:numCache>
            </c:numRef>
          </c:val>
          <c:smooth val="0"/>
          <c:extLst>
            <c:ext xmlns:c16="http://schemas.microsoft.com/office/drawing/2014/chart" uri="{C3380CC4-5D6E-409C-BE32-E72D297353CC}">
              <c16:uniqueId val="{00000000-BF18-8E43-98DA-4FA109A78CDA}"/>
            </c:ext>
          </c:extLst>
        </c:ser>
        <c:ser>
          <c:idx val="1"/>
          <c:order val="1"/>
          <c:tx>
            <c:strRef>
              <c:f>'図14_分析7_推移'!$D$1</c:f>
              <c:strCache>
                <c:ptCount val="1"/>
                <c:pt idx="0">
                  <c:v>列8（7日間移動平均）</c:v>
                </c:pt>
              </c:strCache>
            </c:strRef>
          </c:tx>
          <c:spPr>
            <a:ln w="28575" cap="rnd">
              <a:solidFill>
                <a:srgbClr val="01B8AA"/>
              </a:solidFill>
              <a:round/>
            </a:ln>
          </c:spPr>
          <c:marker>
            <c:symbol val="none"/>
          </c:marker>
          <c:cat>
            <c:strRef>
              <c:f>'図14_分析7_推移'!$B$2:$B$48</c:f>
              <c:strCache>
                <c:ptCount val="47"/>
                <c:pt idx="0">
                  <c:v>07-30</c:v>
                </c:pt>
                <c:pt idx="7">
                  <c:v>08-06</c:v>
                </c:pt>
                <c:pt idx="14">
                  <c:v>08-13</c:v>
                </c:pt>
                <c:pt idx="21">
                  <c:v>08-20</c:v>
                </c:pt>
                <c:pt idx="28">
                  <c:v>08-27</c:v>
                </c:pt>
                <c:pt idx="35">
                  <c:v>09-03</c:v>
                </c:pt>
                <c:pt idx="42">
                  <c:v>09-10</c:v>
                </c:pt>
              </c:strCache>
            </c:strRef>
          </c:cat>
          <c:val>
            <c:numRef>
              <c:f>'図14_分析7_推移'!$D$2:$D$48</c:f>
              <c:numCache>
                <c:formatCode>General</c:formatCode>
                <c:ptCount val="47"/>
                <c:pt idx="1">
                  <c:v>0.32700000000000001</c:v>
                </c:pt>
                <c:pt idx="2">
                  <c:v>0.26800000000000002</c:v>
                </c:pt>
                <c:pt idx="3">
                  <c:v>0.222</c:v>
                </c:pt>
                <c:pt idx="4">
                  <c:v>0.11799999999999999</c:v>
                </c:pt>
                <c:pt idx="5">
                  <c:v>-1.4999999999999999E-2</c:v>
                </c:pt>
                <c:pt idx="6">
                  <c:v>-1.4999999999999999E-2</c:v>
                </c:pt>
                <c:pt idx="7">
                  <c:v>-1.4999999999999999E-2</c:v>
                </c:pt>
                <c:pt idx="8">
                  <c:v>3.6999999999999998E-2</c:v>
                </c:pt>
                <c:pt idx="9">
                  <c:v>2.3E-2</c:v>
                </c:pt>
                <c:pt idx="10">
                  <c:v>-2.1999999999999999E-2</c:v>
                </c:pt>
                <c:pt idx="11">
                  <c:v>-8.5999999999999993E-2</c:v>
                </c:pt>
                <c:pt idx="12">
                  <c:v>-5.3999999999999999E-2</c:v>
                </c:pt>
                <c:pt idx="13">
                  <c:v>-5.3999999999999999E-2</c:v>
                </c:pt>
                <c:pt idx="14">
                  <c:v>-5.3999999999999999E-2</c:v>
                </c:pt>
                <c:pt idx="15">
                  <c:v>-0.18</c:v>
                </c:pt>
                <c:pt idx="16">
                  <c:v>-9.0999999999999998E-2</c:v>
                </c:pt>
                <c:pt idx="17">
                  <c:v>-1.0999999999999999E-2</c:v>
                </c:pt>
                <c:pt idx="18">
                  <c:v>0.123</c:v>
                </c:pt>
                <c:pt idx="19">
                  <c:v>0.16600000000000001</c:v>
                </c:pt>
                <c:pt idx="20">
                  <c:v>0.16600000000000001</c:v>
                </c:pt>
                <c:pt idx="21">
                  <c:v>0.16600000000000001</c:v>
                </c:pt>
                <c:pt idx="22">
                  <c:v>0.23799999999999999</c:v>
                </c:pt>
                <c:pt idx="23">
                  <c:v>0.247</c:v>
                </c:pt>
                <c:pt idx="24">
                  <c:v>0.29099999999999998</c:v>
                </c:pt>
                <c:pt idx="25">
                  <c:v>0.16700000000000001</c:v>
                </c:pt>
                <c:pt idx="26">
                  <c:v>0.221</c:v>
                </c:pt>
                <c:pt idx="27">
                  <c:v>0.221</c:v>
                </c:pt>
                <c:pt idx="28">
                  <c:v>0.221</c:v>
                </c:pt>
                <c:pt idx="29">
                  <c:v>0.13800000000000001</c:v>
                </c:pt>
                <c:pt idx="30">
                  <c:v>4.9000000000000002E-2</c:v>
                </c:pt>
                <c:pt idx="31">
                  <c:v>-9.2999999999999999E-2</c:v>
                </c:pt>
                <c:pt idx="32">
                  <c:v>-9.4E-2</c:v>
                </c:pt>
                <c:pt idx="33">
                  <c:v>-0.245</c:v>
                </c:pt>
                <c:pt idx="34">
                  <c:v>-0.245</c:v>
                </c:pt>
                <c:pt idx="35">
                  <c:v>-0.245</c:v>
                </c:pt>
                <c:pt idx="36">
                  <c:v>-0.376</c:v>
                </c:pt>
                <c:pt idx="37">
                  <c:v>-0.46</c:v>
                </c:pt>
                <c:pt idx="38">
                  <c:v>-0.53700000000000003</c:v>
                </c:pt>
                <c:pt idx="39">
                  <c:v>-0.63</c:v>
                </c:pt>
                <c:pt idx="40">
                  <c:v>-0.63200000000000001</c:v>
                </c:pt>
                <c:pt idx="41">
                  <c:v>-0.63200000000000001</c:v>
                </c:pt>
                <c:pt idx="42">
                  <c:v>-0.63200000000000001</c:v>
                </c:pt>
                <c:pt idx="43">
                  <c:v>-0.47399999999999998</c:v>
                </c:pt>
                <c:pt idx="44">
                  <c:v>-0.45400000000000001</c:v>
                </c:pt>
                <c:pt idx="45">
                  <c:v>-0.39800000000000002</c:v>
                </c:pt>
              </c:numCache>
            </c:numRef>
          </c:val>
          <c:smooth val="0"/>
          <c:extLst>
            <c:ext xmlns:c16="http://schemas.microsoft.com/office/drawing/2014/chart" uri="{C3380CC4-5D6E-409C-BE32-E72D297353CC}">
              <c16:uniqueId val="{00000001-BF18-8E43-98DA-4FA109A78CDA}"/>
            </c:ext>
          </c:extLst>
        </c:ser>
        <c:ser>
          <c:idx val="2"/>
          <c:order val="2"/>
          <c:tx>
            <c:strRef>
              <c:f>'図14_分析7_推移'!$E$1</c:f>
              <c:strCache>
                <c:ptCount val="1"/>
                <c:pt idx="0">
                  <c:v>列11（日中平均）</c:v>
                </c:pt>
              </c:strCache>
            </c:strRef>
          </c:tx>
          <c:spPr>
            <a:ln>
              <a:noFill/>
            </a:ln>
          </c:spPr>
          <c:marker>
            <c:symbol val="circle"/>
            <c:size val="4"/>
            <c:spPr>
              <a:solidFill>
                <a:srgbClr val="A8D3FF"/>
              </a:solidFill>
              <a:ln w="9525" cap="rnd">
                <a:solidFill>
                  <a:srgbClr val="A8D3FF"/>
                </a:solidFill>
                <a:round/>
              </a:ln>
            </c:spPr>
          </c:marker>
          <c:cat>
            <c:strRef>
              <c:f>'図14_分析7_推移'!$B$2:$B$48</c:f>
              <c:strCache>
                <c:ptCount val="47"/>
                <c:pt idx="0">
                  <c:v>07-30</c:v>
                </c:pt>
                <c:pt idx="7">
                  <c:v>08-06</c:v>
                </c:pt>
                <c:pt idx="14">
                  <c:v>08-13</c:v>
                </c:pt>
                <c:pt idx="21">
                  <c:v>08-20</c:v>
                </c:pt>
                <c:pt idx="28">
                  <c:v>08-27</c:v>
                </c:pt>
                <c:pt idx="35">
                  <c:v>09-03</c:v>
                </c:pt>
                <c:pt idx="42">
                  <c:v>09-10</c:v>
                </c:pt>
              </c:strCache>
            </c:strRef>
          </c:cat>
          <c:val>
            <c:numRef>
              <c:f>'図14_分析7_推移'!$E$2:$E$48</c:f>
              <c:numCache>
                <c:formatCode>General</c:formatCode>
                <c:ptCount val="47"/>
                <c:pt idx="0">
                  <c:v>7.0000000000000007E-2</c:v>
                </c:pt>
                <c:pt idx="1">
                  <c:v>5.0000000000000001E-3</c:v>
                </c:pt>
                <c:pt idx="4">
                  <c:v>-5.0999999999999997E-2</c:v>
                </c:pt>
                <c:pt idx="5">
                  <c:v>-0.122</c:v>
                </c:pt>
                <c:pt idx="6">
                  <c:v>-0.11700000000000001</c:v>
                </c:pt>
                <c:pt idx="7">
                  <c:v>-0.24</c:v>
                </c:pt>
                <c:pt idx="8">
                  <c:v>-0.69199999999999995</c:v>
                </c:pt>
                <c:pt idx="11">
                  <c:v>-7.2999999999999995E-2</c:v>
                </c:pt>
                <c:pt idx="13">
                  <c:v>-0.40799999999999997</c:v>
                </c:pt>
                <c:pt idx="14">
                  <c:v>-0.64500000000000002</c:v>
                </c:pt>
                <c:pt idx="15">
                  <c:v>-0.23899999999999999</c:v>
                </c:pt>
                <c:pt idx="18">
                  <c:v>-0.28599999999999998</c:v>
                </c:pt>
                <c:pt idx="19">
                  <c:v>-7.2999999999999995E-2</c:v>
                </c:pt>
                <c:pt idx="20">
                  <c:v>-5.1999999999999998E-2</c:v>
                </c:pt>
                <c:pt idx="21">
                  <c:v>-0.10299999999999999</c:v>
                </c:pt>
                <c:pt idx="22">
                  <c:v>-0.33600000000000002</c:v>
                </c:pt>
                <c:pt idx="25">
                  <c:v>-0.218</c:v>
                </c:pt>
                <c:pt idx="26">
                  <c:v>-0.14599999999999999</c:v>
                </c:pt>
                <c:pt idx="27">
                  <c:v>0.111</c:v>
                </c:pt>
                <c:pt idx="28">
                  <c:v>-0.192</c:v>
                </c:pt>
                <c:pt idx="29">
                  <c:v>6.0999999999999999E-2</c:v>
                </c:pt>
                <c:pt idx="32">
                  <c:v>-0.192</c:v>
                </c:pt>
                <c:pt idx="33">
                  <c:v>-0.122</c:v>
                </c:pt>
                <c:pt idx="34">
                  <c:v>-0.34699999999999998</c:v>
                </c:pt>
                <c:pt idx="35">
                  <c:v>-0.376</c:v>
                </c:pt>
                <c:pt idx="36">
                  <c:v>-0.22500000000000001</c:v>
                </c:pt>
                <c:pt idx="39">
                  <c:v>-0.92700000000000005</c:v>
                </c:pt>
                <c:pt idx="40">
                  <c:v>-0.39200000000000002</c:v>
                </c:pt>
                <c:pt idx="41">
                  <c:v>-0.61799999999999999</c:v>
                </c:pt>
                <c:pt idx="42">
                  <c:v>-0.68600000000000005</c:v>
                </c:pt>
                <c:pt idx="43">
                  <c:v>-0.436</c:v>
                </c:pt>
                <c:pt idx="46">
                  <c:v>-0.39800000000000002</c:v>
                </c:pt>
              </c:numCache>
            </c:numRef>
          </c:val>
          <c:smooth val="0"/>
          <c:extLst>
            <c:ext xmlns:c16="http://schemas.microsoft.com/office/drawing/2014/chart" uri="{C3380CC4-5D6E-409C-BE32-E72D297353CC}">
              <c16:uniqueId val="{00000002-BF18-8E43-98DA-4FA109A78CDA}"/>
            </c:ext>
          </c:extLst>
        </c:ser>
        <c:ser>
          <c:idx val="3"/>
          <c:order val="3"/>
          <c:tx>
            <c:strRef>
              <c:f>'図14_分析7_推移'!$F$1</c:f>
              <c:strCache>
                <c:ptCount val="1"/>
                <c:pt idx="0">
                  <c:v>列11（7日間移動平均）</c:v>
                </c:pt>
              </c:strCache>
            </c:strRef>
          </c:tx>
          <c:spPr>
            <a:ln w="28575" cap="rnd">
              <a:solidFill>
                <a:srgbClr val="118DFF"/>
              </a:solidFill>
              <a:round/>
            </a:ln>
          </c:spPr>
          <c:marker>
            <c:symbol val="none"/>
          </c:marker>
          <c:cat>
            <c:strRef>
              <c:f>'図14_分析7_推移'!$B$2:$B$48</c:f>
              <c:strCache>
                <c:ptCount val="47"/>
                <c:pt idx="0">
                  <c:v>07-30</c:v>
                </c:pt>
                <c:pt idx="7">
                  <c:v>08-06</c:v>
                </c:pt>
                <c:pt idx="14">
                  <c:v>08-13</c:v>
                </c:pt>
                <c:pt idx="21">
                  <c:v>08-20</c:v>
                </c:pt>
                <c:pt idx="28">
                  <c:v>08-27</c:v>
                </c:pt>
                <c:pt idx="35">
                  <c:v>09-03</c:v>
                </c:pt>
                <c:pt idx="42">
                  <c:v>09-10</c:v>
                </c:pt>
              </c:strCache>
            </c:strRef>
          </c:cat>
          <c:val>
            <c:numRef>
              <c:f>'図14_分析7_推移'!$F$2:$F$48</c:f>
              <c:numCache>
                <c:formatCode>General</c:formatCode>
                <c:ptCount val="47"/>
                <c:pt idx="1">
                  <c:v>8.0000000000000002E-3</c:v>
                </c:pt>
                <c:pt idx="2">
                  <c:v>-2.4E-2</c:v>
                </c:pt>
                <c:pt idx="3">
                  <c:v>-4.2999999999999997E-2</c:v>
                </c:pt>
                <c:pt idx="4">
                  <c:v>-0.105</c:v>
                </c:pt>
                <c:pt idx="5">
                  <c:v>-0.24399999999999999</c:v>
                </c:pt>
                <c:pt idx="6">
                  <c:v>-0.24399999999999999</c:v>
                </c:pt>
                <c:pt idx="7">
                  <c:v>-0.24399999999999999</c:v>
                </c:pt>
                <c:pt idx="8">
                  <c:v>-0.249</c:v>
                </c:pt>
                <c:pt idx="9">
                  <c:v>-0.28100000000000003</c:v>
                </c:pt>
                <c:pt idx="10">
                  <c:v>-0.35299999999999998</c:v>
                </c:pt>
                <c:pt idx="11">
                  <c:v>-0.45400000000000001</c:v>
                </c:pt>
                <c:pt idx="12">
                  <c:v>-0.34100000000000003</c:v>
                </c:pt>
                <c:pt idx="13">
                  <c:v>-0.34100000000000003</c:v>
                </c:pt>
                <c:pt idx="14">
                  <c:v>-0.34100000000000003</c:v>
                </c:pt>
                <c:pt idx="15">
                  <c:v>-0.39400000000000002</c:v>
                </c:pt>
                <c:pt idx="16">
                  <c:v>-0.33</c:v>
                </c:pt>
                <c:pt idx="17">
                  <c:v>-0.25900000000000001</c:v>
                </c:pt>
                <c:pt idx="18">
                  <c:v>-0.15</c:v>
                </c:pt>
                <c:pt idx="19">
                  <c:v>-0.17</c:v>
                </c:pt>
                <c:pt idx="20">
                  <c:v>-0.17</c:v>
                </c:pt>
                <c:pt idx="21">
                  <c:v>-0.17</c:v>
                </c:pt>
                <c:pt idx="22">
                  <c:v>-0.156</c:v>
                </c:pt>
                <c:pt idx="23">
                  <c:v>-0.17100000000000001</c:v>
                </c:pt>
                <c:pt idx="24">
                  <c:v>-0.13900000000000001</c:v>
                </c:pt>
                <c:pt idx="25">
                  <c:v>-0.156</c:v>
                </c:pt>
                <c:pt idx="26">
                  <c:v>-7.6999999999999999E-2</c:v>
                </c:pt>
                <c:pt idx="27">
                  <c:v>-7.6999999999999999E-2</c:v>
                </c:pt>
                <c:pt idx="28">
                  <c:v>-7.6999999999999999E-2</c:v>
                </c:pt>
                <c:pt idx="29">
                  <c:v>-7.1999999999999995E-2</c:v>
                </c:pt>
                <c:pt idx="30">
                  <c:v>-6.7000000000000004E-2</c:v>
                </c:pt>
                <c:pt idx="31">
                  <c:v>-0.158</c:v>
                </c:pt>
                <c:pt idx="32">
                  <c:v>-0.19500000000000001</c:v>
                </c:pt>
                <c:pt idx="33">
                  <c:v>-0.252</c:v>
                </c:pt>
                <c:pt idx="34">
                  <c:v>-0.252</c:v>
                </c:pt>
                <c:pt idx="35">
                  <c:v>-0.252</c:v>
                </c:pt>
                <c:pt idx="36">
                  <c:v>-0.39900000000000002</c:v>
                </c:pt>
                <c:pt idx="37">
                  <c:v>-0.45300000000000001</c:v>
                </c:pt>
                <c:pt idx="38">
                  <c:v>-0.50800000000000001</c:v>
                </c:pt>
                <c:pt idx="39">
                  <c:v>-0.56999999999999995</c:v>
                </c:pt>
                <c:pt idx="40">
                  <c:v>-0.61199999999999999</c:v>
                </c:pt>
                <c:pt idx="41">
                  <c:v>-0.61199999999999999</c:v>
                </c:pt>
                <c:pt idx="42">
                  <c:v>-0.61199999999999999</c:v>
                </c:pt>
                <c:pt idx="43">
                  <c:v>-0.50600000000000001</c:v>
                </c:pt>
                <c:pt idx="44">
                  <c:v>-0.53500000000000003</c:v>
                </c:pt>
                <c:pt idx="45">
                  <c:v>-0.50700000000000001</c:v>
                </c:pt>
              </c:numCache>
            </c:numRef>
          </c:val>
          <c:smooth val="0"/>
          <c:extLst>
            <c:ext xmlns:c16="http://schemas.microsoft.com/office/drawing/2014/chart" uri="{C3380CC4-5D6E-409C-BE32-E72D297353CC}">
              <c16:uniqueId val="{00000003-BF18-8E43-98DA-4FA109A78CDA}"/>
            </c:ext>
          </c:extLst>
        </c:ser>
        <c:dLbls>
          <c:showLegendKey val="0"/>
          <c:showVal val="0"/>
          <c:showCatName val="0"/>
          <c:showSerName val="0"/>
          <c:showPercent val="0"/>
          <c:showBubbleSize val="0"/>
        </c:dLbls>
        <c:marker val="1"/>
        <c:smooth val="0"/>
        <c:axId val="10"/>
        <c:axId val="20"/>
      </c:lineChart>
      <c:catAx>
        <c:axId val="10"/>
        <c:scaling>
          <c:orientation val="minMax"/>
        </c:scaling>
        <c:delete val="0"/>
        <c:axPos val="b"/>
        <c:numFmt formatCode="General" sourceLinked="1"/>
        <c:majorTickMark val="out"/>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0.6"/>
          <c:min val="-1"/>
        </c:scaling>
        <c:delete val="0"/>
        <c:axPos val="l"/>
        <c:majorGridlines>
          <c:spPr>
            <a:ln w="9525" cap="rnd">
              <a:solidFill>
                <a:srgbClr val="E3E7EC"/>
              </a:solidFill>
              <a:round/>
            </a:ln>
          </c:spPr>
        </c:majorGridlines>
        <c:title>
          <c:tx>
            <c:rich>
              <a:bodyPr rot="-5400000" vert="horz"/>
              <a:lstStyle/>
              <a:p>
                <a:pPr>
                  <a:defRPr sz="900" b="0"/>
                </a:pPr>
                <a:r>
                  <a:rPr lang="ja-JP" sz="900" b="0"/>
                  <a:t>日中平均の吸気温度差［℃］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2"/>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
          <c:y val="0.25"/>
          <c:w val="0.76"/>
          <c:h val="0.55000000000000004"/>
        </c:manualLayout>
      </c:layout>
      <c:lineChart>
        <c:grouping val="standard"/>
        <c:varyColors val="0"/>
        <c:ser>
          <c:idx val="0"/>
          <c:order val="0"/>
          <c:tx>
            <c:strRef>
              <c:f>'図15_分析8_晴れと曇り'!$C$1</c:f>
              <c:strCache>
                <c:ptCount val="1"/>
                <c:pt idx="0">
                  <c:v>屋上の気温</c:v>
                </c:pt>
              </c:strCache>
            </c:strRef>
          </c:tx>
          <c:spPr>
            <a:ln w="15875" cap="rnd">
              <a:solidFill>
                <a:srgbClr val="ED7D31"/>
              </a:solidFill>
              <a:round/>
            </a:ln>
          </c:spPr>
          <c:marker>
            <c:symbol val="none"/>
          </c:marker>
          <c:cat>
            <c:strRef>
              <c:f>'図15_分析8_晴れと曇り'!$B$2:$B$145</c:f>
              <c:strCache>
                <c:ptCount val="144"/>
                <c:pt idx="0">
                  <c:v>0:00</c:v>
                </c:pt>
                <c:pt idx="18">
                  <c:v>3:00</c:v>
                </c:pt>
                <c:pt idx="36">
                  <c:v>6:00</c:v>
                </c:pt>
                <c:pt idx="54">
                  <c:v>9:00</c:v>
                </c:pt>
                <c:pt idx="72">
                  <c:v>12:00</c:v>
                </c:pt>
                <c:pt idx="90">
                  <c:v>15:00</c:v>
                </c:pt>
                <c:pt idx="108">
                  <c:v>18:00</c:v>
                </c:pt>
                <c:pt idx="126">
                  <c:v>21:00</c:v>
                </c:pt>
              </c:strCache>
            </c:strRef>
          </c:cat>
          <c:val>
            <c:numRef>
              <c:f>'図15_分析8_晴れと曇り'!$C$2:$C$145</c:f>
              <c:numCache>
                <c:formatCode>General</c:formatCode>
                <c:ptCount val="144"/>
                <c:pt idx="0">
                  <c:v>26.5</c:v>
                </c:pt>
                <c:pt idx="1">
                  <c:v>26.5</c:v>
                </c:pt>
                <c:pt idx="2">
                  <c:v>26.42</c:v>
                </c:pt>
                <c:pt idx="3">
                  <c:v>26.4</c:v>
                </c:pt>
                <c:pt idx="4">
                  <c:v>26.4</c:v>
                </c:pt>
                <c:pt idx="5">
                  <c:v>26.43</c:v>
                </c:pt>
                <c:pt idx="6">
                  <c:v>26.43</c:v>
                </c:pt>
                <c:pt idx="7">
                  <c:v>26.41</c:v>
                </c:pt>
                <c:pt idx="8">
                  <c:v>26.32</c:v>
                </c:pt>
                <c:pt idx="9">
                  <c:v>26.33</c:v>
                </c:pt>
                <c:pt idx="10">
                  <c:v>26.39</c:v>
                </c:pt>
                <c:pt idx="11">
                  <c:v>26.3</c:v>
                </c:pt>
                <c:pt idx="12">
                  <c:v>26.3</c:v>
                </c:pt>
                <c:pt idx="13">
                  <c:v>26.3</c:v>
                </c:pt>
                <c:pt idx="14">
                  <c:v>26.26</c:v>
                </c:pt>
                <c:pt idx="15">
                  <c:v>26.2</c:v>
                </c:pt>
                <c:pt idx="16">
                  <c:v>26.1</c:v>
                </c:pt>
                <c:pt idx="17">
                  <c:v>25.93</c:v>
                </c:pt>
                <c:pt idx="18">
                  <c:v>25.9</c:v>
                </c:pt>
                <c:pt idx="19">
                  <c:v>25.88</c:v>
                </c:pt>
                <c:pt idx="20">
                  <c:v>25.9</c:v>
                </c:pt>
                <c:pt idx="21">
                  <c:v>25.9</c:v>
                </c:pt>
                <c:pt idx="22">
                  <c:v>25.9</c:v>
                </c:pt>
                <c:pt idx="23">
                  <c:v>25.9</c:v>
                </c:pt>
                <c:pt idx="24">
                  <c:v>25.9</c:v>
                </c:pt>
                <c:pt idx="25">
                  <c:v>25.81</c:v>
                </c:pt>
                <c:pt idx="26">
                  <c:v>25.81</c:v>
                </c:pt>
                <c:pt idx="27">
                  <c:v>25.83</c:v>
                </c:pt>
                <c:pt idx="28">
                  <c:v>25.81</c:v>
                </c:pt>
                <c:pt idx="29">
                  <c:v>25.8</c:v>
                </c:pt>
                <c:pt idx="30">
                  <c:v>25.72</c:v>
                </c:pt>
                <c:pt idx="31">
                  <c:v>25.7</c:v>
                </c:pt>
                <c:pt idx="32">
                  <c:v>25.74</c:v>
                </c:pt>
                <c:pt idx="33">
                  <c:v>25.85</c:v>
                </c:pt>
                <c:pt idx="34">
                  <c:v>26.05</c:v>
                </c:pt>
                <c:pt idx="35">
                  <c:v>26.1</c:v>
                </c:pt>
                <c:pt idx="36">
                  <c:v>26.01</c:v>
                </c:pt>
                <c:pt idx="37">
                  <c:v>26.2</c:v>
                </c:pt>
                <c:pt idx="38">
                  <c:v>26.36</c:v>
                </c:pt>
                <c:pt idx="39">
                  <c:v>26.44</c:v>
                </c:pt>
                <c:pt idx="40">
                  <c:v>26.63</c:v>
                </c:pt>
                <c:pt idx="41">
                  <c:v>26.93</c:v>
                </c:pt>
                <c:pt idx="42">
                  <c:v>27.25</c:v>
                </c:pt>
                <c:pt idx="43">
                  <c:v>27.52</c:v>
                </c:pt>
                <c:pt idx="44">
                  <c:v>27.59</c:v>
                </c:pt>
                <c:pt idx="45">
                  <c:v>27.61</c:v>
                </c:pt>
                <c:pt idx="46">
                  <c:v>27.81</c:v>
                </c:pt>
                <c:pt idx="47">
                  <c:v>28.17</c:v>
                </c:pt>
                <c:pt idx="48">
                  <c:v>28.2</c:v>
                </c:pt>
                <c:pt idx="49">
                  <c:v>28.53</c:v>
                </c:pt>
                <c:pt idx="50">
                  <c:v>28.82</c:v>
                </c:pt>
                <c:pt idx="51">
                  <c:v>29.36</c:v>
                </c:pt>
                <c:pt idx="52">
                  <c:v>28.87</c:v>
                </c:pt>
                <c:pt idx="53">
                  <c:v>29.05</c:v>
                </c:pt>
                <c:pt idx="54">
                  <c:v>29.06</c:v>
                </c:pt>
                <c:pt idx="55">
                  <c:v>29.13</c:v>
                </c:pt>
                <c:pt idx="56">
                  <c:v>29.01</c:v>
                </c:pt>
                <c:pt idx="57">
                  <c:v>28.88</c:v>
                </c:pt>
                <c:pt idx="58">
                  <c:v>28.98</c:v>
                </c:pt>
                <c:pt idx="59">
                  <c:v>29.11</c:v>
                </c:pt>
                <c:pt idx="60">
                  <c:v>29.4</c:v>
                </c:pt>
                <c:pt idx="61">
                  <c:v>29.39</c:v>
                </c:pt>
                <c:pt idx="62">
                  <c:v>30.26</c:v>
                </c:pt>
                <c:pt idx="63">
                  <c:v>30.75</c:v>
                </c:pt>
                <c:pt idx="64">
                  <c:v>31.85</c:v>
                </c:pt>
                <c:pt idx="65">
                  <c:v>31.92</c:v>
                </c:pt>
                <c:pt idx="66">
                  <c:v>31.95</c:v>
                </c:pt>
                <c:pt idx="67">
                  <c:v>31.97</c:v>
                </c:pt>
                <c:pt idx="68">
                  <c:v>32.36</c:v>
                </c:pt>
                <c:pt idx="69">
                  <c:v>32.11</c:v>
                </c:pt>
                <c:pt idx="70">
                  <c:v>32.64</c:v>
                </c:pt>
                <c:pt idx="71">
                  <c:v>32.49</c:v>
                </c:pt>
                <c:pt idx="72">
                  <c:v>32.6</c:v>
                </c:pt>
                <c:pt idx="73">
                  <c:v>32.840000000000003</c:v>
                </c:pt>
                <c:pt idx="74">
                  <c:v>33.119999999999997</c:v>
                </c:pt>
                <c:pt idx="75">
                  <c:v>32.49</c:v>
                </c:pt>
                <c:pt idx="76">
                  <c:v>32.93</c:v>
                </c:pt>
                <c:pt idx="77">
                  <c:v>33.090000000000003</c:v>
                </c:pt>
                <c:pt idx="78">
                  <c:v>33.369999999999997</c:v>
                </c:pt>
                <c:pt idx="79">
                  <c:v>33.1</c:v>
                </c:pt>
                <c:pt idx="80">
                  <c:v>33.33</c:v>
                </c:pt>
                <c:pt idx="81">
                  <c:v>33.590000000000003</c:v>
                </c:pt>
                <c:pt idx="82">
                  <c:v>33.75</c:v>
                </c:pt>
                <c:pt idx="83">
                  <c:v>33.78</c:v>
                </c:pt>
                <c:pt idx="84">
                  <c:v>33.380000000000003</c:v>
                </c:pt>
                <c:pt idx="85">
                  <c:v>33.56</c:v>
                </c:pt>
                <c:pt idx="86">
                  <c:v>33.57</c:v>
                </c:pt>
                <c:pt idx="87">
                  <c:v>32.659999999999997</c:v>
                </c:pt>
                <c:pt idx="88">
                  <c:v>32.729999999999997</c:v>
                </c:pt>
                <c:pt idx="89">
                  <c:v>32.6</c:v>
                </c:pt>
                <c:pt idx="90">
                  <c:v>32.409999999999997</c:v>
                </c:pt>
                <c:pt idx="91">
                  <c:v>32.11</c:v>
                </c:pt>
                <c:pt idx="92">
                  <c:v>32.33</c:v>
                </c:pt>
                <c:pt idx="93">
                  <c:v>32.24</c:v>
                </c:pt>
                <c:pt idx="94">
                  <c:v>32.33</c:v>
                </c:pt>
                <c:pt idx="95">
                  <c:v>32.200000000000003</c:v>
                </c:pt>
                <c:pt idx="96">
                  <c:v>31.85</c:v>
                </c:pt>
                <c:pt idx="97">
                  <c:v>31.59</c:v>
                </c:pt>
                <c:pt idx="98">
                  <c:v>31.25</c:v>
                </c:pt>
                <c:pt idx="99">
                  <c:v>31.28</c:v>
                </c:pt>
                <c:pt idx="100">
                  <c:v>30.89</c:v>
                </c:pt>
                <c:pt idx="101">
                  <c:v>30.3</c:v>
                </c:pt>
                <c:pt idx="102">
                  <c:v>30.02</c:v>
                </c:pt>
                <c:pt idx="103">
                  <c:v>29.63</c:v>
                </c:pt>
                <c:pt idx="104">
                  <c:v>29.85</c:v>
                </c:pt>
                <c:pt idx="105">
                  <c:v>29.93</c:v>
                </c:pt>
                <c:pt idx="106">
                  <c:v>29.65</c:v>
                </c:pt>
                <c:pt idx="107">
                  <c:v>29.48</c:v>
                </c:pt>
                <c:pt idx="108">
                  <c:v>29.42</c:v>
                </c:pt>
                <c:pt idx="109">
                  <c:v>29.28</c:v>
                </c:pt>
                <c:pt idx="110">
                  <c:v>29.3</c:v>
                </c:pt>
                <c:pt idx="111">
                  <c:v>29.34</c:v>
                </c:pt>
                <c:pt idx="112">
                  <c:v>29.17</c:v>
                </c:pt>
                <c:pt idx="113">
                  <c:v>29.13</c:v>
                </c:pt>
                <c:pt idx="114">
                  <c:v>29.02</c:v>
                </c:pt>
                <c:pt idx="115">
                  <c:v>29.1</c:v>
                </c:pt>
                <c:pt idx="116">
                  <c:v>29.03</c:v>
                </c:pt>
                <c:pt idx="117">
                  <c:v>28.7</c:v>
                </c:pt>
                <c:pt idx="118">
                  <c:v>28.73</c:v>
                </c:pt>
                <c:pt idx="119">
                  <c:v>28.78</c:v>
                </c:pt>
                <c:pt idx="120">
                  <c:v>28.51</c:v>
                </c:pt>
                <c:pt idx="121">
                  <c:v>28.3</c:v>
                </c:pt>
                <c:pt idx="122">
                  <c:v>28.21</c:v>
                </c:pt>
                <c:pt idx="123">
                  <c:v>28.17</c:v>
                </c:pt>
                <c:pt idx="124">
                  <c:v>28.07</c:v>
                </c:pt>
                <c:pt idx="125">
                  <c:v>28.08</c:v>
                </c:pt>
                <c:pt idx="126">
                  <c:v>27.98</c:v>
                </c:pt>
                <c:pt idx="127">
                  <c:v>27.82</c:v>
                </c:pt>
                <c:pt idx="128">
                  <c:v>27.73</c:v>
                </c:pt>
                <c:pt idx="129">
                  <c:v>27.53</c:v>
                </c:pt>
                <c:pt idx="130">
                  <c:v>27.55</c:v>
                </c:pt>
                <c:pt idx="131">
                  <c:v>27.66</c:v>
                </c:pt>
                <c:pt idx="132">
                  <c:v>27.54</c:v>
                </c:pt>
                <c:pt idx="133">
                  <c:v>27.28</c:v>
                </c:pt>
                <c:pt idx="134">
                  <c:v>27.23</c:v>
                </c:pt>
                <c:pt idx="135">
                  <c:v>27.08</c:v>
                </c:pt>
                <c:pt idx="136">
                  <c:v>27.12</c:v>
                </c:pt>
                <c:pt idx="137">
                  <c:v>27.16</c:v>
                </c:pt>
                <c:pt idx="138">
                  <c:v>27.09</c:v>
                </c:pt>
                <c:pt idx="139">
                  <c:v>27.06</c:v>
                </c:pt>
                <c:pt idx="140">
                  <c:v>27</c:v>
                </c:pt>
                <c:pt idx="141">
                  <c:v>27.03</c:v>
                </c:pt>
                <c:pt idx="142">
                  <c:v>27.01</c:v>
                </c:pt>
                <c:pt idx="143">
                  <c:v>27</c:v>
                </c:pt>
              </c:numCache>
            </c:numRef>
          </c:val>
          <c:smooth val="0"/>
          <c:extLst>
            <c:ext xmlns:c16="http://schemas.microsoft.com/office/drawing/2014/chart" uri="{C3380CC4-5D6E-409C-BE32-E72D297353CC}">
              <c16:uniqueId val="{00000000-44CC-0944-84D0-B0A8F879BCDB}"/>
            </c:ext>
          </c:extLst>
        </c:ser>
        <c:ser>
          <c:idx val="1"/>
          <c:order val="1"/>
          <c:tx>
            <c:strRef>
              <c:f>'図15_分析8_晴れと曇り'!$D$1</c:f>
              <c:strCache>
                <c:ptCount val="1"/>
                <c:pt idx="0">
                  <c:v>列3</c:v>
                </c:pt>
              </c:strCache>
            </c:strRef>
          </c:tx>
          <c:spPr>
            <a:ln w="22225" cap="rnd">
              <a:solidFill>
                <a:srgbClr val="5E6B7A"/>
              </a:solidFill>
              <a:round/>
            </a:ln>
          </c:spPr>
          <c:marker>
            <c:symbol val="none"/>
          </c:marker>
          <c:cat>
            <c:strRef>
              <c:f>'図15_分析8_晴れと曇り'!$B$2:$B$145</c:f>
              <c:strCache>
                <c:ptCount val="144"/>
                <c:pt idx="0">
                  <c:v>0:00</c:v>
                </c:pt>
                <c:pt idx="18">
                  <c:v>3:00</c:v>
                </c:pt>
                <c:pt idx="36">
                  <c:v>6:00</c:v>
                </c:pt>
                <c:pt idx="54">
                  <c:v>9:00</c:v>
                </c:pt>
                <c:pt idx="72">
                  <c:v>12:00</c:v>
                </c:pt>
                <c:pt idx="90">
                  <c:v>15:00</c:v>
                </c:pt>
                <c:pt idx="108">
                  <c:v>18:00</c:v>
                </c:pt>
                <c:pt idx="126">
                  <c:v>21:00</c:v>
                </c:pt>
              </c:strCache>
            </c:strRef>
          </c:cat>
          <c:val>
            <c:numRef>
              <c:f>'図15_分析8_晴れと曇り'!$D$2:$D$145</c:f>
              <c:numCache>
                <c:formatCode>General</c:formatCode>
                <c:ptCount val="144"/>
                <c:pt idx="0">
                  <c:v>26.384</c:v>
                </c:pt>
                <c:pt idx="1">
                  <c:v>26.350999999999999</c:v>
                </c:pt>
                <c:pt idx="2">
                  <c:v>26.263999999999999</c:v>
                </c:pt>
                <c:pt idx="3">
                  <c:v>26.253</c:v>
                </c:pt>
                <c:pt idx="4">
                  <c:v>26.245999999999999</c:v>
                </c:pt>
                <c:pt idx="5">
                  <c:v>26.289000000000001</c:v>
                </c:pt>
                <c:pt idx="6">
                  <c:v>26.228000000000002</c:v>
                </c:pt>
                <c:pt idx="7">
                  <c:v>26.196999999999999</c:v>
                </c:pt>
                <c:pt idx="8">
                  <c:v>26.141999999999999</c:v>
                </c:pt>
                <c:pt idx="9">
                  <c:v>26.111000000000001</c:v>
                </c:pt>
                <c:pt idx="10">
                  <c:v>26.12</c:v>
                </c:pt>
                <c:pt idx="11">
                  <c:v>26.067</c:v>
                </c:pt>
                <c:pt idx="12">
                  <c:v>26.015999999999998</c:v>
                </c:pt>
                <c:pt idx="13">
                  <c:v>26.001000000000001</c:v>
                </c:pt>
                <c:pt idx="14">
                  <c:v>25.95</c:v>
                </c:pt>
                <c:pt idx="15">
                  <c:v>25.911999999999999</c:v>
                </c:pt>
                <c:pt idx="16">
                  <c:v>25.791</c:v>
                </c:pt>
                <c:pt idx="17">
                  <c:v>25.686</c:v>
                </c:pt>
                <c:pt idx="18">
                  <c:v>25.641999999999999</c:v>
                </c:pt>
                <c:pt idx="19">
                  <c:v>25.576000000000001</c:v>
                </c:pt>
                <c:pt idx="20">
                  <c:v>25.58</c:v>
                </c:pt>
                <c:pt idx="21">
                  <c:v>25.542000000000002</c:v>
                </c:pt>
                <c:pt idx="22">
                  <c:v>25.538</c:v>
                </c:pt>
                <c:pt idx="23">
                  <c:v>25.536999999999999</c:v>
                </c:pt>
                <c:pt idx="24">
                  <c:v>25.507999999999999</c:v>
                </c:pt>
                <c:pt idx="25">
                  <c:v>25.48</c:v>
                </c:pt>
                <c:pt idx="26">
                  <c:v>25.495999999999999</c:v>
                </c:pt>
                <c:pt idx="27">
                  <c:v>25.428999999999998</c:v>
                </c:pt>
                <c:pt idx="28">
                  <c:v>25.452999999999999</c:v>
                </c:pt>
                <c:pt idx="29">
                  <c:v>25.449000000000002</c:v>
                </c:pt>
                <c:pt idx="30">
                  <c:v>25.436</c:v>
                </c:pt>
                <c:pt idx="31">
                  <c:v>25.419</c:v>
                </c:pt>
                <c:pt idx="32">
                  <c:v>25.492999999999999</c:v>
                </c:pt>
                <c:pt idx="33">
                  <c:v>25.658000000000001</c:v>
                </c:pt>
                <c:pt idx="34">
                  <c:v>25.812000000000001</c:v>
                </c:pt>
                <c:pt idx="35">
                  <c:v>25.866</c:v>
                </c:pt>
                <c:pt idx="36">
                  <c:v>26.006</c:v>
                </c:pt>
                <c:pt idx="37">
                  <c:v>26.251000000000001</c:v>
                </c:pt>
                <c:pt idx="38">
                  <c:v>26.373999999999999</c:v>
                </c:pt>
                <c:pt idx="39">
                  <c:v>26.613</c:v>
                </c:pt>
                <c:pt idx="40">
                  <c:v>26.939</c:v>
                </c:pt>
                <c:pt idx="41">
                  <c:v>27.099</c:v>
                </c:pt>
                <c:pt idx="42">
                  <c:v>27.379000000000001</c:v>
                </c:pt>
                <c:pt idx="43">
                  <c:v>27.771000000000001</c:v>
                </c:pt>
                <c:pt idx="44">
                  <c:v>28.013000000000002</c:v>
                </c:pt>
                <c:pt idx="45">
                  <c:v>28.236999999999998</c:v>
                </c:pt>
                <c:pt idx="46">
                  <c:v>28.344000000000001</c:v>
                </c:pt>
                <c:pt idx="47">
                  <c:v>28.867999999999999</c:v>
                </c:pt>
                <c:pt idx="48">
                  <c:v>28.783999999999999</c:v>
                </c:pt>
                <c:pt idx="49">
                  <c:v>28.788</c:v>
                </c:pt>
                <c:pt idx="50">
                  <c:v>29.082999999999998</c:v>
                </c:pt>
                <c:pt idx="51">
                  <c:v>30.109000000000002</c:v>
                </c:pt>
                <c:pt idx="52">
                  <c:v>29.238</c:v>
                </c:pt>
                <c:pt idx="53">
                  <c:v>29.495999999999999</c:v>
                </c:pt>
                <c:pt idx="54">
                  <c:v>29.256</c:v>
                </c:pt>
                <c:pt idx="55">
                  <c:v>29.300999999999998</c:v>
                </c:pt>
                <c:pt idx="56">
                  <c:v>28.773</c:v>
                </c:pt>
                <c:pt idx="57">
                  <c:v>29.341999999999999</c:v>
                </c:pt>
                <c:pt idx="58">
                  <c:v>28.814</c:v>
                </c:pt>
                <c:pt idx="59">
                  <c:v>29.238</c:v>
                </c:pt>
                <c:pt idx="60">
                  <c:v>29.550999999999998</c:v>
                </c:pt>
                <c:pt idx="61">
                  <c:v>29.879000000000001</c:v>
                </c:pt>
                <c:pt idx="62">
                  <c:v>30.562000000000001</c:v>
                </c:pt>
                <c:pt idx="63">
                  <c:v>30.329000000000001</c:v>
                </c:pt>
                <c:pt idx="64">
                  <c:v>31.501999999999999</c:v>
                </c:pt>
                <c:pt idx="65">
                  <c:v>31.337</c:v>
                </c:pt>
                <c:pt idx="66">
                  <c:v>30.850999999999999</c:v>
                </c:pt>
                <c:pt idx="67">
                  <c:v>31.422999999999998</c:v>
                </c:pt>
                <c:pt idx="68">
                  <c:v>31.199000000000002</c:v>
                </c:pt>
                <c:pt idx="69">
                  <c:v>31.161000000000001</c:v>
                </c:pt>
                <c:pt idx="70">
                  <c:v>31.137</c:v>
                </c:pt>
                <c:pt idx="71">
                  <c:v>31.128</c:v>
                </c:pt>
                <c:pt idx="72">
                  <c:v>30.943999999999999</c:v>
                </c:pt>
                <c:pt idx="73">
                  <c:v>31.823</c:v>
                </c:pt>
                <c:pt idx="74">
                  <c:v>31.373000000000001</c:v>
                </c:pt>
                <c:pt idx="75">
                  <c:v>31.335999999999999</c:v>
                </c:pt>
                <c:pt idx="76">
                  <c:v>31.506</c:v>
                </c:pt>
                <c:pt idx="77">
                  <c:v>33.040999999999997</c:v>
                </c:pt>
                <c:pt idx="78">
                  <c:v>32.299999999999997</c:v>
                </c:pt>
                <c:pt idx="79">
                  <c:v>32.341000000000001</c:v>
                </c:pt>
                <c:pt idx="80">
                  <c:v>33.017000000000003</c:v>
                </c:pt>
                <c:pt idx="81">
                  <c:v>32.923000000000002</c:v>
                </c:pt>
                <c:pt idx="82">
                  <c:v>32.948</c:v>
                </c:pt>
                <c:pt idx="83">
                  <c:v>33.087000000000003</c:v>
                </c:pt>
                <c:pt idx="84">
                  <c:v>33.167000000000002</c:v>
                </c:pt>
                <c:pt idx="85">
                  <c:v>33.106000000000002</c:v>
                </c:pt>
                <c:pt idx="86">
                  <c:v>33.472000000000001</c:v>
                </c:pt>
                <c:pt idx="87">
                  <c:v>32.683999999999997</c:v>
                </c:pt>
                <c:pt idx="88">
                  <c:v>32.726999999999997</c:v>
                </c:pt>
                <c:pt idx="89">
                  <c:v>33.084000000000003</c:v>
                </c:pt>
                <c:pt idx="90">
                  <c:v>32.259</c:v>
                </c:pt>
                <c:pt idx="91">
                  <c:v>32.204000000000001</c:v>
                </c:pt>
                <c:pt idx="92">
                  <c:v>32.280999999999999</c:v>
                </c:pt>
                <c:pt idx="93">
                  <c:v>32.261000000000003</c:v>
                </c:pt>
                <c:pt idx="94">
                  <c:v>32.380000000000003</c:v>
                </c:pt>
                <c:pt idx="95">
                  <c:v>32.423000000000002</c:v>
                </c:pt>
                <c:pt idx="96">
                  <c:v>32.018000000000001</c:v>
                </c:pt>
                <c:pt idx="97">
                  <c:v>31.853999999999999</c:v>
                </c:pt>
                <c:pt idx="98">
                  <c:v>31.94</c:v>
                </c:pt>
                <c:pt idx="99">
                  <c:v>31.716999999999999</c:v>
                </c:pt>
                <c:pt idx="100">
                  <c:v>31.173999999999999</c:v>
                </c:pt>
                <c:pt idx="101">
                  <c:v>30.841999999999999</c:v>
                </c:pt>
                <c:pt idx="102">
                  <c:v>30.391999999999999</c:v>
                </c:pt>
                <c:pt idx="103">
                  <c:v>30.494</c:v>
                </c:pt>
                <c:pt idx="104">
                  <c:v>30.417999999999999</c:v>
                </c:pt>
                <c:pt idx="105">
                  <c:v>30.108000000000001</c:v>
                </c:pt>
                <c:pt idx="106">
                  <c:v>30.149000000000001</c:v>
                </c:pt>
                <c:pt idx="107">
                  <c:v>29.864000000000001</c:v>
                </c:pt>
                <c:pt idx="108">
                  <c:v>29.751000000000001</c:v>
                </c:pt>
                <c:pt idx="109">
                  <c:v>29.811</c:v>
                </c:pt>
                <c:pt idx="110">
                  <c:v>29.795999999999999</c:v>
                </c:pt>
                <c:pt idx="111">
                  <c:v>29.594000000000001</c:v>
                </c:pt>
                <c:pt idx="112">
                  <c:v>29.558</c:v>
                </c:pt>
                <c:pt idx="113">
                  <c:v>29.498999999999999</c:v>
                </c:pt>
                <c:pt idx="114">
                  <c:v>29.378</c:v>
                </c:pt>
                <c:pt idx="115">
                  <c:v>29.384</c:v>
                </c:pt>
                <c:pt idx="116">
                  <c:v>29.222999999999999</c:v>
                </c:pt>
                <c:pt idx="117">
                  <c:v>28.974</c:v>
                </c:pt>
                <c:pt idx="118">
                  <c:v>28.93</c:v>
                </c:pt>
                <c:pt idx="119">
                  <c:v>28.94</c:v>
                </c:pt>
                <c:pt idx="120">
                  <c:v>28.463999999999999</c:v>
                </c:pt>
                <c:pt idx="121">
                  <c:v>28.343</c:v>
                </c:pt>
                <c:pt idx="122">
                  <c:v>28.286999999999999</c:v>
                </c:pt>
                <c:pt idx="123">
                  <c:v>28.224</c:v>
                </c:pt>
                <c:pt idx="124">
                  <c:v>28.437000000000001</c:v>
                </c:pt>
                <c:pt idx="125">
                  <c:v>28.358000000000001</c:v>
                </c:pt>
                <c:pt idx="126">
                  <c:v>28.175999999999998</c:v>
                </c:pt>
                <c:pt idx="127">
                  <c:v>27.891999999999999</c:v>
                </c:pt>
                <c:pt idx="128">
                  <c:v>27.789000000000001</c:v>
                </c:pt>
                <c:pt idx="129">
                  <c:v>27.719000000000001</c:v>
                </c:pt>
                <c:pt idx="130">
                  <c:v>27.678999999999998</c:v>
                </c:pt>
                <c:pt idx="131">
                  <c:v>27.588999999999999</c:v>
                </c:pt>
                <c:pt idx="132">
                  <c:v>27.602</c:v>
                </c:pt>
                <c:pt idx="133">
                  <c:v>28.036999999999999</c:v>
                </c:pt>
                <c:pt idx="134">
                  <c:v>27.576000000000001</c:v>
                </c:pt>
                <c:pt idx="135">
                  <c:v>27.241</c:v>
                </c:pt>
                <c:pt idx="136">
                  <c:v>27.181000000000001</c:v>
                </c:pt>
                <c:pt idx="137">
                  <c:v>27.106000000000002</c:v>
                </c:pt>
                <c:pt idx="138">
                  <c:v>27.082999999999998</c:v>
                </c:pt>
                <c:pt idx="139">
                  <c:v>27.013000000000002</c:v>
                </c:pt>
                <c:pt idx="140">
                  <c:v>26.937999999999999</c:v>
                </c:pt>
                <c:pt idx="141">
                  <c:v>26.911999999999999</c:v>
                </c:pt>
                <c:pt idx="142">
                  <c:v>26.866</c:v>
                </c:pt>
                <c:pt idx="143">
                  <c:v>26.888999999999999</c:v>
                </c:pt>
              </c:numCache>
            </c:numRef>
          </c:val>
          <c:smooth val="0"/>
          <c:extLst>
            <c:ext xmlns:c16="http://schemas.microsoft.com/office/drawing/2014/chart" uri="{C3380CC4-5D6E-409C-BE32-E72D297353CC}">
              <c16:uniqueId val="{00000001-44CC-0944-84D0-B0A8F879BCDB}"/>
            </c:ext>
          </c:extLst>
        </c:ser>
        <c:ser>
          <c:idx val="2"/>
          <c:order val="2"/>
          <c:tx>
            <c:strRef>
              <c:f>'図15_分析8_晴れと曇り'!$E$1</c:f>
              <c:strCache>
                <c:ptCount val="1"/>
                <c:pt idx="0">
                  <c:v>列8</c:v>
                </c:pt>
              </c:strCache>
            </c:strRef>
          </c:tx>
          <c:spPr>
            <a:ln w="22225" cap="rnd">
              <a:solidFill>
                <a:srgbClr val="01B8AA"/>
              </a:solidFill>
              <a:round/>
            </a:ln>
          </c:spPr>
          <c:marker>
            <c:symbol val="none"/>
          </c:marker>
          <c:cat>
            <c:strRef>
              <c:f>'図15_分析8_晴れと曇り'!$B$2:$B$145</c:f>
              <c:strCache>
                <c:ptCount val="144"/>
                <c:pt idx="0">
                  <c:v>0:00</c:v>
                </c:pt>
                <c:pt idx="18">
                  <c:v>3:00</c:v>
                </c:pt>
                <c:pt idx="36">
                  <c:v>6:00</c:v>
                </c:pt>
                <c:pt idx="54">
                  <c:v>9:00</c:v>
                </c:pt>
                <c:pt idx="72">
                  <c:v>12:00</c:v>
                </c:pt>
                <c:pt idx="90">
                  <c:v>15:00</c:v>
                </c:pt>
                <c:pt idx="108">
                  <c:v>18:00</c:v>
                </c:pt>
                <c:pt idx="126">
                  <c:v>21:00</c:v>
                </c:pt>
              </c:strCache>
            </c:strRef>
          </c:cat>
          <c:val>
            <c:numRef>
              <c:f>'図15_分析8_晴れと曇り'!$E$2:$E$145</c:f>
              <c:numCache>
                <c:formatCode>General</c:formatCode>
                <c:ptCount val="144"/>
                <c:pt idx="0">
                  <c:v>26.478999999999999</c:v>
                </c:pt>
                <c:pt idx="1">
                  <c:v>26.384</c:v>
                </c:pt>
                <c:pt idx="2">
                  <c:v>26.34</c:v>
                </c:pt>
                <c:pt idx="3">
                  <c:v>26.306000000000001</c:v>
                </c:pt>
                <c:pt idx="4">
                  <c:v>26.274000000000001</c:v>
                </c:pt>
                <c:pt idx="5">
                  <c:v>26.248999999999999</c:v>
                </c:pt>
                <c:pt idx="6">
                  <c:v>26.276</c:v>
                </c:pt>
                <c:pt idx="7">
                  <c:v>26.244</c:v>
                </c:pt>
                <c:pt idx="8">
                  <c:v>26.204000000000001</c:v>
                </c:pt>
                <c:pt idx="9">
                  <c:v>26.199000000000002</c:v>
                </c:pt>
                <c:pt idx="10">
                  <c:v>26.238</c:v>
                </c:pt>
                <c:pt idx="11">
                  <c:v>26.222000000000001</c:v>
                </c:pt>
                <c:pt idx="12">
                  <c:v>26.129000000000001</c:v>
                </c:pt>
                <c:pt idx="13">
                  <c:v>26.06</c:v>
                </c:pt>
                <c:pt idx="14">
                  <c:v>26.015999999999998</c:v>
                </c:pt>
                <c:pt idx="15">
                  <c:v>25.975999999999999</c:v>
                </c:pt>
                <c:pt idx="16">
                  <c:v>25.876000000000001</c:v>
                </c:pt>
                <c:pt idx="17">
                  <c:v>25.768000000000001</c:v>
                </c:pt>
                <c:pt idx="18">
                  <c:v>25.72</c:v>
                </c:pt>
                <c:pt idx="19">
                  <c:v>25.670999999999999</c:v>
                </c:pt>
                <c:pt idx="20">
                  <c:v>25.689</c:v>
                </c:pt>
                <c:pt idx="21">
                  <c:v>25.632999999999999</c:v>
                </c:pt>
                <c:pt idx="22">
                  <c:v>25.568999999999999</c:v>
                </c:pt>
                <c:pt idx="23">
                  <c:v>25.568000000000001</c:v>
                </c:pt>
                <c:pt idx="24">
                  <c:v>25.55</c:v>
                </c:pt>
                <c:pt idx="25">
                  <c:v>25.548999999999999</c:v>
                </c:pt>
                <c:pt idx="26">
                  <c:v>25.513000000000002</c:v>
                </c:pt>
                <c:pt idx="27">
                  <c:v>25.532</c:v>
                </c:pt>
                <c:pt idx="28">
                  <c:v>25.524000000000001</c:v>
                </c:pt>
                <c:pt idx="29">
                  <c:v>25.512</c:v>
                </c:pt>
                <c:pt idx="30">
                  <c:v>25.573</c:v>
                </c:pt>
                <c:pt idx="31">
                  <c:v>25.556000000000001</c:v>
                </c:pt>
                <c:pt idx="32">
                  <c:v>25.553000000000001</c:v>
                </c:pt>
                <c:pt idx="33">
                  <c:v>25.727</c:v>
                </c:pt>
                <c:pt idx="34">
                  <c:v>25.872</c:v>
                </c:pt>
                <c:pt idx="35">
                  <c:v>25.841000000000001</c:v>
                </c:pt>
                <c:pt idx="36">
                  <c:v>25.922000000000001</c:v>
                </c:pt>
                <c:pt idx="37">
                  <c:v>26.106999999999999</c:v>
                </c:pt>
                <c:pt idx="38">
                  <c:v>26.36</c:v>
                </c:pt>
                <c:pt idx="39">
                  <c:v>26.49</c:v>
                </c:pt>
                <c:pt idx="40">
                  <c:v>26.847000000000001</c:v>
                </c:pt>
                <c:pt idx="41">
                  <c:v>27.163</c:v>
                </c:pt>
                <c:pt idx="42">
                  <c:v>27.626000000000001</c:v>
                </c:pt>
                <c:pt idx="43">
                  <c:v>28.189</c:v>
                </c:pt>
                <c:pt idx="44">
                  <c:v>28.087</c:v>
                </c:pt>
                <c:pt idx="45">
                  <c:v>28.49</c:v>
                </c:pt>
                <c:pt idx="46">
                  <c:v>28.463000000000001</c:v>
                </c:pt>
                <c:pt idx="47">
                  <c:v>29.056999999999999</c:v>
                </c:pt>
                <c:pt idx="48">
                  <c:v>29.425000000000001</c:v>
                </c:pt>
                <c:pt idx="49">
                  <c:v>28.716999999999999</c:v>
                </c:pt>
                <c:pt idx="50">
                  <c:v>28.763999999999999</c:v>
                </c:pt>
                <c:pt idx="51">
                  <c:v>29.477</c:v>
                </c:pt>
                <c:pt idx="52">
                  <c:v>29.14</c:v>
                </c:pt>
                <c:pt idx="53">
                  <c:v>29.260999999999999</c:v>
                </c:pt>
                <c:pt idx="54">
                  <c:v>29.134</c:v>
                </c:pt>
                <c:pt idx="55">
                  <c:v>28.94</c:v>
                </c:pt>
                <c:pt idx="56">
                  <c:v>28.713999999999999</c:v>
                </c:pt>
                <c:pt idx="57">
                  <c:v>28.675999999999998</c:v>
                </c:pt>
                <c:pt idx="58">
                  <c:v>28.866</c:v>
                </c:pt>
                <c:pt idx="59">
                  <c:v>29.388000000000002</c:v>
                </c:pt>
                <c:pt idx="60">
                  <c:v>29.268999999999998</c:v>
                </c:pt>
                <c:pt idx="61">
                  <c:v>29.510999999999999</c:v>
                </c:pt>
                <c:pt idx="62">
                  <c:v>30.45</c:v>
                </c:pt>
                <c:pt idx="63">
                  <c:v>30.631</c:v>
                </c:pt>
                <c:pt idx="64">
                  <c:v>31.393000000000001</c:v>
                </c:pt>
                <c:pt idx="65">
                  <c:v>31.263999999999999</c:v>
                </c:pt>
                <c:pt idx="66">
                  <c:v>30.919</c:v>
                </c:pt>
                <c:pt idx="67">
                  <c:v>31.506</c:v>
                </c:pt>
                <c:pt idx="68">
                  <c:v>31.701000000000001</c:v>
                </c:pt>
                <c:pt idx="69">
                  <c:v>32.097000000000001</c:v>
                </c:pt>
                <c:pt idx="70">
                  <c:v>32.226999999999997</c:v>
                </c:pt>
                <c:pt idx="71">
                  <c:v>32.673000000000002</c:v>
                </c:pt>
                <c:pt idx="72">
                  <c:v>32.679000000000002</c:v>
                </c:pt>
                <c:pt idx="73">
                  <c:v>32.69</c:v>
                </c:pt>
                <c:pt idx="74">
                  <c:v>32.244</c:v>
                </c:pt>
                <c:pt idx="75">
                  <c:v>32.706000000000003</c:v>
                </c:pt>
                <c:pt idx="76">
                  <c:v>32.436</c:v>
                </c:pt>
                <c:pt idx="77">
                  <c:v>32.781999999999996</c:v>
                </c:pt>
                <c:pt idx="78">
                  <c:v>32.606999999999999</c:v>
                </c:pt>
                <c:pt idx="79">
                  <c:v>32.256</c:v>
                </c:pt>
                <c:pt idx="80">
                  <c:v>32.991</c:v>
                </c:pt>
                <c:pt idx="81">
                  <c:v>32.975999999999999</c:v>
                </c:pt>
                <c:pt idx="82">
                  <c:v>33.383000000000003</c:v>
                </c:pt>
                <c:pt idx="83">
                  <c:v>33.374000000000002</c:v>
                </c:pt>
                <c:pt idx="84">
                  <c:v>32.92</c:v>
                </c:pt>
                <c:pt idx="85">
                  <c:v>33.953000000000003</c:v>
                </c:pt>
                <c:pt idx="86">
                  <c:v>33.451000000000001</c:v>
                </c:pt>
                <c:pt idx="87">
                  <c:v>32.872999999999998</c:v>
                </c:pt>
                <c:pt idx="88">
                  <c:v>33.167000000000002</c:v>
                </c:pt>
                <c:pt idx="89">
                  <c:v>33.338999999999999</c:v>
                </c:pt>
                <c:pt idx="90">
                  <c:v>32.886000000000003</c:v>
                </c:pt>
                <c:pt idx="91">
                  <c:v>32.905999999999999</c:v>
                </c:pt>
                <c:pt idx="92">
                  <c:v>32.869</c:v>
                </c:pt>
                <c:pt idx="93">
                  <c:v>32.909999999999997</c:v>
                </c:pt>
                <c:pt idx="94">
                  <c:v>32.75</c:v>
                </c:pt>
                <c:pt idx="95">
                  <c:v>32.112000000000002</c:v>
                </c:pt>
                <c:pt idx="96">
                  <c:v>32.220999999999997</c:v>
                </c:pt>
                <c:pt idx="97">
                  <c:v>32.124000000000002</c:v>
                </c:pt>
                <c:pt idx="98">
                  <c:v>32.146000000000001</c:v>
                </c:pt>
                <c:pt idx="99">
                  <c:v>32.003999999999998</c:v>
                </c:pt>
                <c:pt idx="100">
                  <c:v>31.251000000000001</c:v>
                </c:pt>
                <c:pt idx="101">
                  <c:v>30.712</c:v>
                </c:pt>
                <c:pt idx="102">
                  <c:v>30.196999999999999</c:v>
                </c:pt>
                <c:pt idx="103">
                  <c:v>30.170999999999999</c:v>
                </c:pt>
                <c:pt idx="104">
                  <c:v>30.39</c:v>
                </c:pt>
                <c:pt idx="105">
                  <c:v>30.209</c:v>
                </c:pt>
                <c:pt idx="106">
                  <c:v>30.25</c:v>
                </c:pt>
                <c:pt idx="107">
                  <c:v>30.026</c:v>
                </c:pt>
                <c:pt idx="108">
                  <c:v>29.462</c:v>
                </c:pt>
                <c:pt idx="109">
                  <c:v>29.359000000000002</c:v>
                </c:pt>
                <c:pt idx="110">
                  <c:v>29.239000000000001</c:v>
                </c:pt>
                <c:pt idx="111">
                  <c:v>29.166</c:v>
                </c:pt>
                <c:pt idx="112">
                  <c:v>29.068999999999999</c:v>
                </c:pt>
                <c:pt idx="113">
                  <c:v>28.948</c:v>
                </c:pt>
                <c:pt idx="114">
                  <c:v>28.946000000000002</c:v>
                </c:pt>
                <c:pt idx="115">
                  <c:v>28.916</c:v>
                </c:pt>
                <c:pt idx="116">
                  <c:v>28.733000000000001</c:v>
                </c:pt>
                <c:pt idx="117">
                  <c:v>28.521000000000001</c:v>
                </c:pt>
                <c:pt idx="118">
                  <c:v>28.423999999999999</c:v>
                </c:pt>
                <c:pt idx="119">
                  <c:v>28.393999999999998</c:v>
                </c:pt>
                <c:pt idx="120">
                  <c:v>28.16</c:v>
                </c:pt>
                <c:pt idx="121">
                  <c:v>28.007999999999999</c:v>
                </c:pt>
                <c:pt idx="122">
                  <c:v>27.925999999999998</c:v>
                </c:pt>
                <c:pt idx="123">
                  <c:v>27.93</c:v>
                </c:pt>
                <c:pt idx="124">
                  <c:v>28.096</c:v>
                </c:pt>
                <c:pt idx="125">
                  <c:v>28.138999999999999</c:v>
                </c:pt>
                <c:pt idx="126">
                  <c:v>28.018000000000001</c:v>
                </c:pt>
                <c:pt idx="127">
                  <c:v>27.82</c:v>
                </c:pt>
                <c:pt idx="128">
                  <c:v>27.763000000000002</c:v>
                </c:pt>
                <c:pt idx="129">
                  <c:v>27.593</c:v>
                </c:pt>
                <c:pt idx="130">
                  <c:v>27.536999999999999</c:v>
                </c:pt>
                <c:pt idx="131">
                  <c:v>27.61</c:v>
                </c:pt>
                <c:pt idx="132">
                  <c:v>27.526</c:v>
                </c:pt>
                <c:pt idx="133">
                  <c:v>27.350999999999999</c:v>
                </c:pt>
                <c:pt idx="134">
                  <c:v>27.212</c:v>
                </c:pt>
                <c:pt idx="135">
                  <c:v>27.117999999999999</c:v>
                </c:pt>
                <c:pt idx="136">
                  <c:v>27.129000000000001</c:v>
                </c:pt>
                <c:pt idx="137">
                  <c:v>27.059000000000001</c:v>
                </c:pt>
                <c:pt idx="138">
                  <c:v>27</c:v>
                </c:pt>
                <c:pt idx="139">
                  <c:v>26.959</c:v>
                </c:pt>
                <c:pt idx="140">
                  <c:v>26.925999999999998</c:v>
                </c:pt>
                <c:pt idx="141">
                  <c:v>26.837</c:v>
                </c:pt>
                <c:pt idx="142">
                  <c:v>26.802</c:v>
                </c:pt>
                <c:pt idx="143">
                  <c:v>26.742000000000001</c:v>
                </c:pt>
              </c:numCache>
            </c:numRef>
          </c:val>
          <c:smooth val="0"/>
          <c:extLst>
            <c:ext xmlns:c16="http://schemas.microsoft.com/office/drawing/2014/chart" uri="{C3380CC4-5D6E-409C-BE32-E72D297353CC}">
              <c16:uniqueId val="{00000002-44CC-0944-84D0-B0A8F879BCDB}"/>
            </c:ext>
          </c:extLst>
        </c:ser>
        <c:ser>
          <c:idx val="3"/>
          <c:order val="3"/>
          <c:tx>
            <c:strRef>
              <c:f>'図15_分析8_晴れと曇り'!$F$1</c:f>
              <c:strCache>
                <c:ptCount val="1"/>
                <c:pt idx="0">
                  <c:v>列11</c:v>
                </c:pt>
              </c:strCache>
            </c:strRef>
          </c:tx>
          <c:spPr>
            <a:ln w="22225" cap="rnd">
              <a:solidFill>
                <a:srgbClr val="118DFF"/>
              </a:solidFill>
              <a:round/>
            </a:ln>
          </c:spPr>
          <c:marker>
            <c:symbol val="none"/>
          </c:marker>
          <c:cat>
            <c:strRef>
              <c:f>'図15_分析8_晴れと曇り'!$B$2:$B$145</c:f>
              <c:strCache>
                <c:ptCount val="144"/>
                <c:pt idx="0">
                  <c:v>0:00</c:v>
                </c:pt>
                <c:pt idx="18">
                  <c:v>3:00</c:v>
                </c:pt>
                <c:pt idx="36">
                  <c:v>6:00</c:v>
                </c:pt>
                <c:pt idx="54">
                  <c:v>9:00</c:v>
                </c:pt>
                <c:pt idx="72">
                  <c:v>12:00</c:v>
                </c:pt>
                <c:pt idx="90">
                  <c:v>15:00</c:v>
                </c:pt>
                <c:pt idx="108">
                  <c:v>18:00</c:v>
                </c:pt>
                <c:pt idx="126">
                  <c:v>21:00</c:v>
                </c:pt>
              </c:strCache>
            </c:strRef>
          </c:cat>
          <c:val>
            <c:numRef>
              <c:f>'図15_分析8_晴れと曇り'!$F$2:$F$145</c:f>
              <c:numCache>
                <c:formatCode>General</c:formatCode>
                <c:ptCount val="144"/>
                <c:pt idx="0">
                  <c:v>26.414000000000001</c:v>
                </c:pt>
                <c:pt idx="1">
                  <c:v>26.327000000000002</c:v>
                </c:pt>
                <c:pt idx="2">
                  <c:v>26.262</c:v>
                </c:pt>
                <c:pt idx="3">
                  <c:v>26.231000000000002</c:v>
                </c:pt>
                <c:pt idx="4">
                  <c:v>26.210999999999999</c:v>
                </c:pt>
                <c:pt idx="5">
                  <c:v>26.244</c:v>
                </c:pt>
                <c:pt idx="6">
                  <c:v>26.224</c:v>
                </c:pt>
                <c:pt idx="7">
                  <c:v>26.218</c:v>
                </c:pt>
                <c:pt idx="8">
                  <c:v>26.15</c:v>
                </c:pt>
                <c:pt idx="9">
                  <c:v>26.134</c:v>
                </c:pt>
                <c:pt idx="10">
                  <c:v>26.154</c:v>
                </c:pt>
                <c:pt idx="11">
                  <c:v>26.143999999999998</c:v>
                </c:pt>
                <c:pt idx="12">
                  <c:v>26.074999999999999</c:v>
                </c:pt>
                <c:pt idx="13">
                  <c:v>26.032</c:v>
                </c:pt>
                <c:pt idx="14">
                  <c:v>25.995000000000001</c:v>
                </c:pt>
                <c:pt idx="15">
                  <c:v>25.96</c:v>
                </c:pt>
                <c:pt idx="16">
                  <c:v>25.885999999999999</c:v>
                </c:pt>
                <c:pt idx="17">
                  <c:v>25.754000000000001</c:v>
                </c:pt>
                <c:pt idx="18">
                  <c:v>25.721</c:v>
                </c:pt>
                <c:pt idx="19">
                  <c:v>25.675999999999998</c:v>
                </c:pt>
                <c:pt idx="20">
                  <c:v>25.667999999999999</c:v>
                </c:pt>
                <c:pt idx="21">
                  <c:v>25.64</c:v>
                </c:pt>
                <c:pt idx="22">
                  <c:v>25.6</c:v>
                </c:pt>
                <c:pt idx="23">
                  <c:v>25.6</c:v>
                </c:pt>
                <c:pt idx="24">
                  <c:v>25.588999999999999</c:v>
                </c:pt>
                <c:pt idx="25">
                  <c:v>25.57</c:v>
                </c:pt>
                <c:pt idx="26">
                  <c:v>25.533999999999999</c:v>
                </c:pt>
                <c:pt idx="27">
                  <c:v>25.541</c:v>
                </c:pt>
                <c:pt idx="28">
                  <c:v>25.529</c:v>
                </c:pt>
                <c:pt idx="29">
                  <c:v>25.5</c:v>
                </c:pt>
                <c:pt idx="30">
                  <c:v>25.509</c:v>
                </c:pt>
                <c:pt idx="31">
                  <c:v>25.5</c:v>
                </c:pt>
                <c:pt idx="32">
                  <c:v>25.513999999999999</c:v>
                </c:pt>
                <c:pt idx="33">
                  <c:v>25.690999999999999</c:v>
                </c:pt>
                <c:pt idx="34">
                  <c:v>25.888000000000002</c:v>
                </c:pt>
                <c:pt idx="35">
                  <c:v>25.803999999999998</c:v>
                </c:pt>
                <c:pt idx="36">
                  <c:v>25.86</c:v>
                </c:pt>
                <c:pt idx="37">
                  <c:v>26.056999999999999</c:v>
                </c:pt>
                <c:pt idx="38">
                  <c:v>26.262</c:v>
                </c:pt>
                <c:pt idx="39">
                  <c:v>26.504000000000001</c:v>
                </c:pt>
                <c:pt idx="40">
                  <c:v>26.812000000000001</c:v>
                </c:pt>
                <c:pt idx="41">
                  <c:v>27.135999999999999</c:v>
                </c:pt>
                <c:pt idx="42">
                  <c:v>27.567</c:v>
                </c:pt>
                <c:pt idx="43">
                  <c:v>28.029</c:v>
                </c:pt>
                <c:pt idx="44">
                  <c:v>28.103999999999999</c:v>
                </c:pt>
                <c:pt idx="45">
                  <c:v>28.106999999999999</c:v>
                </c:pt>
                <c:pt idx="46">
                  <c:v>28.283999999999999</c:v>
                </c:pt>
                <c:pt idx="47">
                  <c:v>28.574000000000002</c:v>
                </c:pt>
                <c:pt idx="48">
                  <c:v>28.594999999999999</c:v>
                </c:pt>
                <c:pt idx="49">
                  <c:v>28.815000000000001</c:v>
                </c:pt>
                <c:pt idx="50">
                  <c:v>28.811</c:v>
                </c:pt>
                <c:pt idx="51">
                  <c:v>29.260999999999999</c:v>
                </c:pt>
                <c:pt idx="52">
                  <c:v>28.425999999999998</c:v>
                </c:pt>
                <c:pt idx="53">
                  <c:v>28.716000000000001</c:v>
                </c:pt>
                <c:pt idx="54">
                  <c:v>28.731999999999999</c:v>
                </c:pt>
                <c:pt idx="55">
                  <c:v>28.456</c:v>
                </c:pt>
                <c:pt idx="56">
                  <c:v>28.491</c:v>
                </c:pt>
                <c:pt idx="57">
                  <c:v>28.548999999999999</c:v>
                </c:pt>
                <c:pt idx="58">
                  <c:v>28.718</c:v>
                </c:pt>
                <c:pt idx="59">
                  <c:v>29.390999999999998</c:v>
                </c:pt>
                <c:pt idx="60">
                  <c:v>29.524999999999999</c:v>
                </c:pt>
                <c:pt idx="61">
                  <c:v>29.280999999999999</c:v>
                </c:pt>
                <c:pt idx="62">
                  <c:v>29.774000000000001</c:v>
                </c:pt>
                <c:pt idx="63">
                  <c:v>30.36</c:v>
                </c:pt>
                <c:pt idx="64">
                  <c:v>30.952000000000002</c:v>
                </c:pt>
                <c:pt idx="65">
                  <c:v>30.728999999999999</c:v>
                </c:pt>
                <c:pt idx="66">
                  <c:v>30.643000000000001</c:v>
                </c:pt>
                <c:pt idx="67">
                  <c:v>31.32</c:v>
                </c:pt>
                <c:pt idx="68">
                  <c:v>31.408000000000001</c:v>
                </c:pt>
                <c:pt idx="69">
                  <c:v>31.369</c:v>
                </c:pt>
                <c:pt idx="70">
                  <c:v>31.518999999999998</c:v>
                </c:pt>
                <c:pt idx="71">
                  <c:v>31.957999999999998</c:v>
                </c:pt>
                <c:pt idx="72">
                  <c:v>31.84</c:v>
                </c:pt>
                <c:pt idx="73">
                  <c:v>31.928999999999998</c:v>
                </c:pt>
                <c:pt idx="74">
                  <c:v>31.491</c:v>
                </c:pt>
                <c:pt idx="75">
                  <c:v>31.876000000000001</c:v>
                </c:pt>
                <c:pt idx="76">
                  <c:v>32.125999999999998</c:v>
                </c:pt>
                <c:pt idx="77">
                  <c:v>32.073999999999998</c:v>
                </c:pt>
                <c:pt idx="78">
                  <c:v>32.43</c:v>
                </c:pt>
                <c:pt idx="79">
                  <c:v>31.937999999999999</c:v>
                </c:pt>
                <c:pt idx="80">
                  <c:v>32.670999999999999</c:v>
                </c:pt>
                <c:pt idx="81">
                  <c:v>32.585999999999999</c:v>
                </c:pt>
                <c:pt idx="82">
                  <c:v>32.561999999999998</c:v>
                </c:pt>
                <c:pt idx="83">
                  <c:v>32.956000000000003</c:v>
                </c:pt>
                <c:pt idx="84">
                  <c:v>32.786000000000001</c:v>
                </c:pt>
                <c:pt idx="85">
                  <c:v>33.505000000000003</c:v>
                </c:pt>
                <c:pt idx="86">
                  <c:v>33.100999999999999</c:v>
                </c:pt>
                <c:pt idx="87">
                  <c:v>32.804000000000002</c:v>
                </c:pt>
                <c:pt idx="88">
                  <c:v>32.728000000000002</c:v>
                </c:pt>
                <c:pt idx="89">
                  <c:v>32.869</c:v>
                </c:pt>
                <c:pt idx="90">
                  <c:v>32.841000000000001</c:v>
                </c:pt>
                <c:pt idx="91">
                  <c:v>32.607999999999997</c:v>
                </c:pt>
                <c:pt idx="92">
                  <c:v>32.695</c:v>
                </c:pt>
                <c:pt idx="93">
                  <c:v>32.612000000000002</c:v>
                </c:pt>
                <c:pt idx="94">
                  <c:v>32.558999999999997</c:v>
                </c:pt>
                <c:pt idx="95">
                  <c:v>31.928999999999998</c:v>
                </c:pt>
                <c:pt idx="96">
                  <c:v>32.095999999999997</c:v>
                </c:pt>
                <c:pt idx="97">
                  <c:v>31.818999999999999</c:v>
                </c:pt>
                <c:pt idx="98">
                  <c:v>31.669</c:v>
                </c:pt>
                <c:pt idx="99">
                  <c:v>31.56</c:v>
                </c:pt>
                <c:pt idx="100">
                  <c:v>30.962</c:v>
                </c:pt>
                <c:pt idx="101">
                  <c:v>30.347999999999999</c:v>
                </c:pt>
                <c:pt idx="102">
                  <c:v>30.015000000000001</c:v>
                </c:pt>
                <c:pt idx="103">
                  <c:v>29.946000000000002</c:v>
                </c:pt>
                <c:pt idx="104">
                  <c:v>30.209</c:v>
                </c:pt>
                <c:pt idx="105">
                  <c:v>30.138999999999999</c:v>
                </c:pt>
                <c:pt idx="106">
                  <c:v>30.053999999999998</c:v>
                </c:pt>
                <c:pt idx="107">
                  <c:v>29.846</c:v>
                </c:pt>
                <c:pt idx="108">
                  <c:v>29.494</c:v>
                </c:pt>
                <c:pt idx="109">
                  <c:v>29.276</c:v>
                </c:pt>
                <c:pt idx="110">
                  <c:v>29.346</c:v>
                </c:pt>
                <c:pt idx="111">
                  <c:v>29.186</c:v>
                </c:pt>
                <c:pt idx="112">
                  <c:v>29.248000000000001</c:v>
                </c:pt>
                <c:pt idx="113">
                  <c:v>29.151</c:v>
                </c:pt>
                <c:pt idx="114">
                  <c:v>29.29</c:v>
                </c:pt>
                <c:pt idx="115">
                  <c:v>29.274999999999999</c:v>
                </c:pt>
                <c:pt idx="116">
                  <c:v>29.050999999999998</c:v>
                </c:pt>
                <c:pt idx="117">
                  <c:v>28.687999999999999</c:v>
                </c:pt>
                <c:pt idx="118">
                  <c:v>28.463999999999999</c:v>
                </c:pt>
                <c:pt idx="119">
                  <c:v>28.422999999999998</c:v>
                </c:pt>
                <c:pt idx="120">
                  <c:v>28.228999999999999</c:v>
                </c:pt>
                <c:pt idx="121">
                  <c:v>28.076000000000001</c:v>
                </c:pt>
                <c:pt idx="122">
                  <c:v>27.954000000000001</c:v>
                </c:pt>
                <c:pt idx="123">
                  <c:v>27.904</c:v>
                </c:pt>
                <c:pt idx="124">
                  <c:v>27.952000000000002</c:v>
                </c:pt>
                <c:pt idx="125">
                  <c:v>28.004000000000001</c:v>
                </c:pt>
                <c:pt idx="126">
                  <c:v>27.919</c:v>
                </c:pt>
                <c:pt idx="127">
                  <c:v>27.731000000000002</c:v>
                </c:pt>
                <c:pt idx="128">
                  <c:v>27.678000000000001</c:v>
                </c:pt>
                <c:pt idx="129">
                  <c:v>27.494</c:v>
                </c:pt>
                <c:pt idx="130">
                  <c:v>27.445</c:v>
                </c:pt>
                <c:pt idx="131">
                  <c:v>27.384</c:v>
                </c:pt>
                <c:pt idx="132">
                  <c:v>27.268000000000001</c:v>
                </c:pt>
                <c:pt idx="133">
                  <c:v>27.135999999999999</c:v>
                </c:pt>
                <c:pt idx="134">
                  <c:v>27.062000000000001</c:v>
                </c:pt>
                <c:pt idx="135">
                  <c:v>26.963999999999999</c:v>
                </c:pt>
                <c:pt idx="136">
                  <c:v>27.01</c:v>
                </c:pt>
                <c:pt idx="137">
                  <c:v>26.959</c:v>
                </c:pt>
                <c:pt idx="138">
                  <c:v>26.939</c:v>
                </c:pt>
                <c:pt idx="139">
                  <c:v>26.890999999999998</c:v>
                </c:pt>
                <c:pt idx="140">
                  <c:v>26.856000000000002</c:v>
                </c:pt>
                <c:pt idx="141">
                  <c:v>26.800999999999998</c:v>
                </c:pt>
                <c:pt idx="142">
                  <c:v>26.786000000000001</c:v>
                </c:pt>
                <c:pt idx="143">
                  <c:v>26.751999999999999</c:v>
                </c:pt>
              </c:numCache>
            </c:numRef>
          </c:val>
          <c:smooth val="0"/>
          <c:extLst>
            <c:ext xmlns:c16="http://schemas.microsoft.com/office/drawing/2014/chart" uri="{C3380CC4-5D6E-409C-BE32-E72D297353CC}">
              <c16:uniqueId val="{00000003-44CC-0944-84D0-B0A8F879BCDB}"/>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none"/>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36"/>
          <c:min val="24"/>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2"/>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
          <c:y val="0.25"/>
          <c:w val="0.76"/>
          <c:h val="0.55000000000000004"/>
        </c:manualLayout>
      </c:layout>
      <c:lineChart>
        <c:grouping val="standard"/>
        <c:varyColors val="0"/>
        <c:ser>
          <c:idx val="0"/>
          <c:order val="0"/>
          <c:tx>
            <c:strRef>
              <c:f>'図15_分析8_晴れと曇り'!$I$1</c:f>
              <c:strCache>
                <c:ptCount val="1"/>
                <c:pt idx="0">
                  <c:v>屋上の気温</c:v>
                </c:pt>
              </c:strCache>
            </c:strRef>
          </c:tx>
          <c:spPr>
            <a:ln w="15875" cap="rnd">
              <a:solidFill>
                <a:srgbClr val="ED7D31"/>
              </a:solidFill>
              <a:round/>
            </a:ln>
          </c:spPr>
          <c:marker>
            <c:symbol val="none"/>
          </c:marker>
          <c:cat>
            <c:strRef>
              <c:f>'図15_分析8_晴れと曇り'!$B$2:$B$145</c:f>
              <c:strCache>
                <c:ptCount val="144"/>
                <c:pt idx="0">
                  <c:v>0:00</c:v>
                </c:pt>
                <c:pt idx="18">
                  <c:v>3:00</c:v>
                </c:pt>
                <c:pt idx="36">
                  <c:v>6:00</c:v>
                </c:pt>
                <c:pt idx="54">
                  <c:v>9:00</c:v>
                </c:pt>
                <c:pt idx="72">
                  <c:v>12:00</c:v>
                </c:pt>
                <c:pt idx="90">
                  <c:v>15:00</c:v>
                </c:pt>
                <c:pt idx="108">
                  <c:v>18:00</c:v>
                </c:pt>
                <c:pt idx="126">
                  <c:v>21:00</c:v>
                </c:pt>
              </c:strCache>
            </c:strRef>
          </c:cat>
          <c:val>
            <c:numRef>
              <c:f>'図15_分析8_晴れと曇り'!$I$2:$I$145</c:f>
              <c:numCache>
                <c:formatCode>General</c:formatCode>
                <c:ptCount val="144"/>
                <c:pt idx="0">
                  <c:v>24.8</c:v>
                </c:pt>
                <c:pt idx="1">
                  <c:v>24.8</c:v>
                </c:pt>
                <c:pt idx="2">
                  <c:v>24.79</c:v>
                </c:pt>
                <c:pt idx="3">
                  <c:v>24.77</c:v>
                </c:pt>
                <c:pt idx="4">
                  <c:v>24.73</c:v>
                </c:pt>
                <c:pt idx="5">
                  <c:v>24.8</c:v>
                </c:pt>
                <c:pt idx="6">
                  <c:v>24.83</c:v>
                </c:pt>
                <c:pt idx="7">
                  <c:v>24.99</c:v>
                </c:pt>
                <c:pt idx="8">
                  <c:v>25.05</c:v>
                </c:pt>
                <c:pt idx="9">
                  <c:v>24.95</c:v>
                </c:pt>
                <c:pt idx="10">
                  <c:v>24.9</c:v>
                </c:pt>
                <c:pt idx="11">
                  <c:v>24.99</c:v>
                </c:pt>
                <c:pt idx="12">
                  <c:v>24.92</c:v>
                </c:pt>
                <c:pt idx="13">
                  <c:v>24.97</c:v>
                </c:pt>
                <c:pt idx="14">
                  <c:v>25</c:v>
                </c:pt>
                <c:pt idx="15">
                  <c:v>24.98</c:v>
                </c:pt>
                <c:pt idx="16">
                  <c:v>24.9</c:v>
                </c:pt>
                <c:pt idx="17">
                  <c:v>24.82</c:v>
                </c:pt>
                <c:pt idx="18">
                  <c:v>24.76</c:v>
                </c:pt>
                <c:pt idx="19">
                  <c:v>24.8</c:v>
                </c:pt>
                <c:pt idx="20">
                  <c:v>24.79</c:v>
                </c:pt>
                <c:pt idx="21">
                  <c:v>24.7</c:v>
                </c:pt>
                <c:pt idx="22">
                  <c:v>24.67</c:v>
                </c:pt>
                <c:pt idx="23">
                  <c:v>24.6</c:v>
                </c:pt>
                <c:pt idx="24">
                  <c:v>24.56</c:v>
                </c:pt>
                <c:pt idx="25">
                  <c:v>24.54</c:v>
                </c:pt>
                <c:pt idx="26">
                  <c:v>24.5</c:v>
                </c:pt>
                <c:pt idx="27">
                  <c:v>24.55</c:v>
                </c:pt>
                <c:pt idx="28">
                  <c:v>24.7</c:v>
                </c:pt>
                <c:pt idx="29">
                  <c:v>24.8</c:v>
                </c:pt>
                <c:pt idx="30">
                  <c:v>24.88</c:v>
                </c:pt>
                <c:pt idx="31">
                  <c:v>24.9</c:v>
                </c:pt>
                <c:pt idx="32">
                  <c:v>24.91</c:v>
                </c:pt>
                <c:pt idx="33">
                  <c:v>25</c:v>
                </c:pt>
                <c:pt idx="34">
                  <c:v>25.08</c:v>
                </c:pt>
                <c:pt idx="35">
                  <c:v>25.16</c:v>
                </c:pt>
                <c:pt idx="36">
                  <c:v>25.37</c:v>
                </c:pt>
                <c:pt idx="37">
                  <c:v>25.5</c:v>
                </c:pt>
                <c:pt idx="38">
                  <c:v>25.59</c:v>
                </c:pt>
                <c:pt idx="39">
                  <c:v>25.73</c:v>
                </c:pt>
                <c:pt idx="40">
                  <c:v>25.75</c:v>
                </c:pt>
                <c:pt idx="41">
                  <c:v>25.88</c:v>
                </c:pt>
                <c:pt idx="42">
                  <c:v>26.07</c:v>
                </c:pt>
                <c:pt idx="43">
                  <c:v>26.25</c:v>
                </c:pt>
                <c:pt idx="44">
                  <c:v>26.34</c:v>
                </c:pt>
                <c:pt idx="45">
                  <c:v>26.29</c:v>
                </c:pt>
                <c:pt idx="46">
                  <c:v>26.22</c:v>
                </c:pt>
                <c:pt idx="47">
                  <c:v>26.57</c:v>
                </c:pt>
                <c:pt idx="48">
                  <c:v>26.98</c:v>
                </c:pt>
                <c:pt idx="49">
                  <c:v>27.84</c:v>
                </c:pt>
                <c:pt idx="50">
                  <c:v>27.7</c:v>
                </c:pt>
                <c:pt idx="51">
                  <c:v>27.59</c:v>
                </c:pt>
                <c:pt idx="52">
                  <c:v>27.27</c:v>
                </c:pt>
                <c:pt idx="53">
                  <c:v>27.62</c:v>
                </c:pt>
                <c:pt idx="54">
                  <c:v>28.04</c:v>
                </c:pt>
                <c:pt idx="55">
                  <c:v>28.03</c:v>
                </c:pt>
                <c:pt idx="56">
                  <c:v>28.28</c:v>
                </c:pt>
                <c:pt idx="57">
                  <c:v>27.96</c:v>
                </c:pt>
                <c:pt idx="58">
                  <c:v>27.29</c:v>
                </c:pt>
                <c:pt idx="59">
                  <c:v>27.4</c:v>
                </c:pt>
                <c:pt idx="60">
                  <c:v>27.53</c:v>
                </c:pt>
                <c:pt idx="61">
                  <c:v>28.04</c:v>
                </c:pt>
                <c:pt idx="62">
                  <c:v>28.46</c:v>
                </c:pt>
                <c:pt idx="63">
                  <c:v>28.89</c:v>
                </c:pt>
                <c:pt idx="64">
                  <c:v>28.85</c:v>
                </c:pt>
                <c:pt idx="65">
                  <c:v>29.37</c:v>
                </c:pt>
                <c:pt idx="66">
                  <c:v>29.76</c:v>
                </c:pt>
                <c:pt idx="67">
                  <c:v>30.81</c:v>
                </c:pt>
                <c:pt idx="68">
                  <c:v>31.39</c:v>
                </c:pt>
                <c:pt idx="69">
                  <c:v>31.59</c:v>
                </c:pt>
                <c:pt idx="70">
                  <c:v>32.28</c:v>
                </c:pt>
                <c:pt idx="71">
                  <c:v>32.229999999999997</c:v>
                </c:pt>
                <c:pt idx="72">
                  <c:v>32.119999999999997</c:v>
                </c:pt>
                <c:pt idx="73">
                  <c:v>32.35</c:v>
                </c:pt>
                <c:pt idx="74">
                  <c:v>32.53</c:v>
                </c:pt>
                <c:pt idx="75">
                  <c:v>32.43</c:v>
                </c:pt>
                <c:pt idx="76">
                  <c:v>32.270000000000003</c:v>
                </c:pt>
                <c:pt idx="77">
                  <c:v>32.78</c:v>
                </c:pt>
                <c:pt idx="78">
                  <c:v>32.61</c:v>
                </c:pt>
                <c:pt idx="79">
                  <c:v>32.56</c:v>
                </c:pt>
                <c:pt idx="80">
                  <c:v>32.33</c:v>
                </c:pt>
                <c:pt idx="81">
                  <c:v>31.74</c:v>
                </c:pt>
                <c:pt idx="82">
                  <c:v>31.53</c:v>
                </c:pt>
                <c:pt idx="83">
                  <c:v>31.35</c:v>
                </c:pt>
                <c:pt idx="84">
                  <c:v>31.19</c:v>
                </c:pt>
                <c:pt idx="85">
                  <c:v>31.49</c:v>
                </c:pt>
                <c:pt idx="86">
                  <c:v>31.58</c:v>
                </c:pt>
                <c:pt idx="87">
                  <c:v>31.47</c:v>
                </c:pt>
                <c:pt idx="88">
                  <c:v>31.37</c:v>
                </c:pt>
                <c:pt idx="89">
                  <c:v>31.22</c:v>
                </c:pt>
                <c:pt idx="90">
                  <c:v>31.23</c:v>
                </c:pt>
                <c:pt idx="91">
                  <c:v>31.07</c:v>
                </c:pt>
                <c:pt idx="92">
                  <c:v>30.87</c:v>
                </c:pt>
                <c:pt idx="93">
                  <c:v>31.24</c:v>
                </c:pt>
                <c:pt idx="94">
                  <c:v>31.53</c:v>
                </c:pt>
                <c:pt idx="95">
                  <c:v>31.27</c:v>
                </c:pt>
                <c:pt idx="96">
                  <c:v>30.98</c:v>
                </c:pt>
                <c:pt idx="97">
                  <c:v>30.77</c:v>
                </c:pt>
                <c:pt idx="98">
                  <c:v>30.45</c:v>
                </c:pt>
                <c:pt idx="99">
                  <c:v>30.47</c:v>
                </c:pt>
                <c:pt idx="100">
                  <c:v>31</c:v>
                </c:pt>
                <c:pt idx="101">
                  <c:v>30.88</c:v>
                </c:pt>
                <c:pt idx="102">
                  <c:v>30.67</c:v>
                </c:pt>
                <c:pt idx="103">
                  <c:v>30.62</c:v>
                </c:pt>
                <c:pt idx="104">
                  <c:v>30.32</c:v>
                </c:pt>
                <c:pt idx="105">
                  <c:v>30.24</c:v>
                </c:pt>
                <c:pt idx="106">
                  <c:v>30.15</c:v>
                </c:pt>
                <c:pt idx="107">
                  <c:v>29.86</c:v>
                </c:pt>
                <c:pt idx="108">
                  <c:v>29.63</c:v>
                </c:pt>
                <c:pt idx="109">
                  <c:v>29.35</c:v>
                </c:pt>
                <c:pt idx="110">
                  <c:v>29.16</c:v>
                </c:pt>
                <c:pt idx="111">
                  <c:v>28.94</c:v>
                </c:pt>
                <c:pt idx="112">
                  <c:v>28.88</c:v>
                </c:pt>
                <c:pt idx="113">
                  <c:v>28.74</c:v>
                </c:pt>
                <c:pt idx="114">
                  <c:v>28.56</c:v>
                </c:pt>
                <c:pt idx="115">
                  <c:v>28.67</c:v>
                </c:pt>
                <c:pt idx="116">
                  <c:v>28.67</c:v>
                </c:pt>
                <c:pt idx="117">
                  <c:v>28.52</c:v>
                </c:pt>
                <c:pt idx="118">
                  <c:v>28.37</c:v>
                </c:pt>
                <c:pt idx="119">
                  <c:v>28.29</c:v>
                </c:pt>
                <c:pt idx="120">
                  <c:v>28.22</c:v>
                </c:pt>
                <c:pt idx="121">
                  <c:v>28.13</c:v>
                </c:pt>
                <c:pt idx="122">
                  <c:v>27.84</c:v>
                </c:pt>
                <c:pt idx="123">
                  <c:v>27.75</c:v>
                </c:pt>
                <c:pt idx="124">
                  <c:v>27.7</c:v>
                </c:pt>
                <c:pt idx="125">
                  <c:v>27.57</c:v>
                </c:pt>
                <c:pt idx="126">
                  <c:v>27.51</c:v>
                </c:pt>
                <c:pt idx="127">
                  <c:v>27.43</c:v>
                </c:pt>
                <c:pt idx="128">
                  <c:v>27.43</c:v>
                </c:pt>
                <c:pt idx="129">
                  <c:v>27.62</c:v>
                </c:pt>
                <c:pt idx="130">
                  <c:v>27.62</c:v>
                </c:pt>
                <c:pt idx="131">
                  <c:v>27.57</c:v>
                </c:pt>
                <c:pt idx="132">
                  <c:v>27.65</c:v>
                </c:pt>
                <c:pt idx="133">
                  <c:v>27.57</c:v>
                </c:pt>
                <c:pt idx="134">
                  <c:v>27.46</c:v>
                </c:pt>
                <c:pt idx="135">
                  <c:v>27.42</c:v>
                </c:pt>
                <c:pt idx="136">
                  <c:v>27.4</c:v>
                </c:pt>
                <c:pt idx="137">
                  <c:v>27.4</c:v>
                </c:pt>
                <c:pt idx="138">
                  <c:v>27.4</c:v>
                </c:pt>
                <c:pt idx="139">
                  <c:v>27.4</c:v>
                </c:pt>
                <c:pt idx="140">
                  <c:v>27.33</c:v>
                </c:pt>
                <c:pt idx="141">
                  <c:v>27.3</c:v>
                </c:pt>
                <c:pt idx="142">
                  <c:v>27.3</c:v>
                </c:pt>
                <c:pt idx="143">
                  <c:v>27.3</c:v>
                </c:pt>
              </c:numCache>
            </c:numRef>
          </c:val>
          <c:smooth val="0"/>
          <c:extLst>
            <c:ext xmlns:c16="http://schemas.microsoft.com/office/drawing/2014/chart" uri="{C3380CC4-5D6E-409C-BE32-E72D297353CC}">
              <c16:uniqueId val="{00000000-6A9C-D541-9B7E-170771824AC7}"/>
            </c:ext>
          </c:extLst>
        </c:ser>
        <c:ser>
          <c:idx val="1"/>
          <c:order val="1"/>
          <c:tx>
            <c:strRef>
              <c:f>'図15_分析8_晴れと曇り'!$J$1</c:f>
              <c:strCache>
                <c:ptCount val="1"/>
                <c:pt idx="0">
                  <c:v>列3</c:v>
                </c:pt>
              </c:strCache>
            </c:strRef>
          </c:tx>
          <c:spPr>
            <a:ln w="22225" cap="rnd">
              <a:solidFill>
                <a:srgbClr val="5E6B7A"/>
              </a:solidFill>
              <a:round/>
            </a:ln>
          </c:spPr>
          <c:marker>
            <c:symbol val="none"/>
          </c:marker>
          <c:cat>
            <c:strRef>
              <c:f>'図15_分析8_晴れと曇り'!$B$2:$B$145</c:f>
              <c:strCache>
                <c:ptCount val="144"/>
                <c:pt idx="0">
                  <c:v>0:00</c:v>
                </c:pt>
                <c:pt idx="18">
                  <c:v>3:00</c:v>
                </c:pt>
                <c:pt idx="36">
                  <c:v>6:00</c:v>
                </c:pt>
                <c:pt idx="54">
                  <c:v>9:00</c:v>
                </c:pt>
                <c:pt idx="72">
                  <c:v>12:00</c:v>
                </c:pt>
                <c:pt idx="90">
                  <c:v>15:00</c:v>
                </c:pt>
                <c:pt idx="108">
                  <c:v>18:00</c:v>
                </c:pt>
                <c:pt idx="126">
                  <c:v>21:00</c:v>
                </c:pt>
              </c:strCache>
            </c:strRef>
          </c:cat>
          <c:val>
            <c:numRef>
              <c:f>'図15_分析8_晴れと曇り'!$J$2:$J$145</c:f>
              <c:numCache>
                <c:formatCode>General</c:formatCode>
                <c:ptCount val="144"/>
                <c:pt idx="0">
                  <c:v>24.738</c:v>
                </c:pt>
                <c:pt idx="1">
                  <c:v>24.727</c:v>
                </c:pt>
                <c:pt idx="2">
                  <c:v>24.742999999999999</c:v>
                </c:pt>
                <c:pt idx="3">
                  <c:v>24.629000000000001</c:v>
                </c:pt>
                <c:pt idx="4">
                  <c:v>24.654</c:v>
                </c:pt>
                <c:pt idx="5">
                  <c:v>24.698</c:v>
                </c:pt>
                <c:pt idx="6">
                  <c:v>24.803999999999998</c:v>
                </c:pt>
                <c:pt idx="7">
                  <c:v>24.824000000000002</c:v>
                </c:pt>
                <c:pt idx="8">
                  <c:v>24.859000000000002</c:v>
                </c:pt>
                <c:pt idx="9">
                  <c:v>24.774000000000001</c:v>
                </c:pt>
                <c:pt idx="10">
                  <c:v>24.812999999999999</c:v>
                </c:pt>
                <c:pt idx="11">
                  <c:v>24.841999999999999</c:v>
                </c:pt>
                <c:pt idx="12">
                  <c:v>24.881</c:v>
                </c:pt>
                <c:pt idx="13">
                  <c:v>24.920999999999999</c:v>
                </c:pt>
                <c:pt idx="14">
                  <c:v>24.849</c:v>
                </c:pt>
                <c:pt idx="15">
                  <c:v>24.876000000000001</c:v>
                </c:pt>
                <c:pt idx="16">
                  <c:v>24.823</c:v>
                </c:pt>
                <c:pt idx="17">
                  <c:v>24.748999999999999</c:v>
                </c:pt>
                <c:pt idx="18">
                  <c:v>24.734000000000002</c:v>
                </c:pt>
                <c:pt idx="19">
                  <c:v>24.768000000000001</c:v>
                </c:pt>
                <c:pt idx="20">
                  <c:v>24.763000000000002</c:v>
                </c:pt>
                <c:pt idx="21">
                  <c:v>24.692</c:v>
                </c:pt>
                <c:pt idx="22">
                  <c:v>24.599</c:v>
                </c:pt>
                <c:pt idx="23">
                  <c:v>24.542000000000002</c:v>
                </c:pt>
                <c:pt idx="24">
                  <c:v>24.466000000000001</c:v>
                </c:pt>
                <c:pt idx="25">
                  <c:v>24.407</c:v>
                </c:pt>
                <c:pt idx="26">
                  <c:v>24.382999999999999</c:v>
                </c:pt>
                <c:pt idx="27">
                  <c:v>24.468</c:v>
                </c:pt>
                <c:pt idx="28">
                  <c:v>24.571000000000002</c:v>
                </c:pt>
                <c:pt idx="29">
                  <c:v>24.661999999999999</c:v>
                </c:pt>
                <c:pt idx="30">
                  <c:v>24.710999999999999</c:v>
                </c:pt>
                <c:pt idx="31">
                  <c:v>24.75</c:v>
                </c:pt>
                <c:pt idx="32">
                  <c:v>24.827000000000002</c:v>
                </c:pt>
                <c:pt idx="33">
                  <c:v>24.933</c:v>
                </c:pt>
                <c:pt idx="34">
                  <c:v>24.984000000000002</c:v>
                </c:pt>
                <c:pt idx="35">
                  <c:v>25.082999999999998</c:v>
                </c:pt>
                <c:pt idx="36">
                  <c:v>25.308</c:v>
                </c:pt>
                <c:pt idx="37">
                  <c:v>25.428000000000001</c:v>
                </c:pt>
                <c:pt idx="38">
                  <c:v>25.556999999999999</c:v>
                </c:pt>
                <c:pt idx="39">
                  <c:v>25.655999999999999</c:v>
                </c:pt>
                <c:pt idx="40">
                  <c:v>25.757000000000001</c:v>
                </c:pt>
                <c:pt idx="41">
                  <c:v>26.036000000000001</c:v>
                </c:pt>
                <c:pt idx="42">
                  <c:v>26.132999999999999</c:v>
                </c:pt>
                <c:pt idx="43">
                  <c:v>26.488</c:v>
                </c:pt>
                <c:pt idx="44">
                  <c:v>26.439</c:v>
                </c:pt>
                <c:pt idx="45">
                  <c:v>26.363</c:v>
                </c:pt>
                <c:pt idx="46">
                  <c:v>26.536999999999999</c:v>
                </c:pt>
                <c:pt idx="47">
                  <c:v>26.989000000000001</c:v>
                </c:pt>
                <c:pt idx="48">
                  <c:v>28.05</c:v>
                </c:pt>
                <c:pt idx="49">
                  <c:v>28.245999999999999</c:v>
                </c:pt>
                <c:pt idx="50">
                  <c:v>28.279</c:v>
                </c:pt>
                <c:pt idx="51">
                  <c:v>27.527999999999999</c:v>
                </c:pt>
                <c:pt idx="52">
                  <c:v>27.844000000000001</c:v>
                </c:pt>
                <c:pt idx="53">
                  <c:v>28.126000000000001</c:v>
                </c:pt>
                <c:pt idx="54">
                  <c:v>28.774000000000001</c:v>
                </c:pt>
                <c:pt idx="55">
                  <c:v>28.369</c:v>
                </c:pt>
                <c:pt idx="56">
                  <c:v>28.212</c:v>
                </c:pt>
                <c:pt idx="57">
                  <c:v>28.832999999999998</c:v>
                </c:pt>
                <c:pt idx="58">
                  <c:v>28.391999999999999</c:v>
                </c:pt>
                <c:pt idx="59">
                  <c:v>28.503</c:v>
                </c:pt>
                <c:pt idx="60">
                  <c:v>28.506</c:v>
                </c:pt>
                <c:pt idx="61">
                  <c:v>29.021999999999998</c:v>
                </c:pt>
                <c:pt idx="62">
                  <c:v>28.672999999999998</c:v>
                </c:pt>
                <c:pt idx="63">
                  <c:v>29.027999999999999</c:v>
                </c:pt>
                <c:pt idx="64">
                  <c:v>29.13</c:v>
                </c:pt>
                <c:pt idx="65">
                  <c:v>29.463000000000001</c:v>
                </c:pt>
                <c:pt idx="66">
                  <c:v>29.797000000000001</c:v>
                </c:pt>
                <c:pt idx="67">
                  <c:v>30.248999999999999</c:v>
                </c:pt>
                <c:pt idx="68">
                  <c:v>30.664000000000001</c:v>
                </c:pt>
                <c:pt idx="69">
                  <c:v>30.774000000000001</c:v>
                </c:pt>
                <c:pt idx="70">
                  <c:v>30.442</c:v>
                </c:pt>
                <c:pt idx="71">
                  <c:v>31.056999999999999</c:v>
                </c:pt>
                <c:pt idx="72">
                  <c:v>31.177</c:v>
                </c:pt>
                <c:pt idx="73">
                  <c:v>30.919</c:v>
                </c:pt>
                <c:pt idx="74">
                  <c:v>31.219000000000001</c:v>
                </c:pt>
                <c:pt idx="75">
                  <c:v>31.559000000000001</c:v>
                </c:pt>
                <c:pt idx="76">
                  <c:v>31.638999999999999</c:v>
                </c:pt>
                <c:pt idx="77">
                  <c:v>32.058999999999997</c:v>
                </c:pt>
                <c:pt idx="78">
                  <c:v>31.873000000000001</c:v>
                </c:pt>
                <c:pt idx="79">
                  <c:v>31.984000000000002</c:v>
                </c:pt>
                <c:pt idx="80">
                  <c:v>31.539000000000001</c:v>
                </c:pt>
                <c:pt idx="81">
                  <c:v>31.689</c:v>
                </c:pt>
                <c:pt idx="82">
                  <c:v>31.390999999999998</c:v>
                </c:pt>
                <c:pt idx="83">
                  <c:v>31.116</c:v>
                </c:pt>
                <c:pt idx="84">
                  <c:v>31.071999999999999</c:v>
                </c:pt>
                <c:pt idx="85">
                  <c:v>31.181000000000001</c:v>
                </c:pt>
                <c:pt idx="86">
                  <c:v>31.231999999999999</c:v>
                </c:pt>
                <c:pt idx="87">
                  <c:v>31.236000000000001</c:v>
                </c:pt>
                <c:pt idx="88">
                  <c:v>31.193999999999999</c:v>
                </c:pt>
                <c:pt idx="89">
                  <c:v>30.963999999999999</c:v>
                </c:pt>
                <c:pt idx="90">
                  <c:v>31.167000000000002</c:v>
                </c:pt>
                <c:pt idx="91">
                  <c:v>31.169</c:v>
                </c:pt>
                <c:pt idx="92">
                  <c:v>31.300999999999998</c:v>
                </c:pt>
                <c:pt idx="93">
                  <c:v>31.146000000000001</c:v>
                </c:pt>
                <c:pt idx="94">
                  <c:v>31.385999999999999</c:v>
                </c:pt>
                <c:pt idx="95">
                  <c:v>31.437000000000001</c:v>
                </c:pt>
                <c:pt idx="96">
                  <c:v>31.266999999999999</c:v>
                </c:pt>
                <c:pt idx="97">
                  <c:v>31.154</c:v>
                </c:pt>
                <c:pt idx="98">
                  <c:v>31.11</c:v>
                </c:pt>
                <c:pt idx="99">
                  <c:v>31.204000000000001</c:v>
                </c:pt>
                <c:pt idx="100">
                  <c:v>31.157</c:v>
                </c:pt>
                <c:pt idx="101">
                  <c:v>31.234000000000002</c:v>
                </c:pt>
                <c:pt idx="102">
                  <c:v>31.047000000000001</c:v>
                </c:pt>
                <c:pt idx="103">
                  <c:v>30.798999999999999</c:v>
                </c:pt>
                <c:pt idx="104">
                  <c:v>30.741</c:v>
                </c:pt>
                <c:pt idx="105">
                  <c:v>30.777999999999999</c:v>
                </c:pt>
                <c:pt idx="106">
                  <c:v>30.658000000000001</c:v>
                </c:pt>
                <c:pt idx="107">
                  <c:v>30.190999999999999</c:v>
                </c:pt>
                <c:pt idx="108">
                  <c:v>29.88</c:v>
                </c:pt>
                <c:pt idx="109">
                  <c:v>29.893999999999998</c:v>
                </c:pt>
                <c:pt idx="110">
                  <c:v>29.6</c:v>
                </c:pt>
                <c:pt idx="111">
                  <c:v>29.486000000000001</c:v>
                </c:pt>
                <c:pt idx="112">
                  <c:v>29.343</c:v>
                </c:pt>
                <c:pt idx="113">
                  <c:v>28.997</c:v>
                </c:pt>
                <c:pt idx="114">
                  <c:v>29.03</c:v>
                </c:pt>
                <c:pt idx="115">
                  <c:v>28.92</c:v>
                </c:pt>
                <c:pt idx="116">
                  <c:v>28.98</c:v>
                </c:pt>
                <c:pt idx="117">
                  <c:v>28.850999999999999</c:v>
                </c:pt>
                <c:pt idx="118">
                  <c:v>28.661000000000001</c:v>
                </c:pt>
                <c:pt idx="119">
                  <c:v>28.649000000000001</c:v>
                </c:pt>
                <c:pt idx="120">
                  <c:v>28.4</c:v>
                </c:pt>
                <c:pt idx="121">
                  <c:v>28.256</c:v>
                </c:pt>
                <c:pt idx="122">
                  <c:v>28.087</c:v>
                </c:pt>
                <c:pt idx="123">
                  <c:v>27.872</c:v>
                </c:pt>
                <c:pt idx="124">
                  <c:v>27.699000000000002</c:v>
                </c:pt>
                <c:pt idx="125">
                  <c:v>27.49</c:v>
                </c:pt>
                <c:pt idx="126">
                  <c:v>27.504000000000001</c:v>
                </c:pt>
                <c:pt idx="127">
                  <c:v>27.448</c:v>
                </c:pt>
                <c:pt idx="128">
                  <c:v>27.998999999999999</c:v>
                </c:pt>
                <c:pt idx="129">
                  <c:v>28.027999999999999</c:v>
                </c:pt>
                <c:pt idx="130">
                  <c:v>28.114000000000001</c:v>
                </c:pt>
                <c:pt idx="131">
                  <c:v>27.917000000000002</c:v>
                </c:pt>
                <c:pt idx="132">
                  <c:v>27.986000000000001</c:v>
                </c:pt>
                <c:pt idx="133">
                  <c:v>28.623000000000001</c:v>
                </c:pt>
                <c:pt idx="134">
                  <c:v>28.303000000000001</c:v>
                </c:pt>
                <c:pt idx="135">
                  <c:v>27.81</c:v>
                </c:pt>
                <c:pt idx="136">
                  <c:v>27.613</c:v>
                </c:pt>
                <c:pt idx="137">
                  <c:v>27.492000000000001</c:v>
                </c:pt>
                <c:pt idx="138">
                  <c:v>27.417999999999999</c:v>
                </c:pt>
                <c:pt idx="139">
                  <c:v>27.388999999999999</c:v>
                </c:pt>
                <c:pt idx="140">
                  <c:v>27.295999999999999</c:v>
                </c:pt>
                <c:pt idx="141">
                  <c:v>27.283999999999999</c:v>
                </c:pt>
                <c:pt idx="142">
                  <c:v>27.254000000000001</c:v>
                </c:pt>
                <c:pt idx="143">
                  <c:v>27.206</c:v>
                </c:pt>
              </c:numCache>
            </c:numRef>
          </c:val>
          <c:smooth val="0"/>
          <c:extLst>
            <c:ext xmlns:c16="http://schemas.microsoft.com/office/drawing/2014/chart" uri="{C3380CC4-5D6E-409C-BE32-E72D297353CC}">
              <c16:uniqueId val="{00000001-6A9C-D541-9B7E-170771824AC7}"/>
            </c:ext>
          </c:extLst>
        </c:ser>
        <c:ser>
          <c:idx val="2"/>
          <c:order val="2"/>
          <c:tx>
            <c:strRef>
              <c:f>'図15_分析8_晴れと曇り'!$K$1</c:f>
              <c:strCache>
                <c:ptCount val="1"/>
                <c:pt idx="0">
                  <c:v>列8</c:v>
                </c:pt>
              </c:strCache>
            </c:strRef>
          </c:tx>
          <c:spPr>
            <a:ln w="22225" cap="rnd">
              <a:solidFill>
                <a:srgbClr val="01B8AA"/>
              </a:solidFill>
              <a:round/>
            </a:ln>
          </c:spPr>
          <c:marker>
            <c:symbol val="none"/>
          </c:marker>
          <c:cat>
            <c:strRef>
              <c:f>'図15_分析8_晴れと曇り'!$B$2:$B$145</c:f>
              <c:strCache>
                <c:ptCount val="144"/>
                <c:pt idx="0">
                  <c:v>0:00</c:v>
                </c:pt>
                <c:pt idx="18">
                  <c:v>3:00</c:v>
                </c:pt>
                <c:pt idx="36">
                  <c:v>6:00</c:v>
                </c:pt>
                <c:pt idx="54">
                  <c:v>9:00</c:v>
                </c:pt>
                <c:pt idx="72">
                  <c:v>12:00</c:v>
                </c:pt>
                <c:pt idx="90">
                  <c:v>15:00</c:v>
                </c:pt>
                <c:pt idx="108">
                  <c:v>18:00</c:v>
                </c:pt>
                <c:pt idx="126">
                  <c:v>21:00</c:v>
                </c:pt>
              </c:strCache>
            </c:strRef>
          </c:cat>
          <c:val>
            <c:numRef>
              <c:f>'図15_分析8_晴れと曇り'!$K$2:$K$145</c:f>
              <c:numCache>
                <c:formatCode>General</c:formatCode>
                <c:ptCount val="144"/>
                <c:pt idx="0">
                  <c:v>24.72</c:v>
                </c:pt>
                <c:pt idx="1">
                  <c:v>24.713000000000001</c:v>
                </c:pt>
                <c:pt idx="2">
                  <c:v>24.677</c:v>
                </c:pt>
                <c:pt idx="3">
                  <c:v>24.628</c:v>
                </c:pt>
                <c:pt idx="4">
                  <c:v>24.658000000000001</c:v>
                </c:pt>
                <c:pt idx="5">
                  <c:v>24.655999999999999</c:v>
                </c:pt>
                <c:pt idx="6">
                  <c:v>24.713000000000001</c:v>
                </c:pt>
                <c:pt idx="7">
                  <c:v>24.73</c:v>
                </c:pt>
                <c:pt idx="8">
                  <c:v>24.768000000000001</c:v>
                </c:pt>
                <c:pt idx="9">
                  <c:v>24.79</c:v>
                </c:pt>
                <c:pt idx="10">
                  <c:v>24.808</c:v>
                </c:pt>
                <c:pt idx="11">
                  <c:v>24.818000000000001</c:v>
                </c:pt>
                <c:pt idx="12">
                  <c:v>24.800999999999998</c:v>
                </c:pt>
                <c:pt idx="13">
                  <c:v>24.826000000000001</c:v>
                </c:pt>
                <c:pt idx="14">
                  <c:v>24.780999999999999</c:v>
                </c:pt>
                <c:pt idx="15">
                  <c:v>24.797000000000001</c:v>
                </c:pt>
                <c:pt idx="16">
                  <c:v>24.797999999999998</c:v>
                </c:pt>
                <c:pt idx="17">
                  <c:v>24.777999999999999</c:v>
                </c:pt>
                <c:pt idx="18">
                  <c:v>24.794</c:v>
                </c:pt>
                <c:pt idx="19">
                  <c:v>24.824000000000002</c:v>
                </c:pt>
                <c:pt idx="20">
                  <c:v>24.777000000000001</c:v>
                </c:pt>
                <c:pt idx="21">
                  <c:v>24.741</c:v>
                </c:pt>
                <c:pt idx="22">
                  <c:v>24.661999999999999</c:v>
                </c:pt>
                <c:pt idx="23">
                  <c:v>24.629000000000001</c:v>
                </c:pt>
                <c:pt idx="24">
                  <c:v>24.532</c:v>
                </c:pt>
                <c:pt idx="25">
                  <c:v>24.478000000000002</c:v>
                </c:pt>
                <c:pt idx="26">
                  <c:v>24.44</c:v>
                </c:pt>
                <c:pt idx="27">
                  <c:v>24.523</c:v>
                </c:pt>
                <c:pt idx="28">
                  <c:v>24.591999999999999</c:v>
                </c:pt>
                <c:pt idx="29">
                  <c:v>24.669</c:v>
                </c:pt>
                <c:pt idx="30">
                  <c:v>24.73</c:v>
                </c:pt>
                <c:pt idx="31">
                  <c:v>24.751000000000001</c:v>
                </c:pt>
                <c:pt idx="32">
                  <c:v>24.794</c:v>
                </c:pt>
                <c:pt idx="33">
                  <c:v>24.873999999999999</c:v>
                </c:pt>
                <c:pt idx="34">
                  <c:v>24.919</c:v>
                </c:pt>
                <c:pt idx="35">
                  <c:v>25.026</c:v>
                </c:pt>
                <c:pt idx="36">
                  <c:v>25.164000000000001</c:v>
                </c:pt>
                <c:pt idx="37">
                  <c:v>25.238</c:v>
                </c:pt>
                <c:pt idx="38">
                  <c:v>25.334</c:v>
                </c:pt>
                <c:pt idx="39">
                  <c:v>25.471</c:v>
                </c:pt>
                <c:pt idx="40">
                  <c:v>25.506</c:v>
                </c:pt>
                <c:pt idx="41">
                  <c:v>25.757999999999999</c:v>
                </c:pt>
                <c:pt idx="42">
                  <c:v>26.198</c:v>
                </c:pt>
                <c:pt idx="43">
                  <c:v>26.637</c:v>
                </c:pt>
                <c:pt idx="44">
                  <c:v>26.829000000000001</c:v>
                </c:pt>
                <c:pt idx="45">
                  <c:v>26.381</c:v>
                </c:pt>
                <c:pt idx="46">
                  <c:v>26.632999999999999</c:v>
                </c:pt>
                <c:pt idx="47">
                  <c:v>26.771999999999998</c:v>
                </c:pt>
                <c:pt idx="48">
                  <c:v>27.491</c:v>
                </c:pt>
                <c:pt idx="49">
                  <c:v>27.593</c:v>
                </c:pt>
                <c:pt idx="50">
                  <c:v>27.603000000000002</c:v>
                </c:pt>
                <c:pt idx="51">
                  <c:v>27.117999999999999</c:v>
                </c:pt>
                <c:pt idx="52">
                  <c:v>27.484000000000002</c:v>
                </c:pt>
                <c:pt idx="53">
                  <c:v>27.651</c:v>
                </c:pt>
                <c:pt idx="54">
                  <c:v>27.916</c:v>
                </c:pt>
                <c:pt idx="55">
                  <c:v>27.725999999999999</c:v>
                </c:pt>
                <c:pt idx="56">
                  <c:v>27.986999999999998</c:v>
                </c:pt>
                <c:pt idx="57">
                  <c:v>28.347000000000001</c:v>
                </c:pt>
                <c:pt idx="58">
                  <c:v>27.942</c:v>
                </c:pt>
                <c:pt idx="59">
                  <c:v>28.594000000000001</c:v>
                </c:pt>
                <c:pt idx="60">
                  <c:v>28.356999999999999</c:v>
                </c:pt>
                <c:pt idx="61">
                  <c:v>28.524000000000001</c:v>
                </c:pt>
                <c:pt idx="62">
                  <c:v>28.878</c:v>
                </c:pt>
                <c:pt idx="63">
                  <c:v>28.95</c:v>
                </c:pt>
                <c:pt idx="64">
                  <c:v>28.795999999999999</c:v>
                </c:pt>
                <c:pt idx="65">
                  <c:v>28.631</c:v>
                </c:pt>
                <c:pt idx="66">
                  <c:v>29.207000000000001</c:v>
                </c:pt>
                <c:pt idx="67">
                  <c:v>29.818000000000001</c:v>
                </c:pt>
                <c:pt idx="68">
                  <c:v>30.141999999999999</c:v>
                </c:pt>
                <c:pt idx="69">
                  <c:v>30.481999999999999</c:v>
                </c:pt>
                <c:pt idx="70">
                  <c:v>30.143999999999998</c:v>
                </c:pt>
                <c:pt idx="71">
                  <c:v>30.763999999999999</c:v>
                </c:pt>
                <c:pt idx="72">
                  <c:v>31.638999999999999</c:v>
                </c:pt>
                <c:pt idx="73">
                  <c:v>31.641999999999999</c:v>
                </c:pt>
                <c:pt idx="74">
                  <c:v>31.571999999999999</c:v>
                </c:pt>
                <c:pt idx="75">
                  <c:v>31.626999999999999</c:v>
                </c:pt>
                <c:pt idx="76">
                  <c:v>31.673999999999999</c:v>
                </c:pt>
                <c:pt idx="77">
                  <c:v>31.734000000000002</c:v>
                </c:pt>
                <c:pt idx="78">
                  <c:v>31.748000000000001</c:v>
                </c:pt>
                <c:pt idx="79">
                  <c:v>31.859000000000002</c:v>
                </c:pt>
                <c:pt idx="80">
                  <c:v>31.998999999999999</c:v>
                </c:pt>
                <c:pt idx="81">
                  <c:v>31.582000000000001</c:v>
                </c:pt>
                <c:pt idx="82">
                  <c:v>31.077999999999999</c:v>
                </c:pt>
                <c:pt idx="83">
                  <c:v>30.826000000000001</c:v>
                </c:pt>
                <c:pt idx="84">
                  <c:v>30.911000000000001</c:v>
                </c:pt>
                <c:pt idx="85">
                  <c:v>30.806000000000001</c:v>
                </c:pt>
                <c:pt idx="86">
                  <c:v>30.798999999999999</c:v>
                </c:pt>
                <c:pt idx="87">
                  <c:v>31.132999999999999</c:v>
                </c:pt>
                <c:pt idx="88">
                  <c:v>31.053000000000001</c:v>
                </c:pt>
                <c:pt idx="89">
                  <c:v>30.846</c:v>
                </c:pt>
                <c:pt idx="90">
                  <c:v>30.92</c:v>
                </c:pt>
                <c:pt idx="91">
                  <c:v>31.097000000000001</c:v>
                </c:pt>
                <c:pt idx="92">
                  <c:v>30.971</c:v>
                </c:pt>
                <c:pt idx="93">
                  <c:v>31.074000000000002</c:v>
                </c:pt>
                <c:pt idx="94">
                  <c:v>31.088000000000001</c:v>
                </c:pt>
                <c:pt idx="95">
                  <c:v>30.864000000000001</c:v>
                </c:pt>
                <c:pt idx="96">
                  <c:v>30.859000000000002</c:v>
                </c:pt>
                <c:pt idx="97">
                  <c:v>30.888999999999999</c:v>
                </c:pt>
                <c:pt idx="98">
                  <c:v>30.783000000000001</c:v>
                </c:pt>
                <c:pt idx="99">
                  <c:v>31.218</c:v>
                </c:pt>
                <c:pt idx="100">
                  <c:v>31.05</c:v>
                </c:pt>
                <c:pt idx="101">
                  <c:v>31.001999999999999</c:v>
                </c:pt>
                <c:pt idx="102">
                  <c:v>30.693999999999999</c:v>
                </c:pt>
                <c:pt idx="103">
                  <c:v>30.239000000000001</c:v>
                </c:pt>
                <c:pt idx="104">
                  <c:v>30.384</c:v>
                </c:pt>
                <c:pt idx="105">
                  <c:v>30.218</c:v>
                </c:pt>
                <c:pt idx="106">
                  <c:v>30.082000000000001</c:v>
                </c:pt>
                <c:pt idx="107">
                  <c:v>29.83</c:v>
                </c:pt>
                <c:pt idx="108">
                  <c:v>29.419</c:v>
                </c:pt>
                <c:pt idx="109">
                  <c:v>29.456</c:v>
                </c:pt>
                <c:pt idx="110">
                  <c:v>29.129000000000001</c:v>
                </c:pt>
                <c:pt idx="111">
                  <c:v>28.852</c:v>
                </c:pt>
                <c:pt idx="112">
                  <c:v>28.616</c:v>
                </c:pt>
                <c:pt idx="113">
                  <c:v>28.381</c:v>
                </c:pt>
                <c:pt idx="114">
                  <c:v>28.369</c:v>
                </c:pt>
                <c:pt idx="115">
                  <c:v>28.29</c:v>
                </c:pt>
                <c:pt idx="116">
                  <c:v>28.4</c:v>
                </c:pt>
                <c:pt idx="117">
                  <c:v>28.382999999999999</c:v>
                </c:pt>
                <c:pt idx="118">
                  <c:v>28.111999999999998</c:v>
                </c:pt>
                <c:pt idx="119">
                  <c:v>28.04</c:v>
                </c:pt>
                <c:pt idx="120">
                  <c:v>27.814</c:v>
                </c:pt>
                <c:pt idx="121">
                  <c:v>28.367999999999999</c:v>
                </c:pt>
                <c:pt idx="122">
                  <c:v>27.948</c:v>
                </c:pt>
                <c:pt idx="123">
                  <c:v>27.527999999999999</c:v>
                </c:pt>
                <c:pt idx="124">
                  <c:v>27.427</c:v>
                </c:pt>
                <c:pt idx="125">
                  <c:v>27.280999999999999</c:v>
                </c:pt>
                <c:pt idx="126">
                  <c:v>27.24</c:v>
                </c:pt>
                <c:pt idx="127">
                  <c:v>27.239000000000001</c:v>
                </c:pt>
                <c:pt idx="128">
                  <c:v>27.228000000000002</c:v>
                </c:pt>
                <c:pt idx="129">
                  <c:v>27.259</c:v>
                </c:pt>
                <c:pt idx="130">
                  <c:v>27.266999999999999</c:v>
                </c:pt>
                <c:pt idx="131">
                  <c:v>27.260999999999999</c:v>
                </c:pt>
                <c:pt idx="132">
                  <c:v>27.288</c:v>
                </c:pt>
                <c:pt idx="133">
                  <c:v>27.277000000000001</c:v>
                </c:pt>
                <c:pt idx="134">
                  <c:v>27.25</c:v>
                </c:pt>
                <c:pt idx="135">
                  <c:v>27.26</c:v>
                </c:pt>
                <c:pt idx="136">
                  <c:v>27.196000000000002</c:v>
                </c:pt>
                <c:pt idx="137">
                  <c:v>27.196999999999999</c:v>
                </c:pt>
                <c:pt idx="138">
                  <c:v>27.187999999999999</c:v>
                </c:pt>
                <c:pt idx="139">
                  <c:v>27.161000000000001</c:v>
                </c:pt>
                <c:pt idx="140">
                  <c:v>27.114000000000001</c:v>
                </c:pt>
                <c:pt idx="141">
                  <c:v>27.116</c:v>
                </c:pt>
                <c:pt idx="142">
                  <c:v>27.106000000000002</c:v>
                </c:pt>
                <c:pt idx="143">
                  <c:v>27.077000000000002</c:v>
                </c:pt>
              </c:numCache>
            </c:numRef>
          </c:val>
          <c:smooth val="0"/>
          <c:extLst>
            <c:ext xmlns:c16="http://schemas.microsoft.com/office/drawing/2014/chart" uri="{C3380CC4-5D6E-409C-BE32-E72D297353CC}">
              <c16:uniqueId val="{00000002-6A9C-D541-9B7E-170771824AC7}"/>
            </c:ext>
          </c:extLst>
        </c:ser>
        <c:ser>
          <c:idx val="3"/>
          <c:order val="3"/>
          <c:tx>
            <c:strRef>
              <c:f>'図15_分析8_晴れと曇り'!$L$1</c:f>
              <c:strCache>
                <c:ptCount val="1"/>
                <c:pt idx="0">
                  <c:v>列11</c:v>
                </c:pt>
              </c:strCache>
            </c:strRef>
          </c:tx>
          <c:spPr>
            <a:ln w="22225" cap="rnd">
              <a:solidFill>
                <a:srgbClr val="118DFF"/>
              </a:solidFill>
              <a:round/>
            </a:ln>
          </c:spPr>
          <c:marker>
            <c:symbol val="none"/>
          </c:marker>
          <c:cat>
            <c:strRef>
              <c:f>'図15_分析8_晴れと曇り'!$B$2:$B$145</c:f>
              <c:strCache>
                <c:ptCount val="144"/>
                <c:pt idx="0">
                  <c:v>0:00</c:v>
                </c:pt>
                <c:pt idx="18">
                  <c:v>3:00</c:v>
                </c:pt>
                <c:pt idx="36">
                  <c:v>6:00</c:v>
                </c:pt>
                <c:pt idx="54">
                  <c:v>9:00</c:v>
                </c:pt>
                <c:pt idx="72">
                  <c:v>12:00</c:v>
                </c:pt>
                <c:pt idx="90">
                  <c:v>15:00</c:v>
                </c:pt>
                <c:pt idx="108">
                  <c:v>18:00</c:v>
                </c:pt>
                <c:pt idx="126">
                  <c:v>21:00</c:v>
                </c:pt>
              </c:strCache>
            </c:strRef>
          </c:cat>
          <c:val>
            <c:numRef>
              <c:f>'図15_分析8_晴れと曇り'!$L$2:$L$145</c:f>
              <c:numCache>
                <c:formatCode>General</c:formatCode>
                <c:ptCount val="144"/>
                <c:pt idx="0">
                  <c:v>24.693999999999999</c:v>
                </c:pt>
                <c:pt idx="1">
                  <c:v>24.699000000000002</c:v>
                </c:pt>
                <c:pt idx="2">
                  <c:v>24.734000000000002</c:v>
                </c:pt>
                <c:pt idx="3">
                  <c:v>24.638000000000002</c:v>
                </c:pt>
                <c:pt idx="4">
                  <c:v>24.648</c:v>
                </c:pt>
                <c:pt idx="5">
                  <c:v>24.646000000000001</c:v>
                </c:pt>
                <c:pt idx="6">
                  <c:v>24.731000000000002</c:v>
                </c:pt>
                <c:pt idx="7">
                  <c:v>24.748000000000001</c:v>
                </c:pt>
                <c:pt idx="8">
                  <c:v>24.75</c:v>
                </c:pt>
                <c:pt idx="9">
                  <c:v>24.771000000000001</c:v>
                </c:pt>
                <c:pt idx="10">
                  <c:v>24.771999999999998</c:v>
                </c:pt>
                <c:pt idx="11">
                  <c:v>24.844000000000001</c:v>
                </c:pt>
                <c:pt idx="12">
                  <c:v>24.800999999999998</c:v>
                </c:pt>
                <c:pt idx="13">
                  <c:v>24.78</c:v>
                </c:pt>
                <c:pt idx="14">
                  <c:v>24.74</c:v>
                </c:pt>
                <c:pt idx="15">
                  <c:v>24.745000000000001</c:v>
                </c:pt>
                <c:pt idx="16">
                  <c:v>24.734000000000002</c:v>
                </c:pt>
                <c:pt idx="17">
                  <c:v>24.693000000000001</c:v>
                </c:pt>
                <c:pt idx="18">
                  <c:v>24.695</c:v>
                </c:pt>
                <c:pt idx="19">
                  <c:v>24.704999999999998</c:v>
                </c:pt>
                <c:pt idx="20">
                  <c:v>24.654</c:v>
                </c:pt>
                <c:pt idx="21">
                  <c:v>24.616</c:v>
                </c:pt>
                <c:pt idx="22">
                  <c:v>24.532</c:v>
                </c:pt>
                <c:pt idx="23">
                  <c:v>24.481999999999999</c:v>
                </c:pt>
                <c:pt idx="24">
                  <c:v>24.443999999999999</c:v>
                </c:pt>
                <c:pt idx="25">
                  <c:v>24.417999999999999</c:v>
                </c:pt>
                <c:pt idx="26">
                  <c:v>24.379000000000001</c:v>
                </c:pt>
                <c:pt idx="27">
                  <c:v>24.471</c:v>
                </c:pt>
                <c:pt idx="28">
                  <c:v>24.544</c:v>
                </c:pt>
                <c:pt idx="29">
                  <c:v>24.631</c:v>
                </c:pt>
                <c:pt idx="30">
                  <c:v>24.66</c:v>
                </c:pt>
                <c:pt idx="31">
                  <c:v>24.666</c:v>
                </c:pt>
                <c:pt idx="32">
                  <c:v>24.835000000000001</c:v>
                </c:pt>
                <c:pt idx="33">
                  <c:v>25.021999999999998</c:v>
                </c:pt>
                <c:pt idx="34">
                  <c:v>25.082000000000001</c:v>
                </c:pt>
                <c:pt idx="35">
                  <c:v>25.218</c:v>
                </c:pt>
                <c:pt idx="36">
                  <c:v>25.437999999999999</c:v>
                </c:pt>
                <c:pt idx="37">
                  <c:v>25.472000000000001</c:v>
                </c:pt>
                <c:pt idx="38">
                  <c:v>25.553000000000001</c:v>
                </c:pt>
                <c:pt idx="39">
                  <c:v>25.844999999999999</c:v>
                </c:pt>
                <c:pt idx="40">
                  <c:v>25.951000000000001</c:v>
                </c:pt>
                <c:pt idx="41">
                  <c:v>26.352</c:v>
                </c:pt>
                <c:pt idx="42">
                  <c:v>26.355</c:v>
                </c:pt>
                <c:pt idx="43">
                  <c:v>26.672999999999998</c:v>
                </c:pt>
                <c:pt idx="44">
                  <c:v>26.779</c:v>
                </c:pt>
                <c:pt idx="45">
                  <c:v>26.684000000000001</c:v>
                </c:pt>
                <c:pt idx="46">
                  <c:v>26.765000000000001</c:v>
                </c:pt>
                <c:pt idx="47">
                  <c:v>26.695</c:v>
                </c:pt>
                <c:pt idx="48">
                  <c:v>27.326000000000001</c:v>
                </c:pt>
                <c:pt idx="49">
                  <c:v>27.529</c:v>
                </c:pt>
                <c:pt idx="50">
                  <c:v>27.584</c:v>
                </c:pt>
                <c:pt idx="51">
                  <c:v>27.353999999999999</c:v>
                </c:pt>
                <c:pt idx="52">
                  <c:v>27.513999999999999</c:v>
                </c:pt>
                <c:pt idx="53">
                  <c:v>27.459</c:v>
                </c:pt>
                <c:pt idx="54">
                  <c:v>27.827000000000002</c:v>
                </c:pt>
                <c:pt idx="55">
                  <c:v>28.082000000000001</c:v>
                </c:pt>
                <c:pt idx="56">
                  <c:v>28.155999999999999</c:v>
                </c:pt>
                <c:pt idx="57">
                  <c:v>27.919</c:v>
                </c:pt>
                <c:pt idx="58">
                  <c:v>28.155000000000001</c:v>
                </c:pt>
                <c:pt idx="59">
                  <c:v>28.204000000000001</c:v>
                </c:pt>
                <c:pt idx="60">
                  <c:v>28.367999999999999</c:v>
                </c:pt>
                <c:pt idx="61">
                  <c:v>28.509</c:v>
                </c:pt>
                <c:pt idx="62">
                  <c:v>29.01</c:v>
                </c:pt>
                <c:pt idx="63">
                  <c:v>28.962</c:v>
                </c:pt>
                <c:pt idx="64">
                  <c:v>28.898</c:v>
                </c:pt>
                <c:pt idx="65">
                  <c:v>28.917999999999999</c:v>
                </c:pt>
                <c:pt idx="66">
                  <c:v>29.547000000000001</c:v>
                </c:pt>
                <c:pt idx="67">
                  <c:v>29.731999999999999</c:v>
                </c:pt>
                <c:pt idx="68">
                  <c:v>29.782</c:v>
                </c:pt>
                <c:pt idx="69">
                  <c:v>30.225999999999999</c:v>
                </c:pt>
                <c:pt idx="70">
                  <c:v>30.181999999999999</c:v>
                </c:pt>
                <c:pt idx="71">
                  <c:v>30.439</c:v>
                </c:pt>
                <c:pt idx="72">
                  <c:v>31.074999999999999</c:v>
                </c:pt>
                <c:pt idx="73">
                  <c:v>30.943999999999999</c:v>
                </c:pt>
                <c:pt idx="74">
                  <c:v>31.276</c:v>
                </c:pt>
                <c:pt idx="75">
                  <c:v>31.158999999999999</c:v>
                </c:pt>
                <c:pt idx="76">
                  <c:v>31.302</c:v>
                </c:pt>
                <c:pt idx="77">
                  <c:v>31.398</c:v>
                </c:pt>
                <c:pt idx="78">
                  <c:v>31.521999999999998</c:v>
                </c:pt>
                <c:pt idx="79">
                  <c:v>31.291</c:v>
                </c:pt>
                <c:pt idx="80">
                  <c:v>31.074000000000002</c:v>
                </c:pt>
                <c:pt idx="81">
                  <c:v>30.74</c:v>
                </c:pt>
                <c:pt idx="82">
                  <c:v>30.914999999999999</c:v>
                </c:pt>
                <c:pt idx="83">
                  <c:v>30.678000000000001</c:v>
                </c:pt>
                <c:pt idx="84">
                  <c:v>30.524000000000001</c:v>
                </c:pt>
                <c:pt idx="85">
                  <c:v>30.834</c:v>
                </c:pt>
                <c:pt idx="86">
                  <c:v>30.797999999999998</c:v>
                </c:pt>
                <c:pt idx="87">
                  <c:v>30.818999999999999</c:v>
                </c:pt>
                <c:pt idx="88">
                  <c:v>30.802</c:v>
                </c:pt>
                <c:pt idx="89">
                  <c:v>30.762</c:v>
                </c:pt>
                <c:pt idx="90">
                  <c:v>30.768000000000001</c:v>
                </c:pt>
                <c:pt idx="91">
                  <c:v>30.731999999999999</c:v>
                </c:pt>
                <c:pt idx="92">
                  <c:v>30.594999999999999</c:v>
                </c:pt>
                <c:pt idx="93">
                  <c:v>30.95</c:v>
                </c:pt>
                <c:pt idx="94">
                  <c:v>30.707999999999998</c:v>
                </c:pt>
                <c:pt idx="95">
                  <c:v>30.684000000000001</c:v>
                </c:pt>
                <c:pt idx="96">
                  <c:v>30.739000000000001</c:v>
                </c:pt>
                <c:pt idx="97">
                  <c:v>30.693000000000001</c:v>
                </c:pt>
                <c:pt idx="98">
                  <c:v>30.619</c:v>
                </c:pt>
                <c:pt idx="99">
                  <c:v>30.716000000000001</c:v>
                </c:pt>
                <c:pt idx="100">
                  <c:v>30.824000000000002</c:v>
                </c:pt>
                <c:pt idx="101">
                  <c:v>30.824000000000002</c:v>
                </c:pt>
                <c:pt idx="102">
                  <c:v>30.553999999999998</c:v>
                </c:pt>
                <c:pt idx="103">
                  <c:v>30.303999999999998</c:v>
                </c:pt>
                <c:pt idx="104">
                  <c:v>30.126000000000001</c:v>
                </c:pt>
                <c:pt idx="105">
                  <c:v>30.050999999999998</c:v>
                </c:pt>
                <c:pt idx="106">
                  <c:v>29.914999999999999</c:v>
                </c:pt>
                <c:pt idx="107">
                  <c:v>29.535</c:v>
                </c:pt>
                <c:pt idx="108">
                  <c:v>29.375</c:v>
                </c:pt>
                <c:pt idx="109">
                  <c:v>29.286000000000001</c:v>
                </c:pt>
                <c:pt idx="110">
                  <c:v>28.998000000000001</c:v>
                </c:pt>
                <c:pt idx="111">
                  <c:v>29.064</c:v>
                </c:pt>
                <c:pt idx="112">
                  <c:v>28.934000000000001</c:v>
                </c:pt>
                <c:pt idx="113">
                  <c:v>28.72</c:v>
                </c:pt>
                <c:pt idx="114">
                  <c:v>28.87</c:v>
                </c:pt>
                <c:pt idx="115">
                  <c:v>28.696000000000002</c:v>
                </c:pt>
                <c:pt idx="116">
                  <c:v>28.521999999999998</c:v>
                </c:pt>
                <c:pt idx="117">
                  <c:v>28.347999999999999</c:v>
                </c:pt>
                <c:pt idx="118">
                  <c:v>28.18</c:v>
                </c:pt>
                <c:pt idx="119">
                  <c:v>28.088000000000001</c:v>
                </c:pt>
                <c:pt idx="120">
                  <c:v>27.923999999999999</c:v>
                </c:pt>
                <c:pt idx="121">
                  <c:v>27.698</c:v>
                </c:pt>
                <c:pt idx="122">
                  <c:v>27.507999999999999</c:v>
                </c:pt>
                <c:pt idx="123">
                  <c:v>27.420999999999999</c:v>
                </c:pt>
                <c:pt idx="124">
                  <c:v>27.43</c:v>
                </c:pt>
                <c:pt idx="125">
                  <c:v>27.369</c:v>
                </c:pt>
                <c:pt idx="126">
                  <c:v>27.32</c:v>
                </c:pt>
                <c:pt idx="127">
                  <c:v>27.285</c:v>
                </c:pt>
                <c:pt idx="128">
                  <c:v>27.302</c:v>
                </c:pt>
                <c:pt idx="129">
                  <c:v>27.315999999999999</c:v>
                </c:pt>
                <c:pt idx="130">
                  <c:v>27.344999999999999</c:v>
                </c:pt>
                <c:pt idx="131">
                  <c:v>27.327000000000002</c:v>
                </c:pt>
                <c:pt idx="132">
                  <c:v>27.373000000000001</c:v>
                </c:pt>
                <c:pt idx="133">
                  <c:v>27.353999999999999</c:v>
                </c:pt>
                <c:pt idx="134">
                  <c:v>27.289000000000001</c:v>
                </c:pt>
                <c:pt idx="135">
                  <c:v>27.274000000000001</c:v>
                </c:pt>
                <c:pt idx="136">
                  <c:v>27.221</c:v>
                </c:pt>
                <c:pt idx="137">
                  <c:v>27.228999999999999</c:v>
                </c:pt>
                <c:pt idx="138">
                  <c:v>27.242000000000001</c:v>
                </c:pt>
                <c:pt idx="139">
                  <c:v>27.207999999999998</c:v>
                </c:pt>
                <c:pt idx="140">
                  <c:v>27.181999999999999</c:v>
                </c:pt>
                <c:pt idx="141">
                  <c:v>27.161000000000001</c:v>
                </c:pt>
                <c:pt idx="142">
                  <c:v>27.145</c:v>
                </c:pt>
                <c:pt idx="143">
                  <c:v>27.11</c:v>
                </c:pt>
              </c:numCache>
            </c:numRef>
          </c:val>
          <c:smooth val="0"/>
          <c:extLst>
            <c:ext xmlns:c16="http://schemas.microsoft.com/office/drawing/2014/chart" uri="{C3380CC4-5D6E-409C-BE32-E72D297353CC}">
              <c16:uniqueId val="{00000003-6A9C-D541-9B7E-170771824AC7}"/>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none"/>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36"/>
          <c:min val="24"/>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2"/>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
          <c:y val="0.05"/>
          <c:w val="0.76"/>
          <c:h val="0.72"/>
        </c:manualLayout>
      </c:layout>
      <c:lineChart>
        <c:grouping val="standard"/>
        <c:varyColors val="0"/>
        <c:ser>
          <c:idx val="0"/>
          <c:order val="0"/>
          <c:tx>
            <c:strRef>
              <c:f>'図15_分析8_晴れと曇り'!$G$1</c:f>
              <c:strCache>
                <c:ptCount val="1"/>
                <c:pt idx="0">
                  <c:v>列8</c:v>
                </c:pt>
              </c:strCache>
            </c:strRef>
          </c:tx>
          <c:spPr>
            <a:ln w="22225" cap="rnd">
              <a:solidFill>
                <a:srgbClr val="01B8AA"/>
              </a:solidFill>
              <a:round/>
            </a:ln>
          </c:spPr>
          <c:marker>
            <c:symbol val="none"/>
          </c:marker>
          <c:cat>
            <c:strRef>
              <c:f>'図15_分析8_晴れと曇り'!$B$2:$B$145</c:f>
              <c:strCache>
                <c:ptCount val="144"/>
                <c:pt idx="0">
                  <c:v>0:00</c:v>
                </c:pt>
                <c:pt idx="18">
                  <c:v>3:00</c:v>
                </c:pt>
                <c:pt idx="36">
                  <c:v>6:00</c:v>
                </c:pt>
                <c:pt idx="54">
                  <c:v>9:00</c:v>
                </c:pt>
                <c:pt idx="72">
                  <c:v>12:00</c:v>
                </c:pt>
                <c:pt idx="90">
                  <c:v>15:00</c:v>
                </c:pt>
                <c:pt idx="108">
                  <c:v>18:00</c:v>
                </c:pt>
                <c:pt idx="126">
                  <c:v>21:00</c:v>
                </c:pt>
              </c:strCache>
            </c:strRef>
          </c:cat>
          <c:val>
            <c:numRef>
              <c:f>'図15_分析8_晴れと曇り'!$G$2:$G$145</c:f>
              <c:numCache>
                <c:formatCode>General</c:formatCode>
                <c:ptCount val="144"/>
                <c:pt idx="0">
                  <c:v>9.4E-2</c:v>
                </c:pt>
                <c:pt idx="1">
                  <c:v>3.3000000000000002E-2</c:v>
                </c:pt>
                <c:pt idx="2">
                  <c:v>7.5999999999999998E-2</c:v>
                </c:pt>
                <c:pt idx="3">
                  <c:v>5.1999999999999998E-2</c:v>
                </c:pt>
                <c:pt idx="4">
                  <c:v>2.9000000000000001E-2</c:v>
                </c:pt>
                <c:pt idx="5">
                  <c:v>-0.04</c:v>
                </c:pt>
                <c:pt idx="6">
                  <c:v>4.8000000000000001E-2</c:v>
                </c:pt>
                <c:pt idx="7">
                  <c:v>4.8000000000000001E-2</c:v>
                </c:pt>
                <c:pt idx="8">
                  <c:v>6.2E-2</c:v>
                </c:pt>
                <c:pt idx="9">
                  <c:v>8.7999999999999995E-2</c:v>
                </c:pt>
                <c:pt idx="10">
                  <c:v>0.11799999999999999</c:v>
                </c:pt>
                <c:pt idx="11">
                  <c:v>0.156</c:v>
                </c:pt>
                <c:pt idx="12">
                  <c:v>0.113</c:v>
                </c:pt>
                <c:pt idx="13">
                  <c:v>5.8999999999999997E-2</c:v>
                </c:pt>
                <c:pt idx="14">
                  <c:v>6.6000000000000003E-2</c:v>
                </c:pt>
                <c:pt idx="15">
                  <c:v>6.3E-2</c:v>
                </c:pt>
                <c:pt idx="16">
                  <c:v>8.4000000000000005E-2</c:v>
                </c:pt>
                <c:pt idx="17">
                  <c:v>8.2000000000000003E-2</c:v>
                </c:pt>
                <c:pt idx="18">
                  <c:v>7.8E-2</c:v>
                </c:pt>
                <c:pt idx="19">
                  <c:v>9.6000000000000002E-2</c:v>
                </c:pt>
                <c:pt idx="20">
                  <c:v>0.109</c:v>
                </c:pt>
                <c:pt idx="21">
                  <c:v>9.0999999999999998E-2</c:v>
                </c:pt>
                <c:pt idx="22">
                  <c:v>3.1E-2</c:v>
                </c:pt>
                <c:pt idx="23">
                  <c:v>3.1E-2</c:v>
                </c:pt>
                <c:pt idx="24">
                  <c:v>4.2000000000000003E-2</c:v>
                </c:pt>
                <c:pt idx="25">
                  <c:v>6.9000000000000006E-2</c:v>
                </c:pt>
                <c:pt idx="26">
                  <c:v>1.7999999999999999E-2</c:v>
                </c:pt>
                <c:pt idx="27">
                  <c:v>0.10299999999999999</c:v>
                </c:pt>
                <c:pt idx="28">
                  <c:v>7.0999999999999994E-2</c:v>
                </c:pt>
                <c:pt idx="29">
                  <c:v>6.3E-2</c:v>
                </c:pt>
                <c:pt idx="30">
                  <c:v>0.13800000000000001</c:v>
                </c:pt>
                <c:pt idx="31">
                  <c:v>0.13700000000000001</c:v>
                </c:pt>
                <c:pt idx="32">
                  <c:v>0.06</c:v>
                </c:pt>
                <c:pt idx="33">
                  <c:v>6.9000000000000006E-2</c:v>
                </c:pt>
                <c:pt idx="34">
                  <c:v>0.06</c:v>
                </c:pt>
                <c:pt idx="35">
                  <c:v>-2.4E-2</c:v>
                </c:pt>
                <c:pt idx="36">
                  <c:v>-8.3000000000000004E-2</c:v>
                </c:pt>
                <c:pt idx="37">
                  <c:v>-0.14399999999999999</c:v>
                </c:pt>
                <c:pt idx="38">
                  <c:v>-1.4E-2</c:v>
                </c:pt>
                <c:pt idx="39">
                  <c:v>-0.123</c:v>
                </c:pt>
                <c:pt idx="40">
                  <c:v>-9.1999999999999998E-2</c:v>
                </c:pt>
                <c:pt idx="41">
                  <c:v>6.4000000000000001E-2</c:v>
                </c:pt>
                <c:pt idx="42">
                  <c:v>0.247</c:v>
                </c:pt>
                <c:pt idx="43">
                  <c:v>0.41799999999999998</c:v>
                </c:pt>
                <c:pt idx="44">
                  <c:v>7.2999999999999995E-2</c:v>
                </c:pt>
                <c:pt idx="45">
                  <c:v>0.253</c:v>
                </c:pt>
                <c:pt idx="46">
                  <c:v>0.11899999999999999</c:v>
                </c:pt>
                <c:pt idx="47">
                  <c:v>0.189</c:v>
                </c:pt>
                <c:pt idx="48">
                  <c:v>0.64100000000000001</c:v>
                </c:pt>
                <c:pt idx="49">
                  <c:v>-7.0999999999999994E-2</c:v>
                </c:pt>
                <c:pt idx="50">
                  <c:v>-0.31900000000000001</c:v>
                </c:pt>
                <c:pt idx="51">
                  <c:v>-0.63200000000000001</c:v>
                </c:pt>
                <c:pt idx="52">
                  <c:v>-9.8000000000000004E-2</c:v>
                </c:pt>
                <c:pt idx="53">
                  <c:v>-0.23400000000000001</c:v>
                </c:pt>
                <c:pt idx="54">
                  <c:v>-0.121</c:v>
                </c:pt>
                <c:pt idx="55">
                  <c:v>-0.36099999999999999</c:v>
                </c:pt>
                <c:pt idx="56">
                  <c:v>-5.8999999999999997E-2</c:v>
                </c:pt>
                <c:pt idx="57">
                  <c:v>-0.66700000000000004</c:v>
                </c:pt>
                <c:pt idx="58">
                  <c:v>5.0999999999999997E-2</c:v>
                </c:pt>
                <c:pt idx="59">
                  <c:v>0.15</c:v>
                </c:pt>
                <c:pt idx="60">
                  <c:v>-0.28199999999999997</c:v>
                </c:pt>
                <c:pt idx="61">
                  <c:v>-0.36799999999999999</c:v>
                </c:pt>
                <c:pt idx="62">
                  <c:v>-0.112</c:v>
                </c:pt>
                <c:pt idx="63">
                  <c:v>0.30199999999999999</c:v>
                </c:pt>
                <c:pt idx="64">
                  <c:v>-0.109</c:v>
                </c:pt>
                <c:pt idx="65">
                  <c:v>-7.1999999999999995E-2</c:v>
                </c:pt>
                <c:pt idx="66">
                  <c:v>6.8000000000000005E-2</c:v>
                </c:pt>
                <c:pt idx="67">
                  <c:v>8.2000000000000003E-2</c:v>
                </c:pt>
                <c:pt idx="68">
                  <c:v>0.502</c:v>
                </c:pt>
                <c:pt idx="69">
                  <c:v>0.93600000000000005</c:v>
                </c:pt>
                <c:pt idx="70">
                  <c:v>1.0900000000000001</c:v>
                </c:pt>
                <c:pt idx="71">
                  <c:v>1.546</c:v>
                </c:pt>
                <c:pt idx="72">
                  <c:v>1.734</c:v>
                </c:pt>
                <c:pt idx="73">
                  <c:v>0.86699999999999999</c:v>
                </c:pt>
                <c:pt idx="74">
                  <c:v>0.871</c:v>
                </c:pt>
                <c:pt idx="75">
                  <c:v>1.37</c:v>
                </c:pt>
                <c:pt idx="76">
                  <c:v>0.93</c:v>
                </c:pt>
                <c:pt idx="77">
                  <c:v>-0.25900000000000001</c:v>
                </c:pt>
                <c:pt idx="78">
                  <c:v>0.307</c:v>
                </c:pt>
                <c:pt idx="79">
                  <c:v>-8.5999999999999993E-2</c:v>
                </c:pt>
                <c:pt idx="80">
                  <c:v>-2.5999999999999999E-2</c:v>
                </c:pt>
                <c:pt idx="81">
                  <c:v>5.1999999999999998E-2</c:v>
                </c:pt>
                <c:pt idx="82">
                  <c:v>0.436</c:v>
                </c:pt>
                <c:pt idx="83">
                  <c:v>0.28799999999999998</c:v>
                </c:pt>
                <c:pt idx="84">
                  <c:v>-0.247</c:v>
                </c:pt>
                <c:pt idx="85">
                  <c:v>0.84799999999999998</c:v>
                </c:pt>
                <c:pt idx="86">
                  <c:v>-2.1000000000000001E-2</c:v>
                </c:pt>
                <c:pt idx="87">
                  <c:v>0.189</c:v>
                </c:pt>
                <c:pt idx="88">
                  <c:v>0.44</c:v>
                </c:pt>
                <c:pt idx="89">
                  <c:v>0.254</c:v>
                </c:pt>
                <c:pt idx="90">
                  <c:v>0.627</c:v>
                </c:pt>
                <c:pt idx="91">
                  <c:v>0.70099999999999996</c:v>
                </c:pt>
                <c:pt idx="92">
                  <c:v>0.58799999999999997</c:v>
                </c:pt>
                <c:pt idx="93">
                  <c:v>0.64900000000000002</c:v>
                </c:pt>
                <c:pt idx="94">
                  <c:v>0.37</c:v>
                </c:pt>
                <c:pt idx="95">
                  <c:v>-0.311</c:v>
                </c:pt>
                <c:pt idx="96">
                  <c:v>0.20300000000000001</c:v>
                </c:pt>
                <c:pt idx="97">
                  <c:v>0.27</c:v>
                </c:pt>
                <c:pt idx="98">
                  <c:v>0.20599999999999999</c:v>
                </c:pt>
                <c:pt idx="99">
                  <c:v>0.28799999999999998</c:v>
                </c:pt>
                <c:pt idx="100">
                  <c:v>7.6999999999999999E-2</c:v>
                </c:pt>
                <c:pt idx="101">
                  <c:v>-0.13</c:v>
                </c:pt>
                <c:pt idx="102">
                  <c:v>-0.19600000000000001</c:v>
                </c:pt>
                <c:pt idx="103">
                  <c:v>-0.32300000000000001</c:v>
                </c:pt>
                <c:pt idx="104">
                  <c:v>-2.8000000000000001E-2</c:v>
                </c:pt>
                <c:pt idx="105">
                  <c:v>0.10100000000000001</c:v>
                </c:pt>
                <c:pt idx="106">
                  <c:v>0.10100000000000001</c:v>
                </c:pt>
                <c:pt idx="107">
                  <c:v>0.161</c:v>
                </c:pt>
                <c:pt idx="108">
                  <c:v>-0.28899999999999998</c:v>
                </c:pt>
                <c:pt idx="109">
                  <c:v>-0.45200000000000001</c:v>
                </c:pt>
                <c:pt idx="110">
                  <c:v>-0.55700000000000005</c:v>
                </c:pt>
                <c:pt idx="111">
                  <c:v>-0.42899999999999999</c:v>
                </c:pt>
                <c:pt idx="112">
                  <c:v>-0.48899999999999999</c:v>
                </c:pt>
                <c:pt idx="113">
                  <c:v>-0.55100000000000005</c:v>
                </c:pt>
                <c:pt idx="114">
                  <c:v>-0.432</c:v>
                </c:pt>
                <c:pt idx="115">
                  <c:v>-0.46899999999999997</c:v>
                </c:pt>
                <c:pt idx="116">
                  <c:v>-0.49</c:v>
                </c:pt>
                <c:pt idx="117">
                  <c:v>-0.45300000000000001</c:v>
                </c:pt>
                <c:pt idx="118">
                  <c:v>-0.50600000000000001</c:v>
                </c:pt>
                <c:pt idx="119">
                  <c:v>-0.54600000000000004</c:v>
                </c:pt>
                <c:pt idx="120">
                  <c:v>-0.30399999999999999</c:v>
                </c:pt>
                <c:pt idx="121">
                  <c:v>-0.33600000000000002</c:v>
                </c:pt>
                <c:pt idx="122">
                  <c:v>-0.36099999999999999</c:v>
                </c:pt>
                <c:pt idx="123">
                  <c:v>-0.29399999999999998</c:v>
                </c:pt>
                <c:pt idx="124">
                  <c:v>-0.34100000000000003</c:v>
                </c:pt>
                <c:pt idx="125">
                  <c:v>-0.219</c:v>
                </c:pt>
                <c:pt idx="126">
                  <c:v>-0.158</c:v>
                </c:pt>
                <c:pt idx="127">
                  <c:v>-7.1999999999999995E-2</c:v>
                </c:pt>
                <c:pt idx="128">
                  <c:v>-2.5999999999999999E-2</c:v>
                </c:pt>
                <c:pt idx="129">
                  <c:v>-0.126</c:v>
                </c:pt>
                <c:pt idx="130">
                  <c:v>-0.14199999999999999</c:v>
                </c:pt>
                <c:pt idx="131">
                  <c:v>2.1000000000000001E-2</c:v>
                </c:pt>
                <c:pt idx="132">
                  <c:v>-7.6999999999999999E-2</c:v>
                </c:pt>
                <c:pt idx="133">
                  <c:v>-0.68600000000000005</c:v>
                </c:pt>
                <c:pt idx="134">
                  <c:v>-0.36299999999999999</c:v>
                </c:pt>
                <c:pt idx="135">
                  <c:v>-0.123</c:v>
                </c:pt>
                <c:pt idx="136">
                  <c:v>-5.1999999999999998E-2</c:v>
                </c:pt>
                <c:pt idx="137">
                  <c:v>-4.7E-2</c:v>
                </c:pt>
                <c:pt idx="138">
                  <c:v>-8.3000000000000004E-2</c:v>
                </c:pt>
                <c:pt idx="139">
                  <c:v>-5.3999999999999999E-2</c:v>
                </c:pt>
                <c:pt idx="140">
                  <c:v>-1.2E-2</c:v>
                </c:pt>
                <c:pt idx="141">
                  <c:v>-7.5999999999999998E-2</c:v>
                </c:pt>
                <c:pt idx="142">
                  <c:v>-6.3E-2</c:v>
                </c:pt>
                <c:pt idx="143">
                  <c:v>-0.14699999999999999</c:v>
                </c:pt>
              </c:numCache>
            </c:numRef>
          </c:val>
          <c:smooth val="0"/>
          <c:extLst>
            <c:ext xmlns:c16="http://schemas.microsoft.com/office/drawing/2014/chart" uri="{C3380CC4-5D6E-409C-BE32-E72D297353CC}">
              <c16:uniqueId val="{00000000-19FF-A347-9294-C55937E0A65F}"/>
            </c:ext>
          </c:extLst>
        </c:ser>
        <c:ser>
          <c:idx val="1"/>
          <c:order val="1"/>
          <c:tx>
            <c:strRef>
              <c:f>'図15_分析8_晴れと曇り'!$H$1</c:f>
              <c:strCache>
                <c:ptCount val="1"/>
                <c:pt idx="0">
                  <c:v>列11</c:v>
                </c:pt>
              </c:strCache>
            </c:strRef>
          </c:tx>
          <c:spPr>
            <a:ln w="22225" cap="rnd">
              <a:solidFill>
                <a:srgbClr val="118DFF"/>
              </a:solidFill>
              <a:round/>
            </a:ln>
          </c:spPr>
          <c:marker>
            <c:symbol val="none"/>
          </c:marker>
          <c:cat>
            <c:strRef>
              <c:f>'図15_分析8_晴れと曇り'!$B$2:$B$145</c:f>
              <c:strCache>
                <c:ptCount val="144"/>
                <c:pt idx="0">
                  <c:v>0:00</c:v>
                </c:pt>
                <c:pt idx="18">
                  <c:v>3:00</c:v>
                </c:pt>
                <c:pt idx="36">
                  <c:v>6:00</c:v>
                </c:pt>
                <c:pt idx="54">
                  <c:v>9:00</c:v>
                </c:pt>
                <c:pt idx="72">
                  <c:v>12:00</c:v>
                </c:pt>
                <c:pt idx="90">
                  <c:v>15:00</c:v>
                </c:pt>
                <c:pt idx="108">
                  <c:v>18:00</c:v>
                </c:pt>
                <c:pt idx="126">
                  <c:v>21:00</c:v>
                </c:pt>
              </c:strCache>
            </c:strRef>
          </c:cat>
          <c:val>
            <c:numRef>
              <c:f>'図15_分析8_晴れと曇り'!$H$2:$H$145</c:f>
              <c:numCache>
                <c:formatCode>General</c:formatCode>
                <c:ptCount val="144"/>
                <c:pt idx="0">
                  <c:v>2.5999999999999999E-2</c:v>
                </c:pt>
                <c:pt idx="1">
                  <c:v>-2.5999999999999999E-2</c:v>
                </c:pt>
                <c:pt idx="2">
                  <c:v>-2E-3</c:v>
                </c:pt>
                <c:pt idx="3">
                  <c:v>-2.4E-2</c:v>
                </c:pt>
                <c:pt idx="4">
                  <c:v>-3.9E-2</c:v>
                </c:pt>
                <c:pt idx="5">
                  <c:v>-0.05</c:v>
                </c:pt>
                <c:pt idx="6">
                  <c:v>-4.0000000000000001E-3</c:v>
                </c:pt>
                <c:pt idx="7">
                  <c:v>2.1000000000000001E-2</c:v>
                </c:pt>
                <c:pt idx="8">
                  <c:v>5.0000000000000001E-3</c:v>
                </c:pt>
                <c:pt idx="9">
                  <c:v>2.1000000000000001E-2</c:v>
                </c:pt>
                <c:pt idx="10">
                  <c:v>3.9E-2</c:v>
                </c:pt>
                <c:pt idx="11">
                  <c:v>8.1000000000000003E-2</c:v>
                </c:pt>
                <c:pt idx="12">
                  <c:v>0.06</c:v>
                </c:pt>
                <c:pt idx="13">
                  <c:v>3.1E-2</c:v>
                </c:pt>
                <c:pt idx="14">
                  <c:v>4.1000000000000002E-2</c:v>
                </c:pt>
                <c:pt idx="15">
                  <c:v>4.8000000000000001E-2</c:v>
                </c:pt>
                <c:pt idx="16">
                  <c:v>0.10199999999999999</c:v>
                </c:pt>
                <c:pt idx="17">
                  <c:v>7.4999999999999997E-2</c:v>
                </c:pt>
                <c:pt idx="18">
                  <c:v>8.5999999999999993E-2</c:v>
                </c:pt>
                <c:pt idx="19">
                  <c:v>0.107</c:v>
                </c:pt>
                <c:pt idx="20">
                  <c:v>9.1999999999999998E-2</c:v>
                </c:pt>
                <c:pt idx="21">
                  <c:v>0.1</c:v>
                </c:pt>
                <c:pt idx="22">
                  <c:v>6.6000000000000003E-2</c:v>
                </c:pt>
                <c:pt idx="23">
                  <c:v>6.3E-2</c:v>
                </c:pt>
                <c:pt idx="24">
                  <c:v>8.5000000000000006E-2</c:v>
                </c:pt>
                <c:pt idx="25">
                  <c:v>9.1999999999999998E-2</c:v>
                </c:pt>
                <c:pt idx="26">
                  <c:v>3.7999999999999999E-2</c:v>
                </c:pt>
                <c:pt idx="27">
                  <c:v>0.11700000000000001</c:v>
                </c:pt>
                <c:pt idx="28">
                  <c:v>7.4999999999999997E-2</c:v>
                </c:pt>
                <c:pt idx="29">
                  <c:v>5.2999999999999999E-2</c:v>
                </c:pt>
                <c:pt idx="30">
                  <c:v>7.2999999999999995E-2</c:v>
                </c:pt>
                <c:pt idx="31">
                  <c:v>8.1000000000000003E-2</c:v>
                </c:pt>
                <c:pt idx="32">
                  <c:v>1.9E-2</c:v>
                </c:pt>
                <c:pt idx="33">
                  <c:v>2.8000000000000001E-2</c:v>
                </c:pt>
                <c:pt idx="34">
                  <c:v>7.4999999999999997E-2</c:v>
                </c:pt>
                <c:pt idx="35">
                  <c:v>-6.4000000000000001E-2</c:v>
                </c:pt>
                <c:pt idx="36">
                  <c:v>-0.14499999999999999</c:v>
                </c:pt>
                <c:pt idx="37">
                  <c:v>-0.19800000000000001</c:v>
                </c:pt>
                <c:pt idx="38">
                  <c:v>-0.122</c:v>
                </c:pt>
                <c:pt idx="39">
                  <c:v>-0.121</c:v>
                </c:pt>
                <c:pt idx="40">
                  <c:v>-0.13100000000000001</c:v>
                </c:pt>
                <c:pt idx="41">
                  <c:v>1.0999999999999999E-2</c:v>
                </c:pt>
                <c:pt idx="42">
                  <c:v>0.155</c:v>
                </c:pt>
                <c:pt idx="43">
                  <c:v>0.23799999999999999</c:v>
                </c:pt>
                <c:pt idx="44">
                  <c:v>8.5999999999999993E-2</c:v>
                </c:pt>
                <c:pt idx="45">
                  <c:v>-0.107</c:v>
                </c:pt>
                <c:pt idx="46">
                  <c:v>-4.5999999999999999E-2</c:v>
                </c:pt>
                <c:pt idx="47">
                  <c:v>-0.25</c:v>
                </c:pt>
                <c:pt idx="48">
                  <c:v>-0.16800000000000001</c:v>
                </c:pt>
                <c:pt idx="49">
                  <c:v>-2.4E-2</c:v>
                </c:pt>
                <c:pt idx="50">
                  <c:v>-0.25</c:v>
                </c:pt>
                <c:pt idx="51">
                  <c:v>-0.81899999999999995</c:v>
                </c:pt>
                <c:pt idx="52">
                  <c:v>-0.83099999999999996</c:v>
                </c:pt>
                <c:pt idx="53">
                  <c:v>-0.79700000000000004</c:v>
                </c:pt>
                <c:pt idx="54">
                  <c:v>-0.497</c:v>
                </c:pt>
                <c:pt idx="55">
                  <c:v>-0.80900000000000005</c:v>
                </c:pt>
                <c:pt idx="56">
                  <c:v>-0.26600000000000001</c:v>
                </c:pt>
                <c:pt idx="57">
                  <c:v>-0.69799999999999995</c:v>
                </c:pt>
                <c:pt idx="58">
                  <c:v>5.3999999999999999E-2</c:v>
                </c:pt>
                <c:pt idx="59">
                  <c:v>0.27300000000000002</c:v>
                </c:pt>
                <c:pt idx="60">
                  <c:v>1.4E-2</c:v>
                </c:pt>
                <c:pt idx="61">
                  <c:v>-0.49299999999999999</c:v>
                </c:pt>
                <c:pt idx="62">
                  <c:v>-0.77500000000000002</c:v>
                </c:pt>
                <c:pt idx="63">
                  <c:v>1.7000000000000001E-2</c:v>
                </c:pt>
                <c:pt idx="64">
                  <c:v>-0.58499999999999996</c:v>
                </c:pt>
                <c:pt idx="65">
                  <c:v>-0.58899999999999997</c:v>
                </c:pt>
                <c:pt idx="66">
                  <c:v>-0.115</c:v>
                </c:pt>
                <c:pt idx="67">
                  <c:v>-7.4999999999999997E-2</c:v>
                </c:pt>
                <c:pt idx="68">
                  <c:v>0.18</c:v>
                </c:pt>
                <c:pt idx="69">
                  <c:v>0.24099999999999999</c:v>
                </c:pt>
                <c:pt idx="70">
                  <c:v>0.38900000000000001</c:v>
                </c:pt>
                <c:pt idx="71">
                  <c:v>0.86299999999999999</c:v>
                </c:pt>
                <c:pt idx="72">
                  <c:v>0.97399999999999998</c:v>
                </c:pt>
                <c:pt idx="73">
                  <c:v>0.13700000000000001</c:v>
                </c:pt>
                <c:pt idx="74">
                  <c:v>0.154</c:v>
                </c:pt>
                <c:pt idx="75">
                  <c:v>0.57599999999999996</c:v>
                </c:pt>
                <c:pt idx="76">
                  <c:v>0.56999999999999995</c:v>
                </c:pt>
                <c:pt idx="77">
                  <c:v>-0.94099999999999995</c:v>
                </c:pt>
                <c:pt idx="78">
                  <c:v>0.14499999999999999</c:v>
                </c:pt>
                <c:pt idx="79">
                  <c:v>-0.40899999999999997</c:v>
                </c:pt>
                <c:pt idx="80">
                  <c:v>-0.27</c:v>
                </c:pt>
                <c:pt idx="81">
                  <c:v>-0.35</c:v>
                </c:pt>
                <c:pt idx="82">
                  <c:v>-0.44400000000000001</c:v>
                </c:pt>
                <c:pt idx="83">
                  <c:v>-0.17399999999999999</c:v>
                </c:pt>
                <c:pt idx="84">
                  <c:v>-0.435</c:v>
                </c:pt>
                <c:pt idx="85">
                  <c:v>0.42899999999999999</c:v>
                </c:pt>
                <c:pt idx="86">
                  <c:v>-0.29199999999999998</c:v>
                </c:pt>
                <c:pt idx="87">
                  <c:v>9.4E-2</c:v>
                </c:pt>
                <c:pt idx="88">
                  <c:v>1.0999999999999999E-2</c:v>
                </c:pt>
                <c:pt idx="89">
                  <c:v>-0.10100000000000001</c:v>
                </c:pt>
                <c:pt idx="90">
                  <c:v>0.54100000000000004</c:v>
                </c:pt>
                <c:pt idx="91">
                  <c:v>0.497</c:v>
                </c:pt>
                <c:pt idx="92">
                  <c:v>0.51900000000000002</c:v>
                </c:pt>
                <c:pt idx="93">
                  <c:v>0.45</c:v>
                </c:pt>
                <c:pt idx="94">
                  <c:v>0.22500000000000001</c:v>
                </c:pt>
                <c:pt idx="95">
                  <c:v>-0.41799999999999998</c:v>
                </c:pt>
                <c:pt idx="96">
                  <c:v>0.13900000000000001</c:v>
                </c:pt>
                <c:pt idx="97">
                  <c:v>0.05</c:v>
                </c:pt>
                <c:pt idx="98">
                  <c:v>-0.19</c:v>
                </c:pt>
                <c:pt idx="99">
                  <c:v>-7.1999999999999995E-2</c:v>
                </c:pt>
                <c:pt idx="100">
                  <c:v>-0.16</c:v>
                </c:pt>
                <c:pt idx="101">
                  <c:v>-0.42399999999999999</c:v>
                </c:pt>
                <c:pt idx="102">
                  <c:v>-0.32300000000000001</c:v>
                </c:pt>
                <c:pt idx="103">
                  <c:v>-0.45700000000000002</c:v>
                </c:pt>
                <c:pt idx="104">
                  <c:v>-0.129</c:v>
                </c:pt>
                <c:pt idx="105">
                  <c:v>9.7000000000000003E-2</c:v>
                </c:pt>
                <c:pt idx="106">
                  <c:v>-2.3E-2</c:v>
                </c:pt>
                <c:pt idx="107">
                  <c:v>7.9000000000000001E-2</c:v>
                </c:pt>
                <c:pt idx="108">
                  <c:v>-0.21099999999999999</c:v>
                </c:pt>
                <c:pt idx="109">
                  <c:v>-0.45800000000000002</c:v>
                </c:pt>
                <c:pt idx="110">
                  <c:v>-0.373</c:v>
                </c:pt>
                <c:pt idx="111">
                  <c:v>-0.32600000000000001</c:v>
                </c:pt>
                <c:pt idx="112">
                  <c:v>-0.28000000000000003</c:v>
                </c:pt>
                <c:pt idx="113">
                  <c:v>-0.29599999999999999</c:v>
                </c:pt>
                <c:pt idx="114">
                  <c:v>-8.9999999999999993E-3</c:v>
                </c:pt>
                <c:pt idx="115">
                  <c:v>-7.9000000000000001E-2</c:v>
                </c:pt>
                <c:pt idx="116">
                  <c:v>-0.17499999999999999</c:v>
                </c:pt>
                <c:pt idx="117">
                  <c:v>-0.27500000000000002</c:v>
                </c:pt>
                <c:pt idx="118">
                  <c:v>-0.39700000000000002</c:v>
                </c:pt>
                <c:pt idx="119">
                  <c:v>-0.48499999999999999</c:v>
                </c:pt>
                <c:pt idx="120">
                  <c:v>-0.23400000000000001</c:v>
                </c:pt>
                <c:pt idx="121">
                  <c:v>-0.28399999999999997</c:v>
                </c:pt>
                <c:pt idx="122">
                  <c:v>-0.34200000000000003</c:v>
                </c:pt>
                <c:pt idx="123">
                  <c:v>-0.34699999999999998</c:v>
                </c:pt>
                <c:pt idx="124">
                  <c:v>-0.52100000000000002</c:v>
                </c:pt>
                <c:pt idx="125">
                  <c:v>-0.36199999999999999</c:v>
                </c:pt>
                <c:pt idx="126">
                  <c:v>-0.25</c:v>
                </c:pt>
                <c:pt idx="127">
                  <c:v>-0.16</c:v>
                </c:pt>
                <c:pt idx="128">
                  <c:v>-0.107</c:v>
                </c:pt>
                <c:pt idx="129">
                  <c:v>-0.23400000000000001</c:v>
                </c:pt>
                <c:pt idx="130">
                  <c:v>-0.24199999999999999</c:v>
                </c:pt>
                <c:pt idx="131">
                  <c:v>-0.215</c:v>
                </c:pt>
                <c:pt idx="132">
                  <c:v>-0.36899999999999999</c:v>
                </c:pt>
                <c:pt idx="133">
                  <c:v>-0.999</c:v>
                </c:pt>
                <c:pt idx="134">
                  <c:v>-0.56999999999999995</c:v>
                </c:pt>
                <c:pt idx="135">
                  <c:v>-0.30099999999999999</c:v>
                </c:pt>
                <c:pt idx="136">
                  <c:v>-0.188</c:v>
                </c:pt>
                <c:pt idx="137">
                  <c:v>-0.156</c:v>
                </c:pt>
                <c:pt idx="138">
                  <c:v>-0.154</c:v>
                </c:pt>
                <c:pt idx="139">
                  <c:v>-0.13300000000000001</c:v>
                </c:pt>
                <c:pt idx="140">
                  <c:v>-8.8999999999999996E-2</c:v>
                </c:pt>
                <c:pt idx="141">
                  <c:v>-0.111</c:v>
                </c:pt>
                <c:pt idx="142">
                  <c:v>-8.1000000000000003E-2</c:v>
                </c:pt>
                <c:pt idx="143">
                  <c:v>-0.13600000000000001</c:v>
                </c:pt>
              </c:numCache>
            </c:numRef>
          </c:val>
          <c:smooth val="0"/>
          <c:extLst>
            <c:ext xmlns:c16="http://schemas.microsoft.com/office/drawing/2014/chart" uri="{C3380CC4-5D6E-409C-BE32-E72D297353CC}">
              <c16:uniqueId val="{00000001-19FF-A347-9294-C55937E0A65F}"/>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2"/>
          <c:min val="-1.5"/>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
          <c:y val="0.05"/>
          <c:w val="0.76"/>
          <c:h val="0.72"/>
        </c:manualLayout>
      </c:layout>
      <c:lineChart>
        <c:grouping val="standard"/>
        <c:varyColors val="0"/>
        <c:ser>
          <c:idx val="0"/>
          <c:order val="0"/>
          <c:tx>
            <c:strRef>
              <c:f>'図15_分析8_晴れと曇り'!$M$1</c:f>
              <c:strCache>
                <c:ptCount val="1"/>
                <c:pt idx="0">
                  <c:v>列8</c:v>
                </c:pt>
              </c:strCache>
            </c:strRef>
          </c:tx>
          <c:spPr>
            <a:ln w="22225" cap="rnd">
              <a:solidFill>
                <a:srgbClr val="01B8AA"/>
              </a:solidFill>
              <a:round/>
            </a:ln>
          </c:spPr>
          <c:marker>
            <c:symbol val="none"/>
          </c:marker>
          <c:cat>
            <c:strRef>
              <c:f>'図15_分析8_晴れと曇り'!$B$2:$B$145</c:f>
              <c:strCache>
                <c:ptCount val="144"/>
                <c:pt idx="0">
                  <c:v>0:00</c:v>
                </c:pt>
                <c:pt idx="18">
                  <c:v>3:00</c:v>
                </c:pt>
                <c:pt idx="36">
                  <c:v>6:00</c:v>
                </c:pt>
                <c:pt idx="54">
                  <c:v>9:00</c:v>
                </c:pt>
                <c:pt idx="72">
                  <c:v>12:00</c:v>
                </c:pt>
                <c:pt idx="90">
                  <c:v>15:00</c:v>
                </c:pt>
                <c:pt idx="108">
                  <c:v>18:00</c:v>
                </c:pt>
                <c:pt idx="126">
                  <c:v>21:00</c:v>
                </c:pt>
              </c:strCache>
            </c:strRef>
          </c:cat>
          <c:val>
            <c:numRef>
              <c:f>'図15_分析8_晴れと曇り'!$M$2:$M$145</c:f>
              <c:numCache>
                <c:formatCode>General</c:formatCode>
                <c:ptCount val="144"/>
                <c:pt idx="0">
                  <c:v>-1.7999999999999999E-2</c:v>
                </c:pt>
                <c:pt idx="1">
                  <c:v>-1.2999999999999999E-2</c:v>
                </c:pt>
                <c:pt idx="2">
                  <c:v>-6.7000000000000004E-2</c:v>
                </c:pt>
                <c:pt idx="3">
                  <c:v>-1E-3</c:v>
                </c:pt>
                <c:pt idx="4">
                  <c:v>3.0000000000000001E-3</c:v>
                </c:pt>
                <c:pt idx="5">
                  <c:v>-4.2000000000000003E-2</c:v>
                </c:pt>
                <c:pt idx="6">
                  <c:v>-9.0999999999999998E-2</c:v>
                </c:pt>
                <c:pt idx="7">
                  <c:v>-9.4E-2</c:v>
                </c:pt>
                <c:pt idx="8">
                  <c:v>-9.0999999999999998E-2</c:v>
                </c:pt>
                <c:pt idx="9">
                  <c:v>1.6E-2</c:v>
                </c:pt>
                <c:pt idx="10">
                  <c:v>-6.0000000000000001E-3</c:v>
                </c:pt>
                <c:pt idx="11">
                  <c:v>-2.4E-2</c:v>
                </c:pt>
                <c:pt idx="12">
                  <c:v>-0.08</c:v>
                </c:pt>
                <c:pt idx="13">
                  <c:v>-9.6000000000000002E-2</c:v>
                </c:pt>
                <c:pt idx="14">
                  <c:v>-6.8000000000000005E-2</c:v>
                </c:pt>
                <c:pt idx="15">
                  <c:v>-7.9000000000000001E-2</c:v>
                </c:pt>
                <c:pt idx="16">
                  <c:v>-2.5999999999999999E-2</c:v>
                </c:pt>
                <c:pt idx="17">
                  <c:v>2.9000000000000001E-2</c:v>
                </c:pt>
                <c:pt idx="18">
                  <c:v>0.06</c:v>
                </c:pt>
                <c:pt idx="19">
                  <c:v>5.7000000000000002E-2</c:v>
                </c:pt>
                <c:pt idx="20">
                  <c:v>1.2999999999999999E-2</c:v>
                </c:pt>
                <c:pt idx="21">
                  <c:v>4.9000000000000002E-2</c:v>
                </c:pt>
                <c:pt idx="22">
                  <c:v>6.3E-2</c:v>
                </c:pt>
                <c:pt idx="23">
                  <c:v>8.6999999999999994E-2</c:v>
                </c:pt>
                <c:pt idx="24">
                  <c:v>6.7000000000000004E-2</c:v>
                </c:pt>
                <c:pt idx="25">
                  <c:v>7.0999999999999994E-2</c:v>
                </c:pt>
                <c:pt idx="26">
                  <c:v>5.7000000000000002E-2</c:v>
                </c:pt>
                <c:pt idx="27">
                  <c:v>5.6000000000000001E-2</c:v>
                </c:pt>
                <c:pt idx="28">
                  <c:v>2.1000000000000001E-2</c:v>
                </c:pt>
                <c:pt idx="29">
                  <c:v>7.0000000000000001E-3</c:v>
                </c:pt>
                <c:pt idx="30">
                  <c:v>1.9E-2</c:v>
                </c:pt>
                <c:pt idx="31">
                  <c:v>1E-3</c:v>
                </c:pt>
                <c:pt idx="32">
                  <c:v>-3.2000000000000001E-2</c:v>
                </c:pt>
                <c:pt idx="33">
                  <c:v>-5.8999999999999997E-2</c:v>
                </c:pt>
                <c:pt idx="34">
                  <c:v>-6.6000000000000003E-2</c:v>
                </c:pt>
                <c:pt idx="35">
                  <c:v>-5.8000000000000003E-2</c:v>
                </c:pt>
                <c:pt idx="36">
                  <c:v>-0.14299999999999999</c:v>
                </c:pt>
                <c:pt idx="37">
                  <c:v>-0.19</c:v>
                </c:pt>
                <c:pt idx="38">
                  <c:v>-0.222</c:v>
                </c:pt>
                <c:pt idx="39">
                  <c:v>-0.184</c:v>
                </c:pt>
                <c:pt idx="40">
                  <c:v>-0.251</c:v>
                </c:pt>
                <c:pt idx="41">
                  <c:v>-0.27800000000000002</c:v>
                </c:pt>
                <c:pt idx="42">
                  <c:v>6.4000000000000001E-2</c:v>
                </c:pt>
                <c:pt idx="43">
                  <c:v>0.14899999999999999</c:v>
                </c:pt>
                <c:pt idx="44">
                  <c:v>0.39</c:v>
                </c:pt>
                <c:pt idx="45">
                  <c:v>1.7999999999999999E-2</c:v>
                </c:pt>
                <c:pt idx="46">
                  <c:v>9.7000000000000003E-2</c:v>
                </c:pt>
                <c:pt idx="47">
                  <c:v>-0.217</c:v>
                </c:pt>
                <c:pt idx="48">
                  <c:v>-0.55900000000000005</c:v>
                </c:pt>
                <c:pt idx="49">
                  <c:v>-0.65200000000000002</c:v>
                </c:pt>
                <c:pt idx="50">
                  <c:v>-0.67600000000000005</c:v>
                </c:pt>
                <c:pt idx="51">
                  <c:v>-0.41</c:v>
                </c:pt>
                <c:pt idx="52">
                  <c:v>-0.36</c:v>
                </c:pt>
                <c:pt idx="53">
                  <c:v>-0.47399999999999998</c:v>
                </c:pt>
                <c:pt idx="54">
                  <c:v>-0.85899999999999999</c:v>
                </c:pt>
                <c:pt idx="55">
                  <c:v>-0.64300000000000002</c:v>
                </c:pt>
                <c:pt idx="56">
                  <c:v>-0.22600000000000001</c:v>
                </c:pt>
                <c:pt idx="57">
                  <c:v>-0.48699999999999999</c:v>
                </c:pt>
                <c:pt idx="58">
                  <c:v>-0.45</c:v>
                </c:pt>
                <c:pt idx="59">
                  <c:v>9.0999999999999998E-2</c:v>
                </c:pt>
                <c:pt idx="60">
                  <c:v>-0.14899999999999999</c:v>
                </c:pt>
                <c:pt idx="61">
                  <c:v>-0.498</c:v>
                </c:pt>
                <c:pt idx="62">
                  <c:v>0.20399999999999999</c:v>
                </c:pt>
                <c:pt idx="63">
                  <c:v>-7.8E-2</c:v>
                </c:pt>
                <c:pt idx="64">
                  <c:v>-0.33400000000000002</c:v>
                </c:pt>
                <c:pt idx="65">
                  <c:v>-0.83199999999999996</c:v>
                </c:pt>
                <c:pt idx="66">
                  <c:v>-0.59</c:v>
                </c:pt>
                <c:pt idx="67">
                  <c:v>-0.43099999999999999</c:v>
                </c:pt>
                <c:pt idx="68">
                  <c:v>-0.52200000000000002</c:v>
                </c:pt>
                <c:pt idx="69">
                  <c:v>-0.29199999999999998</c:v>
                </c:pt>
                <c:pt idx="70">
                  <c:v>-0.29799999999999999</c:v>
                </c:pt>
                <c:pt idx="71">
                  <c:v>-0.29199999999999998</c:v>
                </c:pt>
                <c:pt idx="72">
                  <c:v>0.46200000000000002</c:v>
                </c:pt>
                <c:pt idx="73">
                  <c:v>0.72299999999999998</c:v>
                </c:pt>
                <c:pt idx="74">
                  <c:v>0.35299999999999998</c:v>
                </c:pt>
                <c:pt idx="75">
                  <c:v>6.8000000000000005E-2</c:v>
                </c:pt>
                <c:pt idx="76">
                  <c:v>3.5999999999999997E-2</c:v>
                </c:pt>
                <c:pt idx="77">
                  <c:v>-0.32400000000000001</c:v>
                </c:pt>
                <c:pt idx="78">
                  <c:v>-0.126</c:v>
                </c:pt>
                <c:pt idx="79">
                  <c:v>-0.126</c:v>
                </c:pt>
                <c:pt idx="80">
                  <c:v>0.46</c:v>
                </c:pt>
                <c:pt idx="81">
                  <c:v>-0.107</c:v>
                </c:pt>
                <c:pt idx="82">
                  <c:v>-0.313</c:v>
                </c:pt>
                <c:pt idx="83">
                  <c:v>-0.28999999999999998</c:v>
                </c:pt>
                <c:pt idx="84">
                  <c:v>-0.161</c:v>
                </c:pt>
                <c:pt idx="85">
                  <c:v>-0.376</c:v>
                </c:pt>
                <c:pt idx="86">
                  <c:v>-0.433</c:v>
                </c:pt>
                <c:pt idx="87">
                  <c:v>-0.10199999999999999</c:v>
                </c:pt>
                <c:pt idx="88">
                  <c:v>-0.14099999999999999</c:v>
                </c:pt>
                <c:pt idx="89">
                  <c:v>-0.11899999999999999</c:v>
                </c:pt>
                <c:pt idx="90">
                  <c:v>-0.247</c:v>
                </c:pt>
                <c:pt idx="91">
                  <c:v>-7.1999999999999995E-2</c:v>
                </c:pt>
                <c:pt idx="92">
                  <c:v>-0.33</c:v>
                </c:pt>
                <c:pt idx="93">
                  <c:v>-7.0999999999999994E-2</c:v>
                </c:pt>
                <c:pt idx="94">
                  <c:v>-0.29799999999999999</c:v>
                </c:pt>
                <c:pt idx="95">
                  <c:v>-0.57199999999999995</c:v>
                </c:pt>
                <c:pt idx="96">
                  <c:v>-0.40799999999999997</c:v>
                </c:pt>
                <c:pt idx="97">
                  <c:v>-0.26600000000000001</c:v>
                </c:pt>
                <c:pt idx="98">
                  <c:v>-0.32700000000000001</c:v>
                </c:pt>
                <c:pt idx="99">
                  <c:v>1.2999999999999999E-2</c:v>
                </c:pt>
                <c:pt idx="100">
                  <c:v>-0.107</c:v>
                </c:pt>
                <c:pt idx="101">
                  <c:v>-0.23200000000000001</c:v>
                </c:pt>
                <c:pt idx="102">
                  <c:v>-0.35199999999999998</c:v>
                </c:pt>
                <c:pt idx="103">
                  <c:v>-0.56000000000000005</c:v>
                </c:pt>
                <c:pt idx="104">
                  <c:v>-0.35699999999999998</c:v>
                </c:pt>
                <c:pt idx="105">
                  <c:v>-0.56000000000000005</c:v>
                </c:pt>
                <c:pt idx="106">
                  <c:v>-0.57599999999999996</c:v>
                </c:pt>
                <c:pt idx="107">
                  <c:v>-0.36099999999999999</c:v>
                </c:pt>
                <c:pt idx="108">
                  <c:v>-0.46100000000000002</c:v>
                </c:pt>
                <c:pt idx="109">
                  <c:v>-0.439</c:v>
                </c:pt>
                <c:pt idx="110">
                  <c:v>-0.47099999999999997</c:v>
                </c:pt>
                <c:pt idx="111">
                  <c:v>-0.63300000000000001</c:v>
                </c:pt>
                <c:pt idx="112">
                  <c:v>-0.72799999999999998</c:v>
                </c:pt>
                <c:pt idx="113">
                  <c:v>-0.61599999999999999</c:v>
                </c:pt>
                <c:pt idx="114">
                  <c:v>-0.66100000000000003</c:v>
                </c:pt>
                <c:pt idx="115">
                  <c:v>-0.63</c:v>
                </c:pt>
                <c:pt idx="116">
                  <c:v>-0.57999999999999996</c:v>
                </c:pt>
                <c:pt idx="117">
                  <c:v>-0.46800000000000003</c:v>
                </c:pt>
                <c:pt idx="118">
                  <c:v>-0.54900000000000004</c:v>
                </c:pt>
                <c:pt idx="119">
                  <c:v>-0.60899999999999999</c:v>
                </c:pt>
                <c:pt idx="120">
                  <c:v>-0.58599999999999997</c:v>
                </c:pt>
                <c:pt idx="121">
                  <c:v>0.113</c:v>
                </c:pt>
                <c:pt idx="122">
                  <c:v>-0.13900000000000001</c:v>
                </c:pt>
                <c:pt idx="123">
                  <c:v>-0.34399999999999997</c:v>
                </c:pt>
                <c:pt idx="124">
                  <c:v>-0.27200000000000002</c:v>
                </c:pt>
                <c:pt idx="125">
                  <c:v>-0.20899999999999999</c:v>
                </c:pt>
                <c:pt idx="126">
                  <c:v>-0.26400000000000001</c:v>
                </c:pt>
                <c:pt idx="127">
                  <c:v>-0.20899999999999999</c:v>
                </c:pt>
                <c:pt idx="128">
                  <c:v>-0.77100000000000002</c:v>
                </c:pt>
                <c:pt idx="129">
                  <c:v>-0.76900000000000002</c:v>
                </c:pt>
                <c:pt idx="130">
                  <c:v>-0.84799999999999998</c:v>
                </c:pt>
                <c:pt idx="131">
                  <c:v>-0.65600000000000003</c:v>
                </c:pt>
                <c:pt idx="132">
                  <c:v>-0.69799999999999995</c:v>
                </c:pt>
                <c:pt idx="133">
                  <c:v>-1.347</c:v>
                </c:pt>
                <c:pt idx="134">
                  <c:v>-1.0529999999999999</c:v>
                </c:pt>
                <c:pt idx="135">
                  <c:v>-0.55000000000000004</c:v>
                </c:pt>
                <c:pt idx="136">
                  <c:v>-0.41799999999999998</c:v>
                </c:pt>
                <c:pt idx="137">
                  <c:v>-0.29599999999999999</c:v>
                </c:pt>
                <c:pt idx="138">
                  <c:v>-0.23</c:v>
                </c:pt>
                <c:pt idx="139">
                  <c:v>-0.22800000000000001</c:v>
                </c:pt>
                <c:pt idx="140">
                  <c:v>-0.18099999999999999</c:v>
                </c:pt>
                <c:pt idx="141">
                  <c:v>-0.16900000000000001</c:v>
                </c:pt>
                <c:pt idx="142">
                  <c:v>-0.14899999999999999</c:v>
                </c:pt>
                <c:pt idx="143">
                  <c:v>-0.129</c:v>
                </c:pt>
              </c:numCache>
            </c:numRef>
          </c:val>
          <c:smooth val="0"/>
          <c:extLst>
            <c:ext xmlns:c16="http://schemas.microsoft.com/office/drawing/2014/chart" uri="{C3380CC4-5D6E-409C-BE32-E72D297353CC}">
              <c16:uniqueId val="{00000000-0F53-B445-8080-7AFCD8AC6BA8}"/>
            </c:ext>
          </c:extLst>
        </c:ser>
        <c:ser>
          <c:idx val="1"/>
          <c:order val="1"/>
          <c:tx>
            <c:strRef>
              <c:f>'図15_分析8_晴れと曇り'!$N$1</c:f>
              <c:strCache>
                <c:ptCount val="1"/>
                <c:pt idx="0">
                  <c:v>列11</c:v>
                </c:pt>
              </c:strCache>
            </c:strRef>
          </c:tx>
          <c:spPr>
            <a:ln w="22225" cap="rnd">
              <a:solidFill>
                <a:srgbClr val="118DFF"/>
              </a:solidFill>
              <a:round/>
            </a:ln>
          </c:spPr>
          <c:marker>
            <c:symbol val="none"/>
          </c:marker>
          <c:cat>
            <c:strRef>
              <c:f>'図15_分析8_晴れと曇り'!$B$2:$B$145</c:f>
              <c:strCache>
                <c:ptCount val="144"/>
                <c:pt idx="0">
                  <c:v>0:00</c:v>
                </c:pt>
                <c:pt idx="18">
                  <c:v>3:00</c:v>
                </c:pt>
                <c:pt idx="36">
                  <c:v>6:00</c:v>
                </c:pt>
                <c:pt idx="54">
                  <c:v>9:00</c:v>
                </c:pt>
                <c:pt idx="72">
                  <c:v>12:00</c:v>
                </c:pt>
                <c:pt idx="90">
                  <c:v>15:00</c:v>
                </c:pt>
                <c:pt idx="108">
                  <c:v>18:00</c:v>
                </c:pt>
                <c:pt idx="126">
                  <c:v>21:00</c:v>
                </c:pt>
              </c:strCache>
            </c:strRef>
          </c:cat>
          <c:val>
            <c:numRef>
              <c:f>'図15_分析8_晴れと曇り'!$N$2:$N$145</c:f>
              <c:numCache>
                <c:formatCode>General</c:formatCode>
                <c:ptCount val="144"/>
                <c:pt idx="0">
                  <c:v>-4.3999999999999997E-2</c:v>
                </c:pt>
                <c:pt idx="1">
                  <c:v>-7.0000000000000001E-3</c:v>
                </c:pt>
                <c:pt idx="2">
                  <c:v>1.9E-2</c:v>
                </c:pt>
                <c:pt idx="3">
                  <c:v>1.2E-2</c:v>
                </c:pt>
                <c:pt idx="4">
                  <c:v>-5.0000000000000001E-3</c:v>
                </c:pt>
                <c:pt idx="5">
                  <c:v>-5.2999999999999999E-2</c:v>
                </c:pt>
                <c:pt idx="6">
                  <c:v>-6.4000000000000001E-2</c:v>
                </c:pt>
                <c:pt idx="7">
                  <c:v>-6.8000000000000005E-2</c:v>
                </c:pt>
                <c:pt idx="8">
                  <c:v>-0.108</c:v>
                </c:pt>
                <c:pt idx="9">
                  <c:v>-4.0000000000000001E-3</c:v>
                </c:pt>
                <c:pt idx="10">
                  <c:v>-3.5000000000000003E-2</c:v>
                </c:pt>
                <c:pt idx="11">
                  <c:v>-5.0000000000000001E-3</c:v>
                </c:pt>
                <c:pt idx="12">
                  <c:v>-7.3999999999999996E-2</c:v>
                </c:pt>
                <c:pt idx="13">
                  <c:v>-0.13700000000000001</c:v>
                </c:pt>
                <c:pt idx="14">
                  <c:v>-9.5000000000000001E-2</c:v>
                </c:pt>
                <c:pt idx="15">
                  <c:v>-0.125</c:v>
                </c:pt>
                <c:pt idx="16">
                  <c:v>-9.2999999999999999E-2</c:v>
                </c:pt>
                <c:pt idx="17">
                  <c:v>-5.0999999999999997E-2</c:v>
                </c:pt>
                <c:pt idx="18">
                  <c:v>-4.1000000000000002E-2</c:v>
                </c:pt>
                <c:pt idx="19">
                  <c:v>-5.7000000000000002E-2</c:v>
                </c:pt>
                <c:pt idx="20">
                  <c:v>-0.1</c:v>
                </c:pt>
                <c:pt idx="21">
                  <c:v>-7.6999999999999999E-2</c:v>
                </c:pt>
                <c:pt idx="22">
                  <c:v>-7.0000000000000007E-2</c:v>
                </c:pt>
                <c:pt idx="23">
                  <c:v>-4.9000000000000002E-2</c:v>
                </c:pt>
                <c:pt idx="24">
                  <c:v>-1.4E-2</c:v>
                </c:pt>
                <c:pt idx="25">
                  <c:v>1.9E-2</c:v>
                </c:pt>
                <c:pt idx="26">
                  <c:v>-3.0000000000000001E-3</c:v>
                </c:pt>
                <c:pt idx="27">
                  <c:v>4.0000000000000001E-3</c:v>
                </c:pt>
                <c:pt idx="28">
                  <c:v>-2.5999999999999999E-2</c:v>
                </c:pt>
                <c:pt idx="29">
                  <c:v>-3.2000000000000001E-2</c:v>
                </c:pt>
                <c:pt idx="30">
                  <c:v>-6.6000000000000003E-2</c:v>
                </c:pt>
                <c:pt idx="31">
                  <c:v>-8.7999999999999995E-2</c:v>
                </c:pt>
                <c:pt idx="32">
                  <c:v>8.9999999999999993E-3</c:v>
                </c:pt>
                <c:pt idx="33">
                  <c:v>7.6999999999999999E-2</c:v>
                </c:pt>
                <c:pt idx="34">
                  <c:v>9.4E-2</c:v>
                </c:pt>
                <c:pt idx="35">
                  <c:v>0.13400000000000001</c:v>
                </c:pt>
                <c:pt idx="36">
                  <c:v>0.13400000000000001</c:v>
                </c:pt>
                <c:pt idx="37">
                  <c:v>4.5999999999999999E-2</c:v>
                </c:pt>
                <c:pt idx="38">
                  <c:v>-2.4E-2</c:v>
                </c:pt>
                <c:pt idx="39">
                  <c:v>0.20799999999999999</c:v>
                </c:pt>
                <c:pt idx="40">
                  <c:v>0.21299999999999999</c:v>
                </c:pt>
                <c:pt idx="41">
                  <c:v>0.35399999999999998</c:v>
                </c:pt>
                <c:pt idx="42">
                  <c:v>0.22600000000000001</c:v>
                </c:pt>
                <c:pt idx="43">
                  <c:v>0.20499999999999999</c:v>
                </c:pt>
                <c:pt idx="44">
                  <c:v>0.35699999999999998</c:v>
                </c:pt>
                <c:pt idx="45">
                  <c:v>0.31900000000000001</c:v>
                </c:pt>
                <c:pt idx="46">
                  <c:v>0.25</c:v>
                </c:pt>
                <c:pt idx="47">
                  <c:v>-0.27600000000000002</c:v>
                </c:pt>
                <c:pt idx="48">
                  <c:v>-0.65400000000000003</c:v>
                </c:pt>
                <c:pt idx="49">
                  <c:v>-0.63400000000000001</c:v>
                </c:pt>
                <c:pt idx="50">
                  <c:v>-0.60799999999999998</c:v>
                </c:pt>
                <c:pt idx="51">
                  <c:v>-0.14399999999999999</c:v>
                </c:pt>
                <c:pt idx="52">
                  <c:v>-0.309</c:v>
                </c:pt>
                <c:pt idx="53">
                  <c:v>-0.63400000000000001</c:v>
                </c:pt>
                <c:pt idx="54">
                  <c:v>-0.79</c:v>
                </c:pt>
                <c:pt idx="55">
                  <c:v>-0.17799999999999999</c:v>
                </c:pt>
                <c:pt idx="56">
                  <c:v>-4.0000000000000001E-3</c:v>
                </c:pt>
                <c:pt idx="57">
                  <c:v>-0.95399999999999996</c:v>
                </c:pt>
                <c:pt idx="58">
                  <c:v>-0.246</c:v>
                </c:pt>
                <c:pt idx="59">
                  <c:v>-0.32</c:v>
                </c:pt>
                <c:pt idx="60">
                  <c:v>-0.159</c:v>
                </c:pt>
                <c:pt idx="61">
                  <c:v>-0.56599999999999995</c:v>
                </c:pt>
                <c:pt idx="62">
                  <c:v>0.37</c:v>
                </c:pt>
                <c:pt idx="63">
                  <c:v>-5.6000000000000001E-2</c:v>
                </c:pt>
                <c:pt idx="64">
                  <c:v>-8.3000000000000004E-2</c:v>
                </c:pt>
                <c:pt idx="65">
                  <c:v>-0.40899999999999997</c:v>
                </c:pt>
                <c:pt idx="66">
                  <c:v>-0.191</c:v>
                </c:pt>
                <c:pt idx="67">
                  <c:v>-0.41399999999999998</c:v>
                </c:pt>
                <c:pt idx="68">
                  <c:v>-0.78500000000000003</c:v>
                </c:pt>
                <c:pt idx="69">
                  <c:v>-0.48299999999999998</c:v>
                </c:pt>
                <c:pt idx="70">
                  <c:v>-0.129</c:v>
                </c:pt>
                <c:pt idx="71">
                  <c:v>-0.54100000000000004</c:v>
                </c:pt>
                <c:pt idx="72">
                  <c:v>-1.2E-2</c:v>
                </c:pt>
                <c:pt idx="73">
                  <c:v>1.4E-2</c:v>
                </c:pt>
                <c:pt idx="74">
                  <c:v>0.109</c:v>
                </c:pt>
                <c:pt idx="75">
                  <c:v>-0.38100000000000001</c:v>
                </c:pt>
                <c:pt idx="76">
                  <c:v>-0.29099999999999998</c:v>
                </c:pt>
                <c:pt idx="77">
                  <c:v>-0.59899999999999998</c:v>
                </c:pt>
                <c:pt idx="78">
                  <c:v>-0.34300000000000003</c:v>
                </c:pt>
                <c:pt idx="79">
                  <c:v>-0.78500000000000003</c:v>
                </c:pt>
                <c:pt idx="80">
                  <c:v>-0.47099999999999997</c:v>
                </c:pt>
                <c:pt idx="81">
                  <c:v>-0.86</c:v>
                </c:pt>
                <c:pt idx="82">
                  <c:v>-0.36099999999999999</c:v>
                </c:pt>
                <c:pt idx="83">
                  <c:v>-0.33600000000000002</c:v>
                </c:pt>
                <c:pt idx="84">
                  <c:v>-0.46</c:v>
                </c:pt>
                <c:pt idx="85">
                  <c:v>-0.21199999999999999</c:v>
                </c:pt>
                <c:pt idx="86">
                  <c:v>-0.32700000000000001</c:v>
                </c:pt>
                <c:pt idx="87">
                  <c:v>-0.376</c:v>
                </c:pt>
                <c:pt idx="88">
                  <c:v>-0.23100000000000001</c:v>
                </c:pt>
                <c:pt idx="89">
                  <c:v>-0.107</c:v>
                </c:pt>
                <c:pt idx="90">
                  <c:v>-0.27700000000000002</c:v>
                </c:pt>
                <c:pt idx="91">
                  <c:v>-0.33600000000000002</c:v>
                </c:pt>
                <c:pt idx="92">
                  <c:v>-0.54600000000000004</c:v>
                </c:pt>
                <c:pt idx="93">
                  <c:v>-5.3999999999999999E-2</c:v>
                </c:pt>
                <c:pt idx="94">
                  <c:v>-0.48899999999999999</c:v>
                </c:pt>
                <c:pt idx="95">
                  <c:v>-0.57999999999999996</c:v>
                </c:pt>
                <c:pt idx="96">
                  <c:v>-0.34499999999999997</c:v>
                </c:pt>
                <c:pt idx="97">
                  <c:v>-0.27</c:v>
                </c:pt>
                <c:pt idx="98">
                  <c:v>-0.29099999999999998</c:v>
                </c:pt>
                <c:pt idx="99">
                  <c:v>-0.26900000000000002</c:v>
                </c:pt>
                <c:pt idx="100">
                  <c:v>-0.215</c:v>
                </c:pt>
                <c:pt idx="101">
                  <c:v>-0.26300000000000001</c:v>
                </c:pt>
                <c:pt idx="102">
                  <c:v>-0.29799999999999999</c:v>
                </c:pt>
                <c:pt idx="103">
                  <c:v>-0.32300000000000001</c:v>
                </c:pt>
                <c:pt idx="104">
                  <c:v>-0.45700000000000002</c:v>
                </c:pt>
                <c:pt idx="105">
                  <c:v>-0.61</c:v>
                </c:pt>
                <c:pt idx="106">
                  <c:v>-0.628</c:v>
                </c:pt>
                <c:pt idx="107">
                  <c:v>-0.52900000000000003</c:v>
                </c:pt>
                <c:pt idx="108">
                  <c:v>-0.39500000000000002</c:v>
                </c:pt>
                <c:pt idx="109">
                  <c:v>-0.42599999999999999</c:v>
                </c:pt>
                <c:pt idx="110">
                  <c:v>-0.48299999999999998</c:v>
                </c:pt>
                <c:pt idx="111">
                  <c:v>-0.28699999999999998</c:v>
                </c:pt>
                <c:pt idx="112">
                  <c:v>-0.249</c:v>
                </c:pt>
                <c:pt idx="113">
                  <c:v>-0.19900000000000001</c:v>
                </c:pt>
                <c:pt idx="114">
                  <c:v>-5.0999999999999997E-2</c:v>
                </c:pt>
                <c:pt idx="115">
                  <c:v>-0.126</c:v>
                </c:pt>
                <c:pt idx="116">
                  <c:v>-0.32200000000000001</c:v>
                </c:pt>
                <c:pt idx="117">
                  <c:v>-0.35799999999999998</c:v>
                </c:pt>
                <c:pt idx="118">
                  <c:v>-0.39100000000000001</c:v>
                </c:pt>
                <c:pt idx="119">
                  <c:v>-0.443</c:v>
                </c:pt>
                <c:pt idx="120">
                  <c:v>-0.41199999999999998</c:v>
                </c:pt>
                <c:pt idx="121">
                  <c:v>-0.48599999999999999</c:v>
                </c:pt>
                <c:pt idx="122">
                  <c:v>-0.53200000000000003</c:v>
                </c:pt>
                <c:pt idx="123">
                  <c:v>-0.45200000000000001</c:v>
                </c:pt>
                <c:pt idx="124">
                  <c:v>-0.246</c:v>
                </c:pt>
                <c:pt idx="125">
                  <c:v>-8.1000000000000003E-2</c:v>
                </c:pt>
                <c:pt idx="126">
                  <c:v>-0.16</c:v>
                </c:pt>
                <c:pt idx="127">
                  <c:v>-0.14899999999999999</c:v>
                </c:pt>
                <c:pt idx="128">
                  <c:v>-0.61199999999999999</c:v>
                </c:pt>
                <c:pt idx="129">
                  <c:v>-0.64</c:v>
                </c:pt>
                <c:pt idx="130">
                  <c:v>-0.71499999999999997</c:v>
                </c:pt>
                <c:pt idx="131">
                  <c:v>-0.54200000000000004</c:v>
                </c:pt>
                <c:pt idx="132">
                  <c:v>-0.59</c:v>
                </c:pt>
                <c:pt idx="133">
                  <c:v>-1.1399999999999999</c:v>
                </c:pt>
                <c:pt idx="134">
                  <c:v>-0.94199999999999995</c:v>
                </c:pt>
                <c:pt idx="135">
                  <c:v>-0.49199999999999999</c:v>
                </c:pt>
                <c:pt idx="136">
                  <c:v>-0.34200000000000003</c:v>
                </c:pt>
                <c:pt idx="137">
                  <c:v>-0.24</c:v>
                </c:pt>
                <c:pt idx="138">
                  <c:v>-0.15</c:v>
                </c:pt>
                <c:pt idx="139">
                  <c:v>-0.157</c:v>
                </c:pt>
                <c:pt idx="140">
                  <c:v>-9.4E-2</c:v>
                </c:pt>
                <c:pt idx="141">
                  <c:v>-0.108</c:v>
                </c:pt>
                <c:pt idx="142">
                  <c:v>-9.5000000000000001E-2</c:v>
                </c:pt>
                <c:pt idx="143">
                  <c:v>-8.5999999999999993E-2</c:v>
                </c:pt>
              </c:numCache>
            </c:numRef>
          </c:val>
          <c:smooth val="0"/>
          <c:extLst>
            <c:ext xmlns:c16="http://schemas.microsoft.com/office/drawing/2014/chart" uri="{C3380CC4-5D6E-409C-BE32-E72D297353CC}">
              <c16:uniqueId val="{00000001-0F53-B445-8080-7AFCD8AC6BA8}"/>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2"/>
          <c:min val="-1.5"/>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
          <c:y val="0.25"/>
          <c:w val="0.76"/>
          <c:h val="0.55000000000000004"/>
        </c:manualLayout>
      </c:layout>
      <c:lineChart>
        <c:grouping val="standard"/>
        <c:varyColors val="0"/>
        <c:ser>
          <c:idx val="0"/>
          <c:order val="0"/>
          <c:tx>
            <c:strRef>
              <c:f>'図16_分析8_風'!$C$1</c:f>
              <c:strCache>
                <c:ptCount val="1"/>
                <c:pt idx="0">
                  <c:v>屋上の気温</c:v>
                </c:pt>
              </c:strCache>
            </c:strRef>
          </c:tx>
          <c:spPr>
            <a:ln w="15875" cap="rnd">
              <a:solidFill>
                <a:srgbClr val="ED7D31"/>
              </a:solidFill>
              <a:round/>
            </a:ln>
          </c:spPr>
          <c:marker>
            <c:symbol val="none"/>
          </c:marker>
          <c:cat>
            <c:strRef>
              <c:f>'図16_分析8_風'!$B$2:$B$145</c:f>
              <c:strCache>
                <c:ptCount val="144"/>
                <c:pt idx="0">
                  <c:v>0:00</c:v>
                </c:pt>
                <c:pt idx="18">
                  <c:v>3:00</c:v>
                </c:pt>
                <c:pt idx="36">
                  <c:v>6:00</c:v>
                </c:pt>
                <c:pt idx="54">
                  <c:v>9:00</c:v>
                </c:pt>
                <c:pt idx="72">
                  <c:v>12:00</c:v>
                </c:pt>
                <c:pt idx="90">
                  <c:v>15:00</c:v>
                </c:pt>
                <c:pt idx="108">
                  <c:v>18:00</c:v>
                </c:pt>
                <c:pt idx="126">
                  <c:v>21:00</c:v>
                </c:pt>
              </c:strCache>
            </c:strRef>
          </c:cat>
          <c:val>
            <c:numRef>
              <c:f>'図16_分析8_風'!$C$2:$C$145</c:f>
              <c:numCache>
                <c:formatCode>General</c:formatCode>
                <c:ptCount val="144"/>
                <c:pt idx="0">
                  <c:v>26.93</c:v>
                </c:pt>
                <c:pt idx="1">
                  <c:v>26.97</c:v>
                </c:pt>
                <c:pt idx="2">
                  <c:v>26.92</c:v>
                </c:pt>
                <c:pt idx="3">
                  <c:v>26.85</c:v>
                </c:pt>
                <c:pt idx="4">
                  <c:v>26.8</c:v>
                </c:pt>
                <c:pt idx="5">
                  <c:v>26.8</c:v>
                </c:pt>
                <c:pt idx="6">
                  <c:v>26.77</c:v>
                </c:pt>
                <c:pt idx="7">
                  <c:v>26.29</c:v>
                </c:pt>
                <c:pt idx="8">
                  <c:v>25.62</c:v>
                </c:pt>
                <c:pt idx="9">
                  <c:v>25.65</c:v>
                </c:pt>
                <c:pt idx="10">
                  <c:v>25.62</c:v>
                </c:pt>
                <c:pt idx="11">
                  <c:v>25.49</c:v>
                </c:pt>
                <c:pt idx="12">
                  <c:v>25.42</c:v>
                </c:pt>
                <c:pt idx="13">
                  <c:v>25.49</c:v>
                </c:pt>
                <c:pt idx="14">
                  <c:v>25.49</c:v>
                </c:pt>
                <c:pt idx="15">
                  <c:v>25.42</c:v>
                </c:pt>
                <c:pt idx="16">
                  <c:v>25.35</c:v>
                </c:pt>
                <c:pt idx="17">
                  <c:v>25.35</c:v>
                </c:pt>
                <c:pt idx="18">
                  <c:v>25.45</c:v>
                </c:pt>
                <c:pt idx="19">
                  <c:v>25.42</c:v>
                </c:pt>
                <c:pt idx="20">
                  <c:v>25.54</c:v>
                </c:pt>
                <c:pt idx="21">
                  <c:v>25.58</c:v>
                </c:pt>
                <c:pt idx="22">
                  <c:v>25.68</c:v>
                </c:pt>
                <c:pt idx="23">
                  <c:v>25.7</c:v>
                </c:pt>
                <c:pt idx="24">
                  <c:v>25.7</c:v>
                </c:pt>
                <c:pt idx="25">
                  <c:v>25.7</c:v>
                </c:pt>
                <c:pt idx="26">
                  <c:v>25.61</c:v>
                </c:pt>
                <c:pt idx="27">
                  <c:v>25.67</c:v>
                </c:pt>
                <c:pt idx="28">
                  <c:v>25.45</c:v>
                </c:pt>
                <c:pt idx="29">
                  <c:v>25.34</c:v>
                </c:pt>
                <c:pt idx="30">
                  <c:v>25.45</c:v>
                </c:pt>
                <c:pt idx="31">
                  <c:v>25.5</c:v>
                </c:pt>
                <c:pt idx="32">
                  <c:v>25.44</c:v>
                </c:pt>
                <c:pt idx="33">
                  <c:v>25.37</c:v>
                </c:pt>
                <c:pt idx="34">
                  <c:v>25.28</c:v>
                </c:pt>
                <c:pt idx="35">
                  <c:v>25.28</c:v>
                </c:pt>
                <c:pt idx="36">
                  <c:v>25.11</c:v>
                </c:pt>
                <c:pt idx="37">
                  <c:v>25.05</c:v>
                </c:pt>
                <c:pt idx="38">
                  <c:v>25.09</c:v>
                </c:pt>
                <c:pt idx="39">
                  <c:v>25</c:v>
                </c:pt>
                <c:pt idx="40">
                  <c:v>25.15</c:v>
                </c:pt>
                <c:pt idx="41">
                  <c:v>25.16</c:v>
                </c:pt>
                <c:pt idx="42">
                  <c:v>24.94</c:v>
                </c:pt>
                <c:pt idx="43">
                  <c:v>24.87</c:v>
                </c:pt>
                <c:pt idx="44">
                  <c:v>25.04</c:v>
                </c:pt>
                <c:pt idx="45">
                  <c:v>25.01</c:v>
                </c:pt>
                <c:pt idx="46">
                  <c:v>25.1</c:v>
                </c:pt>
                <c:pt idx="47">
                  <c:v>25.31</c:v>
                </c:pt>
                <c:pt idx="48">
                  <c:v>25.17</c:v>
                </c:pt>
                <c:pt idx="49">
                  <c:v>24.81</c:v>
                </c:pt>
                <c:pt idx="50">
                  <c:v>24.64</c:v>
                </c:pt>
                <c:pt idx="51">
                  <c:v>24.23</c:v>
                </c:pt>
                <c:pt idx="52">
                  <c:v>24.17</c:v>
                </c:pt>
                <c:pt idx="53">
                  <c:v>24.82</c:v>
                </c:pt>
                <c:pt idx="54">
                  <c:v>24.47</c:v>
                </c:pt>
                <c:pt idx="55">
                  <c:v>24.85</c:v>
                </c:pt>
                <c:pt idx="56">
                  <c:v>25.24</c:v>
                </c:pt>
                <c:pt idx="57">
                  <c:v>24.92</c:v>
                </c:pt>
                <c:pt idx="58">
                  <c:v>24.55</c:v>
                </c:pt>
                <c:pt idx="59">
                  <c:v>24.56</c:v>
                </c:pt>
                <c:pt idx="60">
                  <c:v>24.58</c:v>
                </c:pt>
                <c:pt idx="61">
                  <c:v>24.87</c:v>
                </c:pt>
                <c:pt idx="62">
                  <c:v>25.04</c:v>
                </c:pt>
                <c:pt idx="63">
                  <c:v>24.39</c:v>
                </c:pt>
                <c:pt idx="64">
                  <c:v>24.37</c:v>
                </c:pt>
                <c:pt idx="65">
                  <c:v>25</c:v>
                </c:pt>
                <c:pt idx="66">
                  <c:v>25.31</c:v>
                </c:pt>
                <c:pt idx="67">
                  <c:v>25.56</c:v>
                </c:pt>
                <c:pt idx="68">
                  <c:v>25.08</c:v>
                </c:pt>
                <c:pt idx="69">
                  <c:v>24.82</c:v>
                </c:pt>
                <c:pt idx="70">
                  <c:v>24.97</c:v>
                </c:pt>
                <c:pt idx="71">
                  <c:v>25.16</c:v>
                </c:pt>
                <c:pt idx="72">
                  <c:v>25.09</c:v>
                </c:pt>
                <c:pt idx="73">
                  <c:v>25.3</c:v>
                </c:pt>
                <c:pt idx="74">
                  <c:v>25.45</c:v>
                </c:pt>
                <c:pt idx="75">
                  <c:v>25.17</c:v>
                </c:pt>
                <c:pt idx="76">
                  <c:v>25.42</c:v>
                </c:pt>
                <c:pt idx="77">
                  <c:v>25.37</c:v>
                </c:pt>
                <c:pt idx="78">
                  <c:v>26.25</c:v>
                </c:pt>
                <c:pt idx="79">
                  <c:v>26.36</c:v>
                </c:pt>
                <c:pt idx="80">
                  <c:v>26.05</c:v>
                </c:pt>
                <c:pt idx="81">
                  <c:v>25.79</c:v>
                </c:pt>
                <c:pt idx="82">
                  <c:v>25.54</c:v>
                </c:pt>
                <c:pt idx="83">
                  <c:v>26.13</c:v>
                </c:pt>
                <c:pt idx="84">
                  <c:v>26.02</c:v>
                </c:pt>
                <c:pt idx="85">
                  <c:v>26.05</c:v>
                </c:pt>
                <c:pt idx="86">
                  <c:v>26.08</c:v>
                </c:pt>
                <c:pt idx="87">
                  <c:v>26.74</c:v>
                </c:pt>
                <c:pt idx="88">
                  <c:v>26.54</c:v>
                </c:pt>
                <c:pt idx="89">
                  <c:v>26.28</c:v>
                </c:pt>
                <c:pt idx="90">
                  <c:v>26.17</c:v>
                </c:pt>
                <c:pt idx="91">
                  <c:v>26.41</c:v>
                </c:pt>
                <c:pt idx="92">
                  <c:v>26.5</c:v>
                </c:pt>
                <c:pt idx="93">
                  <c:v>26.66</c:v>
                </c:pt>
                <c:pt idx="94">
                  <c:v>26.31</c:v>
                </c:pt>
                <c:pt idx="95">
                  <c:v>25.82</c:v>
                </c:pt>
                <c:pt idx="96">
                  <c:v>25.69</c:v>
                </c:pt>
                <c:pt idx="97">
                  <c:v>25.49</c:v>
                </c:pt>
                <c:pt idx="98">
                  <c:v>25.48</c:v>
                </c:pt>
                <c:pt idx="99">
                  <c:v>25.49</c:v>
                </c:pt>
                <c:pt idx="100">
                  <c:v>25.41</c:v>
                </c:pt>
                <c:pt idx="101">
                  <c:v>25.4</c:v>
                </c:pt>
                <c:pt idx="102">
                  <c:v>25.42</c:v>
                </c:pt>
                <c:pt idx="103">
                  <c:v>25.49</c:v>
                </c:pt>
                <c:pt idx="104">
                  <c:v>25.37</c:v>
                </c:pt>
                <c:pt idx="105">
                  <c:v>25.3</c:v>
                </c:pt>
                <c:pt idx="106">
                  <c:v>25.06</c:v>
                </c:pt>
                <c:pt idx="107">
                  <c:v>25.01</c:v>
                </c:pt>
                <c:pt idx="108">
                  <c:v>25</c:v>
                </c:pt>
                <c:pt idx="109">
                  <c:v>24.87</c:v>
                </c:pt>
                <c:pt idx="110">
                  <c:v>24.93</c:v>
                </c:pt>
                <c:pt idx="111">
                  <c:v>24.7</c:v>
                </c:pt>
                <c:pt idx="112">
                  <c:v>24.49</c:v>
                </c:pt>
                <c:pt idx="113">
                  <c:v>24.38</c:v>
                </c:pt>
                <c:pt idx="114">
                  <c:v>24.07</c:v>
                </c:pt>
                <c:pt idx="115">
                  <c:v>23.92</c:v>
                </c:pt>
                <c:pt idx="116">
                  <c:v>23.86</c:v>
                </c:pt>
                <c:pt idx="117">
                  <c:v>23.81</c:v>
                </c:pt>
                <c:pt idx="118">
                  <c:v>23.8</c:v>
                </c:pt>
                <c:pt idx="119">
                  <c:v>23.77</c:v>
                </c:pt>
                <c:pt idx="120">
                  <c:v>23.62</c:v>
                </c:pt>
                <c:pt idx="121">
                  <c:v>23.44</c:v>
                </c:pt>
                <c:pt idx="122">
                  <c:v>23.33</c:v>
                </c:pt>
                <c:pt idx="123">
                  <c:v>23.16</c:v>
                </c:pt>
                <c:pt idx="124">
                  <c:v>23.05</c:v>
                </c:pt>
                <c:pt idx="125">
                  <c:v>22.95</c:v>
                </c:pt>
                <c:pt idx="126">
                  <c:v>22.88</c:v>
                </c:pt>
                <c:pt idx="127">
                  <c:v>22.81</c:v>
                </c:pt>
                <c:pt idx="128">
                  <c:v>22.8</c:v>
                </c:pt>
                <c:pt idx="129">
                  <c:v>22.82</c:v>
                </c:pt>
                <c:pt idx="130">
                  <c:v>22.69</c:v>
                </c:pt>
                <c:pt idx="131">
                  <c:v>22.52</c:v>
                </c:pt>
                <c:pt idx="132">
                  <c:v>22.48</c:v>
                </c:pt>
                <c:pt idx="133">
                  <c:v>22.38</c:v>
                </c:pt>
                <c:pt idx="134">
                  <c:v>22.14</c:v>
                </c:pt>
                <c:pt idx="135">
                  <c:v>22.06</c:v>
                </c:pt>
                <c:pt idx="136">
                  <c:v>22</c:v>
                </c:pt>
                <c:pt idx="137">
                  <c:v>21.93</c:v>
                </c:pt>
                <c:pt idx="138">
                  <c:v>21.86</c:v>
                </c:pt>
                <c:pt idx="139">
                  <c:v>21.9</c:v>
                </c:pt>
                <c:pt idx="140">
                  <c:v>21.84</c:v>
                </c:pt>
                <c:pt idx="141">
                  <c:v>21.81</c:v>
                </c:pt>
                <c:pt idx="142">
                  <c:v>21.67</c:v>
                </c:pt>
                <c:pt idx="143">
                  <c:v>21.5</c:v>
                </c:pt>
              </c:numCache>
            </c:numRef>
          </c:val>
          <c:smooth val="0"/>
          <c:extLst>
            <c:ext xmlns:c16="http://schemas.microsoft.com/office/drawing/2014/chart" uri="{C3380CC4-5D6E-409C-BE32-E72D297353CC}">
              <c16:uniqueId val="{00000000-03A0-BA4B-AE34-EDA8F1182740}"/>
            </c:ext>
          </c:extLst>
        </c:ser>
        <c:ser>
          <c:idx val="1"/>
          <c:order val="1"/>
          <c:tx>
            <c:strRef>
              <c:f>'図16_分析8_風'!$D$1</c:f>
              <c:strCache>
                <c:ptCount val="1"/>
                <c:pt idx="0">
                  <c:v>列3</c:v>
                </c:pt>
              </c:strCache>
            </c:strRef>
          </c:tx>
          <c:spPr>
            <a:ln w="22225" cap="rnd">
              <a:solidFill>
                <a:srgbClr val="5E6B7A"/>
              </a:solidFill>
              <a:round/>
            </a:ln>
          </c:spPr>
          <c:marker>
            <c:symbol val="none"/>
          </c:marker>
          <c:cat>
            <c:strRef>
              <c:f>'図16_分析8_風'!$B$2:$B$145</c:f>
              <c:strCache>
                <c:ptCount val="144"/>
                <c:pt idx="0">
                  <c:v>0:00</c:v>
                </c:pt>
                <c:pt idx="18">
                  <c:v>3:00</c:v>
                </c:pt>
                <c:pt idx="36">
                  <c:v>6:00</c:v>
                </c:pt>
                <c:pt idx="54">
                  <c:v>9:00</c:v>
                </c:pt>
                <c:pt idx="72">
                  <c:v>12:00</c:v>
                </c:pt>
                <c:pt idx="90">
                  <c:v>15:00</c:v>
                </c:pt>
                <c:pt idx="108">
                  <c:v>18:00</c:v>
                </c:pt>
                <c:pt idx="126">
                  <c:v>21:00</c:v>
                </c:pt>
              </c:strCache>
            </c:strRef>
          </c:cat>
          <c:val>
            <c:numRef>
              <c:f>'図16_分析8_風'!$D$2:$D$145</c:f>
              <c:numCache>
                <c:formatCode>General</c:formatCode>
                <c:ptCount val="144"/>
                <c:pt idx="0">
                  <c:v>26.731000000000002</c:v>
                </c:pt>
                <c:pt idx="1">
                  <c:v>26.777999999999999</c:v>
                </c:pt>
                <c:pt idx="2">
                  <c:v>26.791</c:v>
                </c:pt>
                <c:pt idx="3">
                  <c:v>26.709</c:v>
                </c:pt>
                <c:pt idx="4">
                  <c:v>26.66</c:v>
                </c:pt>
                <c:pt idx="5">
                  <c:v>26.670999999999999</c:v>
                </c:pt>
                <c:pt idx="6">
                  <c:v>26.626999999999999</c:v>
                </c:pt>
                <c:pt idx="7">
                  <c:v>26.106999999999999</c:v>
                </c:pt>
                <c:pt idx="8">
                  <c:v>25.792000000000002</c:v>
                </c:pt>
                <c:pt idx="9">
                  <c:v>25.72</c:v>
                </c:pt>
                <c:pt idx="10">
                  <c:v>25.608000000000001</c:v>
                </c:pt>
                <c:pt idx="11">
                  <c:v>25.474</c:v>
                </c:pt>
                <c:pt idx="12">
                  <c:v>25.489000000000001</c:v>
                </c:pt>
                <c:pt idx="13">
                  <c:v>25.436</c:v>
                </c:pt>
                <c:pt idx="14">
                  <c:v>25.398</c:v>
                </c:pt>
                <c:pt idx="15">
                  <c:v>25.338999999999999</c:v>
                </c:pt>
                <c:pt idx="16">
                  <c:v>25.32</c:v>
                </c:pt>
                <c:pt idx="17">
                  <c:v>25.277000000000001</c:v>
                </c:pt>
                <c:pt idx="18">
                  <c:v>25.399000000000001</c:v>
                </c:pt>
                <c:pt idx="19">
                  <c:v>25.416</c:v>
                </c:pt>
                <c:pt idx="20">
                  <c:v>25.457000000000001</c:v>
                </c:pt>
                <c:pt idx="21">
                  <c:v>25.38</c:v>
                </c:pt>
                <c:pt idx="22">
                  <c:v>25.542999999999999</c:v>
                </c:pt>
                <c:pt idx="23">
                  <c:v>25.529</c:v>
                </c:pt>
                <c:pt idx="24">
                  <c:v>25.527999999999999</c:v>
                </c:pt>
                <c:pt idx="25">
                  <c:v>25.382000000000001</c:v>
                </c:pt>
                <c:pt idx="26">
                  <c:v>25.186</c:v>
                </c:pt>
                <c:pt idx="27">
                  <c:v>25.146000000000001</c:v>
                </c:pt>
                <c:pt idx="28">
                  <c:v>24.742000000000001</c:v>
                </c:pt>
                <c:pt idx="29">
                  <c:v>24.699000000000002</c:v>
                </c:pt>
                <c:pt idx="30">
                  <c:v>24.898</c:v>
                </c:pt>
                <c:pt idx="31">
                  <c:v>24.827999999999999</c:v>
                </c:pt>
                <c:pt idx="32">
                  <c:v>24.911999999999999</c:v>
                </c:pt>
                <c:pt idx="33">
                  <c:v>24.878</c:v>
                </c:pt>
                <c:pt idx="34">
                  <c:v>24.952999999999999</c:v>
                </c:pt>
                <c:pt idx="35">
                  <c:v>25.007000000000001</c:v>
                </c:pt>
                <c:pt idx="36">
                  <c:v>24.902000000000001</c:v>
                </c:pt>
                <c:pt idx="37">
                  <c:v>25.018999999999998</c:v>
                </c:pt>
                <c:pt idx="38">
                  <c:v>25.006</c:v>
                </c:pt>
                <c:pt idx="39">
                  <c:v>25.064</c:v>
                </c:pt>
                <c:pt idx="40">
                  <c:v>25.152999999999999</c:v>
                </c:pt>
                <c:pt idx="41">
                  <c:v>25.141999999999999</c:v>
                </c:pt>
                <c:pt idx="42">
                  <c:v>25.038</c:v>
                </c:pt>
                <c:pt idx="43">
                  <c:v>24.963999999999999</c:v>
                </c:pt>
                <c:pt idx="44">
                  <c:v>24.978000000000002</c:v>
                </c:pt>
                <c:pt idx="45">
                  <c:v>25.132999999999999</c:v>
                </c:pt>
                <c:pt idx="46">
                  <c:v>25.396999999999998</c:v>
                </c:pt>
                <c:pt idx="47">
                  <c:v>25.504000000000001</c:v>
                </c:pt>
                <c:pt idx="48">
                  <c:v>25.452000000000002</c:v>
                </c:pt>
                <c:pt idx="49">
                  <c:v>25.2</c:v>
                </c:pt>
                <c:pt idx="50">
                  <c:v>24.838000000000001</c:v>
                </c:pt>
                <c:pt idx="51">
                  <c:v>24.638000000000002</c:v>
                </c:pt>
                <c:pt idx="52">
                  <c:v>24.81</c:v>
                </c:pt>
                <c:pt idx="53">
                  <c:v>25.138000000000002</c:v>
                </c:pt>
                <c:pt idx="54">
                  <c:v>25.128</c:v>
                </c:pt>
                <c:pt idx="55">
                  <c:v>25.414000000000001</c:v>
                </c:pt>
                <c:pt idx="56">
                  <c:v>26.113</c:v>
                </c:pt>
                <c:pt idx="57">
                  <c:v>27.343</c:v>
                </c:pt>
                <c:pt idx="58">
                  <c:v>27.166</c:v>
                </c:pt>
                <c:pt idx="59">
                  <c:v>26.411000000000001</c:v>
                </c:pt>
                <c:pt idx="60">
                  <c:v>26.14</c:v>
                </c:pt>
                <c:pt idx="61">
                  <c:v>25.75</c:v>
                </c:pt>
                <c:pt idx="62">
                  <c:v>26.867000000000001</c:v>
                </c:pt>
                <c:pt idx="63">
                  <c:v>26.242999999999999</c:v>
                </c:pt>
                <c:pt idx="64">
                  <c:v>25.527999999999999</c:v>
                </c:pt>
                <c:pt idx="65">
                  <c:v>26.042000000000002</c:v>
                </c:pt>
                <c:pt idx="66">
                  <c:v>26.33</c:v>
                </c:pt>
                <c:pt idx="67">
                  <c:v>26.495999999999999</c:v>
                </c:pt>
                <c:pt idx="68">
                  <c:v>26.734000000000002</c:v>
                </c:pt>
                <c:pt idx="69">
                  <c:v>26.933</c:v>
                </c:pt>
                <c:pt idx="70">
                  <c:v>27.558</c:v>
                </c:pt>
                <c:pt idx="71">
                  <c:v>26.782</c:v>
                </c:pt>
                <c:pt idx="72">
                  <c:v>27.004000000000001</c:v>
                </c:pt>
                <c:pt idx="73">
                  <c:v>26.812999999999999</c:v>
                </c:pt>
                <c:pt idx="74">
                  <c:v>27.271000000000001</c:v>
                </c:pt>
                <c:pt idx="75">
                  <c:v>26.861000000000001</c:v>
                </c:pt>
                <c:pt idx="76">
                  <c:v>27.007000000000001</c:v>
                </c:pt>
                <c:pt idx="77">
                  <c:v>26.773</c:v>
                </c:pt>
                <c:pt idx="78">
                  <c:v>27</c:v>
                </c:pt>
                <c:pt idx="79">
                  <c:v>27.544</c:v>
                </c:pt>
                <c:pt idx="80">
                  <c:v>27.361999999999998</c:v>
                </c:pt>
                <c:pt idx="81">
                  <c:v>27.521000000000001</c:v>
                </c:pt>
                <c:pt idx="82">
                  <c:v>27.088999999999999</c:v>
                </c:pt>
                <c:pt idx="83">
                  <c:v>27.207000000000001</c:v>
                </c:pt>
                <c:pt idx="84">
                  <c:v>27.940999999999999</c:v>
                </c:pt>
                <c:pt idx="85">
                  <c:v>27.765999999999998</c:v>
                </c:pt>
                <c:pt idx="86">
                  <c:v>27.08</c:v>
                </c:pt>
                <c:pt idx="87">
                  <c:v>27.331</c:v>
                </c:pt>
                <c:pt idx="88">
                  <c:v>27.238</c:v>
                </c:pt>
                <c:pt idx="89">
                  <c:v>27.273</c:v>
                </c:pt>
                <c:pt idx="90">
                  <c:v>26.95</c:v>
                </c:pt>
                <c:pt idx="91">
                  <c:v>27.297000000000001</c:v>
                </c:pt>
                <c:pt idx="92">
                  <c:v>27.37</c:v>
                </c:pt>
                <c:pt idx="93">
                  <c:v>27.219000000000001</c:v>
                </c:pt>
                <c:pt idx="94">
                  <c:v>27.07</c:v>
                </c:pt>
                <c:pt idx="95">
                  <c:v>26.68</c:v>
                </c:pt>
                <c:pt idx="96">
                  <c:v>26.38</c:v>
                </c:pt>
                <c:pt idx="97">
                  <c:v>26.08</c:v>
                </c:pt>
                <c:pt idx="98">
                  <c:v>26.056999999999999</c:v>
                </c:pt>
                <c:pt idx="99">
                  <c:v>26.131</c:v>
                </c:pt>
                <c:pt idx="100">
                  <c:v>26.347999999999999</c:v>
                </c:pt>
                <c:pt idx="101">
                  <c:v>26.477</c:v>
                </c:pt>
                <c:pt idx="102">
                  <c:v>26.646000000000001</c:v>
                </c:pt>
                <c:pt idx="103">
                  <c:v>26.315999999999999</c:v>
                </c:pt>
                <c:pt idx="104">
                  <c:v>26.568000000000001</c:v>
                </c:pt>
                <c:pt idx="105">
                  <c:v>26.550999999999998</c:v>
                </c:pt>
                <c:pt idx="106">
                  <c:v>26.37</c:v>
                </c:pt>
                <c:pt idx="107">
                  <c:v>26.047000000000001</c:v>
                </c:pt>
                <c:pt idx="108">
                  <c:v>26.748000000000001</c:v>
                </c:pt>
                <c:pt idx="109">
                  <c:v>26.030999999999999</c:v>
                </c:pt>
                <c:pt idx="110">
                  <c:v>25.492999999999999</c:v>
                </c:pt>
                <c:pt idx="111">
                  <c:v>25.516999999999999</c:v>
                </c:pt>
                <c:pt idx="112">
                  <c:v>24.777999999999999</c:v>
                </c:pt>
                <c:pt idx="113">
                  <c:v>24.937000000000001</c:v>
                </c:pt>
                <c:pt idx="114">
                  <c:v>24.292999999999999</c:v>
                </c:pt>
                <c:pt idx="115">
                  <c:v>23.959</c:v>
                </c:pt>
                <c:pt idx="116">
                  <c:v>24.262</c:v>
                </c:pt>
                <c:pt idx="117">
                  <c:v>24.202999999999999</c:v>
                </c:pt>
                <c:pt idx="118">
                  <c:v>24.556999999999999</c:v>
                </c:pt>
                <c:pt idx="119">
                  <c:v>24.67</c:v>
                </c:pt>
                <c:pt idx="120">
                  <c:v>24.353999999999999</c:v>
                </c:pt>
                <c:pt idx="121">
                  <c:v>24.596</c:v>
                </c:pt>
                <c:pt idx="122">
                  <c:v>24.427</c:v>
                </c:pt>
                <c:pt idx="123">
                  <c:v>24.036000000000001</c:v>
                </c:pt>
                <c:pt idx="124">
                  <c:v>23.93</c:v>
                </c:pt>
                <c:pt idx="125">
                  <c:v>23.068999999999999</c:v>
                </c:pt>
                <c:pt idx="126">
                  <c:v>22.774000000000001</c:v>
                </c:pt>
                <c:pt idx="127">
                  <c:v>22.582999999999998</c:v>
                </c:pt>
                <c:pt idx="128">
                  <c:v>22.486999999999998</c:v>
                </c:pt>
                <c:pt idx="129">
                  <c:v>22.25</c:v>
                </c:pt>
                <c:pt idx="130">
                  <c:v>22.082999999999998</c:v>
                </c:pt>
                <c:pt idx="131">
                  <c:v>21.818999999999999</c:v>
                </c:pt>
                <c:pt idx="132">
                  <c:v>21.626000000000001</c:v>
                </c:pt>
                <c:pt idx="133">
                  <c:v>21.356999999999999</c:v>
                </c:pt>
                <c:pt idx="134">
                  <c:v>20.873999999999999</c:v>
                </c:pt>
                <c:pt idx="135">
                  <c:v>20.948</c:v>
                </c:pt>
                <c:pt idx="136">
                  <c:v>20.937000000000001</c:v>
                </c:pt>
                <c:pt idx="137">
                  <c:v>20.794</c:v>
                </c:pt>
                <c:pt idx="138">
                  <c:v>20.914000000000001</c:v>
                </c:pt>
                <c:pt idx="139">
                  <c:v>20.864000000000001</c:v>
                </c:pt>
                <c:pt idx="140">
                  <c:v>20.727</c:v>
                </c:pt>
                <c:pt idx="141">
                  <c:v>20.716000000000001</c:v>
                </c:pt>
                <c:pt idx="142">
                  <c:v>20.69</c:v>
                </c:pt>
                <c:pt idx="143">
                  <c:v>20.686</c:v>
                </c:pt>
              </c:numCache>
            </c:numRef>
          </c:val>
          <c:smooth val="0"/>
          <c:extLst>
            <c:ext xmlns:c16="http://schemas.microsoft.com/office/drawing/2014/chart" uri="{C3380CC4-5D6E-409C-BE32-E72D297353CC}">
              <c16:uniqueId val="{00000001-03A0-BA4B-AE34-EDA8F1182740}"/>
            </c:ext>
          </c:extLst>
        </c:ser>
        <c:ser>
          <c:idx val="2"/>
          <c:order val="2"/>
          <c:tx>
            <c:strRef>
              <c:f>'図16_分析8_風'!$E$1</c:f>
              <c:strCache>
                <c:ptCount val="1"/>
                <c:pt idx="0">
                  <c:v>列8</c:v>
                </c:pt>
              </c:strCache>
            </c:strRef>
          </c:tx>
          <c:spPr>
            <a:ln w="22225" cap="rnd">
              <a:solidFill>
                <a:srgbClr val="01B8AA"/>
              </a:solidFill>
              <a:round/>
            </a:ln>
          </c:spPr>
          <c:marker>
            <c:symbol val="none"/>
          </c:marker>
          <c:cat>
            <c:strRef>
              <c:f>'図16_分析8_風'!$B$2:$B$145</c:f>
              <c:strCache>
                <c:ptCount val="144"/>
                <c:pt idx="0">
                  <c:v>0:00</c:v>
                </c:pt>
                <c:pt idx="18">
                  <c:v>3:00</c:v>
                </c:pt>
                <c:pt idx="36">
                  <c:v>6:00</c:v>
                </c:pt>
                <c:pt idx="54">
                  <c:v>9:00</c:v>
                </c:pt>
                <c:pt idx="72">
                  <c:v>12:00</c:v>
                </c:pt>
                <c:pt idx="90">
                  <c:v>15:00</c:v>
                </c:pt>
                <c:pt idx="108">
                  <c:v>18:00</c:v>
                </c:pt>
                <c:pt idx="126">
                  <c:v>21:00</c:v>
                </c:pt>
              </c:strCache>
            </c:strRef>
          </c:cat>
          <c:val>
            <c:numRef>
              <c:f>'図16_分析8_風'!$E$2:$E$145</c:f>
              <c:numCache>
                <c:formatCode>General</c:formatCode>
                <c:ptCount val="144"/>
                <c:pt idx="0">
                  <c:v>26.728999999999999</c:v>
                </c:pt>
                <c:pt idx="1">
                  <c:v>26.637</c:v>
                </c:pt>
                <c:pt idx="2">
                  <c:v>26.635999999999999</c:v>
                </c:pt>
                <c:pt idx="3">
                  <c:v>26.59</c:v>
                </c:pt>
                <c:pt idx="4">
                  <c:v>26.437999999999999</c:v>
                </c:pt>
                <c:pt idx="5">
                  <c:v>26.411000000000001</c:v>
                </c:pt>
                <c:pt idx="6">
                  <c:v>26.503</c:v>
                </c:pt>
                <c:pt idx="7">
                  <c:v>25.99</c:v>
                </c:pt>
                <c:pt idx="8">
                  <c:v>25.861999999999998</c:v>
                </c:pt>
                <c:pt idx="9">
                  <c:v>25.831</c:v>
                </c:pt>
                <c:pt idx="10">
                  <c:v>25.64</c:v>
                </c:pt>
                <c:pt idx="11">
                  <c:v>25.600999999999999</c:v>
                </c:pt>
                <c:pt idx="12">
                  <c:v>25.521000000000001</c:v>
                </c:pt>
                <c:pt idx="13">
                  <c:v>25.422000000000001</c:v>
                </c:pt>
                <c:pt idx="14">
                  <c:v>25.384</c:v>
                </c:pt>
                <c:pt idx="15">
                  <c:v>25.302</c:v>
                </c:pt>
                <c:pt idx="16">
                  <c:v>25.178000000000001</c:v>
                </c:pt>
                <c:pt idx="17">
                  <c:v>25.143999999999998</c:v>
                </c:pt>
                <c:pt idx="18">
                  <c:v>25.16</c:v>
                </c:pt>
                <c:pt idx="19">
                  <c:v>25.161000000000001</c:v>
                </c:pt>
                <c:pt idx="20">
                  <c:v>25.158999999999999</c:v>
                </c:pt>
                <c:pt idx="21">
                  <c:v>25.13</c:v>
                </c:pt>
                <c:pt idx="22">
                  <c:v>25.282</c:v>
                </c:pt>
                <c:pt idx="23">
                  <c:v>25.274000000000001</c:v>
                </c:pt>
                <c:pt idx="24">
                  <c:v>25.294</c:v>
                </c:pt>
                <c:pt idx="25">
                  <c:v>25.138999999999999</c:v>
                </c:pt>
                <c:pt idx="26">
                  <c:v>24.978999999999999</c:v>
                </c:pt>
                <c:pt idx="27">
                  <c:v>24.933</c:v>
                </c:pt>
                <c:pt idx="28">
                  <c:v>24.492999999999999</c:v>
                </c:pt>
                <c:pt idx="29">
                  <c:v>24.452999999999999</c:v>
                </c:pt>
                <c:pt idx="30">
                  <c:v>24.488</c:v>
                </c:pt>
                <c:pt idx="31">
                  <c:v>24.564</c:v>
                </c:pt>
                <c:pt idx="32">
                  <c:v>24.873000000000001</c:v>
                </c:pt>
                <c:pt idx="33">
                  <c:v>24.818999999999999</c:v>
                </c:pt>
                <c:pt idx="34">
                  <c:v>24.931000000000001</c:v>
                </c:pt>
                <c:pt idx="35">
                  <c:v>24.951000000000001</c:v>
                </c:pt>
                <c:pt idx="36">
                  <c:v>24.922999999999998</c:v>
                </c:pt>
                <c:pt idx="37">
                  <c:v>24.997</c:v>
                </c:pt>
                <c:pt idx="38">
                  <c:v>24.902000000000001</c:v>
                </c:pt>
                <c:pt idx="39">
                  <c:v>25.042999999999999</c:v>
                </c:pt>
                <c:pt idx="40">
                  <c:v>25.050999999999998</c:v>
                </c:pt>
                <c:pt idx="41">
                  <c:v>25.257999999999999</c:v>
                </c:pt>
                <c:pt idx="42">
                  <c:v>25.428000000000001</c:v>
                </c:pt>
                <c:pt idx="43">
                  <c:v>25.24</c:v>
                </c:pt>
                <c:pt idx="44">
                  <c:v>25.800999999999998</c:v>
                </c:pt>
                <c:pt idx="45">
                  <c:v>25.646000000000001</c:v>
                </c:pt>
                <c:pt idx="46">
                  <c:v>25.55</c:v>
                </c:pt>
                <c:pt idx="47">
                  <c:v>26.428999999999998</c:v>
                </c:pt>
                <c:pt idx="48">
                  <c:v>26.373999999999999</c:v>
                </c:pt>
                <c:pt idx="49">
                  <c:v>25.878</c:v>
                </c:pt>
                <c:pt idx="50">
                  <c:v>25.341000000000001</c:v>
                </c:pt>
                <c:pt idx="51">
                  <c:v>25.363</c:v>
                </c:pt>
                <c:pt idx="52">
                  <c:v>25.236999999999998</c:v>
                </c:pt>
                <c:pt idx="53">
                  <c:v>25.302</c:v>
                </c:pt>
                <c:pt idx="54">
                  <c:v>25.614000000000001</c:v>
                </c:pt>
                <c:pt idx="55">
                  <c:v>25.916</c:v>
                </c:pt>
                <c:pt idx="56">
                  <c:v>25.959</c:v>
                </c:pt>
                <c:pt idx="57">
                  <c:v>25.808</c:v>
                </c:pt>
                <c:pt idx="58">
                  <c:v>25.629000000000001</c:v>
                </c:pt>
                <c:pt idx="59">
                  <c:v>26.431999999999999</c:v>
                </c:pt>
                <c:pt idx="60">
                  <c:v>25.722999999999999</c:v>
                </c:pt>
                <c:pt idx="61">
                  <c:v>25.66</c:v>
                </c:pt>
                <c:pt idx="62">
                  <c:v>25.748999999999999</c:v>
                </c:pt>
                <c:pt idx="63">
                  <c:v>25.446000000000002</c:v>
                </c:pt>
                <c:pt idx="64">
                  <c:v>25.59</c:v>
                </c:pt>
                <c:pt idx="65">
                  <c:v>25.696999999999999</c:v>
                </c:pt>
                <c:pt idx="66">
                  <c:v>25.920999999999999</c:v>
                </c:pt>
                <c:pt idx="67">
                  <c:v>26.283999999999999</c:v>
                </c:pt>
                <c:pt idx="68">
                  <c:v>26.158999999999999</c:v>
                </c:pt>
                <c:pt idx="69">
                  <c:v>26.286999999999999</c:v>
                </c:pt>
                <c:pt idx="70">
                  <c:v>26.318000000000001</c:v>
                </c:pt>
                <c:pt idx="71">
                  <c:v>26.297999999999998</c:v>
                </c:pt>
                <c:pt idx="72">
                  <c:v>26.263000000000002</c:v>
                </c:pt>
                <c:pt idx="73">
                  <c:v>26.18</c:v>
                </c:pt>
                <c:pt idx="74">
                  <c:v>26.821000000000002</c:v>
                </c:pt>
                <c:pt idx="75">
                  <c:v>26.78</c:v>
                </c:pt>
                <c:pt idx="76">
                  <c:v>26.617000000000001</c:v>
                </c:pt>
                <c:pt idx="77">
                  <c:v>26.260999999999999</c:v>
                </c:pt>
                <c:pt idx="78">
                  <c:v>26.526</c:v>
                </c:pt>
                <c:pt idx="79">
                  <c:v>26.931999999999999</c:v>
                </c:pt>
                <c:pt idx="80">
                  <c:v>26.82</c:v>
                </c:pt>
                <c:pt idx="81">
                  <c:v>26.893000000000001</c:v>
                </c:pt>
                <c:pt idx="82">
                  <c:v>26.516999999999999</c:v>
                </c:pt>
                <c:pt idx="83">
                  <c:v>26.96</c:v>
                </c:pt>
                <c:pt idx="84">
                  <c:v>27.138999999999999</c:v>
                </c:pt>
                <c:pt idx="85">
                  <c:v>27.123000000000001</c:v>
                </c:pt>
                <c:pt idx="86">
                  <c:v>27.052</c:v>
                </c:pt>
                <c:pt idx="87">
                  <c:v>27.321000000000002</c:v>
                </c:pt>
                <c:pt idx="88">
                  <c:v>27.242999999999999</c:v>
                </c:pt>
                <c:pt idx="89">
                  <c:v>27.023</c:v>
                </c:pt>
                <c:pt idx="90">
                  <c:v>27.061</c:v>
                </c:pt>
                <c:pt idx="91">
                  <c:v>27.076000000000001</c:v>
                </c:pt>
                <c:pt idx="92">
                  <c:v>27.114000000000001</c:v>
                </c:pt>
                <c:pt idx="93">
                  <c:v>26.721</c:v>
                </c:pt>
                <c:pt idx="94">
                  <c:v>26.376000000000001</c:v>
                </c:pt>
                <c:pt idx="95">
                  <c:v>26.074000000000002</c:v>
                </c:pt>
                <c:pt idx="96">
                  <c:v>26.398</c:v>
                </c:pt>
                <c:pt idx="97">
                  <c:v>26.155999999999999</c:v>
                </c:pt>
                <c:pt idx="98">
                  <c:v>26.175999999999998</c:v>
                </c:pt>
                <c:pt idx="99">
                  <c:v>26.16</c:v>
                </c:pt>
                <c:pt idx="100">
                  <c:v>25.716999999999999</c:v>
                </c:pt>
                <c:pt idx="101">
                  <c:v>25.960999999999999</c:v>
                </c:pt>
                <c:pt idx="102">
                  <c:v>25.884</c:v>
                </c:pt>
                <c:pt idx="103">
                  <c:v>25.986000000000001</c:v>
                </c:pt>
                <c:pt idx="104">
                  <c:v>26.036999999999999</c:v>
                </c:pt>
                <c:pt idx="105">
                  <c:v>26.468</c:v>
                </c:pt>
                <c:pt idx="106">
                  <c:v>26.13</c:v>
                </c:pt>
                <c:pt idx="107">
                  <c:v>26.196000000000002</c:v>
                </c:pt>
                <c:pt idx="108">
                  <c:v>26.260999999999999</c:v>
                </c:pt>
                <c:pt idx="109">
                  <c:v>25.68</c:v>
                </c:pt>
                <c:pt idx="110">
                  <c:v>24.998000000000001</c:v>
                </c:pt>
                <c:pt idx="111">
                  <c:v>24.32</c:v>
                </c:pt>
                <c:pt idx="112">
                  <c:v>23.808</c:v>
                </c:pt>
                <c:pt idx="113">
                  <c:v>23.536000000000001</c:v>
                </c:pt>
                <c:pt idx="114">
                  <c:v>22.98</c:v>
                </c:pt>
                <c:pt idx="115">
                  <c:v>22.521000000000001</c:v>
                </c:pt>
                <c:pt idx="116">
                  <c:v>22.623000000000001</c:v>
                </c:pt>
                <c:pt idx="117">
                  <c:v>22.401</c:v>
                </c:pt>
                <c:pt idx="118">
                  <c:v>22.538</c:v>
                </c:pt>
                <c:pt idx="119">
                  <c:v>22.62</c:v>
                </c:pt>
                <c:pt idx="120">
                  <c:v>22.643999999999998</c:v>
                </c:pt>
                <c:pt idx="121">
                  <c:v>22.963999999999999</c:v>
                </c:pt>
                <c:pt idx="122">
                  <c:v>22.94</c:v>
                </c:pt>
                <c:pt idx="123">
                  <c:v>22.731000000000002</c:v>
                </c:pt>
                <c:pt idx="124">
                  <c:v>22.552</c:v>
                </c:pt>
                <c:pt idx="125">
                  <c:v>22.536000000000001</c:v>
                </c:pt>
                <c:pt idx="126">
                  <c:v>22.388999999999999</c:v>
                </c:pt>
                <c:pt idx="127">
                  <c:v>22.163</c:v>
                </c:pt>
                <c:pt idx="128">
                  <c:v>22.117000000000001</c:v>
                </c:pt>
                <c:pt idx="129">
                  <c:v>22.042000000000002</c:v>
                </c:pt>
                <c:pt idx="130">
                  <c:v>21.817</c:v>
                </c:pt>
                <c:pt idx="131">
                  <c:v>21.521000000000001</c:v>
                </c:pt>
                <c:pt idx="132">
                  <c:v>21.28</c:v>
                </c:pt>
                <c:pt idx="133">
                  <c:v>21.068999999999999</c:v>
                </c:pt>
                <c:pt idx="134">
                  <c:v>20.591000000000001</c:v>
                </c:pt>
                <c:pt idx="135">
                  <c:v>20.484000000000002</c:v>
                </c:pt>
                <c:pt idx="136">
                  <c:v>20.440000000000001</c:v>
                </c:pt>
                <c:pt idx="137">
                  <c:v>20.309999999999999</c:v>
                </c:pt>
                <c:pt idx="138">
                  <c:v>20.443999999999999</c:v>
                </c:pt>
                <c:pt idx="139">
                  <c:v>20.312000000000001</c:v>
                </c:pt>
                <c:pt idx="140">
                  <c:v>20.164000000000001</c:v>
                </c:pt>
                <c:pt idx="141">
                  <c:v>20.187000000000001</c:v>
                </c:pt>
                <c:pt idx="142">
                  <c:v>20.23</c:v>
                </c:pt>
                <c:pt idx="143">
                  <c:v>20.303999999999998</c:v>
                </c:pt>
              </c:numCache>
            </c:numRef>
          </c:val>
          <c:smooth val="0"/>
          <c:extLst>
            <c:ext xmlns:c16="http://schemas.microsoft.com/office/drawing/2014/chart" uri="{C3380CC4-5D6E-409C-BE32-E72D297353CC}">
              <c16:uniqueId val="{00000002-03A0-BA4B-AE34-EDA8F1182740}"/>
            </c:ext>
          </c:extLst>
        </c:ser>
        <c:ser>
          <c:idx val="3"/>
          <c:order val="3"/>
          <c:tx>
            <c:strRef>
              <c:f>'図16_分析8_風'!$F$1</c:f>
              <c:strCache>
                <c:ptCount val="1"/>
                <c:pt idx="0">
                  <c:v>列11</c:v>
                </c:pt>
              </c:strCache>
            </c:strRef>
          </c:tx>
          <c:spPr>
            <a:ln w="22225" cap="rnd">
              <a:solidFill>
                <a:srgbClr val="118DFF"/>
              </a:solidFill>
              <a:round/>
            </a:ln>
          </c:spPr>
          <c:marker>
            <c:symbol val="none"/>
          </c:marker>
          <c:cat>
            <c:strRef>
              <c:f>'図16_分析8_風'!$B$2:$B$145</c:f>
              <c:strCache>
                <c:ptCount val="144"/>
                <c:pt idx="0">
                  <c:v>0:00</c:v>
                </c:pt>
                <c:pt idx="18">
                  <c:v>3:00</c:v>
                </c:pt>
                <c:pt idx="36">
                  <c:v>6:00</c:v>
                </c:pt>
                <c:pt idx="54">
                  <c:v>9:00</c:v>
                </c:pt>
                <c:pt idx="72">
                  <c:v>12:00</c:v>
                </c:pt>
                <c:pt idx="90">
                  <c:v>15:00</c:v>
                </c:pt>
                <c:pt idx="108">
                  <c:v>18:00</c:v>
                </c:pt>
                <c:pt idx="126">
                  <c:v>21:00</c:v>
                </c:pt>
              </c:strCache>
            </c:strRef>
          </c:cat>
          <c:val>
            <c:numRef>
              <c:f>'図16_分析8_風'!$F$2:$F$145</c:f>
              <c:numCache>
                <c:formatCode>General</c:formatCode>
                <c:ptCount val="144"/>
                <c:pt idx="0">
                  <c:v>26.724</c:v>
                </c:pt>
                <c:pt idx="1">
                  <c:v>26.611999999999998</c:v>
                </c:pt>
                <c:pt idx="2">
                  <c:v>26.58</c:v>
                </c:pt>
                <c:pt idx="3">
                  <c:v>26.585000000000001</c:v>
                </c:pt>
                <c:pt idx="4">
                  <c:v>26.539000000000001</c:v>
                </c:pt>
                <c:pt idx="5">
                  <c:v>26.53</c:v>
                </c:pt>
                <c:pt idx="6">
                  <c:v>26.513999999999999</c:v>
                </c:pt>
                <c:pt idx="7">
                  <c:v>26.01</c:v>
                </c:pt>
                <c:pt idx="8">
                  <c:v>25.802</c:v>
                </c:pt>
                <c:pt idx="9">
                  <c:v>25.725000000000001</c:v>
                </c:pt>
                <c:pt idx="10">
                  <c:v>25.645</c:v>
                </c:pt>
                <c:pt idx="11">
                  <c:v>25.527999999999999</c:v>
                </c:pt>
                <c:pt idx="12">
                  <c:v>25.465</c:v>
                </c:pt>
                <c:pt idx="13">
                  <c:v>25.411999999999999</c:v>
                </c:pt>
                <c:pt idx="14">
                  <c:v>25.352</c:v>
                </c:pt>
                <c:pt idx="15">
                  <c:v>25.321000000000002</c:v>
                </c:pt>
                <c:pt idx="16">
                  <c:v>25.257999999999999</c:v>
                </c:pt>
                <c:pt idx="17">
                  <c:v>25.256</c:v>
                </c:pt>
                <c:pt idx="18">
                  <c:v>25.295999999999999</c:v>
                </c:pt>
                <c:pt idx="19">
                  <c:v>25.315000000000001</c:v>
                </c:pt>
                <c:pt idx="20">
                  <c:v>25.364999999999998</c:v>
                </c:pt>
                <c:pt idx="21">
                  <c:v>25.352</c:v>
                </c:pt>
                <c:pt idx="22">
                  <c:v>25.43</c:v>
                </c:pt>
                <c:pt idx="23">
                  <c:v>25.5</c:v>
                </c:pt>
                <c:pt idx="24">
                  <c:v>25.524999999999999</c:v>
                </c:pt>
                <c:pt idx="25">
                  <c:v>25.268999999999998</c:v>
                </c:pt>
                <c:pt idx="26">
                  <c:v>25.036000000000001</c:v>
                </c:pt>
                <c:pt idx="27">
                  <c:v>24.946999999999999</c:v>
                </c:pt>
                <c:pt idx="28">
                  <c:v>24.6</c:v>
                </c:pt>
                <c:pt idx="29">
                  <c:v>24.55</c:v>
                </c:pt>
                <c:pt idx="30">
                  <c:v>24.446000000000002</c:v>
                </c:pt>
                <c:pt idx="31">
                  <c:v>24.446999999999999</c:v>
                </c:pt>
                <c:pt idx="32">
                  <c:v>24.738</c:v>
                </c:pt>
                <c:pt idx="33">
                  <c:v>24.748000000000001</c:v>
                </c:pt>
                <c:pt idx="34">
                  <c:v>24.792000000000002</c:v>
                </c:pt>
                <c:pt idx="35">
                  <c:v>24.859000000000002</c:v>
                </c:pt>
                <c:pt idx="36">
                  <c:v>24.815999999999999</c:v>
                </c:pt>
                <c:pt idx="37">
                  <c:v>24.885000000000002</c:v>
                </c:pt>
                <c:pt idx="38">
                  <c:v>25.08</c:v>
                </c:pt>
                <c:pt idx="39">
                  <c:v>25.306000000000001</c:v>
                </c:pt>
                <c:pt idx="40">
                  <c:v>25.417000000000002</c:v>
                </c:pt>
                <c:pt idx="41">
                  <c:v>25.895</c:v>
                </c:pt>
                <c:pt idx="42">
                  <c:v>26.006</c:v>
                </c:pt>
                <c:pt idx="43">
                  <c:v>25.841999999999999</c:v>
                </c:pt>
                <c:pt idx="44">
                  <c:v>25.896000000000001</c:v>
                </c:pt>
                <c:pt idx="45">
                  <c:v>25.768000000000001</c:v>
                </c:pt>
                <c:pt idx="46">
                  <c:v>25.713999999999999</c:v>
                </c:pt>
                <c:pt idx="47">
                  <c:v>26.094999999999999</c:v>
                </c:pt>
                <c:pt idx="48">
                  <c:v>26.106000000000002</c:v>
                </c:pt>
                <c:pt idx="49">
                  <c:v>25.611999999999998</c:v>
                </c:pt>
                <c:pt idx="50">
                  <c:v>25.75</c:v>
                </c:pt>
                <c:pt idx="51">
                  <c:v>25.536000000000001</c:v>
                </c:pt>
                <c:pt idx="52">
                  <c:v>25.454999999999998</c:v>
                </c:pt>
                <c:pt idx="53">
                  <c:v>25.684000000000001</c:v>
                </c:pt>
                <c:pt idx="54">
                  <c:v>25.526</c:v>
                </c:pt>
                <c:pt idx="55">
                  <c:v>26.044</c:v>
                </c:pt>
                <c:pt idx="56">
                  <c:v>26.120999999999999</c:v>
                </c:pt>
                <c:pt idx="57">
                  <c:v>25.928999999999998</c:v>
                </c:pt>
                <c:pt idx="58">
                  <c:v>25.754000000000001</c:v>
                </c:pt>
                <c:pt idx="59">
                  <c:v>26.210999999999999</c:v>
                </c:pt>
                <c:pt idx="60">
                  <c:v>25.658000000000001</c:v>
                </c:pt>
                <c:pt idx="61">
                  <c:v>25.532</c:v>
                </c:pt>
                <c:pt idx="62">
                  <c:v>26.465</c:v>
                </c:pt>
                <c:pt idx="63">
                  <c:v>26.015000000000001</c:v>
                </c:pt>
                <c:pt idx="64">
                  <c:v>25.341999999999999</c:v>
                </c:pt>
                <c:pt idx="65">
                  <c:v>26.096</c:v>
                </c:pt>
                <c:pt idx="66">
                  <c:v>25.960999999999999</c:v>
                </c:pt>
                <c:pt idx="67">
                  <c:v>25.693999999999999</c:v>
                </c:pt>
                <c:pt idx="68">
                  <c:v>26.439</c:v>
                </c:pt>
                <c:pt idx="69">
                  <c:v>26.831</c:v>
                </c:pt>
                <c:pt idx="70">
                  <c:v>26.64</c:v>
                </c:pt>
                <c:pt idx="71">
                  <c:v>25.791</c:v>
                </c:pt>
                <c:pt idx="72">
                  <c:v>26.106000000000002</c:v>
                </c:pt>
                <c:pt idx="73">
                  <c:v>26.518999999999998</c:v>
                </c:pt>
                <c:pt idx="74">
                  <c:v>26.709</c:v>
                </c:pt>
                <c:pt idx="75">
                  <c:v>26.579000000000001</c:v>
                </c:pt>
                <c:pt idx="76">
                  <c:v>26.422999999999998</c:v>
                </c:pt>
                <c:pt idx="77">
                  <c:v>26.271000000000001</c:v>
                </c:pt>
                <c:pt idx="78">
                  <c:v>26.216000000000001</c:v>
                </c:pt>
                <c:pt idx="79">
                  <c:v>27.062000000000001</c:v>
                </c:pt>
                <c:pt idx="80">
                  <c:v>27.088000000000001</c:v>
                </c:pt>
                <c:pt idx="81">
                  <c:v>26.798999999999999</c:v>
                </c:pt>
                <c:pt idx="82">
                  <c:v>26.875</c:v>
                </c:pt>
                <c:pt idx="83">
                  <c:v>26.765999999999998</c:v>
                </c:pt>
                <c:pt idx="84">
                  <c:v>26.936</c:v>
                </c:pt>
                <c:pt idx="85">
                  <c:v>27.375</c:v>
                </c:pt>
                <c:pt idx="86">
                  <c:v>27.23</c:v>
                </c:pt>
                <c:pt idx="87">
                  <c:v>27.135999999999999</c:v>
                </c:pt>
                <c:pt idx="88">
                  <c:v>27.303999999999998</c:v>
                </c:pt>
                <c:pt idx="89">
                  <c:v>27.356999999999999</c:v>
                </c:pt>
                <c:pt idx="90">
                  <c:v>27.271000000000001</c:v>
                </c:pt>
                <c:pt idx="91">
                  <c:v>27.074999999999999</c:v>
                </c:pt>
                <c:pt idx="92">
                  <c:v>27.117999999999999</c:v>
                </c:pt>
                <c:pt idx="93">
                  <c:v>27.02</c:v>
                </c:pt>
                <c:pt idx="94">
                  <c:v>26.873000000000001</c:v>
                </c:pt>
                <c:pt idx="95">
                  <c:v>26.19</c:v>
                </c:pt>
                <c:pt idx="96">
                  <c:v>26.007999999999999</c:v>
                </c:pt>
                <c:pt idx="97">
                  <c:v>26.047999999999998</c:v>
                </c:pt>
                <c:pt idx="98">
                  <c:v>26.305</c:v>
                </c:pt>
                <c:pt idx="99">
                  <c:v>25.94</c:v>
                </c:pt>
                <c:pt idx="100">
                  <c:v>25.966000000000001</c:v>
                </c:pt>
                <c:pt idx="101">
                  <c:v>25.975999999999999</c:v>
                </c:pt>
                <c:pt idx="102">
                  <c:v>25.821000000000002</c:v>
                </c:pt>
                <c:pt idx="103">
                  <c:v>26.248999999999999</c:v>
                </c:pt>
                <c:pt idx="104">
                  <c:v>25.98</c:v>
                </c:pt>
                <c:pt idx="105">
                  <c:v>26.024999999999999</c:v>
                </c:pt>
                <c:pt idx="106">
                  <c:v>25.989000000000001</c:v>
                </c:pt>
                <c:pt idx="107">
                  <c:v>26.009</c:v>
                </c:pt>
                <c:pt idx="108">
                  <c:v>25.672999999999998</c:v>
                </c:pt>
                <c:pt idx="109">
                  <c:v>25.741</c:v>
                </c:pt>
                <c:pt idx="110">
                  <c:v>25.082000000000001</c:v>
                </c:pt>
                <c:pt idx="111">
                  <c:v>24.61</c:v>
                </c:pt>
                <c:pt idx="112">
                  <c:v>24.366</c:v>
                </c:pt>
                <c:pt idx="113">
                  <c:v>24.33</c:v>
                </c:pt>
                <c:pt idx="114">
                  <c:v>24.167999999999999</c:v>
                </c:pt>
                <c:pt idx="115">
                  <c:v>23.606999999999999</c:v>
                </c:pt>
                <c:pt idx="116">
                  <c:v>22.923999999999999</c:v>
                </c:pt>
                <c:pt idx="117">
                  <c:v>22.716000000000001</c:v>
                </c:pt>
                <c:pt idx="118">
                  <c:v>22.821999999999999</c:v>
                </c:pt>
                <c:pt idx="119">
                  <c:v>22.89</c:v>
                </c:pt>
                <c:pt idx="120">
                  <c:v>22.704999999999998</c:v>
                </c:pt>
                <c:pt idx="121">
                  <c:v>22.893999999999998</c:v>
                </c:pt>
                <c:pt idx="122">
                  <c:v>22.875</c:v>
                </c:pt>
                <c:pt idx="123">
                  <c:v>22.352</c:v>
                </c:pt>
                <c:pt idx="124">
                  <c:v>22.25</c:v>
                </c:pt>
                <c:pt idx="125">
                  <c:v>22.010999999999999</c:v>
                </c:pt>
                <c:pt idx="126">
                  <c:v>22.036000000000001</c:v>
                </c:pt>
                <c:pt idx="127">
                  <c:v>21.934000000000001</c:v>
                </c:pt>
                <c:pt idx="128">
                  <c:v>22.187999999999999</c:v>
                </c:pt>
                <c:pt idx="129">
                  <c:v>22.032</c:v>
                </c:pt>
                <c:pt idx="130">
                  <c:v>22.059000000000001</c:v>
                </c:pt>
                <c:pt idx="131">
                  <c:v>21.855</c:v>
                </c:pt>
                <c:pt idx="132">
                  <c:v>21.61</c:v>
                </c:pt>
                <c:pt idx="133">
                  <c:v>21.274999999999999</c:v>
                </c:pt>
                <c:pt idx="134">
                  <c:v>21.123999999999999</c:v>
                </c:pt>
                <c:pt idx="135">
                  <c:v>21.001000000000001</c:v>
                </c:pt>
                <c:pt idx="136">
                  <c:v>21.166</c:v>
                </c:pt>
                <c:pt idx="137">
                  <c:v>20.827999999999999</c:v>
                </c:pt>
                <c:pt idx="138">
                  <c:v>20.661999999999999</c:v>
                </c:pt>
                <c:pt idx="139">
                  <c:v>20.506</c:v>
                </c:pt>
                <c:pt idx="140">
                  <c:v>20.420000000000002</c:v>
                </c:pt>
                <c:pt idx="141">
                  <c:v>20.361999999999998</c:v>
                </c:pt>
                <c:pt idx="142">
                  <c:v>20.381</c:v>
                </c:pt>
                <c:pt idx="143">
                  <c:v>20.379000000000001</c:v>
                </c:pt>
              </c:numCache>
            </c:numRef>
          </c:val>
          <c:smooth val="0"/>
          <c:extLst>
            <c:ext xmlns:c16="http://schemas.microsoft.com/office/drawing/2014/chart" uri="{C3380CC4-5D6E-409C-BE32-E72D297353CC}">
              <c16:uniqueId val="{00000003-03A0-BA4B-AE34-EDA8F1182740}"/>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none"/>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30"/>
          <c:min val="18"/>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2"/>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
          <c:y val="0.25"/>
          <c:w val="0.76"/>
          <c:h val="0.55000000000000004"/>
        </c:manualLayout>
      </c:layout>
      <c:lineChart>
        <c:grouping val="standard"/>
        <c:varyColors val="0"/>
        <c:ser>
          <c:idx val="0"/>
          <c:order val="0"/>
          <c:tx>
            <c:strRef>
              <c:f>'図16_分析8_風'!$I$1</c:f>
              <c:strCache>
                <c:ptCount val="1"/>
                <c:pt idx="0">
                  <c:v>屋上の気温</c:v>
                </c:pt>
              </c:strCache>
            </c:strRef>
          </c:tx>
          <c:spPr>
            <a:ln w="15875" cap="rnd">
              <a:solidFill>
                <a:srgbClr val="ED7D31"/>
              </a:solidFill>
              <a:round/>
            </a:ln>
          </c:spPr>
          <c:marker>
            <c:symbol val="none"/>
          </c:marker>
          <c:cat>
            <c:strRef>
              <c:f>'図16_分析8_風'!$B$2:$B$145</c:f>
              <c:strCache>
                <c:ptCount val="144"/>
                <c:pt idx="0">
                  <c:v>0:00</c:v>
                </c:pt>
                <c:pt idx="18">
                  <c:v>3:00</c:v>
                </c:pt>
                <c:pt idx="36">
                  <c:v>6:00</c:v>
                </c:pt>
                <c:pt idx="54">
                  <c:v>9:00</c:v>
                </c:pt>
                <c:pt idx="72">
                  <c:v>12:00</c:v>
                </c:pt>
                <c:pt idx="90">
                  <c:v>15:00</c:v>
                </c:pt>
                <c:pt idx="108">
                  <c:v>18:00</c:v>
                </c:pt>
                <c:pt idx="126">
                  <c:v>21:00</c:v>
                </c:pt>
              </c:strCache>
            </c:strRef>
          </c:cat>
          <c:val>
            <c:numRef>
              <c:f>'図16_分析8_風'!$I$2:$I$145</c:f>
              <c:numCache>
                <c:formatCode>General</c:formatCode>
                <c:ptCount val="144"/>
                <c:pt idx="0">
                  <c:v>24.87</c:v>
                </c:pt>
                <c:pt idx="1">
                  <c:v>24.97</c:v>
                </c:pt>
                <c:pt idx="2">
                  <c:v>25.05</c:v>
                </c:pt>
                <c:pt idx="3">
                  <c:v>25.06</c:v>
                </c:pt>
                <c:pt idx="4">
                  <c:v>24.57</c:v>
                </c:pt>
                <c:pt idx="5">
                  <c:v>24</c:v>
                </c:pt>
                <c:pt idx="6">
                  <c:v>23.75</c:v>
                </c:pt>
                <c:pt idx="7">
                  <c:v>23.8</c:v>
                </c:pt>
                <c:pt idx="8">
                  <c:v>23.82</c:v>
                </c:pt>
                <c:pt idx="9">
                  <c:v>24</c:v>
                </c:pt>
                <c:pt idx="10">
                  <c:v>24.15</c:v>
                </c:pt>
                <c:pt idx="11">
                  <c:v>24.17</c:v>
                </c:pt>
                <c:pt idx="12">
                  <c:v>24.24</c:v>
                </c:pt>
                <c:pt idx="13">
                  <c:v>24.22</c:v>
                </c:pt>
                <c:pt idx="14">
                  <c:v>24.33</c:v>
                </c:pt>
                <c:pt idx="15">
                  <c:v>24.35</c:v>
                </c:pt>
                <c:pt idx="16">
                  <c:v>24.15</c:v>
                </c:pt>
                <c:pt idx="17">
                  <c:v>24.15</c:v>
                </c:pt>
                <c:pt idx="18">
                  <c:v>24.11</c:v>
                </c:pt>
                <c:pt idx="19">
                  <c:v>24.35</c:v>
                </c:pt>
                <c:pt idx="20">
                  <c:v>24.27</c:v>
                </c:pt>
                <c:pt idx="21">
                  <c:v>24.29</c:v>
                </c:pt>
                <c:pt idx="22">
                  <c:v>24.26</c:v>
                </c:pt>
                <c:pt idx="23">
                  <c:v>24.08</c:v>
                </c:pt>
                <c:pt idx="24">
                  <c:v>24.16</c:v>
                </c:pt>
                <c:pt idx="25">
                  <c:v>23.99</c:v>
                </c:pt>
                <c:pt idx="26">
                  <c:v>23.74</c:v>
                </c:pt>
                <c:pt idx="27">
                  <c:v>23.95</c:v>
                </c:pt>
                <c:pt idx="28">
                  <c:v>23.89</c:v>
                </c:pt>
                <c:pt idx="29">
                  <c:v>23.77</c:v>
                </c:pt>
                <c:pt idx="30">
                  <c:v>23.65</c:v>
                </c:pt>
                <c:pt idx="31">
                  <c:v>23.29</c:v>
                </c:pt>
                <c:pt idx="32">
                  <c:v>23.18</c:v>
                </c:pt>
                <c:pt idx="33">
                  <c:v>22.98</c:v>
                </c:pt>
                <c:pt idx="34">
                  <c:v>22.99</c:v>
                </c:pt>
                <c:pt idx="35">
                  <c:v>22.99</c:v>
                </c:pt>
                <c:pt idx="36">
                  <c:v>23</c:v>
                </c:pt>
                <c:pt idx="37">
                  <c:v>23.08</c:v>
                </c:pt>
                <c:pt idx="38">
                  <c:v>23.03</c:v>
                </c:pt>
                <c:pt idx="39">
                  <c:v>23.04</c:v>
                </c:pt>
                <c:pt idx="40">
                  <c:v>22.85</c:v>
                </c:pt>
                <c:pt idx="41">
                  <c:v>22.83</c:v>
                </c:pt>
                <c:pt idx="42">
                  <c:v>22.87</c:v>
                </c:pt>
                <c:pt idx="43">
                  <c:v>22.87</c:v>
                </c:pt>
                <c:pt idx="44">
                  <c:v>22.9</c:v>
                </c:pt>
                <c:pt idx="45">
                  <c:v>23.12</c:v>
                </c:pt>
                <c:pt idx="46">
                  <c:v>23.33</c:v>
                </c:pt>
                <c:pt idx="47">
                  <c:v>23.47</c:v>
                </c:pt>
                <c:pt idx="48">
                  <c:v>23.87</c:v>
                </c:pt>
                <c:pt idx="49">
                  <c:v>24.01</c:v>
                </c:pt>
                <c:pt idx="50">
                  <c:v>24.01</c:v>
                </c:pt>
                <c:pt idx="51">
                  <c:v>24</c:v>
                </c:pt>
                <c:pt idx="52">
                  <c:v>24.11</c:v>
                </c:pt>
                <c:pt idx="53">
                  <c:v>24.2</c:v>
                </c:pt>
                <c:pt idx="54">
                  <c:v>24.16</c:v>
                </c:pt>
                <c:pt idx="55">
                  <c:v>24.14</c:v>
                </c:pt>
                <c:pt idx="56">
                  <c:v>24.23</c:v>
                </c:pt>
                <c:pt idx="57">
                  <c:v>24.37</c:v>
                </c:pt>
                <c:pt idx="58">
                  <c:v>24.54</c:v>
                </c:pt>
                <c:pt idx="59">
                  <c:v>24.53</c:v>
                </c:pt>
                <c:pt idx="60">
                  <c:v>24.5</c:v>
                </c:pt>
                <c:pt idx="61">
                  <c:v>24.68</c:v>
                </c:pt>
                <c:pt idx="62">
                  <c:v>24.69</c:v>
                </c:pt>
                <c:pt idx="63">
                  <c:v>24.9</c:v>
                </c:pt>
                <c:pt idx="64">
                  <c:v>25.03</c:v>
                </c:pt>
                <c:pt idx="65">
                  <c:v>25.04</c:v>
                </c:pt>
                <c:pt idx="66">
                  <c:v>24.95</c:v>
                </c:pt>
                <c:pt idx="67">
                  <c:v>24.99</c:v>
                </c:pt>
                <c:pt idx="68">
                  <c:v>25.35</c:v>
                </c:pt>
                <c:pt idx="69">
                  <c:v>25.48</c:v>
                </c:pt>
                <c:pt idx="70">
                  <c:v>25.46</c:v>
                </c:pt>
                <c:pt idx="71">
                  <c:v>25.89</c:v>
                </c:pt>
                <c:pt idx="72">
                  <c:v>25.67</c:v>
                </c:pt>
                <c:pt idx="73">
                  <c:v>25.77</c:v>
                </c:pt>
                <c:pt idx="74">
                  <c:v>25.94</c:v>
                </c:pt>
                <c:pt idx="75">
                  <c:v>25.96</c:v>
                </c:pt>
                <c:pt idx="76">
                  <c:v>25.78</c:v>
                </c:pt>
                <c:pt idx="77">
                  <c:v>26.07</c:v>
                </c:pt>
                <c:pt idx="78">
                  <c:v>26.08</c:v>
                </c:pt>
                <c:pt idx="79">
                  <c:v>26.55</c:v>
                </c:pt>
                <c:pt idx="80">
                  <c:v>26.49</c:v>
                </c:pt>
                <c:pt idx="81">
                  <c:v>26.39</c:v>
                </c:pt>
                <c:pt idx="82">
                  <c:v>26.75</c:v>
                </c:pt>
                <c:pt idx="83">
                  <c:v>26.62</c:v>
                </c:pt>
                <c:pt idx="84">
                  <c:v>26.83</c:v>
                </c:pt>
                <c:pt idx="85">
                  <c:v>26.41</c:v>
                </c:pt>
                <c:pt idx="86">
                  <c:v>26.6</c:v>
                </c:pt>
                <c:pt idx="87">
                  <c:v>26.81</c:v>
                </c:pt>
                <c:pt idx="88">
                  <c:v>26.92</c:v>
                </c:pt>
                <c:pt idx="89">
                  <c:v>26.77</c:v>
                </c:pt>
                <c:pt idx="90">
                  <c:v>26.93</c:v>
                </c:pt>
                <c:pt idx="91">
                  <c:v>26.99</c:v>
                </c:pt>
                <c:pt idx="92">
                  <c:v>27.05</c:v>
                </c:pt>
                <c:pt idx="93">
                  <c:v>27.35</c:v>
                </c:pt>
                <c:pt idx="94">
                  <c:v>27.27</c:v>
                </c:pt>
                <c:pt idx="95">
                  <c:v>26.93</c:v>
                </c:pt>
                <c:pt idx="96">
                  <c:v>26.54</c:v>
                </c:pt>
                <c:pt idx="97">
                  <c:v>26.5</c:v>
                </c:pt>
                <c:pt idx="98">
                  <c:v>26.44</c:v>
                </c:pt>
                <c:pt idx="99">
                  <c:v>26.85</c:v>
                </c:pt>
                <c:pt idx="100">
                  <c:v>26.65</c:v>
                </c:pt>
                <c:pt idx="101">
                  <c:v>25.98</c:v>
                </c:pt>
                <c:pt idx="102">
                  <c:v>25.94</c:v>
                </c:pt>
                <c:pt idx="103">
                  <c:v>25.66</c:v>
                </c:pt>
                <c:pt idx="104">
                  <c:v>25.68</c:v>
                </c:pt>
                <c:pt idx="105">
                  <c:v>25.81</c:v>
                </c:pt>
                <c:pt idx="106">
                  <c:v>26.01</c:v>
                </c:pt>
                <c:pt idx="107">
                  <c:v>25.65</c:v>
                </c:pt>
                <c:pt idx="108">
                  <c:v>25.51</c:v>
                </c:pt>
                <c:pt idx="109">
                  <c:v>25.41</c:v>
                </c:pt>
                <c:pt idx="110">
                  <c:v>25.48</c:v>
                </c:pt>
                <c:pt idx="111">
                  <c:v>25.14</c:v>
                </c:pt>
                <c:pt idx="112">
                  <c:v>25</c:v>
                </c:pt>
                <c:pt idx="113">
                  <c:v>25.02</c:v>
                </c:pt>
                <c:pt idx="114">
                  <c:v>24.92</c:v>
                </c:pt>
                <c:pt idx="115">
                  <c:v>24.99</c:v>
                </c:pt>
                <c:pt idx="116">
                  <c:v>25.1</c:v>
                </c:pt>
                <c:pt idx="117">
                  <c:v>24.97</c:v>
                </c:pt>
                <c:pt idx="118">
                  <c:v>24.79</c:v>
                </c:pt>
                <c:pt idx="119">
                  <c:v>24.51</c:v>
                </c:pt>
                <c:pt idx="120">
                  <c:v>24.48</c:v>
                </c:pt>
                <c:pt idx="121">
                  <c:v>24.56</c:v>
                </c:pt>
                <c:pt idx="122">
                  <c:v>24.64</c:v>
                </c:pt>
                <c:pt idx="123">
                  <c:v>24.54</c:v>
                </c:pt>
                <c:pt idx="124">
                  <c:v>24.62</c:v>
                </c:pt>
                <c:pt idx="125">
                  <c:v>24.67</c:v>
                </c:pt>
                <c:pt idx="126">
                  <c:v>24.65</c:v>
                </c:pt>
                <c:pt idx="127">
                  <c:v>24.49</c:v>
                </c:pt>
                <c:pt idx="128">
                  <c:v>24.5</c:v>
                </c:pt>
                <c:pt idx="129">
                  <c:v>24.3</c:v>
                </c:pt>
                <c:pt idx="130">
                  <c:v>24.3</c:v>
                </c:pt>
                <c:pt idx="131">
                  <c:v>24.34</c:v>
                </c:pt>
                <c:pt idx="132">
                  <c:v>24.35</c:v>
                </c:pt>
                <c:pt idx="133">
                  <c:v>24.22</c:v>
                </c:pt>
                <c:pt idx="134">
                  <c:v>24.14</c:v>
                </c:pt>
                <c:pt idx="135">
                  <c:v>24.02</c:v>
                </c:pt>
                <c:pt idx="136">
                  <c:v>23.99</c:v>
                </c:pt>
                <c:pt idx="137">
                  <c:v>23.91</c:v>
                </c:pt>
                <c:pt idx="138">
                  <c:v>24.01</c:v>
                </c:pt>
                <c:pt idx="139">
                  <c:v>23.9</c:v>
                </c:pt>
                <c:pt idx="140">
                  <c:v>23.8</c:v>
                </c:pt>
                <c:pt idx="141">
                  <c:v>23.65</c:v>
                </c:pt>
                <c:pt idx="142">
                  <c:v>23.7</c:v>
                </c:pt>
                <c:pt idx="143">
                  <c:v>23.64</c:v>
                </c:pt>
              </c:numCache>
            </c:numRef>
          </c:val>
          <c:smooth val="0"/>
          <c:extLst>
            <c:ext xmlns:c16="http://schemas.microsoft.com/office/drawing/2014/chart" uri="{C3380CC4-5D6E-409C-BE32-E72D297353CC}">
              <c16:uniqueId val="{00000000-D1B1-5340-A161-A319EFF6313B}"/>
            </c:ext>
          </c:extLst>
        </c:ser>
        <c:ser>
          <c:idx val="1"/>
          <c:order val="1"/>
          <c:tx>
            <c:strRef>
              <c:f>'図16_分析8_風'!$J$1</c:f>
              <c:strCache>
                <c:ptCount val="1"/>
                <c:pt idx="0">
                  <c:v>列3</c:v>
                </c:pt>
              </c:strCache>
            </c:strRef>
          </c:tx>
          <c:spPr>
            <a:ln w="22225" cap="rnd">
              <a:solidFill>
                <a:srgbClr val="5E6B7A"/>
              </a:solidFill>
              <a:round/>
            </a:ln>
          </c:spPr>
          <c:marker>
            <c:symbol val="none"/>
          </c:marker>
          <c:cat>
            <c:strRef>
              <c:f>'図16_分析8_風'!$B$2:$B$145</c:f>
              <c:strCache>
                <c:ptCount val="144"/>
                <c:pt idx="0">
                  <c:v>0:00</c:v>
                </c:pt>
                <c:pt idx="18">
                  <c:v>3:00</c:v>
                </c:pt>
                <c:pt idx="36">
                  <c:v>6:00</c:v>
                </c:pt>
                <c:pt idx="54">
                  <c:v>9:00</c:v>
                </c:pt>
                <c:pt idx="72">
                  <c:v>12:00</c:v>
                </c:pt>
                <c:pt idx="90">
                  <c:v>15:00</c:v>
                </c:pt>
                <c:pt idx="108">
                  <c:v>18:00</c:v>
                </c:pt>
                <c:pt idx="126">
                  <c:v>21:00</c:v>
                </c:pt>
              </c:strCache>
            </c:strRef>
          </c:cat>
          <c:val>
            <c:numRef>
              <c:f>'図16_分析8_風'!$J$2:$J$145</c:f>
              <c:numCache>
                <c:formatCode>General</c:formatCode>
                <c:ptCount val="144"/>
                <c:pt idx="0">
                  <c:v>24.873999999999999</c:v>
                </c:pt>
                <c:pt idx="1">
                  <c:v>24.960999999999999</c:v>
                </c:pt>
                <c:pt idx="2">
                  <c:v>24.992999999999999</c:v>
                </c:pt>
                <c:pt idx="3">
                  <c:v>24.986000000000001</c:v>
                </c:pt>
                <c:pt idx="4">
                  <c:v>24.65</c:v>
                </c:pt>
                <c:pt idx="5">
                  <c:v>24.024000000000001</c:v>
                </c:pt>
                <c:pt idx="6">
                  <c:v>23.690999999999999</c:v>
                </c:pt>
                <c:pt idx="7">
                  <c:v>23.616</c:v>
                </c:pt>
                <c:pt idx="8">
                  <c:v>23.65</c:v>
                </c:pt>
                <c:pt idx="9">
                  <c:v>23.856000000000002</c:v>
                </c:pt>
                <c:pt idx="10">
                  <c:v>23.922999999999998</c:v>
                </c:pt>
                <c:pt idx="11">
                  <c:v>23.97</c:v>
                </c:pt>
                <c:pt idx="12">
                  <c:v>24.027999999999999</c:v>
                </c:pt>
                <c:pt idx="13">
                  <c:v>24.058</c:v>
                </c:pt>
                <c:pt idx="14">
                  <c:v>24.135999999999999</c:v>
                </c:pt>
                <c:pt idx="15">
                  <c:v>24.137</c:v>
                </c:pt>
                <c:pt idx="16">
                  <c:v>24.06</c:v>
                </c:pt>
                <c:pt idx="17">
                  <c:v>24.048999999999999</c:v>
                </c:pt>
                <c:pt idx="18">
                  <c:v>24.013000000000002</c:v>
                </c:pt>
                <c:pt idx="19">
                  <c:v>24.161999999999999</c:v>
                </c:pt>
                <c:pt idx="20">
                  <c:v>24.108000000000001</c:v>
                </c:pt>
                <c:pt idx="21">
                  <c:v>24.163</c:v>
                </c:pt>
                <c:pt idx="22">
                  <c:v>24.12</c:v>
                </c:pt>
                <c:pt idx="23">
                  <c:v>24.015999999999998</c:v>
                </c:pt>
                <c:pt idx="24">
                  <c:v>23.984000000000002</c:v>
                </c:pt>
                <c:pt idx="25">
                  <c:v>23.863</c:v>
                </c:pt>
                <c:pt idx="26">
                  <c:v>23.759</c:v>
                </c:pt>
                <c:pt idx="27">
                  <c:v>23.861000000000001</c:v>
                </c:pt>
                <c:pt idx="28">
                  <c:v>23.757000000000001</c:v>
                </c:pt>
                <c:pt idx="29">
                  <c:v>23.741</c:v>
                </c:pt>
                <c:pt idx="30">
                  <c:v>23.579000000000001</c:v>
                </c:pt>
                <c:pt idx="31">
                  <c:v>23.311</c:v>
                </c:pt>
                <c:pt idx="32">
                  <c:v>23.141999999999999</c:v>
                </c:pt>
                <c:pt idx="33">
                  <c:v>22.946999999999999</c:v>
                </c:pt>
                <c:pt idx="34">
                  <c:v>22.931999999999999</c:v>
                </c:pt>
                <c:pt idx="35">
                  <c:v>22.907</c:v>
                </c:pt>
                <c:pt idx="36">
                  <c:v>22.931999999999999</c:v>
                </c:pt>
                <c:pt idx="37">
                  <c:v>22.951000000000001</c:v>
                </c:pt>
                <c:pt idx="38">
                  <c:v>22.922999999999998</c:v>
                </c:pt>
                <c:pt idx="39">
                  <c:v>22.867000000000001</c:v>
                </c:pt>
                <c:pt idx="40">
                  <c:v>22.739000000000001</c:v>
                </c:pt>
                <c:pt idx="41">
                  <c:v>22.710999999999999</c:v>
                </c:pt>
                <c:pt idx="42">
                  <c:v>22.702999999999999</c:v>
                </c:pt>
                <c:pt idx="43">
                  <c:v>22.760999999999999</c:v>
                </c:pt>
                <c:pt idx="44">
                  <c:v>22.738</c:v>
                </c:pt>
                <c:pt idx="45">
                  <c:v>22.925999999999998</c:v>
                </c:pt>
                <c:pt idx="46">
                  <c:v>23.102</c:v>
                </c:pt>
                <c:pt idx="47">
                  <c:v>23.222999999999999</c:v>
                </c:pt>
                <c:pt idx="48">
                  <c:v>23.667000000000002</c:v>
                </c:pt>
                <c:pt idx="49">
                  <c:v>25.242999999999999</c:v>
                </c:pt>
                <c:pt idx="50">
                  <c:v>25.608000000000001</c:v>
                </c:pt>
                <c:pt idx="51">
                  <c:v>25.213999999999999</c:v>
                </c:pt>
                <c:pt idx="52">
                  <c:v>25.067</c:v>
                </c:pt>
                <c:pt idx="53">
                  <c:v>25.45</c:v>
                </c:pt>
                <c:pt idx="54">
                  <c:v>25.85</c:v>
                </c:pt>
                <c:pt idx="55">
                  <c:v>25.844000000000001</c:v>
                </c:pt>
                <c:pt idx="56">
                  <c:v>26.376000000000001</c:v>
                </c:pt>
                <c:pt idx="57">
                  <c:v>25.81</c:v>
                </c:pt>
                <c:pt idx="58">
                  <c:v>25.940999999999999</c:v>
                </c:pt>
                <c:pt idx="59">
                  <c:v>26.219000000000001</c:v>
                </c:pt>
                <c:pt idx="60">
                  <c:v>26.373999999999999</c:v>
                </c:pt>
                <c:pt idx="61">
                  <c:v>26.523</c:v>
                </c:pt>
                <c:pt idx="62">
                  <c:v>27.001000000000001</c:v>
                </c:pt>
                <c:pt idx="63">
                  <c:v>26.747</c:v>
                </c:pt>
                <c:pt idx="64">
                  <c:v>27.146000000000001</c:v>
                </c:pt>
                <c:pt idx="65">
                  <c:v>27.247</c:v>
                </c:pt>
                <c:pt idx="66">
                  <c:v>26.77</c:v>
                </c:pt>
                <c:pt idx="67">
                  <c:v>27.161999999999999</c:v>
                </c:pt>
                <c:pt idx="68">
                  <c:v>27.283000000000001</c:v>
                </c:pt>
                <c:pt idx="69">
                  <c:v>27.77</c:v>
                </c:pt>
                <c:pt idx="70">
                  <c:v>26.913</c:v>
                </c:pt>
                <c:pt idx="71">
                  <c:v>27.184000000000001</c:v>
                </c:pt>
                <c:pt idx="72">
                  <c:v>27.21</c:v>
                </c:pt>
                <c:pt idx="73">
                  <c:v>27.332999999999998</c:v>
                </c:pt>
                <c:pt idx="74">
                  <c:v>27.561</c:v>
                </c:pt>
                <c:pt idx="75">
                  <c:v>27.859000000000002</c:v>
                </c:pt>
                <c:pt idx="76">
                  <c:v>27.657</c:v>
                </c:pt>
                <c:pt idx="77">
                  <c:v>27.614000000000001</c:v>
                </c:pt>
                <c:pt idx="78">
                  <c:v>27.469000000000001</c:v>
                </c:pt>
                <c:pt idx="79">
                  <c:v>27.751999999999999</c:v>
                </c:pt>
                <c:pt idx="80">
                  <c:v>27.849</c:v>
                </c:pt>
                <c:pt idx="81">
                  <c:v>27.603000000000002</c:v>
                </c:pt>
                <c:pt idx="82">
                  <c:v>27.977</c:v>
                </c:pt>
                <c:pt idx="83">
                  <c:v>27.657</c:v>
                </c:pt>
                <c:pt idx="84">
                  <c:v>27.803000000000001</c:v>
                </c:pt>
                <c:pt idx="85">
                  <c:v>27.49</c:v>
                </c:pt>
                <c:pt idx="86">
                  <c:v>27.460999999999999</c:v>
                </c:pt>
                <c:pt idx="87">
                  <c:v>27.646000000000001</c:v>
                </c:pt>
                <c:pt idx="88">
                  <c:v>27.606000000000002</c:v>
                </c:pt>
                <c:pt idx="89">
                  <c:v>27.672000000000001</c:v>
                </c:pt>
                <c:pt idx="90">
                  <c:v>27.727</c:v>
                </c:pt>
                <c:pt idx="91">
                  <c:v>27.962</c:v>
                </c:pt>
                <c:pt idx="92">
                  <c:v>28.209</c:v>
                </c:pt>
                <c:pt idx="93">
                  <c:v>28.347999999999999</c:v>
                </c:pt>
                <c:pt idx="94">
                  <c:v>28.056000000000001</c:v>
                </c:pt>
                <c:pt idx="95">
                  <c:v>27.821000000000002</c:v>
                </c:pt>
                <c:pt idx="96">
                  <c:v>27.777999999999999</c:v>
                </c:pt>
                <c:pt idx="97">
                  <c:v>27.936</c:v>
                </c:pt>
                <c:pt idx="98">
                  <c:v>27.847000000000001</c:v>
                </c:pt>
                <c:pt idx="99">
                  <c:v>27.545999999999999</c:v>
                </c:pt>
                <c:pt idx="100">
                  <c:v>27.606999999999999</c:v>
                </c:pt>
                <c:pt idx="101">
                  <c:v>27.047999999999998</c:v>
                </c:pt>
                <c:pt idx="102">
                  <c:v>26.937000000000001</c:v>
                </c:pt>
                <c:pt idx="103">
                  <c:v>27.097999999999999</c:v>
                </c:pt>
                <c:pt idx="104">
                  <c:v>27.559000000000001</c:v>
                </c:pt>
                <c:pt idx="105">
                  <c:v>27.523</c:v>
                </c:pt>
                <c:pt idx="106">
                  <c:v>27.254000000000001</c:v>
                </c:pt>
                <c:pt idx="107">
                  <c:v>27.253</c:v>
                </c:pt>
                <c:pt idx="108">
                  <c:v>26.696000000000002</c:v>
                </c:pt>
                <c:pt idx="109">
                  <c:v>26.553999999999998</c:v>
                </c:pt>
                <c:pt idx="110">
                  <c:v>26.547999999999998</c:v>
                </c:pt>
                <c:pt idx="111">
                  <c:v>26.350999999999999</c:v>
                </c:pt>
                <c:pt idx="112">
                  <c:v>26.946999999999999</c:v>
                </c:pt>
                <c:pt idx="113">
                  <c:v>26.248000000000001</c:v>
                </c:pt>
                <c:pt idx="114">
                  <c:v>26.177</c:v>
                </c:pt>
                <c:pt idx="115">
                  <c:v>25.940999999999999</c:v>
                </c:pt>
                <c:pt idx="116">
                  <c:v>26.347000000000001</c:v>
                </c:pt>
                <c:pt idx="117">
                  <c:v>25.777999999999999</c:v>
                </c:pt>
                <c:pt idx="118">
                  <c:v>25.814</c:v>
                </c:pt>
                <c:pt idx="119">
                  <c:v>25.876999999999999</c:v>
                </c:pt>
                <c:pt idx="120">
                  <c:v>25.361000000000001</c:v>
                </c:pt>
                <c:pt idx="121">
                  <c:v>25.699000000000002</c:v>
                </c:pt>
                <c:pt idx="122">
                  <c:v>26.056000000000001</c:v>
                </c:pt>
                <c:pt idx="123">
                  <c:v>25.452999999999999</c:v>
                </c:pt>
                <c:pt idx="124">
                  <c:v>25.408999999999999</c:v>
                </c:pt>
                <c:pt idx="125">
                  <c:v>24.832000000000001</c:v>
                </c:pt>
                <c:pt idx="126">
                  <c:v>24.809000000000001</c:v>
                </c:pt>
                <c:pt idx="127">
                  <c:v>24.552</c:v>
                </c:pt>
                <c:pt idx="128">
                  <c:v>24.484000000000002</c:v>
                </c:pt>
                <c:pt idx="129">
                  <c:v>24.302</c:v>
                </c:pt>
                <c:pt idx="130">
                  <c:v>24.27</c:v>
                </c:pt>
                <c:pt idx="131">
                  <c:v>24.233000000000001</c:v>
                </c:pt>
                <c:pt idx="132">
                  <c:v>24.268999999999998</c:v>
                </c:pt>
                <c:pt idx="133">
                  <c:v>24.135999999999999</c:v>
                </c:pt>
                <c:pt idx="134">
                  <c:v>24.106000000000002</c:v>
                </c:pt>
                <c:pt idx="135">
                  <c:v>23.952999999999999</c:v>
                </c:pt>
                <c:pt idx="136">
                  <c:v>23.879000000000001</c:v>
                </c:pt>
                <c:pt idx="137">
                  <c:v>23.832999999999998</c:v>
                </c:pt>
                <c:pt idx="138">
                  <c:v>23.872</c:v>
                </c:pt>
                <c:pt idx="139">
                  <c:v>23.803000000000001</c:v>
                </c:pt>
                <c:pt idx="140">
                  <c:v>23.687999999999999</c:v>
                </c:pt>
                <c:pt idx="141">
                  <c:v>23.556999999999999</c:v>
                </c:pt>
                <c:pt idx="142">
                  <c:v>23.553000000000001</c:v>
                </c:pt>
                <c:pt idx="143">
                  <c:v>23.542000000000002</c:v>
                </c:pt>
              </c:numCache>
            </c:numRef>
          </c:val>
          <c:smooth val="0"/>
          <c:extLst>
            <c:ext xmlns:c16="http://schemas.microsoft.com/office/drawing/2014/chart" uri="{C3380CC4-5D6E-409C-BE32-E72D297353CC}">
              <c16:uniqueId val="{00000001-D1B1-5340-A161-A319EFF6313B}"/>
            </c:ext>
          </c:extLst>
        </c:ser>
        <c:ser>
          <c:idx val="2"/>
          <c:order val="2"/>
          <c:tx>
            <c:strRef>
              <c:f>'図16_分析8_風'!$K$1</c:f>
              <c:strCache>
                <c:ptCount val="1"/>
                <c:pt idx="0">
                  <c:v>列8</c:v>
                </c:pt>
              </c:strCache>
            </c:strRef>
          </c:tx>
          <c:spPr>
            <a:ln w="22225" cap="rnd">
              <a:solidFill>
                <a:srgbClr val="01B8AA"/>
              </a:solidFill>
              <a:round/>
            </a:ln>
          </c:spPr>
          <c:marker>
            <c:symbol val="none"/>
          </c:marker>
          <c:cat>
            <c:strRef>
              <c:f>'図16_分析8_風'!$B$2:$B$145</c:f>
              <c:strCache>
                <c:ptCount val="144"/>
                <c:pt idx="0">
                  <c:v>0:00</c:v>
                </c:pt>
                <c:pt idx="18">
                  <c:v>3:00</c:v>
                </c:pt>
                <c:pt idx="36">
                  <c:v>6:00</c:v>
                </c:pt>
                <c:pt idx="54">
                  <c:v>9:00</c:v>
                </c:pt>
                <c:pt idx="72">
                  <c:v>12:00</c:v>
                </c:pt>
                <c:pt idx="90">
                  <c:v>15:00</c:v>
                </c:pt>
                <c:pt idx="108">
                  <c:v>18:00</c:v>
                </c:pt>
                <c:pt idx="126">
                  <c:v>21:00</c:v>
                </c:pt>
              </c:strCache>
            </c:strRef>
          </c:cat>
          <c:val>
            <c:numRef>
              <c:f>'図16_分析8_風'!$K$2:$K$145</c:f>
              <c:numCache>
                <c:formatCode>General</c:formatCode>
                <c:ptCount val="144"/>
                <c:pt idx="0">
                  <c:v>25.033000000000001</c:v>
                </c:pt>
                <c:pt idx="1">
                  <c:v>25.126000000000001</c:v>
                </c:pt>
                <c:pt idx="2">
                  <c:v>25.170999999999999</c:v>
                </c:pt>
                <c:pt idx="3">
                  <c:v>25.29</c:v>
                </c:pt>
                <c:pt idx="4">
                  <c:v>24.82</c:v>
                </c:pt>
                <c:pt idx="5">
                  <c:v>24.108000000000001</c:v>
                </c:pt>
                <c:pt idx="6">
                  <c:v>23.782</c:v>
                </c:pt>
                <c:pt idx="7">
                  <c:v>23.681999999999999</c:v>
                </c:pt>
                <c:pt idx="8">
                  <c:v>23.672999999999998</c:v>
                </c:pt>
                <c:pt idx="9">
                  <c:v>23.888999999999999</c:v>
                </c:pt>
                <c:pt idx="10">
                  <c:v>23.927</c:v>
                </c:pt>
                <c:pt idx="11">
                  <c:v>23.992999999999999</c:v>
                </c:pt>
                <c:pt idx="12">
                  <c:v>24.056999999999999</c:v>
                </c:pt>
                <c:pt idx="13">
                  <c:v>24.079000000000001</c:v>
                </c:pt>
                <c:pt idx="14">
                  <c:v>24.152999999999999</c:v>
                </c:pt>
                <c:pt idx="15">
                  <c:v>24.146999999999998</c:v>
                </c:pt>
                <c:pt idx="16">
                  <c:v>24.082000000000001</c:v>
                </c:pt>
                <c:pt idx="17">
                  <c:v>24.076000000000001</c:v>
                </c:pt>
                <c:pt idx="18">
                  <c:v>24.024000000000001</c:v>
                </c:pt>
                <c:pt idx="19">
                  <c:v>24.187999999999999</c:v>
                </c:pt>
                <c:pt idx="20">
                  <c:v>24.137</c:v>
                </c:pt>
                <c:pt idx="21">
                  <c:v>24.17</c:v>
                </c:pt>
                <c:pt idx="22">
                  <c:v>24.123999999999999</c:v>
                </c:pt>
                <c:pt idx="23">
                  <c:v>24.039000000000001</c:v>
                </c:pt>
                <c:pt idx="24">
                  <c:v>24.062000000000001</c:v>
                </c:pt>
                <c:pt idx="25">
                  <c:v>23.917999999999999</c:v>
                </c:pt>
                <c:pt idx="26">
                  <c:v>23.792000000000002</c:v>
                </c:pt>
                <c:pt idx="27">
                  <c:v>23.876999999999999</c:v>
                </c:pt>
                <c:pt idx="28">
                  <c:v>23.795999999999999</c:v>
                </c:pt>
                <c:pt idx="29">
                  <c:v>23.779</c:v>
                </c:pt>
                <c:pt idx="30">
                  <c:v>23.617000000000001</c:v>
                </c:pt>
                <c:pt idx="31">
                  <c:v>23.373999999999999</c:v>
                </c:pt>
                <c:pt idx="32">
                  <c:v>23.206</c:v>
                </c:pt>
                <c:pt idx="33">
                  <c:v>23.071999999999999</c:v>
                </c:pt>
                <c:pt idx="34">
                  <c:v>23.207000000000001</c:v>
                </c:pt>
                <c:pt idx="35">
                  <c:v>23.212</c:v>
                </c:pt>
                <c:pt idx="36">
                  <c:v>23.213999999999999</c:v>
                </c:pt>
                <c:pt idx="37">
                  <c:v>23.327000000000002</c:v>
                </c:pt>
                <c:pt idx="38">
                  <c:v>23.303000000000001</c:v>
                </c:pt>
                <c:pt idx="39">
                  <c:v>23.279</c:v>
                </c:pt>
                <c:pt idx="40">
                  <c:v>23.131</c:v>
                </c:pt>
                <c:pt idx="41">
                  <c:v>23.207000000000001</c:v>
                </c:pt>
                <c:pt idx="42">
                  <c:v>23.42</c:v>
                </c:pt>
                <c:pt idx="43">
                  <c:v>23.870999999999999</c:v>
                </c:pt>
                <c:pt idx="44">
                  <c:v>24.297000000000001</c:v>
                </c:pt>
                <c:pt idx="45">
                  <c:v>24.478000000000002</c:v>
                </c:pt>
                <c:pt idx="46">
                  <c:v>24.724</c:v>
                </c:pt>
                <c:pt idx="47">
                  <c:v>24.814</c:v>
                </c:pt>
                <c:pt idx="48">
                  <c:v>25.244</c:v>
                </c:pt>
                <c:pt idx="49">
                  <c:v>26.488</c:v>
                </c:pt>
                <c:pt idx="50">
                  <c:v>26.152999999999999</c:v>
                </c:pt>
                <c:pt idx="51">
                  <c:v>26.262</c:v>
                </c:pt>
                <c:pt idx="52">
                  <c:v>26.001000000000001</c:v>
                </c:pt>
                <c:pt idx="53">
                  <c:v>25.88</c:v>
                </c:pt>
                <c:pt idx="54">
                  <c:v>25.891999999999999</c:v>
                </c:pt>
                <c:pt idx="55">
                  <c:v>26.134</c:v>
                </c:pt>
                <c:pt idx="56">
                  <c:v>26.521999999999998</c:v>
                </c:pt>
                <c:pt idx="57">
                  <c:v>26.927</c:v>
                </c:pt>
                <c:pt idx="58">
                  <c:v>26.466999999999999</c:v>
                </c:pt>
                <c:pt idx="59">
                  <c:v>26.405999999999999</c:v>
                </c:pt>
                <c:pt idx="60">
                  <c:v>26.353999999999999</c:v>
                </c:pt>
                <c:pt idx="61">
                  <c:v>26.574999999999999</c:v>
                </c:pt>
                <c:pt idx="62">
                  <c:v>26.663</c:v>
                </c:pt>
                <c:pt idx="63">
                  <c:v>26.881</c:v>
                </c:pt>
                <c:pt idx="64">
                  <c:v>27.178000000000001</c:v>
                </c:pt>
                <c:pt idx="65">
                  <c:v>27.108000000000001</c:v>
                </c:pt>
                <c:pt idx="66">
                  <c:v>26.803000000000001</c:v>
                </c:pt>
                <c:pt idx="67">
                  <c:v>27.007000000000001</c:v>
                </c:pt>
                <c:pt idx="68">
                  <c:v>26.657</c:v>
                </c:pt>
                <c:pt idx="69">
                  <c:v>26.731000000000002</c:v>
                </c:pt>
                <c:pt idx="70">
                  <c:v>26.97</c:v>
                </c:pt>
                <c:pt idx="71">
                  <c:v>27.463999999999999</c:v>
                </c:pt>
                <c:pt idx="72">
                  <c:v>26.948</c:v>
                </c:pt>
                <c:pt idx="73">
                  <c:v>26.978999999999999</c:v>
                </c:pt>
                <c:pt idx="74">
                  <c:v>27.533999999999999</c:v>
                </c:pt>
                <c:pt idx="75">
                  <c:v>27.771999999999998</c:v>
                </c:pt>
                <c:pt idx="76">
                  <c:v>27.754000000000001</c:v>
                </c:pt>
                <c:pt idx="77">
                  <c:v>27.792000000000002</c:v>
                </c:pt>
                <c:pt idx="78">
                  <c:v>27.678000000000001</c:v>
                </c:pt>
                <c:pt idx="79">
                  <c:v>27.814</c:v>
                </c:pt>
                <c:pt idx="80">
                  <c:v>27.783000000000001</c:v>
                </c:pt>
                <c:pt idx="81">
                  <c:v>28.032</c:v>
                </c:pt>
                <c:pt idx="82">
                  <c:v>28.262</c:v>
                </c:pt>
                <c:pt idx="83">
                  <c:v>28.398</c:v>
                </c:pt>
                <c:pt idx="84">
                  <c:v>28.297999999999998</c:v>
                </c:pt>
                <c:pt idx="85">
                  <c:v>27.727</c:v>
                </c:pt>
                <c:pt idx="86">
                  <c:v>28.318000000000001</c:v>
                </c:pt>
                <c:pt idx="87">
                  <c:v>27.977</c:v>
                </c:pt>
                <c:pt idx="88">
                  <c:v>28.071000000000002</c:v>
                </c:pt>
                <c:pt idx="89">
                  <c:v>28.175999999999998</c:v>
                </c:pt>
                <c:pt idx="90">
                  <c:v>28.303000000000001</c:v>
                </c:pt>
                <c:pt idx="91">
                  <c:v>28.387</c:v>
                </c:pt>
                <c:pt idx="92">
                  <c:v>28.253</c:v>
                </c:pt>
                <c:pt idx="93">
                  <c:v>28.48</c:v>
                </c:pt>
                <c:pt idx="94">
                  <c:v>28.478000000000002</c:v>
                </c:pt>
                <c:pt idx="95">
                  <c:v>28.343</c:v>
                </c:pt>
                <c:pt idx="96">
                  <c:v>27.943000000000001</c:v>
                </c:pt>
                <c:pt idx="97">
                  <c:v>27.927</c:v>
                </c:pt>
                <c:pt idx="98">
                  <c:v>27.963999999999999</c:v>
                </c:pt>
                <c:pt idx="99">
                  <c:v>28.042999999999999</c:v>
                </c:pt>
                <c:pt idx="100">
                  <c:v>27.657</c:v>
                </c:pt>
                <c:pt idx="101">
                  <c:v>27.651</c:v>
                </c:pt>
                <c:pt idx="102">
                  <c:v>27.257999999999999</c:v>
                </c:pt>
                <c:pt idx="103">
                  <c:v>26.831</c:v>
                </c:pt>
                <c:pt idx="104">
                  <c:v>26.742000000000001</c:v>
                </c:pt>
                <c:pt idx="105">
                  <c:v>26.890999999999998</c:v>
                </c:pt>
                <c:pt idx="106">
                  <c:v>27.042999999999999</c:v>
                </c:pt>
                <c:pt idx="107">
                  <c:v>27.155999999999999</c:v>
                </c:pt>
                <c:pt idx="108">
                  <c:v>27.030999999999999</c:v>
                </c:pt>
                <c:pt idx="109">
                  <c:v>27.167000000000002</c:v>
                </c:pt>
                <c:pt idx="110">
                  <c:v>26.532</c:v>
                </c:pt>
                <c:pt idx="111">
                  <c:v>25.873999999999999</c:v>
                </c:pt>
                <c:pt idx="112">
                  <c:v>25.58</c:v>
                </c:pt>
                <c:pt idx="113">
                  <c:v>25.521999999999998</c:v>
                </c:pt>
                <c:pt idx="114">
                  <c:v>25.263000000000002</c:v>
                </c:pt>
                <c:pt idx="115">
                  <c:v>25.190999999999999</c:v>
                </c:pt>
                <c:pt idx="116">
                  <c:v>25.213999999999999</c:v>
                </c:pt>
                <c:pt idx="117">
                  <c:v>25.378</c:v>
                </c:pt>
                <c:pt idx="118">
                  <c:v>25.148</c:v>
                </c:pt>
                <c:pt idx="119">
                  <c:v>25.202999999999999</c:v>
                </c:pt>
                <c:pt idx="120">
                  <c:v>25.411000000000001</c:v>
                </c:pt>
                <c:pt idx="121">
                  <c:v>24.988</c:v>
                </c:pt>
                <c:pt idx="122">
                  <c:v>24.989000000000001</c:v>
                </c:pt>
                <c:pt idx="123">
                  <c:v>24.792999999999999</c:v>
                </c:pt>
                <c:pt idx="124">
                  <c:v>24.661999999999999</c:v>
                </c:pt>
                <c:pt idx="125">
                  <c:v>24.559000000000001</c:v>
                </c:pt>
                <c:pt idx="126">
                  <c:v>24.547999999999998</c:v>
                </c:pt>
                <c:pt idx="127">
                  <c:v>24.437999999999999</c:v>
                </c:pt>
                <c:pt idx="128">
                  <c:v>24.609000000000002</c:v>
                </c:pt>
                <c:pt idx="129">
                  <c:v>24.408000000000001</c:v>
                </c:pt>
                <c:pt idx="130">
                  <c:v>24.263000000000002</c:v>
                </c:pt>
                <c:pt idx="131">
                  <c:v>24.268000000000001</c:v>
                </c:pt>
                <c:pt idx="132">
                  <c:v>24.29</c:v>
                </c:pt>
                <c:pt idx="133">
                  <c:v>24.146999999999998</c:v>
                </c:pt>
                <c:pt idx="134">
                  <c:v>24.158000000000001</c:v>
                </c:pt>
                <c:pt idx="135">
                  <c:v>23.942</c:v>
                </c:pt>
                <c:pt idx="136">
                  <c:v>23.92</c:v>
                </c:pt>
                <c:pt idx="137">
                  <c:v>23.869</c:v>
                </c:pt>
                <c:pt idx="138">
                  <c:v>23.911000000000001</c:v>
                </c:pt>
                <c:pt idx="139">
                  <c:v>23.797000000000001</c:v>
                </c:pt>
                <c:pt idx="140">
                  <c:v>23.675999999999998</c:v>
                </c:pt>
                <c:pt idx="141">
                  <c:v>23.562000000000001</c:v>
                </c:pt>
                <c:pt idx="142">
                  <c:v>23.544</c:v>
                </c:pt>
                <c:pt idx="143">
                  <c:v>23.632000000000001</c:v>
                </c:pt>
              </c:numCache>
            </c:numRef>
          </c:val>
          <c:smooth val="0"/>
          <c:extLst>
            <c:ext xmlns:c16="http://schemas.microsoft.com/office/drawing/2014/chart" uri="{C3380CC4-5D6E-409C-BE32-E72D297353CC}">
              <c16:uniqueId val="{00000002-D1B1-5340-A161-A319EFF6313B}"/>
            </c:ext>
          </c:extLst>
        </c:ser>
        <c:ser>
          <c:idx val="3"/>
          <c:order val="3"/>
          <c:tx>
            <c:strRef>
              <c:f>'図16_分析8_風'!$L$1</c:f>
              <c:strCache>
                <c:ptCount val="1"/>
                <c:pt idx="0">
                  <c:v>列11</c:v>
                </c:pt>
              </c:strCache>
            </c:strRef>
          </c:tx>
          <c:spPr>
            <a:ln w="22225" cap="rnd">
              <a:solidFill>
                <a:srgbClr val="118DFF"/>
              </a:solidFill>
              <a:round/>
            </a:ln>
          </c:spPr>
          <c:marker>
            <c:symbol val="none"/>
          </c:marker>
          <c:cat>
            <c:strRef>
              <c:f>'図16_分析8_風'!$B$2:$B$145</c:f>
              <c:strCache>
                <c:ptCount val="144"/>
                <c:pt idx="0">
                  <c:v>0:00</c:v>
                </c:pt>
                <c:pt idx="18">
                  <c:v>3:00</c:v>
                </c:pt>
                <c:pt idx="36">
                  <c:v>6:00</c:v>
                </c:pt>
                <c:pt idx="54">
                  <c:v>9:00</c:v>
                </c:pt>
                <c:pt idx="72">
                  <c:v>12:00</c:v>
                </c:pt>
                <c:pt idx="90">
                  <c:v>15:00</c:v>
                </c:pt>
                <c:pt idx="108">
                  <c:v>18:00</c:v>
                </c:pt>
                <c:pt idx="126">
                  <c:v>21:00</c:v>
                </c:pt>
              </c:strCache>
            </c:strRef>
          </c:cat>
          <c:val>
            <c:numRef>
              <c:f>'図16_分析8_風'!$L$2:$L$145</c:f>
              <c:numCache>
                <c:formatCode>General</c:formatCode>
                <c:ptCount val="144"/>
                <c:pt idx="0">
                  <c:v>25.085000000000001</c:v>
                </c:pt>
                <c:pt idx="1">
                  <c:v>25.132000000000001</c:v>
                </c:pt>
                <c:pt idx="2">
                  <c:v>25.186</c:v>
                </c:pt>
                <c:pt idx="3">
                  <c:v>25.22</c:v>
                </c:pt>
                <c:pt idx="4">
                  <c:v>24.806999999999999</c:v>
                </c:pt>
                <c:pt idx="5">
                  <c:v>24.15</c:v>
                </c:pt>
                <c:pt idx="6">
                  <c:v>23.864000000000001</c:v>
                </c:pt>
                <c:pt idx="7">
                  <c:v>23.762</c:v>
                </c:pt>
                <c:pt idx="8">
                  <c:v>23.776</c:v>
                </c:pt>
                <c:pt idx="9">
                  <c:v>23.931999999999999</c:v>
                </c:pt>
                <c:pt idx="10">
                  <c:v>23.994</c:v>
                </c:pt>
                <c:pt idx="11">
                  <c:v>24.010999999999999</c:v>
                </c:pt>
                <c:pt idx="12">
                  <c:v>24.085999999999999</c:v>
                </c:pt>
                <c:pt idx="13">
                  <c:v>24.114000000000001</c:v>
                </c:pt>
                <c:pt idx="14">
                  <c:v>24.181999999999999</c:v>
                </c:pt>
                <c:pt idx="15">
                  <c:v>24.204999999999998</c:v>
                </c:pt>
                <c:pt idx="16">
                  <c:v>24.135000000000002</c:v>
                </c:pt>
                <c:pt idx="17">
                  <c:v>24.120999999999999</c:v>
                </c:pt>
                <c:pt idx="18">
                  <c:v>24.091000000000001</c:v>
                </c:pt>
                <c:pt idx="19">
                  <c:v>24.231000000000002</c:v>
                </c:pt>
                <c:pt idx="20">
                  <c:v>24.196000000000002</c:v>
                </c:pt>
                <c:pt idx="21">
                  <c:v>24.242000000000001</c:v>
                </c:pt>
                <c:pt idx="22">
                  <c:v>24.175999999999998</c:v>
                </c:pt>
                <c:pt idx="23">
                  <c:v>24.097999999999999</c:v>
                </c:pt>
                <c:pt idx="24">
                  <c:v>24.117999999999999</c:v>
                </c:pt>
                <c:pt idx="25">
                  <c:v>23.989000000000001</c:v>
                </c:pt>
                <c:pt idx="26">
                  <c:v>23.879000000000001</c:v>
                </c:pt>
                <c:pt idx="27">
                  <c:v>23.934000000000001</c:v>
                </c:pt>
                <c:pt idx="28">
                  <c:v>23.885000000000002</c:v>
                </c:pt>
                <c:pt idx="29">
                  <c:v>23.834</c:v>
                </c:pt>
                <c:pt idx="30">
                  <c:v>23.667999999999999</c:v>
                </c:pt>
                <c:pt idx="31">
                  <c:v>23.4</c:v>
                </c:pt>
                <c:pt idx="32">
                  <c:v>23.300999999999998</c:v>
                </c:pt>
                <c:pt idx="33">
                  <c:v>23.29</c:v>
                </c:pt>
                <c:pt idx="34">
                  <c:v>23.423999999999999</c:v>
                </c:pt>
                <c:pt idx="35">
                  <c:v>23.596</c:v>
                </c:pt>
                <c:pt idx="36">
                  <c:v>23.632000000000001</c:v>
                </c:pt>
                <c:pt idx="37">
                  <c:v>23.803000000000001</c:v>
                </c:pt>
                <c:pt idx="38">
                  <c:v>23.581</c:v>
                </c:pt>
                <c:pt idx="39">
                  <c:v>23.492000000000001</c:v>
                </c:pt>
                <c:pt idx="40">
                  <c:v>23.399000000000001</c:v>
                </c:pt>
                <c:pt idx="41">
                  <c:v>23.445</c:v>
                </c:pt>
                <c:pt idx="42">
                  <c:v>23.591999999999999</c:v>
                </c:pt>
                <c:pt idx="43">
                  <c:v>23.756</c:v>
                </c:pt>
                <c:pt idx="44">
                  <c:v>23.908000000000001</c:v>
                </c:pt>
                <c:pt idx="45">
                  <c:v>23.954000000000001</c:v>
                </c:pt>
                <c:pt idx="46">
                  <c:v>24.268000000000001</c:v>
                </c:pt>
                <c:pt idx="47">
                  <c:v>24.431999999999999</c:v>
                </c:pt>
                <c:pt idx="48">
                  <c:v>24.859000000000002</c:v>
                </c:pt>
                <c:pt idx="49">
                  <c:v>24.978000000000002</c:v>
                </c:pt>
                <c:pt idx="50">
                  <c:v>25.16</c:v>
                </c:pt>
                <c:pt idx="51">
                  <c:v>24.831</c:v>
                </c:pt>
                <c:pt idx="52">
                  <c:v>25.22</c:v>
                </c:pt>
                <c:pt idx="53">
                  <c:v>25.797999999999998</c:v>
                </c:pt>
                <c:pt idx="54">
                  <c:v>25.63</c:v>
                </c:pt>
                <c:pt idx="55">
                  <c:v>25.87</c:v>
                </c:pt>
                <c:pt idx="56">
                  <c:v>25.815000000000001</c:v>
                </c:pt>
                <c:pt idx="57">
                  <c:v>26.027000000000001</c:v>
                </c:pt>
                <c:pt idx="58">
                  <c:v>26.132000000000001</c:v>
                </c:pt>
                <c:pt idx="59">
                  <c:v>26.262</c:v>
                </c:pt>
                <c:pt idx="60">
                  <c:v>26.027000000000001</c:v>
                </c:pt>
                <c:pt idx="61">
                  <c:v>26.326000000000001</c:v>
                </c:pt>
                <c:pt idx="62">
                  <c:v>26.597999999999999</c:v>
                </c:pt>
                <c:pt idx="63">
                  <c:v>26.77</c:v>
                </c:pt>
                <c:pt idx="64">
                  <c:v>26.893000000000001</c:v>
                </c:pt>
                <c:pt idx="65">
                  <c:v>27.151</c:v>
                </c:pt>
                <c:pt idx="66">
                  <c:v>27.481999999999999</c:v>
                </c:pt>
                <c:pt idx="67">
                  <c:v>26.739000000000001</c:v>
                </c:pt>
                <c:pt idx="68">
                  <c:v>26.568999999999999</c:v>
                </c:pt>
                <c:pt idx="69">
                  <c:v>26.943000000000001</c:v>
                </c:pt>
                <c:pt idx="70">
                  <c:v>26.890999999999998</c:v>
                </c:pt>
                <c:pt idx="71">
                  <c:v>26.975000000000001</c:v>
                </c:pt>
                <c:pt idx="72">
                  <c:v>26.992000000000001</c:v>
                </c:pt>
                <c:pt idx="73">
                  <c:v>27.27</c:v>
                </c:pt>
                <c:pt idx="74">
                  <c:v>27.206</c:v>
                </c:pt>
                <c:pt idx="75">
                  <c:v>27.414999999999999</c:v>
                </c:pt>
                <c:pt idx="76">
                  <c:v>27.469000000000001</c:v>
                </c:pt>
                <c:pt idx="77">
                  <c:v>27.524000000000001</c:v>
                </c:pt>
                <c:pt idx="78">
                  <c:v>27.276</c:v>
                </c:pt>
                <c:pt idx="79">
                  <c:v>27.481999999999999</c:v>
                </c:pt>
                <c:pt idx="80">
                  <c:v>27.524000000000001</c:v>
                </c:pt>
                <c:pt idx="81">
                  <c:v>27.931999999999999</c:v>
                </c:pt>
                <c:pt idx="82">
                  <c:v>27.931000000000001</c:v>
                </c:pt>
                <c:pt idx="83">
                  <c:v>27.937999999999999</c:v>
                </c:pt>
                <c:pt idx="84">
                  <c:v>28.074000000000002</c:v>
                </c:pt>
                <c:pt idx="85">
                  <c:v>27.675000000000001</c:v>
                </c:pt>
                <c:pt idx="86">
                  <c:v>27.791</c:v>
                </c:pt>
                <c:pt idx="87">
                  <c:v>27.530999999999999</c:v>
                </c:pt>
                <c:pt idx="88">
                  <c:v>27.574000000000002</c:v>
                </c:pt>
                <c:pt idx="89">
                  <c:v>27.509</c:v>
                </c:pt>
                <c:pt idx="90">
                  <c:v>27.591999999999999</c:v>
                </c:pt>
                <c:pt idx="91">
                  <c:v>27.905999999999999</c:v>
                </c:pt>
                <c:pt idx="92">
                  <c:v>28.039000000000001</c:v>
                </c:pt>
                <c:pt idx="93">
                  <c:v>28.524000000000001</c:v>
                </c:pt>
                <c:pt idx="94">
                  <c:v>28.29</c:v>
                </c:pt>
                <c:pt idx="95">
                  <c:v>27.922999999999998</c:v>
                </c:pt>
                <c:pt idx="96">
                  <c:v>27.294</c:v>
                </c:pt>
                <c:pt idx="97">
                  <c:v>27.416</c:v>
                </c:pt>
                <c:pt idx="98">
                  <c:v>27.704000000000001</c:v>
                </c:pt>
                <c:pt idx="99">
                  <c:v>27.693000000000001</c:v>
                </c:pt>
                <c:pt idx="100">
                  <c:v>27.686</c:v>
                </c:pt>
                <c:pt idx="101">
                  <c:v>27.471</c:v>
                </c:pt>
                <c:pt idx="102">
                  <c:v>27.062000000000001</c:v>
                </c:pt>
                <c:pt idx="103">
                  <c:v>27.29</c:v>
                </c:pt>
                <c:pt idx="104">
                  <c:v>27.140999999999998</c:v>
                </c:pt>
                <c:pt idx="105">
                  <c:v>26.934999999999999</c:v>
                </c:pt>
                <c:pt idx="106">
                  <c:v>27.015999999999998</c:v>
                </c:pt>
                <c:pt idx="107">
                  <c:v>27.026</c:v>
                </c:pt>
                <c:pt idx="108">
                  <c:v>26.861000000000001</c:v>
                </c:pt>
                <c:pt idx="109">
                  <c:v>26.515999999999998</c:v>
                </c:pt>
                <c:pt idx="110">
                  <c:v>26.414000000000001</c:v>
                </c:pt>
                <c:pt idx="111">
                  <c:v>26.265000000000001</c:v>
                </c:pt>
                <c:pt idx="112">
                  <c:v>26.047999999999998</c:v>
                </c:pt>
                <c:pt idx="113">
                  <c:v>25.922999999999998</c:v>
                </c:pt>
                <c:pt idx="114">
                  <c:v>26.032</c:v>
                </c:pt>
                <c:pt idx="115">
                  <c:v>25.795999999999999</c:v>
                </c:pt>
                <c:pt idx="116">
                  <c:v>25.576000000000001</c:v>
                </c:pt>
                <c:pt idx="117">
                  <c:v>25.402000000000001</c:v>
                </c:pt>
                <c:pt idx="118">
                  <c:v>25.106000000000002</c:v>
                </c:pt>
                <c:pt idx="119">
                  <c:v>24.875</c:v>
                </c:pt>
                <c:pt idx="120">
                  <c:v>24.72</c:v>
                </c:pt>
                <c:pt idx="121">
                  <c:v>24.574000000000002</c:v>
                </c:pt>
                <c:pt idx="122">
                  <c:v>24.622</c:v>
                </c:pt>
                <c:pt idx="123">
                  <c:v>24.544</c:v>
                </c:pt>
                <c:pt idx="124">
                  <c:v>24.530999999999999</c:v>
                </c:pt>
                <c:pt idx="125">
                  <c:v>24.478000000000002</c:v>
                </c:pt>
                <c:pt idx="126">
                  <c:v>24.481999999999999</c:v>
                </c:pt>
                <c:pt idx="127">
                  <c:v>24.38</c:v>
                </c:pt>
                <c:pt idx="128">
                  <c:v>24.530999999999999</c:v>
                </c:pt>
                <c:pt idx="129">
                  <c:v>24.434000000000001</c:v>
                </c:pt>
                <c:pt idx="130">
                  <c:v>24.405000000000001</c:v>
                </c:pt>
                <c:pt idx="131">
                  <c:v>24.440999999999999</c:v>
                </c:pt>
                <c:pt idx="132">
                  <c:v>24.436</c:v>
                </c:pt>
                <c:pt idx="133">
                  <c:v>24.393000000000001</c:v>
                </c:pt>
                <c:pt idx="134">
                  <c:v>24.451000000000001</c:v>
                </c:pt>
                <c:pt idx="135">
                  <c:v>24.306999999999999</c:v>
                </c:pt>
                <c:pt idx="136">
                  <c:v>24.32</c:v>
                </c:pt>
                <c:pt idx="137">
                  <c:v>24.172000000000001</c:v>
                </c:pt>
                <c:pt idx="138">
                  <c:v>24.074000000000002</c:v>
                </c:pt>
                <c:pt idx="139">
                  <c:v>23.888000000000002</c:v>
                </c:pt>
                <c:pt idx="140">
                  <c:v>23.771999999999998</c:v>
                </c:pt>
                <c:pt idx="141">
                  <c:v>23.594000000000001</c:v>
                </c:pt>
                <c:pt idx="142">
                  <c:v>23.571999999999999</c:v>
                </c:pt>
                <c:pt idx="143">
                  <c:v>23.596</c:v>
                </c:pt>
              </c:numCache>
            </c:numRef>
          </c:val>
          <c:smooth val="0"/>
          <c:extLst>
            <c:ext xmlns:c16="http://schemas.microsoft.com/office/drawing/2014/chart" uri="{C3380CC4-5D6E-409C-BE32-E72D297353CC}">
              <c16:uniqueId val="{00000003-D1B1-5340-A161-A319EFF6313B}"/>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none"/>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30"/>
          <c:min val="18"/>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2"/>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
          <c:y val="0.05"/>
          <c:w val="0.76"/>
          <c:h val="0.72"/>
        </c:manualLayout>
      </c:layout>
      <c:lineChart>
        <c:grouping val="standard"/>
        <c:varyColors val="0"/>
        <c:ser>
          <c:idx val="0"/>
          <c:order val="0"/>
          <c:tx>
            <c:strRef>
              <c:f>'図16_分析8_風'!$G$1</c:f>
              <c:strCache>
                <c:ptCount val="1"/>
                <c:pt idx="0">
                  <c:v>列8</c:v>
                </c:pt>
              </c:strCache>
            </c:strRef>
          </c:tx>
          <c:spPr>
            <a:ln w="22225" cap="rnd">
              <a:solidFill>
                <a:srgbClr val="01B8AA"/>
              </a:solidFill>
              <a:round/>
            </a:ln>
          </c:spPr>
          <c:marker>
            <c:symbol val="none"/>
          </c:marker>
          <c:cat>
            <c:strRef>
              <c:f>'図16_分析8_風'!$B$2:$B$145</c:f>
              <c:strCache>
                <c:ptCount val="144"/>
                <c:pt idx="0">
                  <c:v>0:00</c:v>
                </c:pt>
                <c:pt idx="18">
                  <c:v>3:00</c:v>
                </c:pt>
                <c:pt idx="36">
                  <c:v>6:00</c:v>
                </c:pt>
                <c:pt idx="54">
                  <c:v>9:00</c:v>
                </c:pt>
                <c:pt idx="72">
                  <c:v>12:00</c:v>
                </c:pt>
                <c:pt idx="90">
                  <c:v>15:00</c:v>
                </c:pt>
                <c:pt idx="108">
                  <c:v>18:00</c:v>
                </c:pt>
                <c:pt idx="126">
                  <c:v>21:00</c:v>
                </c:pt>
              </c:strCache>
            </c:strRef>
          </c:cat>
          <c:val>
            <c:numRef>
              <c:f>'図16_分析8_風'!$G$2:$G$145</c:f>
              <c:numCache>
                <c:formatCode>General</c:formatCode>
                <c:ptCount val="144"/>
                <c:pt idx="0">
                  <c:v>-2E-3</c:v>
                </c:pt>
                <c:pt idx="1">
                  <c:v>-0.14099999999999999</c:v>
                </c:pt>
                <c:pt idx="2">
                  <c:v>-0.156</c:v>
                </c:pt>
                <c:pt idx="3">
                  <c:v>-0.11899999999999999</c:v>
                </c:pt>
                <c:pt idx="4">
                  <c:v>-0.222</c:v>
                </c:pt>
                <c:pt idx="5">
                  <c:v>-0.26</c:v>
                </c:pt>
                <c:pt idx="6">
                  <c:v>-0.123</c:v>
                </c:pt>
                <c:pt idx="7">
                  <c:v>-0.11700000000000001</c:v>
                </c:pt>
                <c:pt idx="8">
                  <c:v>7.0000000000000007E-2</c:v>
                </c:pt>
                <c:pt idx="9">
                  <c:v>0.111</c:v>
                </c:pt>
                <c:pt idx="10">
                  <c:v>3.2000000000000001E-2</c:v>
                </c:pt>
                <c:pt idx="11">
                  <c:v>0.127</c:v>
                </c:pt>
                <c:pt idx="12">
                  <c:v>3.2000000000000001E-2</c:v>
                </c:pt>
                <c:pt idx="13">
                  <c:v>-1.2999999999999999E-2</c:v>
                </c:pt>
                <c:pt idx="14">
                  <c:v>-1.2999999999999999E-2</c:v>
                </c:pt>
                <c:pt idx="15">
                  <c:v>-3.6999999999999998E-2</c:v>
                </c:pt>
                <c:pt idx="16">
                  <c:v>-0.14199999999999999</c:v>
                </c:pt>
                <c:pt idx="17">
                  <c:v>-0.13200000000000001</c:v>
                </c:pt>
                <c:pt idx="18">
                  <c:v>-0.23899999999999999</c:v>
                </c:pt>
                <c:pt idx="19">
                  <c:v>-0.254</c:v>
                </c:pt>
                <c:pt idx="20">
                  <c:v>-0.29799999999999999</c:v>
                </c:pt>
                <c:pt idx="21">
                  <c:v>-0.25</c:v>
                </c:pt>
                <c:pt idx="22">
                  <c:v>-0.26100000000000001</c:v>
                </c:pt>
                <c:pt idx="23">
                  <c:v>-0.254</c:v>
                </c:pt>
                <c:pt idx="24">
                  <c:v>-0.23300000000000001</c:v>
                </c:pt>
                <c:pt idx="25">
                  <c:v>-0.24299999999999999</c:v>
                </c:pt>
                <c:pt idx="26">
                  <c:v>-0.20699999999999999</c:v>
                </c:pt>
                <c:pt idx="27">
                  <c:v>-0.21199999999999999</c:v>
                </c:pt>
                <c:pt idx="28">
                  <c:v>-0.249</c:v>
                </c:pt>
                <c:pt idx="29">
                  <c:v>-0.246</c:v>
                </c:pt>
                <c:pt idx="30">
                  <c:v>-0.41</c:v>
                </c:pt>
                <c:pt idx="31">
                  <c:v>-0.26300000000000001</c:v>
                </c:pt>
                <c:pt idx="32">
                  <c:v>-3.9E-2</c:v>
                </c:pt>
                <c:pt idx="33">
                  <c:v>-5.8999999999999997E-2</c:v>
                </c:pt>
                <c:pt idx="34">
                  <c:v>-2.1999999999999999E-2</c:v>
                </c:pt>
                <c:pt idx="35">
                  <c:v>-5.6000000000000001E-2</c:v>
                </c:pt>
                <c:pt idx="36">
                  <c:v>2.1000000000000001E-2</c:v>
                </c:pt>
                <c:pt idx="37">
                  <c:v>-2.1999999999999999E-2</c:v>
                </c:pt>
                <c:pt idx="38">
                  <c:v>-0.10299999999999999</c:v>
                </c:pt>
                <c:pt idx="39">
                  <c:v>-2.1000000000000001E-2</c:v>
                </c:pt>
                <c:pt idx="40">
                  <c:v>-0.10199999999999999</c:v>
                </c:pt>
                <c:pt idx="41">
                  <c:v>0.11600000000000001</c:v>
                </c:pt>
                <c:pt idx="42">
                  <c:v>0.39</c:v>
                </c:pt>
                <c:pt idx="43">
                  <c:v>0.27600000000000002</c:v>
                </c:pt>
                <c:pt idx="44">
                  <c:v>0.82299999999999995</c:v>
                </c:pt>
                <c:pt idx="45">
                  <c:v>0.51200000000000001</c:v>
                </c:pt>
                <c:pt idx="46">
                  <c:v>0.153</c:v>
                </c:pt>
                <c:pt idx="47">
                  <c:v>0.92400000000000004</c:v>
                </c:pt>
                <c:pt idx="48">
                  <c:v>0.92200000000000004</c:v>
                </c:pt>
                <c:pt idx="49">
                  <c:v>0.67800000000000005</c:v>
                </c:pt>
                <c:pt idx="50">
                  <c:v>0.503</c:v>
                </c:pt>
                <c:pt idx="51">
                  <c:v>0.72599999999999998</c:v>
                </c:pt>
                <c:pt idx="52">
                  <c:v>0.42699999999999999</c:v>
                </c:pt>
                <c:pt idx="53">
                  <c:v>0.16400000000000001</c:v>
                </c:pt>
                <c:pt idx="54">
                  <c:v>0.48699999999999999</c:v>
                </c:pt>
                <c:pt idx="55">
                  <c:v>0.501</c:v>
                </c:pt>
                <c:pt idx="56">
                  <c:v>-0.154</c:v>
                </c:pt>
                <c:pt idx="57">
                  <c:v>-1.536</c:v>
                </c:pt>
                <c:pt idx="58">
                  <c:v>-1.5369999999999999</c:v>
                </c:pt>
                <c:pt idx="59">
                  <c:v>2.1000000000000001E-2</c:v>
                </c:pt>
                <c:pt idx="60">
                  <c:v>-0.41699999999999998</c:v>
                </c:pt>
                <c:pt idx="61">
                  <c:v>-0.09</c:v>
                </c:pt>
                <c:pt idx="62">
                  <c:v>-1.1180000000000001</c:v>
                </c:pt>
                <c:pt idx="63">
                  <c:v>-0.79800000000000004</c:v>
                </c:pt>
                <c:pt idx="64">
                  <c:v>6.2E-2</c:v>
                </c:pt>
                <c:pt idx="65">
                  <c:v>-0.34599999999999997</c:v>
                </c:pt>
                <c:pt idx="66">
                  <c:v>-0.40899999999999997</c:v>
                </c:pt>
                <c:pt idx="67">
                  <c:v>-0.21099999999999999</c:v>
                </c:pt>
                <c:pt idx="68">
                  <c:v>-0.57599999999999996</c:v>
                </c:pt>
                <c:pt idx="69">
                  <c:v>-0.64700000000000002</c:v>
                </c:pt>
                <c:pt idx="70">
                  <c:v>-1.24</c:v>
                </c:pt>
                <c:pt idx="71">
                  <c:v>-0.48399999999999999</c:v>
                </c:pt>
                <c:pt idx="72">
                  <c:v>-0.74099999999999999</c:v>
                </c:pt>
                <c:pt idx="73">
                  <c:v>-0.63300000000000001</c:v>
                </c:pt>
                <c:pt idx="74">
                  <c:v>-0.45</c:v>
                </c:pt>
                <c:pt idx="75">
                  <c:v>-8.1000000000000003E-2</c:v>
                </c:pt>
                <c:pt idx="76">
                  <c:v>-0.39</c:v>
                </c:pt>
                <c:pt idx="77">
                  <c:v>-0.51200000000000001</c:v>
                </c:pt>
                <c:pt idx="78">
                  <c:v>-0.47399999999999998</c:v>
                </c:pt>
                <c:pt idx="79">
                  <c:v>-0.61199999999999999</c:v>
                </c:pt>
                <c:pt idx="80">
                  <c:v>-0.54200000000000004</c:v>
                </c:pt>
                <c:pt idx="81">
                  <c:v>-0.628</c:v>
                </c:pt>
                <c:pt idx="82">
                  <c:v>-0.57199999999999995</c:v>
                </c:pt>
                <c:pt idx="83">
                  <c:v>-0.247</c:v>
                </c:pt>
                <c:pt idx="84">
                  <c:v>-0.80200000000000005</c:v>
                </c:pt>
                <c:pt idx="85">
                  <c:v>-0.64200000000000002</c:v>
                </c:pt>
                <c:pt idx="86">
                  <c:v>-2.8000000000000001E-2</c:v>
                </c:pt>
                <c:pt idx="87">
                  <c:v>-0.01</c:v>
                </c:pt>
                <c:pt idx="88">
                  <c:v>6.0000000000000001E-3</c:v>
                </c:pt>
                <c:pt idx="89">
                  <c:v>-0.25</c:v>
                </c:pt>
                <c:pt idx="90">
                  <c:v>0.111</c:v>
                </c:pt>
                <c:pt idx="91">
                  <c:v>-0.221</c:v>
                </c:pt>
                <c:pt idx="92">
                  <c:v>-0.25600000000000001</c:v>
                </c:pt>
                <c:pt idx="93">
                  <c:v>-0.498</c:v>
                </c:pt>
                <c:pt idx="94">
                  <c:v>-0.69399999999999995</c:v>
                </c:pt>
                <c:pt idx="95">
                  <c:v>-0.60599999999999998</c:v>
                </c:pt>
                <c:pt idx="96">
                  <c:v>1.7999999999999999E-2</c:v>
                </c:pt>
                <c:pt idx="97">
                  <c:v>7.5999999999999998E-2</c:v>
                </c:pt>
                <c:pt idx="98">
                  <c:v>0.11899999999999999</c:v>
                </c:pt>
                <c:pt idx="99">
                  <c:v>2.9000000000000001E-2</c:v>
                </c:pt>
                <c:pt idx="100">
                  <c:v>-0.63100000000000001</c:v>
                </c:pt>
                <c:pt idx="101">
                  <c:v>-0.51600000000000001</c:v>
                </c:pt>
                <c:pt idx="102">
                  <c:v>-0.76100000000000001</c:v>
                </c:pt>
                <c:pt idx="103">
                  <c:v>-0.33</c:v>
                </c:pt>
                <c:pt idx="104">
                  <c:v>-0.53100000000000003</c:v>
                </c:pt>
                <c:pt idx="105">
                  <c:v>-8.3000000000000004E-2</c:v>
                </c:pt>
                <c:pt idx="106">
                  <c:v>-0.24</c:v>
                </c:pt>
                <c:pt idx="107">
                  <c:v>0.14899999999999999</c:v>
                </c:pt>
                <c:pt idx="108">
                  <c:v>-0.48699999999999999</c:v>
                </c:pt>
                <c:pt idx="109">
                  <c:v>-0.35099999999999998</c:v>
                </c:pt>
                <c:pt idx="110">
                  <c:v>-0.496</c:v>
                </c:pt>
                <c:pt idx="111">
                  <c:v>-1.1970000000000001</c:v>
                </c:pt>
                <c:pt idx="112">
                  <c:v>-0.97</c:v>
                </c:pt>
                <c:pt idx="113">
                  <c:v>-1.401</c:v>
                </c:pt>
                <c:pt idx="114">
                  <c:v>-1.3129999999999999</c:v>
                </c:pt>
                <c:pt idx="115">
                  <c:v>-1.4379999999999999</c:v>
                </c:pt>
                <c:pt idx="116">
                  <c:v>-1.639</c:v>
                </c:pt>
                <c:pt idx="117">
                  <c:v>-1.802</c:v>
                </c:pt>
                <c:pt idx="118">
                  <c:v>-2.0190000000000001</c:v>
                </c:pt>
                <c:pt idx="119">
                  <c:v>-2.0499999999999998</c:v>
                </c:pt>
                <c:pt idx="120">
                  <c:v>-1.71</c:v>
                </c:pt>
                <c:pt idx="121">
                  <c:v>-1.631</c:v>
                </c:pt>
                <c:pt idx="122">
                  <c:v>-1.4870000000000001</c:v>
                </c:pt>
                <c:pt idx="123">
                  <c:v>-1.304</c:v>
                </c:pt>
                <c:pt idx="124">
                  <c:v>-1.3779999999999999</c:v>
                </c:pt>
                <c:pt idx="125">
                  <c:v>-0.53300000000000003</c:v>
                </c:pt>
                <c:pt idx="126">
                  <c:v>-0.38600000000000001</c:v>
                </c:pt>
                <c:pt idx="127">
                  <c:v>-0.42</c:v>
                </c:pt>
                <c:pt idx="128">
                  <c:v>-0.37</c:v>
                </c:pt>
                <c:pt idx="129">
                  <c:v>-0.20799999999999999</c:v>
                </c:pt>
                <c:pt idx="130">
                  <c:v>-0.26700000000000002</c:v>
                </c:pt>
                <c:pt idx="131">
                  <c:v>-0.29799999999999999</c:v>
                </c:pt>
                <c:pt idx="132">
                  <c:v>-0.34599999999999997</c:v>
                </c:pt>
                <c:pt idx="133">
                  <c:v>-0.28799999999999998</c:v>
                </c:pt>
                <c:pt idx="134">
                  <c:v>-0.28299999999999997</c:v>
                </c:pt>
                <c:pt idx="135">
                  <c:v>-0.46300000000000002</c:v>
                </c:pt>
                <c:pt idx="136">
                  <c:v>-0.497</c:v>
                </c:pt>
                <c:pt idx="137">
                  <c:v>-0.48399999999999999</c:v>
                </c:pt>
                <c:pt idx="138">
                  <c:v>-0.47</c:v>
                </c:pt>
                <c:pt idx="139">
                  <c:v>-0.55200000000000005</c:v>
                </c:pt>
                <c:pt idx="140">
                  <c:v>-0.56200000000000006</c:v>
                </c:pt>
                <c:pt idx="141">
                  <c:v>-0.52900000000000003</c:v>
                </c:pt>
                <c:pt idx="142">
                  <c:v>-0.46</c:v>
                </c:pt>
                <c:pt idx="143">
                  <c:v>-0.38100000000000001</c:v>
                </c:pt>
              </c:numCache>
            </c:numRef>
          </c:val>
          <c:smooth val="0"/>
          <c:extLst>
            <c:ext xmlns:c16="http://schemas.microsoft.com/office/drawing/2014/chart" uri="{C3380CC4-5D6E-409C-BE32-E72D297353CC}">
              <c16:uniqueId val="{00000000-7A7D-BD49-B024-93249CD074FD}"/>
            </c:ext>
          </c:extLst>
        </c:ser>
        <c:ser>
          <c:idx val="1"/>
          <c:order val="1"/>
          <c:tx>
            <c:strRef>
              <c:f>'図16_分析8_風'!$H$1</c:f>
              <c:strCache>
                <c:ptCount val="1"/>
                <c:pt idx="0">
                  <c:v>列11</c:v>
                </c:pt>
              </c:strCache>
            </c:strRef>
          </c:tx>
          <c:spPr>
            <a:ln w="22225" cap="rnd">
              <a:solidFill>
                <a:srgbClr val="118DFF"/>
              </a:solidFill>
              <a:round/>
            </a:ln>
          </c:spPr>
          <c:marker>
            <c:symbol val="none"/>
          </c:marker>
          <c:cat>
            <c:strRef>
              <c:f>'図16_分析8_風'!$B$2:$B$145</c:f>
              <c:strCache>
                <c:ptCount val="144"/>
                <c:pt idx="0">
                  <c:v>0:00</c:v>
                </c:pt>
                <c:pt idx="18">
                  <c:v>3:00</c:v>
                </c:pt>
                <c:pt idx="36">
                  <c:v>6:00</c:v>
                </c:pt>
                <c:pt idx="54">
                  <c:v>9:00</c:v>
                </c:pt>
                <c:pt idx="72">
                  <c:v>12:00</c:v>
                </c:pt>
                <c:pt idx="90">
                  <c:v>15:00</c:v>
                </c:pt>
                <c:pt idx="108">
                  <c:v>18:00</c:v>
                </c:pt>
                <c:pt idx="126">
                  <c:v>21:00</c:v>
                </c:pt>
              </c:strCache>
            </c:strRef>
          </c:cat>
          <c:val>
            <c:numRef>
              <c:f>'図16_分析8_風'!$H$2:$H$145</c:f>
              <c:numCache>
                <c:formatCode>General</c:formatCode>
                <c:ptCount val="144"/>
                <c:pt idx="0">
                  <c:v>-8.0000000000000002E-3</c:v>
                </c:pt>
                <c:pt idx="1">
                  <c:v>-0.16600000000000001</c:v>
                </c:pt>
                <c:pt idx="2">
                  <c:v>-0.216</c:v>
                </c:pt>
                <c:pt idx="3">
                  <c:v>-0.126</c:v>
                </c:pt>
                <c:pt idx="4">
                  <c:v>-0.121</c:v>
                </c:pt>
                <c:pt idx="5">
                  <c:v>-0.14399999999999999</c:v>
                </c:pt>
                <c:pt idx="6">
                  <c:v>-0.109</c:v>
                </c:pt>
                <c:pt idx="7">
                  <c:v>-6.7000000000000004E-2</c:v>
                </c:pt>
                <c:pt idx="8">
                  <c:v>2.9000000000000001E-2</c:v>
                </c:pt>
                <c:pt idx="9">
                  <c:v>2.1999999999999999E-2</c:v>
                </c:pt>
                <c:pt idx="10">
                  <c:v>5.6000000000000001E-2</c:v>
                </c:pt>
                <c:pt idx="11">
                  <c:v>7.4999999999999997E-2</c:v>
                </c:pt>
                <c:pt idx="12">
                  <c:v>-1.7999999999999999E-2</c:v>
                </c:pt>
                <c:pt idx="13">
                  <c:v>-2.1999999999999999E-2</c:v>
                </c:pt>
                <c:pt idx="14">
                  <c:v>-5.6000000000000001E-2</c:v>
                </c:pt>
                <c:pt idx="15">
                  <c:v>-2.4E-2</c:v>
                </c:pt>
                <c:pt idx="16">
                  <c:v>-5.8999999999999997E-2</c:v>
                </c:pt>
                <c:pt idx="17">
                  <c:v>-1.4999999999999999E-2</c:v>
                </c:pt>
                <c:pt idx="18">
                  <c:v>-0.10199999999999999</c:v>
                </c:pt>
                <c:pt idx="19">
                  <c:v>-0.107</c:v>
                </c:pt>
                <c:pt idx="20">
                  <c:v>-0.1</c:v>
                </c:pt>
                <c:pt idx="21">
                  <c:v>-2.3E-2</c:v>
                </c:pt>
                <c:pt idx="22">
                  <c:v>-0.121</c:v>
                </c:pt>
                <c:pt idx="23">
                  <c:v>-3.7999999999999999E-2</c:v>
                </c:pt>
                <c:pt idx="24">
                  <c:v>-1E-3</c:v>
                </c:pt>
                <c:pt idx="25">
                  <c:v>-0.10199999999999999</c:v>
                </c:pt>
                <c:pt idx="26">
                  <c:v>-0.159</c:v>
                </c:pt>
                <c:pt idx="27">
                  <c:v>-0.188</c:v>
                </c:pt>
                <c:pt idx="28">
                  <c:v>-0.125</c:v>
                </c:pt>
                <c:pt idx="29">
                  <c:v>-0.14599999999999999</c:v>
                </c:pt>
                <c:pt idx="30">
                  <c:v>-0.48599999999999999</c:v>
                </c:pt>
                <c:pt idx="31">
                  <c:v>-0.41399999999999998</c:v>
                </c:pt>
                <c:pt idx="32">
                  <c:v>-0.186</c:v>
                </c:pt>
                <c:pt idx="33">
                  <c:v>-0.17</c:v>
                </c:pt>
                <c:pt idx="34">
                  <c:v>-0.17899999999999999</c:v>
                </c:pt>
                <c:pt idx="35">
                  <c:v>-0.17100000000000001</c:v>
                </c:pt>
                <c:pt idx="36">
                  <c:v>-0.11</c:v>
                </c:pt>
                <c:pt idx="37">
                  <c:v>-0.154</c:v>
                </c:pt>
                <c:pt idx="38">
                  <c:v>6.6000000000000003E-2</c:v>
                </c:pt>
                <c:pt idx="39">
                  <c:v>0.24299999999999999</c:v>
                </c:pt>
                <c:pt idx="40">
                  <c:v>0.28100000000000003</c:v>
                </c:pt>
                <c:pt idx="41">
                  <c:v>0.76300000000000001</c:v>
                </c:pt>
                <c:pt idx="42">
                  <c:v>1.0029999999999999</c:v>
                </c:pt>
                <c:pt idx="43">
                  <c:v>0.89300000000000002</c:v>
                </c:pt>
                <c:pt idx="44">
                  <c:v>0.92700000000000005</c:v>
                </c:pt>
                <c:pt idx="45">
                  <c:v>0.63400000000000001</c:v>
                </c:pt>
                <c:pt idx="46">
                  <c:v>0.312</c:v>
                </c:pt>
                <c:pt idx="47">
                  <c:v>0.60599999999999998</c:v>
                </c:pt>
                <c:pt idx="48">
                  <c:v>0.69499999999999995</c:v>
                </c:pt>
                <c:pt idx="49">
                  <c:v>0.45400000000000001</c:v>
                </c:pt>
                <c:pt idx="50">
                  <c:v>0.95599999999999996</c:v>
                </c:pt>
                <c:pt idx="51">
                  <c:v>0.94199999999999995</c:v>
                </c:pt>
                <c:pt idx="52">
                  <c:v>0.67900000000000005</c:v>
                </c:pt>
                <c:pt idx="53">
                  <c:v>0.59599999999999997</c:v>
                </c:pt>
                <c:pt idx="54">
                  <c:v>0.436</c:v>
                </c:pt>
                <c:pt idx="55">
                  <c:v>0.66400000000000003</c:v>
                </c:pt>
                <c:pt idx="56">
                  <c:v>6.5000000000000002E-2</c:v>
                </c:pt>
                <c:pt idx="57">
                  <c:v>-1.2050000000000001</c:v>
                </c:pt>
                <c:pt idx="58">
                  <c:v>-1.224</c:v>
                </c:pt>
                <c:pt idx="59">
                  <c:v>-1.6E-2</c:v>
                </c:pt>
                <c:pt idx="60">
                  <c:v>-0.379</c:v>
                </c:pt>
                <c:pt idx="61">
                  <c:v>-0.112</c:v>
                </c:pt>
                <c:pt idx="62">
                  <c:v>-0.28399999999999997</c:v>
                </c:pt>
                <c:pt idx="63">
                  <c:v>-0.108</c:v>
                </c:pt>
                <c:pt idx="64">
                  <c:v>-0.13900000000000001</c:v>
                </c:pt>
                <c:pt idx="65">
                  <c:v>0.151</c:v>
                </c:pt>
                <c:pt idx="66">
                  <c:v>-0.20599999999999999</c:v>
                </c:pt>
                <c:pt idx="67">
                  <c:v>-0.65400000000000003</c:v>
                </c:pt>
                <c:pt idx="68">
                  <c:v>-0.19600000000000001</c:v>
                </c:pt>
                <c:pt idx="69">
                  <c:v>5.0999999999999997E-2</c:v>
                </c:pt>
                <c:pt idx="70">
                  <c:v>-0.69</c:v>
                </c:pt>
                <c:pt idx="71">
                  <c:v>-0.85099999999999998</c:v>
                </c:pt>
                <c:pt idx="72">
                  <c:v>-0.76700000000000002</c:v>
                </c:pt>
                <c:pt idx="73">
                  <c:v>-0.14099999999999999</c:v>
                </c:pt>
                <c:pt idx="74">
                  <c:v>-0.34599999999999997</c:v>
                </c:pt>
                <c:pt idx="75">
                  <c:v>-0.13500000000000001</c:v>
                </c:pt>
                <c:pt idx="76">
                  <c:v>-0.374</c:v>
                </c:pt>
                <c:pt idx="77">
                  <c:v>-0.41499999999999998</c:v>
                </c:pt>
                <c:pt idx="78">
                  <c:v>-0.621</c:v>
                </c:pt>
                <c:pt idx="79">
                  <c:v>-0.39400000000000002</c:v>
                </c:pt>
                <c:pt idx="80">
                  <c:v>-0.13100000000000001</c:v>
                </c:pt>
                <c:pt idx="81">
                  <c:v>-0.53100000000000003</c:v>
                </c:pt>
                <c:pt idx="82">
                  <c:v>-8.8999999999999996E-2</c:v>
                </c:pt>
                <c:pt idx="83">
                  <c:v>-0.28199999999999997</c:v>
                </c:pt>
                <c:pt idx="84">
                  <c:v>-0.879</c:v>
                </c:pt>
                <c:pt idx="85">
                  <c:v>-0.28699999999999998</c:v>
                </c:pt>
                <c:pt idx="86">
                  <c:v>0.25900000000000001</c:v>
                </c:pt>
                <c:pt idx="87">
                  <c:v>-1.4999999999999999E-2</c:v>
                </c:pt>
                <c:pt idx="88">
                  <c:v>0.18099999999999999</c:v>
                </c:pt>
                <c:pt idx="89">
                  <c:v>0.186</c:v>
                </c:pt>
                <c:pt idx="90">
                  <c:v>0.44</c:v>
                </c:pt>
                <c:pt idx="91">
                  <c:v>-3.9E-2</c:v>
                </c:pt>
                <c:pt idx="92">
                  <c:v>-3.9E-2</c:v>
                </c:pt>
                <c:pt idx="93">
                  <c:v>4.7E-2</c:v>
                </c:pt>
                <c:pt idx="94">
                  <c:v>-0.14099999999999999</c:v>
                </c:pt>
                <c:pt idx="95">
                  <c:v>-0.38600000000000001</c:v>
                </c:pt>
                <c:pt idx="96">
                  <c:v>-0.28000000000000003</c:v>
                </c:pt>
                <c:pt idx="97">
                  <c:v>6.5000000000000002E-2</c:v>
                </c:pt>
                <c:pt idx="98">
                  <c:v>0.376</c:v>
                </c:pt>
                <c:pt idx="99">
                  <c:v>-0.12</c:v>
                </c:pt>
                <c:pt idx="100">
                  <c:v>-0.32700000000000001</c:v>
                </c:pt>
                <c:pt idx="101">
                  <c:v>-0.42599999999999999</c:v>
                </c:pt>
                <c:pt idx="102">
                  <c:v>-0.75700000000000001</c:v>
                </c:pt>
                <c:pt idx="103">
                  <c:v>6.4000000000000001E-2</c:v>
                </c:pt>
                <c:pt idx="104">
                  <c:v>-0.42899999999999999</c:v>
                </c:pt>
                <c:pt idx="105">
                  <c:v>-0.41599999999999998</c:v>
                </c:pt>
                <c:pt idx="106">
                  <c:v>-0.32900000000000001</c:v>
                </c:pt>
                <c:pt idx="107">
                  <c:v>-7.0000000000000001E-3</c:v>
                </c:pt>
                <c:pt idx="108">
                  <c:v>-1.069</c:v>
                </c:pt>
                <c:pt idx="109">
                  <c:v>-0.22900000000000001</c:v>
                </c:pt>
                <c:pt idx="110">
                  <c:v>-0.33400000000000002</c:v>
                </c:pt>
                <c:pt idx="111">
                  <c:v>-0.73799999999999999</c:v>
                </c:pt>
                <c:pt idx="112">
                  <c:v>-0.247</c:v>
                </c:pt>
                <c:pt idx="113">
                  <c:v>-0.58599999999999997</c:v>
                </c:pt>
                <c:pt idx="114">
                  <c:v>-0.05</c:v>
                </c:pt>
                <c:pt idx="115">
                  <c:v>-0.26100000000000001</c:v>
                </c:pt>
                <c:pt idx="116">
                  <c:v>-1.2529999999999999</c:v>
                </c:pt>
                <c:pt idx="117">
                  <c:v>-1.41</c:v>
                </c:pt>
                <c:pt idx="118">
                  <c:v>-1.63</c:v>
                </c:pt>
                <c:pt idx="119">
                  <c:v>-1.6459999999999999</c:v>
                </c:pt>
                <c:pt idx="120">
                  <c:v>-1.542</c:v>
                </c:pt>
                <c:pt idx="121">
                  <c:v>-1.569</c:v>
                </c:pt>
                <c:pt idx="122">
                  <c:v>-1.462</c:v>
                </c:pt>
                <c:pt idx="123">
                  <c:v>-1.536</c:v>
                </c:pt>
                <c:pt idx="124">
                  <c:v>-1.6240000000000001</c:v>
                </c:pt>
                <c:pt idx="125">
                  <c:v>-0.97399999999999998</c:v>
                </c:pt>
                <c:pt idx="126">
                  <c:v>-0.69299999999999995</c:v>
                </c:pt>
                <c:pt idx="127">
                  <c:v>-0.59799999999999998</c:v>
                </c:pt>
                <c:pt idx="128">
                  <c:v>-0.246</c:v>
                </c:pt>
                <c:pt idx="129">
                  <c:v>-0.18099999999999999</c:v>
                </c:pt>
                <c:pt idx="130">
                  <c:v>1.9E-2</c:v>
                </c:pt>
                <c:pt idx="131">
                  <c:v>6.2E-2</c:v>
                </c:pt>
                <c:pt idx="132">
                  <c:v>1.2E-2</c:v>
                </c:pt>
                <c:pt idx="133">
                  <c:v>-4.9000000000000002E-2</c:v>
                </c:pt>
                <c:pt idx="134">
                  <c:v>0.312</c:v>
                </c:pt>
                <c:pt idx="135">
                  <c:v>7.0000000000000007E-2</c:v>
                </c:pt>
                <c:pt idx="136">
                  <c:v>0.248</c:v>
                </c:pt>
                <c:pt idx="137">
                  <c:v>6.2E-2</c:v>
                </c:pt>
                <c:pt idx="138">
                  <c:v>-0.253</c:v>
                </c:pt>
                <c:pt idx="139">
                  <c:v>-0.34899999999999998</c:v>
                </c:pt>
                <c:pt idx="140">
                  <c:v>-0.28599999999999998</c:v>
                </c:pt>
                <c:pt idx="141">
                  <c:v>-0.33900000000000002</c:v>
                </c:pt>
                <c:pt idx="142">
                  <c:v>-0.30299999999999999</c:v>
                </c:pt>
                <c:pt idx="143">
                  <c:v>-0.29499999999999998</c:v>
                </c:pt>
              </c:numCache>
            </c:numRef>
          </c:val>
          <c:smooth val="0"/>
          <c:extLst>
            <c:ext xmlns:c16="http://schemas.microsoft.com/office/drawing/2014/chart" uri="{C3380CC4-5D6E-409C-BE32-E72D297353CC}">
              <c16:uniqueId val="{00000001-7A7D-BD49-B024-93249CD074FD}"/>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2"/>
          <c:min val="-2.5"/>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
          <c:y val="0.05"/>
          <c:w val="0.76"/>
          <c:h val="0.72"/>
        </c:manualLayout>
      </c:layout>
      <c:lineChart>
        <c:grouping val="standard"/>
        <c:varyColors val="0"/>
        <c:ser>
          <c:idx val="0"/>
          <c:order val="0"/>
          <c:tx>
            <c:strRef>
              <c:f>'図16_分析8_風'!$M$1</c:f>
              <c:strCache>
                <c:ptCount val="1"/>
                <c:pt idx="0">
                  <c:v>列8</c:v>
                </c:pt>
              </c:strCache>
            </c:strRef>
          </c:tx>
          <c:spPr>
            <a:ln w="22225" cap="rnd">
              <a:solidFill>
                <a:srgbClr val="01B8AA"/>
              </a:solidFill>
              <a:round/>
            </a:ln>
          </c:spPr>
          <c:marker>
            <c:symbol val="none"/>
          </c:marker>
          <c:cat>
            <c:strRef>
              <c:f>'図16_分析8_風'!$B$2:$B$145</c:f>
              <c:strCache>
                <c:ptCount val="144"/>
                <c:pt idx="0">
                  <c:v>0:00</c:v>
                </c:pt>
                <c:pt idx="18">
                  <c:v>3:00</c:v>
                </c:pt>
                <c:pt idx="36">
                  <c:v>6:00</c:v>
                </c:pt>
                <c:pt idx="54">
                  <c:v>9:00</c:v>
                </c:pt>
                <c:pt idx="72">
                  <c:v>12:00</c:v>
                </c:pt>
                <c:pt idx="90">
                  <c:v>15:00</c:v>
                </c:pt>
                <c:pt idx="108">
                  <c:v>18:00</c:v>
                </c:pt>
                <c:pt idx="126">
                  <c:v>21:00</c:v>
                </c:pt>
              </c:strCache>
            </c:strRef>
          </c:cat>
          <c:val>
            <c:numRef>
              <c:f>'図16_分析8_風'!$M$2:$M$145</c:f>
              <c:numCache>
                <c:formatCode>General</c:formatCode>
                <c:ptCount val="144"/>
                <c:pt idx="0">
                  <c:v>0.159</c:v>
                </c:pt>
                <c:pt idx="1">
                  <c:v>0.16400000000000001</c:v>
                </c:pt>
                <c:pt idx="2">
                  <c:v>0.17799999999999999</c:v>
                </c:pt>
                <c:pt idx="3">
                  <c:v>0.30399999999999999</c:v>
                </c:pt>
                <c:pt idx="4">
                  <c:v>0.17</c:v>
                </c:pt>
                <c:pt idx="5">
                  <c:v>8.3000000000000004E-2</c:v>
                </c:pt>
                <c:pt idx="6">
                  <c:v>9.0999999999999998E-2</c:v>
                </c:pt>
                <c:pt idx="7">
                  <c:v>6.7000000000000004E-2</c:v>
                </c:pt>
                <c:pt idx="8">
                  <c:v>2.3E-2</c:v>
                </c:pt>
                <c:pt idx="9">
                  <c:v>3.3000000000000002E-2</c:v>
                </c:pt>
                <c:pt idx="10">
                  <c:v>3.0000000000000001E-3</c:v>
                </c:pt>
                <c:pt idx="11">
                  <c:v>2.3E-2</c:v>
                </c:pt>
                <c:pt idx="12">
                  <c:v>2.9000000000000001E-2</c:v>
                </c:pt>
                <c:pt idx="13">
                  <c:v>2.1000000000000001E-2</c:v>
                </c:pt>
                <c:pt idx="14">
                  <c:v>1.7999999999999999E-2</c:v>
                </c:pt>
                <c:pt idx="15">
                  <c:v>0.01</c:v>
                </c:pt>
                <c:pt idx="16">
                  <c:v>2.1999999999999999E-2</c:v>
                </c:pt>
                <c:pt idx="17">
                  <c:v>2.7E-2</c:v>
                </c:pt>
                <c:pt idx="18">
                  <c:v>1.0999999999999999E-2</c:v>
                </c:pt>
                <c:pt idx="19">
                  <c:v>2.5999999999999999E-2</c:v>
                </c:pt>
                <c:pt idx="20">
                  <c:v>2.9000000000000001E-2</c:v>
                </c:pt>
                <c:pt idx="21">
                  <c:v>7.0000000000000001E-3</c:v>
                </c:pt>
                <c:pt idx="22">
                  <c:v>4.0000000000000001E-3</c:v>
                </c:pt>
                <c:pt idx="23">
                  <c:v>2.3E-2</c:v>
                </c:pt>
                <c:pt idx="24">
                  <c:v>7.8E-2</c:v>
                </c:pt>
                <c:pt idx="25">
                  <c:v>5.3999999999999999E-2</c:v>
                </c:pt>
                <c:pt idx="26">
                  <c:v>3.3000000000000002E-2</c:v>
                </c:pt>
                <c:pt idx="27">
                  <c:v>1.6E-2</c:v>
                </c:pt>
                <c:pt idx="28">
                  <c:v>3.9E-2</c:v>
                </c:pt>
                <c:pt idx="29">
                  <c:v>3.7999999999999999E-2</c:v>
                </c:pt>
                <c:pt idx="30">
                  <c:v>3.7999999999999999E-2</c:v>
                </c:pt>
                <c:pt idx="31">
                  <c:v>6.3E-2</c:v>
                </c:pt>
                <c:pt idx="32">
                  <c:v>6.3E-2</c:v>
                </c:pt>
                <c:pt idx="33">
                  <c:v>0.126</c:v>
                </c:pt>
                <c:pt idx="34">
                  <c:v>0.27400000000000002</c:v>
                </c:pt>
                <c:pt idx="35">
                  <c:v>0.30599999999999999</c:v>
                </c:pt>
                <c:pt idx="36">
                  <c:v>0.28199999999999997</c:v>
                </c:pt>
                <c:pt idx="37">
                  <c:v>0.376</c:v>
                </c:pt>
                <c:pt idx="38">
                  <c:v>0.38</c:v>
                </c:pt>
                <c:pt idx="39">
                  <c:v>0.41199999999999998</c:v>
                </c:pt>
                <c:pt idx="40">
                  <c:v>0.39200000000000002</c:v>
                </c:pt>
                <c:pt idx="41">
                  <c:v>0.496</c:v>
                </c:pt>
                <c:pt idx="42">
                  <c:v>0.71699999999999997</c:v>
                </c:pt>
                <c:pt idx="43">
                  <c:v>1.1100000000000001</c:v>
                </c:pt>
                <c:pt idx="44">
                  <c:v>1.5589999999999999</c:v>
                </c:pt>
                <c:pt idx="45">
                  <c:v>1.552</c:v>
                </c:pt>
                <c:pt idx="46">
                  <c:v>1.6220000000000001</c:v>
                </c:pt>
                <c:pt idx="47">
                  <c:v>1.591</c:v>
                </c:pt>
                <c:pt idx="48">
                  <c:v>1.5780000000000001</c:v>
                </c:pt>
                <c:pt idx="49">
                  <c:v>1.244</c:v>
                </c:pt>
                <c:pt idx="50">
                  <c:v>0.54600000000000004</c:v>
                </c:pt>
                <c:pt idx="51">
                  <c:v>1.048</c:v>
                </c:pt>
                <c:pt idx="52">
                  <c:v>0.93400000000000005</c:v>
                </c:pt>
                <c:pt idx="53">
                  <c:v>0.43</c:v>
                </c:pt>
                <c:pt idx="54">
                  <c:v>4.2000000000000003E-2</c:v>
                </c:pt>
                <c:pt idx="55">
                  <c:v>0.28999999999999998</c:v>
                </c:pt>
                <c:pt idx="56">
                  <c:v>0.14699999999999999</c:v>
                </c:pt>
                <c:pt idx="57">
                  <c:v>1.117</c:v>
                </c:pt>
                <c:pt idx="58">
                  <c:v>0.52600000000000002</c:v>
                </c:pt>
                <c:pt idx="59">
                  <c:v>0.187</c:v>
                </c:pt>
                <c:pt idx="60">
                  <c:v>-0.02</c:v>
                </c:pt>
                <c:pt idx="61">
                  <c:v>5.1999999999999998E-2</c:v>
                </c:pt>
                <c:pt idx="62">
                  <c:v>-0.33800000000000002</c:v>
                </c:pt>
                <c:pt idx="63">
                  <c:v>0.13400000000000001</c:v>
                </c:pt>
                <c:pt idx="64">
                  <c:v>3.2000000000000001E-2</c:v>
                </c:pt>
                <c:pt idx="65">
                  <c:v>-0.13900000000000001</c:v>
                </c:pt>
                <c:pt idx="66">
                  <c:v>3.3000000000000002E-2</c:v>
                </c:pt>
                <c:pt idx="67">
                  <c:v>-0.156</c:v>
                </c:pt>
                <c:pt idx="68">
                  <c:v>-0.627</c:v>
                </c:pt>
                <c:pt idx="69">
                  <c:v>-1.0389999999999999</c:v>
                </c:pt>
                <c:pt idx="70">
                  <c:v>5.7000000000000002E-2</c:v>
                </c:pt>
                <c:pt idx="71">
                  <c:v>0.28000000000000003</c:v>
                </c:pt>
                <c:pt idx="72">
                  <c:v>-0.26200000000000001</c:v>
                </c:pt>
                <c:pt idx="73">
                  <c:v>-0.35399999999999998</c:v>
                </c:pt>
                <c:pt idx="74">
                  <c:v>-2.7E-2</c:v>
                </c:pt>
                <c:pt idx="75">
                  <c:v>-8.6999999999999994E-2</c:v>
                </c:pt>
                <c:pt idx="76">
                  <c:v>9.8000000000000004E-2</c:v>
                </c:pt>
                <c:pt idx="77">
                  <c:v>0.17799999999999999</c:v>
                </c:pt>
                <c:pt idx="78">
                  <c:v>0.20899999999999999</c:v>
                </c:pt>
                <c:pt idx="79">
                  <c:v>6.2E-2</c:v>
                </c:pt>
                <c:pt idx="80">
                  <c:v>-6.6000000000000003E-2</c:v>
                </c:pt>
                <c:pt idx="81">
                  <c:v>0.42899999999999999</c:v>
                </c:pt>
                <c:pt idx="82">
                  <c:v>0.28599999999999998</c:v>
                </c:pt>
                <c:pt idx="83">
                  <c:v>0.74099999999999999</c:v>
                </c:pt>
                <c:pt idx="84">
                  <c:v>0.49399999999999999</c:v>
                </c:pt>
                <c:pt idx="85">
                  <c:v>0.23699999999999999</c:v>
                </c:pt>
                <c:pt idx="86">
                  <c:v>0.85699999999999998</c:v>
                </c:pt>
                <c:pt idx="87">
                  <c:v>0.33100000000000002</c:v>
                </c:pt>
                <c:pt idx="88">
                  <c:v>0.46600000000000003</c:v>
                </c:pt>
                <c:pt idx="89">
                  <c:v>0.503</c:v>
                </c:pt>
                <c:pt idx="90">
                  <c:v>0.57699999999999996</c:v>
                </c:pt>
                <c:pt idx="91">
                  <c:v>0.42399999999999999</c:v>
                </c:pt>
                <c:pt idx="92">
                  <c:v>4.3999999999999997E-2</c:v>
                </c:pt>
                <c:pt idx="93">
                  <c:v>0.13200000000000001</c:v>
                </c:pt>
                <c:pt idx="94">
                  <c:v>0.42199999999999999</c:v>
                </c:pt>
                <c:pt idx="95">
                  <c:v>0.52200000000000002</c:v>
                </c:pt>
                <c:pt idx="96">
                  <c:v>0.16600000000000001</c:v>
                </c:pt>
                <c:pt idx="97">
                  <c:v>-8.9999999999999993E-3</c:v>
                </c:pt>
                <c:pt idx="98">
                  <c:v>0.11799999999999999</c:v>
                </c:pt>
                <c:pt idx="99">
                  <c:v>0.498</c:v>
                </c:pt>
                <c:pt idx="100">
                  <c:v>0.05</c:v>
                </c:pt>
                <c:pt idx="101">
                  <c:v>0.60299999999999998</c:v>
                </c:pt>
                <c:pt idx="102">
                  <c:v>0.32100000000000001</c:v>
                </c:pt>
                <c:pt idx="103">
                  <c:v>-0.26700000000000002</c:v>
                </c:pt>
                <c:pt idx="104">
                  <c:v>-0.81699999999999995</c:v>
                </c:pt>
                <c:pt idx="105">
                  <c:v>-0.63200000000000001</c:v>
                </c:pt>
                <c:pt idx="106">
                  <c:v>-0.21</c:v>
                </c:pt>
                <c:pt idx="107">
                  <c:v>-9.8000000000000004E-2</c:v>
                </c:pt>
                <c:pt idx="108">
                  <c:v>0.33600000000000002</c:v>
                </c:pt>
                <c:pt idx="109">
                  <c:v>0.61199999999999999</c:v>
                </c:pt>
                <c:pt idx="110">
                  <c:v>-1.6E-2</c:v>
                </c:pt>
                <c:pt idx="111">
                  <c:v>-0.47699999999999998</c:v>
                </c:pt>
                <c:pt idx="112">
                  <c:v>-1.367</c:v>
                </c:pt>
                <c:pt idx="113">
                  <c:v>-0.72599999999999998</c:v>
                </c:pt>
                <c:pt idx="114">
                  <c:v>-0.91300000000000003</c:v>
                </c:pt>
                <c:pt idx="115">
                  <c:v>-0.75</c:v>
                </c:pt>
                <c:pt idx="116">
                  <c:v>-1.1319999999999999</c:v>
                </c:pt>
                <c:pt idx="117">
                  <c:v>-0.4</c:v>
                </c:pt>
                <c:pt idx="118">
                  <c:v>-0.66700000000000004</c:v>
                </c:pt>
                <c:pt idx="119">
                  <c:v>-0.67300000000000004</c:v>
                </c:pt>
                <c:pt idx="120">
                  <c:v>0.05</c:v>
                </c:pt>
                <c:pt idx="121">
                  <c:v>-0.71099999999999997</c:v>
                </c:pt>
                <c:pt idx="122">
                  <c:v>-1.0669999999999999</c:v>
                </c:pt>
                <c:pt idx="123">
                  <c:v>-0.66</c:v>
                </c:pt>
                <c:pt idx="124">
                  <c:v>-0.747</c:v>
                </c:pt>
                <c:pt idx="125">
                  <c:v>-0.27300000000000002</c:v>
                </c:pt>
                <c:pt idx="126">
                  <c:v>-0.26100000000000001</c:v>
                </c:pt>
                <c:pt idx="127">
                  <c:v>-0.114</c:v>
                </c:pt>
                <c:pt idx="128">
                  <c:v>0.124</c:v>
                </c:pt>
                <c:pt idx="129">
                  <c:v>0.106</c:v>
                </c:pt>
                <c:pt idx="130">
                  <c:v>-7.0000000000000001E-3</c:v>
                </c:pt>
                <c:pt idx="131">
                  <c:v>3.4000000000000002E-2</c:v>
                </c:pt>
                <c:pt idx="132">
                  <c:v>2.1000000000000001E-2</c:v>
                </c:pt>
                <c:pt idx="133">
                  <c:v>1.0999999999999999E-2</c:v>
                </c:pt>
                <c:pt idx="134">
                  <c:v>5.1999999999999998E-2</c:v>
                </c:pt>
                <c:pt idx="135">
                  <c:v>-1.0999999999999999E-2</c:v>
                </c:pt>
                <c:pt idx="136">
                  <c:v>4.1000000000000002E-2</c:v>
                </c:pt>
                <c:pt idx="137">
                  <c:v>3.5999999999999997E-2</c:v>
                </c:pt>
                <c:pt idx="138">
                  <c:v>3.9E-2</c:v>
                </c:pt>
                <c:pt idx="139">
                  <c:v>-7.0000000000000001E-3</c:v>
                </c:pt>
                <c:pt idx="140">
                  <c:v>-1.2E-2</c:v>
                </c:pt>
                <c:pt idx="141">
                  <c:v>6.0000000000000001E-3</c:v>
                </c:pt>
                <c:pt idx="142">
                  <c:v>-8.9999999999999993E-3</c:v>
                </c:pt>
                <c:pt idx="143">
                  <c:v>0.09</c:v>
                </c:pt>
              </c:numCache>
            </c:numRef>
          </c:val>
          <c:smooth val="0"/>
          <c:extLst>
            <c:ext xmlns:c16="http://schemas.microsoft.com/office/drawing/2014/chart" uri="{C3380CC4-5D6E-409C-BE32-E72D297353CC}">
              <c16:uniqueId val="{00000000-B5D3-2241-A61E-DCF10A2DF5D7}"/>
            </c:ext>
          </c:extLst>
        </c:ser>
        <c:ser>
          <c:idx val="1"/>
          <c:order val="1"/>
          <c:tx>
            <c:strRef>
              <c:f>'図16_分析8_風'!$N$1</c:f>
              <c:strCache>
                <c:ptCount val="1"/>
                <c:pt idx="0">
                  <c:v>列11</c:v>
                </c:pt>
              </c:strCache>
            </c:strRef>
          </c:tx>
          <c:spPr>
            <a:ln w="22225" cap="rnd">
              <a:solidFill>
                <a:srgbClr val="118DFF"/>
              </a:solidFill>
              <a:round/>
            </a:ln>
          </c:spPr>
          <c:marker>
            <c:symbol val="none"/>
          </c:marker>
          <c:cat>
            <c:strRef>
              <c:f>'図16_分析8_風'!$B$2:$B$145</c:f>
              <c:strCache>
                <c:ptCount val="144"/>
                <c:pt idx="0">
                  <c:v>0:00</c:v>
                </c:pt>
                <c:pt idx="18">
                  <c:v>3:00</c:v>
                </c:pt>
                <c:pt idx="36">
                  <c:v>6:00</c:v>
                </c:pt>
                <c:pt idx="54">
                  <c:v>9:00</c:v>
                </c:pt>
                <c:pt idx="72">
                  <c:v>12:00</c:v>
                </c:pt>
                <c:pt idx="90">
                  <c:v>15:00</c:v>
                </c:pt>
                <c:pt idx="108">
                  <c:v>18:00</c:v>
                </c:pt>
                <c:pt idx="126">
                  <c:v>21:00</c:v>
                </c:pt>
              </c:strCache>
            </c:strRef>
          </c:cat>
          <c:val>
            <c:numRef>
              <c:f>'図16_分析8_風'!$N$2:$N$145</c:f>
              <c:numCache>
                <c:formatCode>General</c:formatCode>
                <c:ptCount val="144"/>
                <c:pt idx="0">
                  <c:v>0.20799999999999999</c:v>
                </c:pt>
                <c:pt idx="1">
                  <c:v>0.16600000000000001</c:v>
                </c:pt>
                <c:pt idx="2">
                  <c:v>0.2</c:v>
                </c:pt>
                <c:pt idx="3">
                  <c:v>0.23499999999999999</c:v>
                </c:pt>
                <c:pt idx="4">
                  <c:v>0.157</c:v>
                </c:pt>
                <c:pt idx="5">
                  <c:v>0.13</c:v>
                </c:pt>
                <c:pt idx="6">
                  <c:v>0.17499999999999999</c:v>
                </c:pt>
                <c:pt idx="7">
                  <c:v>0.14499999999999999</c:v>
                </c:pt>
                <c:pt idx="8">
                  <c:v>0.123</c:v>
                </c:pt>
                <c:pt idx="9">
                  <c:v>6.7000000000000004E-2</c:v>
                </c:pt>
                <c:pt idx="10">
                  <c:v>6.4000000000000001E-2</c:v>
                </c:pt>
                <c:pt idx="11">
                  <c:v>3.4000000000000002E-2</c:v>
                </c:pt>
                <c:pt idx="12">
                  <c:v>5.1999999999999998E-2</c:v>
                </c:pt>
                <c:pt idx="13">
                  <c:v>4.8000000000000001E-2</c:v>
                </c:pt>
                <c:pt idx="14">
                  <c:v>3.5999999999999997E-2</c:v>
                </c:pt>
                <c:pt idx="15">
                  <c:v>5.7000000000000002E-2</c:v>
                </c:pt>
                <c:pt idx="16">
                  <c:v>6.9000000000000006E-2</c:v>
                </c:pt>
                <c:pt idx="17">
                  <c:v>6.6000000000000003E-2</c:v>
                </c:pt>
                <c:pt idx="18">
                  <c:v>7.0999999999999994E-2</c:v>
                </c:pt>
                <c:pt idx="19">
                  <c:v>5.8999999999999997E-2</c:v>
                </c:pt>
                <c:pt idx="20">
                  <c:v>8.1000000000000003E-2</c:v>
                </c:pt>
                <c:pt idx="21">
                  <c:v>7.2999999999999995E-2</c:v>
                </c:pt>
                <c:pt idx="22">
                  <c:v>5.0999999999999997E-2</c:v>
                </c:pt>
                <c:pt idx="23">
                  <c:v>7.6999999999999999E-2</c:v>
                </c:pt>
                <c:pt idx="24">
                  <c:v>0.129</c:v>
                </c:pt>
                <c:pt idx="25">
                  <c:v>0.126</c:v>
                </c:pt>
                <c:pt idx="26">
                  <c:v>0.121</c:v>
                </c:pt>
                <c:pt idx="27">
                  <c:v>6.6000000000000003E-2</c:v>
                </c:pt>
                <c:pt idx="28">
                  <c:v>0.126</c:v>
                </c:pt>
                <c:pt idx="29">
                  <c:v>0.09</c:v>
                </c:pt>
                <c:pt idx="30">
                  <c:v>8.8999999999999996E-2</c:v>
                </c:pt>
                <c:pt idx="31">
                  <c:v>9.0999999999999998E-2</c:v>
                </c:pt>
                <c:pt idx="32">
                  <c:v>0.16500000000000001</c:v>
                </c:pt>
                <c:pt idx="33">
                  <c:v>0.34799999999999998</c:v>
                </c:pt>
                <c:pt idx="34">
                  <c:v>0.495</c:v>
                </c:pt>
                <c:pt idx="35">
                  <c:v>0.69599999999999995</c:v>
                </c:pt>
                <c:pt idx="36">
                  <c:v>0.70799999999999996</c:v>
                </c:pt>
                <c:pt idx="37">
                  <c:v>0.85299999999999998</c:v>
                </c:pt>
                <c:pt idx="38">
                  <c:v>0.65900000000000003</c:v>
                </c:pt>
                <c:pt idx="39">
                  <c:v>0.629</c:v>
                </c:pt>
                <c:pt idx="40">
                  <c:v>0.66200000000000003</c:v>
                </c:pt>
                <c:pt idx="41">
                  <c:v>0.73099999999999998</c:v>
                </c:pt>
                <c:pt idx="42">
                  <c:v>0.88900000000000001</c:v>
                </c:pt>
                <c:pt idx="43">
                  <c:v>0.99099999999999999</c:v>
                </c:pt>
                <c:pt idx="44">
                  <c:v>1.1659999999999999</c:v>
                </c:pt>
                <c:pt idx="45">
                  <c:v>1.026</c:v>
                </c:pt>
                <c:pt idx="46">
                  <c:v>1.1679999999999999</c:v>
                </c:pt>
                <c:pt idx="47">
                  <c:v>1.21</c:v>
                </c:pt>
                <c:pt idx="48">
                  <c:v>1.1910000000000001</c:v>
                </c:pt>
                <c:pt idx="49">
                  <c:v>-0.20399999999999999</c:v>
                </c:pt>
                <c:pt idx="50">
                  <c:v>-0.45600000000000002</c:v>
                </c:pt>
                <c:pt idx="51">
                  <c:v>-0.309</c:v>
                </c:pt>
                <c:pt idx="52">
                  <c:v>0.19400000000000001</c:v>
                </c:pt>
                <c:pt idx="53">
                  <c:v>0.33200000000000002</c:v>
                </c:pt>
                <c:pt idx="54">
                  <c:v>-0.255</c:v>
                </c:pt>
                <c:pt idx="55">
                  <c:v>8.3000000000000004E-2</c:v>
                </c:pt>
                <c:pt idx="56">
                  <c:v>-0.497</c:v>
                </c:pt>
                <c:pt idx="57">
                  <c:v>0.30199999999999999</c:v>
                </c:pt>
                <c:pt idx="58">
                  <c:v>0.21</c:v>
                </c:pt>
                <c:pt idx="59">
                  <c:v>8.8999999999999996E-2</c:v>
                </c:pt>
                <c:pt idx="60">
                  <c:v>-0.223</c:v>
                </c:pt>
                <c:pt idx="61">
                  <c:v>1.2E-2</c:v>
                </c:pt>
                <c:pt idx="62">
                  <c:v>-0.28799999999999998</c:v>
                </c:pt>
                <c:pt idx="63">
                  <c:v>0.13800000000000001</c:v>
                </c:pt>
                <c:pt idx="64">
                  <c:v>-0.13800000000000001</c:v>
                </c:pt>
                <c:pt idx="65">
                  <c:v>-2.9000000000000001E-2</c:v>
                </c:pt>
                <c:pt idx="66">
                  <c:v>0.84</c:v>
                </c:pt>
                <c:pt idx="67">
                  <c:v>-0.32200000000000001</c:v>
                </c:pt>
                <c:pt idx="68">
                  <c:v>-0.61899999999999999</c:v>
                </c:pt>
                <c:pt idx="69">
                  <c:v>-0.72499999999999998</c:v>
                </c:pt>
                <c:pt idx="70">
                  <c:v>3.9E-2</c:v>
                </c:pt>
                <c:pt idx="71">
                  <c:v>-0.154</c:v>
                </c:pt>
                <c:pt idx="72">
                  <c:v>-0.13200000000000001</c:v>
                </c:pt>
                <c:pt idx="73">
                  <c:v>-3.5000000000000003E-2</c:v>
                </c:pt>
                <c:pt idx="74">
                  <c:v>-0.245</c:v>
                </c:pt>
                <c:pt idx="75">
                  <c:v>-0.45900000000000002</c:v>
                </c:pt>
                <c:pt idx="76">
                  <c:v>-0.16600000000000001</c:v>
                </c:pt>
                <c:pt idx="77">
                  <c:v>-7.4999999999999997E-2</c:v>
                </c:pt>
                <c:pt idx="78">
                  <c:v>-0.16600000000000001</c:v>
                </c:pt>
                <c:pt idx="79">
                  <c:v>-0.26</c:v>
                </c:pt>
                <c:pt idx="80">
                  <c:v>-0.34599999999999997</c:v>
                </c:pt>
                <c:pt idx="81">
                  <c:v>0.371</c:v>
                </c:pt>
                <c:pt idx="82">
                  <c:v>-0.03</c:v>
                </c:pt>
                <c:pt idx="83">
                  <c:v>0.33400000000000002</c:v>
                </c:pt>
                <c:pt idx="84">
                  <c:v>0.32</c:v>
                </c:pt>
                <c:pt idx="85">
                  <c:v>0.25600000000000001</c:v>
                </c:pt>
                <c:pt idx="86">
                  <c:v>0.40699999999999997</c:v>
                </c:pt>
                <c:pt idx="87">
                  <c:v>-2.1000000000000001E-2</c:v>
                </c:pt>
                <c:pt idx="88">
                  <c:v>8.5999999999999993E-2</c:v>
                </c:pt>
                <c:pt idx="89">
                  <c:v>-6.4000000000000001E-2</c:v>
                </c:pt>
                <c:pt idx="90">
                  <c:v>2.8000000000000001E-2</c:v>
                </c:pt>
                <c:pt idx="91">
                  <c:v>1.2999999999999999E-2</c:v>
                </c:pt>
                <c:pt idx="92">
                  <c:v>-0.125</c:v>
                </c:pt>
                <c:pt idx="93">
                  <c:v>0.222</c:v>
                </c:pt>
                <c:pt idx="94">
                  <c:v>0.27</c:v>
                </c:pt>
                <c:pt idx="95">
                  <c:v>0.159</c:v>
                </c:pt>
                <c:pt idx="96">
                  <c:v>-0.39900000000000002</c:v>
                </c:pt>
                <c:pt idx="97">
                  <c:v>-0.51</c:v>
                </c:pt>
                <c:pt idx="98">
                  <c:v>-0.13200000000000001</c:v>
                </c:pt>
                <c:pt idx="99">
                  <c:v>0.17599999999999999</c:v>
                </c:pt>
                <c:pt idx="100">
                  <c:v>7.1999999999999995E-2</c:v>
                </c:pt>
                <c:pt idx="101">
                  <c:v>0.41799999999999998</c:v>
                </c:pt>
                <c:pt idx="102">
                  <c:v>0.126</c:v>
                </c:pt>
                <c:pt idx="103">
                  <c:v>0.24</c:v>
                </c:pt>
                <c:pt idx="104">
                  <c:v>-0.40200000000000002</c:v>
                </c:pt>
                <c:pt idx="105">
                  <c:v>-0.63200000000000001</c:v>
                </c:pt>
                <c:pt idx="106">
                  <c:v>-0.251</c:v>
                </c:pt>
                <c:pt idx="107">
                  <c:v>-0.23699999999999999</c:v>
                </c:pt>
                <c:pt idx="108">
                  <c:v>0.18</c:v>
                </c:pt>
                <c:pt idx="109">
                  <c:v>6.0000000000000001E-3</c:v>
                </c:pt>
                <c:pt idx="110">
                  <c:v>-8.1000000000000003E-2</c:v>
                </c:pt>
                <c:pt idx="111">
                  <c:v>-5.0999999999999997E-2</c:v>
                </c:pt>
                <c:pt idx="112">
                  <c:v>-0.86399999999999999</c:v>
                </c:pt>
                <c:pt idx="113">
                  <c:v>-0.29599999999999999</c:v>
                </c:pt>
                <c:pt idx="114">
                  <c:v>-6.5000000000000002E-2</c:v>
                </c:pt>
                <c:pt idx="115">
                  <c:v>-0.111</c:v>
                </c:pt>
                <c:pt idx="116">
                  <c:v>-0.70299999999999996</c:v>
                </c:pt>
                <c:pt idx="117">
                  <c:v>-0.33100000000000002</c:v>
                </c:pt>
                <c:pt idx="118">
                  <c:v>-0.63900000000000001</c:v>
                </c:pt>
                <c:pt idx="119">
                  <c:v>-0.93700000000000006</c:v>
                </c:pt>
                <c:pt idx="120">
                  <c:v>-0.621</c:v>
                </c:pt>
                <c:pt idx="121">
                  <c:v>-1.103</c:v>
                </c:pt>
                <c:pt idx="122">
                  <c:v>-1.4279999999999999</c:v>
                </c:pt>
                <c:pt idx="123">
                  <c:v>-0.88400000000000001</c:v>
                </c:pt>
                <c:pt idx="124">
                  <c:v>-0.86399999999999999</c:v>
                </c:pt>
                <c:pt idx="125">
                  <c:v>-0.30099999999999999</c:v>
                </c:pt>
                <c:pt idx="126">
                  <c:v>-0.30499999999999999</c:v>
                </c:pt>
                <c:pt idx="127">
                  <c:v>-0.158</c:v>
                </c:pt>
                <c:pt idx="128">
                  <c:v>5.3999999999999999E-2</c:v>
                </c:pt>
                <c:pt idx="129">
                  <c:v>0.13600000000000001</c:v>
                </c:pt>
                <c:pt idx="130">
                  <c:v>0.14000000000000001</c:v>
                </c:pt>
                <c:pt idx="131">
                  <c:v>0.20499999999999999</c:v>
                </c:pt>
                <c:pt idx="132">
                  <c:v>0.17</c:v>
                </c:pt>
                <c:pt idx="133">
                  <c:v>0.26200000000000001</c:v>
                </c:pt>
                <c:pt idx="134">
                  <c:v>0.35399999999999998</c:v>
                </c:pt>
                <c:pt idx="135">
                  <c:v>0.35599999999999998</c:v>
                </c:pt>
                <c:pt idx="136">
                  <c:v>0.441</c:v>
                </c:pt>
                <c:pt idx="137">
                  <c:v>0.33900000000000002</c:v>
                </c:pt>
                <c:pt idx="138">
                  <c:v>0.20300000000000001</c:v>
                </c:pt>
                <c:pt idx="139">
                  <c:v>8.1000000000000003E-2</c:v>
                </c:pt>
                <c:pt idx="140">
                  <c:v>8.1000000000000003E-2</c:v>
                </c:pt>
                <c:pt idx="141">
                  <c:v>3.4000000000000002E-2</c:v>
                </c:pt>
                <c:pt idx="142">
                  <c:v>1.4999999999999999E-2</c:v>
                </c:pt>
                <c:pt idx="143">
                  <c:v>5.0999999999999997E-2</c:v>
                </c:pt>
              </c:numCache>
            </c:numRef>
          </c:val>
          <c:smooth val="0"/>
          <c:extLst>
            <c:ext xmlns:c16="http://schemas.microsoft.com/office/drawing/2014/chart" uri="{C3380CC4-5D6E-409C-BE32-E72D297353CC}">
              <c16:uniqueId val="{00000001-B5D3-2241-A61E-DCF10A2DF5D7}"/>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2"/>
          <c:min val="-2.5"/>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
          <c:y val="0.25"/>
          <c:w val="0.76"/>
          <c:h val="0.55000000000000004"/>
        </c:manualLayout>
      </c:layout>
      <c:lineChart>
        <c:grouping val="standard"/>
        <c:varyColors val="0"/>
        <c:ser>
          <c:idx val="0"/>
          <c:order val="0"/>
          <c:tx>
            <c:strRef>
              <c:f>'図17_分析8_典型日'!$C$1</c:f>
              <c:strCache>
                <c:ptCount val="1"/>
                <c:pt idx="0">
                  <c:v>屋上の気温</c:v>
                </c:pt>
              </c:strCache>
            </c:strRef>
          </c:tx>
          <c:spPr>
            <a:ln w="15875" cap="rnd">
              <a:solidFill>
                <a:srgbClr val="ED7D31"/>
              </a:solidFill>
              <a:round/>
            </a:ln>
          </c:spPr>
          <c:marker>
            <c:symbol val="none"/>
          </c:marker>
          <c:cat>
            <c:strRef>
              <c:f>'図17_分析8_典型日'!$B$2:$B$145</c:f>
              <c:strCache>
                <c:ptCount val="144"/>
                <c:pt idx="0">
                  <c:v>0:00</c:v>
                </c:pt>
                <c:pt idx="18">
                  <c:v>3:00</c:v>
                </c:pt>
                <c:pt idx="36">
                  <c:v>6:00</c:v>
                </c:pt>
                <c:pt idx="54">
                  <c:v>9:00</c:v>
                </c:pt>
                <c:pt idx="72">
                  <c:v>12:00</c:v>
                </c:pt>
                <c:pt idx="90">
                  <c:v>15:00</c:v>
                </c:pt>
                <c:pt idx="108">
                  <c:v>18:00</c:v>
                </c:pt>
                <c:pt idx="126">
                  <c:v>21:00</c:v>
                </c:pt>
              </c:strCache>
            </c:strRef>
          </c:cat>
          <c:val>
            <c:numRef>
              <c:f>'図17_分析8_典型日'!$C$2:$C$145</c:f>
              <c:numCache>
                <c:formatCode>General</c:formatCode>
                <c:ptCount val="144"/>
                <c:pt idx="0">
                  <c:v>23.81</c:v>
                </c:pt>
                <c:pt idx="1">
                  <c:v>23.7</c:v>
                </c:pt>
                <c:pt idx="2">
                  <c:v>23.7</c:v>
                </c:pt>
                <c:pt idx="3">
                  <c:v>23.7</c:v>
                </c:pt>
                <c:pt idx="4">
                  <c:v>23.68</c:v>
                </c:pt>
                <c:pt idx="5">
                  <c:v>23.64</c:v>
                </c:pt>
                <c:pt idx="6">
                  <c:v>23.7</c:v>
                </c:pt>
                <c:pt idx="7">
                  <c:v>23.7</c:v>
                </c:pt>
                <c:pt idx="8">
                  <c:v>23.72</c:v>
                </c:pt>
                <c:pt idx="9">
                  <c:v>23.72</c:v>
                </c:pt>
                <c:pt idx="10">
                  <c:v>23.71</c:v>
                </c:pt>
                <c:pt idx="11">
                  <c:v>23.75</c:v>
                </c:pt>
                <c:pt idx="12">
                  <c:v>23.65</c:v>
                </c:pt>
                <c:pt idx="13">
                  <c:v>23.66</c:v>
                </c:pt>
                <c:pt idx="14">
                  <c:v>23.61</c:v>
                </c:pt>
                <c:pt idx="15">
                  <c:v>23.63</c:v>
                </c:pt>
                <c:pt idx="16">
                  <c:v>23.61</c:v>
                </c:pt>
                <c:pt idx="17">
                  <c:v>23.53</c:v>
                </c:pt>
                <c:pt idx="18">
                  <c:v>23.58</c:v>
                </c:pt>
                <c:pt idx="19">
                  <c:v>23.61</c:v>
                </c:pt>
                <c:pt idx="20">
                  <c:v>23.5</c:v>
                </c:pt>
                <c:pt idx="21">
                  <c:v>23.5</c:v>
                </c:pt>
                <c:pt idx="22">
                  <c:v>23.54</c:v>
                </c:pt>
                <c:pt idx="23">
                  <c:v>23.57</c:v>
                </c:pt>
                <c:pt idx="24">
                  <c:v>23.6</c:v>
                </c:pt>
                <c:pt idx="25">
                  <c:v>23.667000000000002</c:v>
                </c:pt>
                <c:pt idx="26">
                  <c:v>23.52</c:v>
                </c:pt>
                <c:pt idx="27">
                  <c:v>23.52</c:v>
                </c:pt>
                <c:pt idx="28">
                  <c:v>23.48</c:v>
                </c:pt>
                <c:pt idx="29">
                  <c:v>23.28</c:v>
                </c:pt>
                <c:pt idx="30">
                  <c:v>23.21</c:v>
                </c:pt>
                <c:pt idx="31">
                  <c:v>23.26</c:v>
                </c:pt>
                <c:pt idx="32">
                  <c:v>23.25</c:v>
                </c:pt>
                <c:pt idx="33">
                  <c:v>23.37</c:v>
                </c:pt>
                <c:pt idx="34">
                  <c:v>23.38</c:v>
                </c:pt>
                <c:pt idx="35">
                  <c:v>23.28</c:v>
                </c:pt>
                <c:pt idx="36">
                  <c:v>23.35</c:v>
                </c:pt>
                <c:pt idx="37">
                  <c:v>23.29</c:v>
                </c:pt>
                <c:pt idx="38">
                  <c:v>23.34</c:v>
                </c:pt>
                <c:pt idx="39">
                  <c:v>23.52</c:v>
                </c:pt>
                <c:pt idx="40">
                  <c:v>23.72</c:v>
                </c:pt>
                <c:pt idx="41">
                  <c:v>23.63</c:v>
                </c:pt>
                <c:pt idx="42">
                  <c:v>23.79</c:v>
                </c:pt>
                <c:pt idx="43">
                  <c:v>24</c:v>
                </c:pt>
                <c:pt idx="44">
                  <c:v>24.05</c:v>
                </c:pt>
                <c:pt idx="45">
                  <c:v>23.83</c:v>
                </c:pt>
                <c:pt idx="46">
                  <c:v>24.01</c:v>
                </c:pt>
                <c:pt idx="47">
                  <c:v>24.21</c:v>
                </c:pt>
                <c:pt idx="48">
                  <c:v>24.08</c:v>
                </c:pt>
                <c:pt idx="49">
                  <c:v>24.34</c:v>
                </c:pt>
                <c:pt idx="50">
                  <c:v>24.74</c:v>
                </c:pt>
                <c:pt idx="51">
                  <c:v>25.27</c:v>
                </c:pt>
                <c:pt idx="52">
                  <c:v>25.92</c:v>
                </c:pt>
                <c:pt idx="53">
                  <c:v>25.94</c:v>
                </c:pt>
                <c:pt idx="54">
                  <c:v>26.86</c:v>
                </c:pt>
                <c:pt idx="55">
                  <c:v>27.51</c:v>
                </c:pt>
                <c:pt idx="56">
                  <c:v>27.53</c:v>
                </c:pt>
                <c:pt idx="57">
                  <c:v>27.84</c:v>
                </c:pt>
                <c:pt idx="58">
                  <c:v>27.88</c:v>
                </c:pt>
                <c:pt idx="59">
                  <c:v>28.24</c:v>
                </c:pt>
                <c:pt idx="60">
                  <c:v>29.11</c:v>
                </c:pt>
                <c:pt idx="61">
                  <c:v>29.06</c:v>
                </c:pt>
                <c:pt idx="62">
                  <c:v>29.24</c:v>
                </c:pt>
                <c:pt idx="63">
                  <c:v>29.32</c:v>
                </c:pt>
                <c:pt idx="64">
                  <c:v>29.39</c:v>
                </c:pt>
                <c:pt idx="65">
                  <c:v>29.77</c:v>
                </c:pt>
                <c:pt idx="66">
                  <c:v>29.3</c:v>
                </c:pt>
                <c:pt idx="67">
                  <c:v>29.44</c:v>
                </c:pt>
                <c:pt idx="68">
                  <c:v>29.56</c:v>
                </c:pt>
                <c:pt idx="69">
                  <c:v>30.08</c:v>
                </c:pt>
                <c:pt idx="70">
                  <c:v>30.32</c:v>
                </c:pt>
                <c:pt idx="71">
                  <c:v>29.78</c:v>
                </c:pt>
                <c:pt idx="72">
                  <c:v>29.55</c:v>
                </c:pt>
                <c:pt idx="73">
                  <c:v>29.73</c:v>
                </c:pt>
                <c:pt idx="74">
                  <c:v>29.73</c:v>
                </c:pt>
                <c:pt idx="75">
                  <c:v>30.38</c:v>
                </c:pt>
                <c:pt idx="76">
                  <c:v>30.98</c:v>
                </c:pt>
                <c:pt idx="77">
                  <c:v>31.18</c:v>
                </c:pt>
                <c:pt idx="78">
                  <c:v>31.27</c:v>
                </c:pt>
                <c:pt idx="79">
                  <c:v>31.33</c:v>
                </c:pt>
                <c:pt idx="80">
                  <c:v>31.12</c:v>
                </c:pt>
                <c:pt idx="81">
                  <c:v>31.43</c:v>
                </c:pt>
                <c:pt idx="82">
                  <c:v>30.8</c:v>
                </c:pt>
                <c:pt idx="83">
                  <c:v>30.96</c:v>
                </c:pt>
                <c:pt idx="84">
                  <c:v>31.32</c:v>
                </c:pt>
                <c:pt idx="85">
                  <c:v>31.42</c:v>
                </c:pt>
                <c:pt idx="86">
                  <c:v>31.37</c:v>
                </c:pt>
                <c:pt idx="87">
                  <c:v>31.15</c:v>
                </c:pt>
                <c:pt idx="88">
                  <c:v>31.13</c:v>
                </c:pt>
                <c:pt idx="89">
                  <c:v>30.47</c:v>
                </c:pt>
                <c:pt idx="90">
                  <c:v>30.59</c:v>
                </c:pt>
                <c:pt idx="91">
                  <c:v>30.47</c:v>
                </c:pt>
                <c:pt idx="92">
                  <c:v>30.28</c:v>
                </c:pt>
                <c:pt idx="93">
                  <c:v>30.34</c:v>
                </c:pt>
                <c:pt idx="94">
                  <c:v>30.7</c:v>
                </c:pt>
                <c:pt idx="95">
                  <c:v>30.13</c:v>
                </c:pt>
                <c:pt idx="96">
                  <c:v>29.85</c:v>
                </c:pt>
                <c:pt idx="97">
                  <c:v>29.73</c:v>
                </c:pt>
                <c:pt idx="98">
                  <c:v>29.89</c:v>
                </c:pt>
                <c:pt idx="99">
                  <c:v>29.85</c:v>
                </c:pt>
                <c:pt idx="100">
                  <c:v>29.73</c:v>
                </c:pt>
                <c:pt idx="101">
                  <c:v>29.43</c:v>
                </c:pt>
                <c:pt idx="102">
                  <c:v>29.32</c:v>
                </c:pt>
                <c:pt idx="103">
                  <c:v>29.14</c:v>
                </c:pt>
                <c:pt idx="104">
                  <c:v>28.96</c:v>
                </c:pt>
                <c:pt idx="105">
                  <c:v>28.57</c:v>
                </c:pt>
                <c:pt idx="106">
                  <c:v>28.56</c:v>
                </c:pt>
                <c:pt idx="107">
                  <c:v>28.38</c:v>
                </c:pt>
                <c:pt idx="108">
                  <c:v>28.53</c:v>
                </c:pt>
                <c:pt idx="109">
                  <c:v>28.35</c:v>
                </c:pt>
                <c:pt idx="110">
                  <c:v>28.13</c:v>
                </c:pt>
                <c:pt idx="111">
                  <c:v>28.07</c:v>
                </c:pt>
                <c:pt idx="112">
                  <c:v>27.97</c:v>
                </c:pt>
                <c:pt idx="113">
                  <c:v>27.75</c:v>
                </c:pt>
                <c:pt idx="114">
                  <c:v>27.87</c:v>
                </c:pt>
                <c:pt idx="115">
                  <c:v>27.63</c:v>
                </c:pt>
                <c:pt idx="116">
                  <c:v>27.38</c:v>
                </c:pt>
                <c:pt idx="117">
                  <c:v>27.28</c:v>
                </c:pt>
                <c:pt idx="118">
                  <c:v>27.28</c:v>
                </c:pt>
                <c:pt idx="119">
                  <c:v>27.22</c:v>
                </c:pt>
                <c:pt idx="120">
                  <c:v>27.14</c:v>
                </c:pt>
                <c:pt idx="121">
                  <c:v>27.08</c:v>
                </c:pt>
                <c:pt idx="122">
                  <c:v>27.14</c:v>
                </c:pt>
                <c:pt idx="123">
                  <c:v>27.06</c:v>
                </c:pt>
                <c:pt idx="124">
                  <c:v>26.84</c:v>
                </c:pt>
                <c:pt idx="125">
                  <c:v>26.46</c:v>
                </c:pt>
                <c:pt idx="126">
                  <c:v>26.37</c:v>
                </c:pt>
                <c:pt idx="127">
                  <c:v>26.31</c:v>
                </c:pt>
                <c:pt idx="128">
                  <c:v>26.32</c:v>
                </c:pt>
                <c:pt idx="129">
                  <c:v>26.28</c:v>
                </c:pt>
                <c:pt idx="130">
                  <c:v>26.2</c:v>
                </c:pt>
                <c:pt idx="131">
                  <c:v>26.24</c:v>
                </c:pt>
                <c:pt idx="132">
                  <c:v>26.12</c:v>
                </c:pt>
                <c:pt idx="133">
                  <c:v>26.11</c:v>
                </c:pt>
                <c:pt idx="134">
                  <c:v>26.07</c:v>
                </c:pt>
                <c:pt idx="135">
                  <c:v>26.05</c:v>
                </c:pt>
                <c:pt idx="136">
                  <c:v>26.05</c:v>
                </c:pt>
                <c:pt idx="137">
                  <c:v>26.04</c:v>
                </c:pt>
                <c:pt idx="138">
                  <c:v>25.98</c:v>
                </c:pt>
                <c:pt idx="139">
                  <c:v>25.91</c:v>
                </c:pt>
                <c:pt idx="140">
                  <c:v>25.9</c:v>
                </c:pt>
                <c:pt idx="141">
                  <c:v>25.9</c:v>
                </c:pt>
                <c:pt idx="142">
                  <c:v>25.9</c:v>
                </c:pt>
                <c:pt idx="143">
                  <c:v>25.9</c:v>
                </c:pt>
              </c:numCache>
            </c:numRef>
          </c:val>
          <c:smooth val="0"/>
          <c:extLst>
            <c:ext xmlns:c16="http://schemas.microsoft.com/office/drawing/2014/chart" uri="{C3380CC4-5D6E-409C-BE32-E72D297353CC}">
              <c16:uniqueId val="{00000000-F095-764E-8830-5385AC182C78}"/>
            </c:ext>
          </c:extLst>
        </c:ser>
        <c:ser>
          <c:idx val="1"/>
          <c:order val="1"/>
          <c:tx>
            <c:strRef>
              <c:f>'図17_分析8_典型日'!$D$1</c:f>
              <c:strCache>
                <c:ptCount val="1"/>
                <c:pt idx="0">
                  <c:v>列3</c:v>
                </c:pt>
              </c:strCache>
            </c:strRef>
          </c:tx>
          <c:spPr>
            <a:ln w="22225" cap="rnd">
              <a:solidFill>
                <a:srgbClr val="5E6B7A"/>
              </a:solidFill>
              <a:round/>
            </a:ln>
          </c:spPr>
          <c:marker>
            <c:symbol val="none"/>
          </c:marker>
          <c:cat>
            <c:strRef>
              <c:f>'図17_分析8_典型日'!$B$2:$B$145</c:f>
              <c:strCache>
                <c:ptCount val="144"/>
                <c:pt idx="0">
                  <c:v>0:00</c:v>
                </c:pt>
                <c:pt idx="18">
                  <c:v>3:00</c:v>
                </c:pt>
                <c:pt idx="36">
                  <c:v>6:00</c:v>
                </c:pt>
                <c:pt idx="54">
                  <c:v>9:00</c:v>
                </c:pt>
                <c:pt idx="72">
                  <c:v>12:00</c:v>
                </c:pt>
                <c:pt idx="90">
                  <c:v>15:00</c:v>
                </c:pt>
                <c:pt idx="108">
                  <c:v>18:00</c:v>
                </c:pt>
                <c:pt idx="126">
                  <c:v>21:00</c:v>
                </c:pt>
              </c:strCache>
            </c:strRef>
          </c:cat>
          <c:val>
            <c:numRef>
              <c:f>'図17_分析8_典型日'!$D$2:$D$145</c:f>
              <c:numCache>
                <c:formatCode>General</c:formatCode>
                <c:ptCount val="144"/>
                <c:pt idx="0">
                  <c:v>23.597999999999999</c:v>
                </c:pt>
                <c:pt idx="1">
                  <c:v>23.5</c:v>
                </c:pt>
                <c:pt idx="2">
                  <c:v>23.390999999999998</c:v>
                </c:pt>
                <c:pt idx="3">
                  <c:v>23.384</c:v>
                </c:pt>
                <c:pt idx="4">
                  <c:v>23.32</c:v>
                </c:pt>
                <c:pt idx="5">
                  <c:v>23.38</c:v>
                </c:pt>
                <c:pt idx="6">
                  <c:v>23.398</c:v>
                </c:pt>
                <c:pt idx="7">
                  <c:v>23.428999999999998</c:v>
                </c:pt>
                <c:pt idx="8">
                  <c:v>23.562999999999999</c:v>
                </c:pt>
                <c:pt idx="9">
                  <c:v>23.596</c:v>
                </c:pt>
                <c:pt idx="10">
                  <c:v>23.62</c:v>
                </c:pt>
                <c:pt idx="11">
                  <c:v>23.577999999999999</c:v>
                </c:pt>
                <c:pt idx="12">
                  <c:v>23.527000000000001</c:v>
                </c:pt>
                <c:pt idx="13">
                  <c:v>23.562999999999999</c:v>
                </c:pt>
                <c:pt idx="14">
                  <c:v>23.548999999999999</c:v>
                </c:pt>
                <c:pt idx="15">
                  <c:v>23.591999999999999</c:v>
                </c:pt>
                <c:pt idx="16">
                  <c:v>23.55</c:v>
                </c:pt>
                <c:pt idx="17">
                  <c:v>23.472000000000001</c:v>
                </c:pt>
                <c:pt idx="18">
                  <c:v>23.503</c:v>
                </c:pt>
                <c:pt idx="19">
                  <c:v>23.401</c:v>
                </c:pt>
                <c:pt idx="20">
                  <c:v>23.437999999999999</c:v>
                </c:pt>
                <c:pt idx="21">
                  <c:v>23.44</c:v>
                </c:pt>
                <c:pt idx="22">
                  <c:v>23.439</c:v>
                </c:pt>
                <c:pt idx="23">
                  <c:v>23.468</c:v>
                </c:pt>
                <c:pt idx="24">
                  <c:v>23.544</c:v>
                </c:pt>
                <c:pt idx="25">
                  <c:v>23.518999999999998</c:v>
                </c:pt>
                <c:pt idx="26">
                  <c:v>23.42</c:v>
                </c:pt>
                <c:pt idx="27">
                  <c:v>23.38</c:v>
                </c:pt>
                <c:pt idx="28">
                  <c:v>23.359000000000002</c:v>
                </c:pt>
                <c:pt idx="29">
                  <c:v>23.228999999999999</c:v>
                </c:pt>
                <c:pt idx="30">
                  <c:v>23.251999999999999</c:v>
                </c:pt>
                <c:pt idx="31">
                  <c:v>23.234000000000002</c:v>
                </c:pt>
                <c:pt idx="32">
                  <c:v>23.297999999999998</c:v>
                </c:pt>
                <c:pt idx="33">
                  <c:v>23.300999999999998</c:v>
                </c:pt>
                <c:pt idx="34">
                  <c:v>23.292000000000002</c:v>
                </c:pt>
                <c:pt idx="35">
                  <c:v>23.329000000000001</c:v>
                </c:pt>
                <c:pt idx="36">
                  <c:v>23.477</c:v>
                </c:pt>
                <c:pt idx="37">
                  <c:v>23.498000000000001</c:v>
                </c:pt>
                <c:pt idx="38">
                  <c:v>23.603999999999999</c:v>
                </c:pt>
                <c:pt idx="39">
                  <c:v>23.843</c:v>
                </c:pt>
                <c:pt idx="40">
                  <c:v>23.992000000000001</c:v>
                </c:pt>
                <c:pt idx="41">
                  <c:v>23.920999999999999</c:v>
                </c:pt>
                <c:pt idx="42">
                  <c:v>24.06</c:v>
                </c:pt>
                <c:pt idx="43">
                  <c:v>24.225999999999999</c:v>
                </c:pt>
                <c:pt idx="44">
                  <c:v>24.28</c:v>
                </c:pt>
                <c:pt idx="45">
                  <c:v>24.274000000000001</c:v>
                </c:pt>
                <c:pt idx="46">
                  <c:v>24.463999999999999</c:v>
                </c:pt>
                <c:pt idx="47">
                  <c:v>24.721</c:v>
                </c:pt>
                <c:pt idx="48">
                  <c:v>24.603000000000002</c:v>
                </c:pt>
                <c:pt idx="49">
                  <c:v>25.469000000000001</c:v>
                </c:pt>
                <c:pt idx="50">
                  <c:v>26.222000000000001</c:v>
                </c:pt>
                <c:pt idx="51">
                  <c:v>27.597000000000001</c:v>
                </c:pt>
                <c:pt idx="52">
                  <c:v>28.071999999999999</c:v>
                </c:pt>
                <c:pt idx="53">
                  <c:v>29.177</c:v>
                </c:pt>
                <c:pt idx="54">
                  <c:v>29.992999999999999</c:v>
                </c:pt>
                <c:pt idx="55">
                  <c:v>30.488</c:v>
                </c:pt>
                <c:pt idx="56">
                  <c:v>29.689</c:v>
                </c:pt>
                <c:pt idx="57">
                  <c:v>28.998999999999999</c:v>
                </c:pt>
                <c:pt idx="58">
                  <c:v>27.821000000000002</c:v>
                </c:pt>
                <c:pt idx="59">
                  <c:v>28.792999999999999</c:v>
                </c:pt>
                <c:pt idx="60">
                  <c:v>28.9</c:v>
                </c:pt>
                <c:pt idx="61">
                  <c:v>29.225999999999999</c:v>
                </c:pt>
                <c:pt idx="62">
                  <c:v>28.893000000000001</c:v>
                </c:pt>
                <c:pt idx="63">
                  <c:v>28.811</c:v>
                </c:pt>
                <c:pt idx="64">
                  <c:v>28.99</c:v>
                </c:pt>
                <c:pt idx="65">
                  <c:v>28.992999999999999</c:v>
                </c:pt>
                <c:pt idx="66">
                  <c:v>29.26</c:v>
                </c:pt>
                <c:pt idx="67">
                  <c:v>29.594000000000001</c:v>
                </c:pt>
                <c:pt idx="68">
                  <c:v>29.225999999999999</c:v>
                </c:pt>
                <c:pt idx="69">
                  <c:v>29.373000000000001</c:v>
                </c:pt>
                <c:pt idx="70">
                  <c:v>29.286999999999999</c:v>
                </c:pt>
                <c:pt idx="71">
                  <c:v>29.67</c:v>
                </c:pt>
                <c:pt idx="72">
                  <c:v>29.286999999999999</c:v>
                </c:pt>
                <c:pt idx="73">
                  <c:v>29.585999999999999</c:v>
                </c:pt>
                <c:pt idx="74">
                  <c:v>29.908000000000001</c:v>
                </c:pt>
                <c:pt idx="75">
                  <c:v>30.077999999999999</c:v>
                </c:pt>
                <c:pt idx="76">
                  <c:v>29.823</c:v>
                </c:pt>
                <c:pt idx="77">
                  <c:v>30.419</c:v>
                </c:pt>
                <c:pt idx="78">
                  <c:v>30.827000000000002</c:v>
                </c:pt>
                <c:pt idx="79">
                  <c:v>30.54</c:v>
                </c:pt>
                <c:pt idx="80">
                  <c:v>30.751999999999999</c:v>
                </c:pt>
                <c:pt idx="81">
                  <c:v>31.167999999999999</c:v>
                </c:pt>
                <c:pt idx="82">
                  <c:v>30.541</c:v>
                </c:pt>
                <c:pt idx="83">
                  <c:v>30.626000000000001</c:v>
                </c:pt>
                <c:pt idx="84">
                  <c:v>30.896999999999998</c:v>
                </c:pt>
                <c:pt idx="85">
                  <c:v>31.244</c:v>
                </c:pt>
                <c:pt idx="86">
                  <c:v>30.786999999999999</c:v>
                </c:pt>
                <c:pt idx="87">
                  <c:v>30.440999999999999</c:v>
                </c:pt>
                <c:pt idx="88">
                  <c:v>30.84</c:v>
                </c:pt>
                <c:pt idx="89">
                  <c:v>30.693000000000001</c:v>
                </c:pt>
                <c:pt idx="90">
                  <c:v>30.748999999999999</c:v>
                </c:pt>
                <c:pt idx="91">
                  <c:v>30.512</c:v>
                </c:pt>
                <c:pt idx="92">
                  <c:v>30.224</c:v>
                </c:pt>
                <c:pt idx="93">
                  <c:v>30.262</c:v>
                </c:pt>
                <c:pt idx="94">
                  <c:v>30.477</c:v>
                </c:pt>
                <c:pt idx="95">
                  <c:v>30.282</c:v>
                </c:pt>
                <c:pt idx="96">
                  <c:v>30.152000000000001</c:v>
                </c:pt>
                <c:pt idx="97">
                  <c:v>30.236000000000001</c:v>
                </c:pt>
                <c:pt idx="98">
                  <c:v>29.989000000000001</c:v>
                </c:pt>
                <c:pt idx="99">
                  <c:v>30.140999999999998</c:v>
                </c:pt>
                <c:pt idx="100">
                  <c:v>29.707999999999998</c:v>
                </c:pt>
                <c:pt idx="101">
                  <c:v>29.657</c:v>
                </c:pt>
                <c:pt idx="102">
                  <c:v>29.734000000000002</c:v>
                </c:pt>
                <c:pt idx="103">
                  <c:v>29.8</c:v>
                </c:pt>
                <c:pt idx="104">
                  <c:v>29.581</c:v>
                </c:pt>
                <c:pt idx="105">
                  <c:v>29.236000000000001</c:v>
                </c:pt>
                <c:pt idx="106">
                  <c:v>29.071000000000002</c:v>
                </c:pt>
                <c:pt idx="107">
                  <c:v>29.062000000000001</c:v>
                </c:pt>
                <c:pt idx="108">
                  <c:v>28.780999999999999</c:v>
                </c:pt>
                <c:pt idx="109">
                  <c:v>28.718</c:v>
                </c:pt>
                <c:pt idx="110">
                  <c:v>28.42</c:v>
                </c:pt>
                <c:pt idx="111">
                  <c:v>28.46</c:v>
                </c:pt>
                <c:pt idx="112">
                  <c:v>28.23</c:v>
                </c:pt>
                <c:pt idx="113">
                  <c:v>28.231999999999999</c:v>
                </c:pt>
                <c:pt idx="114">
                  <c:v>28.178999999999998</c:v>
                </c:pt>
                <c:pt idx="115">
                  <c:v>28.186</c:v>
                </c:pt>
                <c:pt idx="116">
                  <c:v>27.995999999999999</c:v>
                </c:pt>
                <c:pt idx="117">
                  <c:v>27.477</c:v>
                </c:pt>
                <c:pt idx="118">
                  <c:v>27.556999999999999</c:v>
                </c:pt>
                <c:pt idx="119">
                  <c:v>28.059000000000001</c:v>
                </c:pt>
                <c:pt idx="120">
                  <c:v>27.696999999999999</c:v>
                </c:pt>
                <c:pt idx="121">
                  <c:v>27.376000000000001</c:v>
                </c:pt>
                <c:pt idx="122">
                  <c:v>27.36</c:v>
                </c:pt>
                <c:pt idx="123">
                  <c:v>27.295999999999999</c:v>
                </c:pt>
                <c:pt idx="124">
                  <c:v>27.204000000000001</c:v>
                </c:pt>
                <c:pt idx="125">
                  <c:v>26.992999999999999</c:v>
                </c:pt>
                <c:pt idx="126">
                  <c:v>26.57</c:v>
                </c:pt>
                <c:pt idx="127">
                  <c:v>26.405999999999999</c:v>
                </c:pt>
                <c:pt idx="128">
                  <c:v>26.244</c:v>
                </c:pt>
                <c:pt idx="129">
                  <c:v>26.172000000000001</c:v>
                </c:pt>
                <c:pt idx="130">
                  <c:v>26.108000000000001</c:v>
                </c:pt>
                <c:pt idx="131">
                  <c:v>26.059000000000001</c:v>
                </c:pt>
                <c:pt idx="132">
                  <c:v>25.956</c:v>
                </c:pt>
                <c:pt idx="133">
                  <c:v>25.901</c:v>
                </c:pt>
                <c:pt idx="134">
                  <c:v>25.899000000000001</c:v>
                </c:pt>
                <c:pt idx="135">
                  <c:v>25.863</c:v>
                </c:pt>
                <c:pt idx="136">
                  <c:v>25.823</c:v>
                </c:pt>
                <c:pt idx="137">
                  <c:v>25.786999999999999</c:v>
                </c:pt>
                <c:pt idx="138">
                  <c:v>25.71</c:v>
                </c:pt>
                <c:pt idx="139">
                  <c:v>25.670999999999999</c:v>
                </c:pt>
                <c:pt idx="140">
                  <c:v>25.632999999999999</c:v>
                </c:pt>
                <c:pt idx="141">
                  <c:v>25.609000000000002</c:v>
                </c:pt>
                <c:pt idx="142">
                  <c:v>25.62</c:v>
                </c:pt>
                <c:pt idx="143">
                  <c:v>25.614000000000001</c:v>
                </c:pt>
              </c:numCache>
            </c:numRef>
          </c:val>
          <c:smooth val="0"/>
          <c:extLst>
            <c:ext xmlns:c16="http://schemas.microsoft.com/office/drawing/2014/chart" uri="{C3380CC4-5D6E-409C-BE32-E72D297353CC}">
              <c16:uniqueId val="{00000001-F095-764E-8830-5385AC182C78}"/>
            </c:ext>
          </c:extLst>
        </c:ser>
        <c:ser>
          <c:idx val="2"/>
          <c:order val="2"/>
          <c:tx>
            <c:strRef>
              <c:f>'図17_分析8_典型日'!$E$1</c:f>
              <c:strCache>
                <c:ptCount val="1"/>
                <c:pt idx="0">
                  <c:v>列8</c:v>
                </c:pt>
              </c:strCache>
            </c:strRef>
          </c:tx>
          <c:spPr>
            <a:ln w="22225" cap="rnd">
              <a:solidFill>
                <a:srgbClr val="01B8AA"/>
              </a:solidFill>
              <a:round/>
            </a:ln>
          </c:spPr>
          <c:marker>
            <c:symbol val="none"/>
          </c:marker>
          <c:cat>
            <c:strRef>
              <c:f>'図17_分析8_典型日'!$B$2:$B$145</c:f>
              <c:strCache>
                <c:ptCount val="144"/>
                <c:pt idx="0">
                  <c:v>0:00</c:v>
                </c:pt>
                <c:pt idx="18">
                  <c:v>3:00</c:v>
                </c:pt>
                <c:pt idx="36">
                  <c:v>6:00</c:v>
                </c:pt>
                <c:pt idx="54">
                  <c:v>9:00</c:v>
                </c:pt>
                <c:pt idx="72">
                  <c:v>12:00</c:v>
                </c:pt>
                <c:pt idx="90">
                  <c:v>15:00</c:v>
                </c:pt>
                <c:pt idx="108">
                  <c:v>18:00</c:v>
                </c:pt>
                <c:pt idx="126">
                  <c:v>21:00</c:v>
                </c:pt>
              </c:strCache>
            </c:strRef>
          </c:cat>
          <c:val>
            <c:numRef>
              <c:f>'図17_分析8_典型日'!$E$2:$E$145</c:f>
              <c:numCache>
                <c:formatCode>General</c:formatCode>
                <c:ptCount val="144"/>
                <c:pt idx="0">
                  <c:v>23.117999999999999</c:v>
                </c:pt>
                <c:pt idx="1">
                  <c:v>22.959</c:v>
                </c:pt>
                <c:pt idx="2">
                  <c:v>22.904</c:v>
                </c:pt>
                <c:pt idx="3">
                  <c:v>22.919</c:v>
                </c:pt>
                <c:pt idx="4">
                  <c:v>22.867000000000001</c:v>
                </c:pt>
                <c:pt idx="5">
                  <c:v>22.904</c:v>
                </c:pt>
                <c:pt idx="6">
                  <c:v>22.919</c:v>
                </c:pt>
                <c:pt idx="7">
                  <c:v>22.960999999999999</c:v>
                </c:pt>
                <c:pt idx="8">
                  <c:v>23.052</c:v>
                </c:pt>
                <c:pt idx="9">
                  <c:v>23.157</c:v>
                </c:pt>
                <c:pt idx="10">
                  <c:v>23.161000000000001</c:v>
                </c:pt>
                <c:pt idx="11">
                  <c:v>23.158000000000001</c:v>
                </c:pt>
                <c:pt idx="12">
                  <c:v>23.138999999999999</c:v>
                </c:pt>
                <c:pt idx="13">
                  <c:v>23.175999999999998</c:v>
                </c:pt>
                <c:pt idx="14">
                  <c:v>23.187000000000001</c:v>
                </c:pt>
                <c:pt idx="15">
                  <c:v>23.23</c:v>
                </c:pt>
                <c:pt idx="16">
                  <c:v>23.193000000000001</c:v>
                </c:pt>
                <c:pt idx="17">
                  <c:v>23.132999999999999</c:v>
                </c:pt>
                <c:pt idx="18">
                  <c:v>23.178999999999998</c:v>
                </c:pt>
                <c:pt idx="19">
                  <c:v>23.129000000000001</c:v>
                </c:pt>
                <c:pt idx="20">
                  <c:v>23.111999999999998</c:v>
                </c:pt>
                <c:pt idx="21">
                  <c:v>23.128</c:v>
                </c:pt>
                <c:pt idx="22">
                  <c:v>23.158999999999999</c:v>
                </c:pt>
                <c:pt idx="23">
                  <c:v>23.207999999999998</c:v>
                </c:pt>
                <c:pt idx="24">
                  <c:v>23.244</c:v>
                </c:pt>
                <c:pt idx="25">
                  <c:v>23.242999999999999</c:v>
                </c:pt>
                <c:pt idx="26">
                  <c:v>23.17</c:v>
                </c:pt>
                <c:pt idx="27">
                  <c:v>23.119</c:v>
                </c:pt>
                <c:pt idx="28">
                  <c:v>23.082999999999998</c:v>
                </c:pt>
                <c:pt idx="29">
                  <c:v>22.994</c:v>
                </c:pt>
                <c:pt idx="30">
                  <c:v>23.01</c:v>
                </c:pt>
                <c:pt idx="31">
                  <c:v>23.003</c:v>
                </c:pt>
                <c:pt idx="32">
                  <c:v>23.047999999999998</c:v>
                </c:pt>
                <c:pt idx="33">
                  <c:v>23.041</c:v>
                </c:pt>
                <c:pt idx="34">
                  <c:v>23.048999999999999</c:v>
                </c:pt>
                <c:pt idx="35">
                  <c:v>23.096</c:v>
                </c:pt>
                <c:pt idx="36">
                  <c:v>23.204000000000001</c:v>
                </c:pt>
                <c:pt idx="37">
                  <c:v>23.206</c:v>
                </c:pt>
                <c:pt idx="38">
                  <c:v>23.294</c:v>
                </c:pt>
                <c:pt idx="39">
                  <c:v>23.431000000000001</c:v>
                </c:pt>
                <c:pt idx="40">
                  <c:v>23.638000000000002</c:v>
                </c:pt>
                <c:pt idx="41">
                  <c:v>24.053999999999998</c:v>
                </c:pt>
                <c:pt idx="42">
                  <c:v>24.413</c:v>
                </c:pt>
                <c:pt idx="43">
                  <c:v>24.385999999999999</c:v>
                </c:pt>
                <c:pt idx="44">
                  <c:v>24.384</c:v>
                </c:pt>
                <c:pt idx="45">
                  <c:v>25.065999999999999</c:v>
                </c:pt>
                <c:pt idx="46">
                  <c:v>24.779</c:v>
                </c:pt>
                <c:pt idx="47">
                  <c:v>25.254000000000001</c:v>
                </c:pt>
                <c:pt idx="48">
                  <c:v>25.001000000000001</c:v>
                </c:pt>
                <c:pt idx="49">
                  <c:v>25.780999999999999</c:v>
                </c:pt>
                <c:pt idx="50">
                  <c:v>26.326000000000001</c:v>
                </c:pt>
                <c:pt idx="51">
                  <c:v>26.492999999999999</c:v>
                </c:pt>
                <c:pt idx="52">
                  <c:v>26.670999999999999</c:v>
                </c:pt>
                <c:pt idx="53">
                  <c:v>27.523</c:v>
                </c:pt>
                <c:pt idx="54">
                  <c:v>28.396000000000001</c:v>
                </c:pt>
                <c:pt idx="55">
                  <c:v>28.056999999999999</c:v>
                </c:pt>
                <c:pt idx="56">
                  <c:v>27.658000000000001</c:v>
                </c:pt>
                <c:pt idx="57">
                  <c:v>28.401</c:v>
                </c:pt>
                <c:pt idx="58">
                  <c:v>28.48</c:v>
                </c:pt>
                <c:pt idx="59">
                  <c:v>29.39</c:v>
                </c:pt>
                <c:pt idx="60">
                  <c:v>29.138000000000002</c:v>
                </c:pt>
                <c:pt idx="61">
                  <c:v>28.960999999999999</c:v>
                </c:pt>
                <c:pt idx="62">
                  <c:v>28.632000000000001</c:v>
                </c:pt>
                <c:pt idx="63">
                  <c:v>28.908000000000001</c:v>
                </c:pt>
                <c:pt idx="64">
                  <c:v>29.152999999999999</c:v>
                </c:pt>
                <c:pt idx="65">
                  <c:v>29.02</c:v>
                </c:pt>
                <c:pt idx="66">
                  <c:v>29.077000000000002</c:v>
                </c:pt>
                <c:pt idx="67">
                  <c:v>29.123999999999999</c:v>
                </c:pt>
                <c:pt idx="68">
                  <c:v>28.937000000000001</c:v>
                </c:pt>
                <c:pt idx="69">
                  <c:v>29.295999999999999</c:v>
                </c:pt>
                <c:pt idx="70">
                  <c:v>29.148</c:v>
                </c:pt>
                <c:pt idx="71">
                  <c:v>29.289000000000001</c:v>
                </c:pt>
                <c:pt idx="72">
                  <c:v>29.213999999999999</c:v>
                </c:pt>
                <c:pt idx="73">
                  <c:v>29.276</c:v>
                </c:pt>
                <c:pt idx="74">
                  <c:v>30.111000000000001</c:v>
                </c:pt>
                <c:pt idx="75">
                  <c:v>29.742000000000001</c:v>
                </c:pt>
                <c:pt idx="76">
                  <c:v>29.986000000000001</c:v>
                </c:pt>
                <c:pt idx="77">
                  <c:v>29.902999999999999</c:v>
                </c:pt>
                <c:pt idx="78">
                  <c:v>30.449000000000002</c:v>
                </c:pt>
                <c:pt idx="79">
                  <c:v>30.12</c:v>
                </c:pt>
                <c:pt idx="80">
                  <c:v>31.016999999999999</c:v>
                </c:pt>
                <c:pt idx="81">
                  <c:v>31.251999999999999</c:v>
                </c:pt>
                <c:pt idx="82">
                  <c:v>31.058</c:v>
                </c:pt>
                <c:pt idx="83">
                  <c:v>31.379000000000001</c:v>
                </c:pt>
                <c:pt idx="84">
                  <c:v>31.393999999999998</c:v>
                </c:pt>
                <c:pt idx="85">
                  <c:v>31.332999999999998</c:v>
                </c:pt>
                <c:pt idx="86">
                  <c:v>31.207999999999998</c:v>
                </c:pt>
                <c:pt idx="87">
                  <c:v>31.506</c:v>
                </c:pt>
                <c:pt idx="88">
                  <c:v>31.388000000000002</c:v>
                </c:pt>
                <c:pt idx="89">
                  <c:v>31.097999999999999</c:v>
                </c:pt>
                <c:pt idx="90">
                  <c:v>30.567</c:v>
                </c:pt>
                <c:pt idx="91">
                  <c:v>30.359000000000002</c:v>
                </c:pt>
                <c:pt idx="92">
                  <c:v>30.338999999999999</c:v>
                </c:pt>
                <c:pt idx="93">
                  <c:v>30.314</c:v>
                </c:pt>
                <c:pt idx="94">
                  <c:v>30.318000000000001</c:v>
                </c:pt>
                <c:pt idx="95">
                  <c:v>30.5</c:v>
                </c:pt>
                <c:pt idx="96">
                  <c:v>30.256</c:v>
                </c:pt>
                <c:pt idx="97">
                  <c:v>30.22</c:v>
                </c:pt>
                <c:pt idx="98">
                  <c:v>29.905999999999999</c:v>
                </c:pt>
                <c:pt idx="99">
                  <c:v>30.071000000000002</c:v>
                </c:pt>
                <c:pt idx="100">
                  <c:v>29.757000000000001</c:v>
                </c:pt>
                <c:pt idx="101">
                  <c:v>29.326000000000001</c:v>
                </c:pt>
                <c:pt idx="102">
                  <c:v>29.582000000000001</c:v>
                </c:pt>
                <c:pt idx="103">
                  <c:v>29.408000000000001</c:v>
                </c:pt>
                <c:pt idx="104">
                  <c:v>29.164000000000001</c:v>
                </c:pt>
                <c:pt idx="105">
                  <c:v>28.757999999999999</c:v>
                </c:pt>
                <c:pt idx="106">
                  <c:v>28.712</c:v>
                </c:pt>
                <c:pt idx="107">
                  <c:v>28.54</c:v>
                </c:pt>
                <c:pt idx="108">
                  <c:v>28.678000000000001</c:v>
                </c:pt>
                <c:pt idx="109">
                  <c:v>28.236000000000001</c:v>
                </c:pt>
                <c:pt idx="110">
                  <c:v>28.106999999999999</c:v>
                </c:pt>
                <c:pt idx="111">
                  <c:v>27.963000000000001</c:v>
                </c:pt>
                <c:pt idx="112">
                  <c:v>27.863</c:v>
                </c:pt>
                <c:pt idx="113">
                  <c:v>27.689</c:v>
                </c:pt>
                <c:pt idx="114">
                  <c:v>27.634</c:v>
                </c:pt>
                <c:pt idx="115">
                  <c:v>27.233000000000001</c:v>
                </c:pt>
                <c:pt idx="116">
                  <c:v>27.236000000000001</c:v>
                </c:pt>
                <c:pt idx="117">
                  <c:v>27.198</c:v>
                </c:pt>
                <c:pt idx="118">
                  <c:v>27.2</c:v>
                </c:pt>
                <c:pt idx="119">
                  <c:v>27.109000000000002</c:v>
                </c:pt>
                <c:pt idx="120">
                  <c:v>27.236000000000001</c:v>
                </c:pt>
                <c:pt idx="121">
                  <c:v>27.271999999999998</c:v>
                </c:pt>
                <c:pt idx="122">
                  <c:v>27.007999999999999</c:v>
                </c:pt>
                <c:pt idx="123">
                  <c:v>26.756</c:v>
                </c:pt>
                <c:pt idx="124">
                  <c:v>26.513999999999999</c:v>
                </c:pt>
                <c:pt idx="125">
                  <c:v>26.306999999999999</c:v>
                </c:pt>
                <c:pt idx="126">
                  <c:v>26.192</c:v>
                </c:pt>
                <c:pt idx="127">
                  <c:v>26.143999999999998</c:v>
                </c:pt>
                <c:pt idx="128">
                  <c:v>26.038</c:v>
                </c:pt>
                <c:pt idx="129">
                  <c:v>26.016999999999999</c:v>
                </c:pt>
                <c:pt idx="130">
                  <c:v>25.998999999999999</c:v>
                </c:pt>
                <c:pt idx="131">
                  <c:v>25.948</c:v>
                </c:pt>
                <c:pt idx="132">
                  <c:v>25.882999999999999</c:v>
                </c:pt>
                <c:pt idx="133">
                  <c:v>25.881</c:v>
                </c:pt>
                <c:pt idx="134">
                  <c:v>25.86</c:v>
                </c:pt>
                <c:pt idx="135">
                  <c:v>25.869</c:v>
                </c:pt>
                <c:pt idx="136">
                  <c:v>25.806000000000001</c:v>
                </c:pt>
                <c:pt idx="137">
                  <c:v>25.791</c:v>
                </c:pt>
                <c:pt idx="138">
                  <c:v>25.736999999999998</c:v>
                </c:pt>
                <c:pt idx="139">
                  <c:v>25.692</c:v>
                </c:pt>
                <c:pt idx="140">
                  <c:v>25.64</c:v>
                </c:pt>
                <c:pt idx="141">
                  <c:v>25.643000000000001</c:v>
                </c:pt>
                <c:pt idx="142">
                  <c:v>25.643999999999998</c:v>
                </c:pt>
                <c:pt idx="143">
                  <c:v>25.622</c:v>
                </c:pt>
              </c:numCache>
            </c:numRef>
          </c:val>
          <c:smooth val="0"/>
          <c:extLst>
            <c:ext xmlns:c16="http://schemas.microsoft.com/office/drawing/2014/chart" uri="{C3380CC4-5D6E-409C-BE32-E72D297353CC}">
              <c16:uniqueId val="{00000002-F095-764E-8830-5385AC182C78}"/>
            </c:ext>
          </c:extLst>
        </c:ser>
        <c:ser>
          <c:idx val="3"/>
          <c:order val="3"/>
          <c:tx>
            <c:strRef>
              <c:f>'図17_分析8_典型日'!$F$1</c:f>
              <c:strCache>
                <c:ptCount val="1"/>
                <c:pt idx="0">
                  <c:v>列11</c:v>
                </c:pt>
              </c:strCache>
            </c:strRef>
          </c:tx>
          <c:spPr>
            <a:ln w="22225" cap="rnd">
              <a:solidFill>
                <a:srgbClr val="118DFF"/>
              </a:solidFill>
              <a:round/>
            </a:ln>
          </c:spPr>
          <c:marker>
            <c:symbol val="none"/>
          </c:marker>
          <c:cat>
            <c:strRef>
              <c:f>'図17_分析8_典型日'!$B$2:$B$145</c:f>
              <c:strCache>
                <c:ptCount val="144"/>
                <c:pt idx="0">
                  <c:v>0:00</c:v>
                </c:pt>
                <c:pt idx="18">
                  <c:v>3:00</c:v>
                </c:pt>
                <c:pt idx="36">
                  <c:v>6:00</c:v>
                </c:pt>
                <c:pt idx="54">
                  <c:v>9:00</c:v>
                </c:pt>
                <c:pt idx="72">
                  <c:v>12:00</c:v>
                </c:pt>
                <c:pt idx="90">
                  <c:v>15:00</c:v>
                </c:pt>
                <c:pt idx="108">
                  <c:v>18:00</c:v>
                </c:pt>
                <c:pt idx="126">
                  <c:v>21:00</c:v>
                </c:pt>
              </c:strCache>
            </c:strRef>
          </c:cat>
          <c:val>
            <c:numRef>
              <c:f>'図17_分析8_典型日'!$F$2:$F$145</c:f>
              <c:numCache>
                <c:formatCode>General</c:formatCode>
                <c:ptCount val="144"/>
                <c:pt idx="0">
                  <c:v>23.094000000000001</c:v>
                </c:pt>
                <c:pt idx="1">
                  <c:v>23.026</c:v>
                </c:pt>
                <c:pt idx="2">
                  <c:v>22.939</c:v>
                </c:pt>
                <c:pt idx="3">
                  <c:v>22.937999999999999</c:v>
                </c:pt>
                <c:pt idx="4">
                  <c:v>22.861000000000001</c:v>
                </c:pt>
                <c:pt idx="5">
                  <c:v>22.911999999999999</c:v>
                </c:pt>
                <c:pt idx="6">
                  <c:v>22.855</c:v>
                </c:pt>
                <c:pt idx="7">
                  <c:v>22.928000000000001</c:v>
                </c:pt>
                <c:pt idx="8">
                  <c:v>23.055</c:v>
                </c:pt>
                <c:pt idx="9">
                  <c:v>23.170999999999999</c:v>
                </c:pt>
                <c:pt idx="10">
                  <c:v>23.172000000000001</c:v>
                </c:pt>
                <c:pt idx="11">
                  <c:v>23.125</c:v>
                </c:pt>
                <c:pt idx="12">
                  <c:v>23.117999999999999</c:v>
                </c:pt>
                <c:pt idx="13">
                  <c:v>23.164000000000001</c:v>
                </c:pt>
                <c:pt idx="14">
                  <c:v>23.193000000000001</c:v>
                </c:pt>
                <c:pt idx="15">
                  <c:v>23.225999999999999</c:v>
                </c:pt>
                <c:pt idx="16">
                  <c:v>23.207999999999998</c:v>
                </c:pt>
                <c:pt idx="17">
                  <c:v>23.151</c:v>
                </c:pt>
                <c:pt idx="18">
                  <c:v>23.175999999999998</c:v>
                </c:pt>
                <c:pt idx="19">
                  <c:v>23.099</c:v>
                </c:pt>
                <c:pt idx="20">
                  <c:v>23.071000000000002</c:v>
                </c:pt>
                <c:pt idx="21">
                  <c:v>23.071999999999999</c:v>
                </c:pt>
                <c:pt idx="22">
                  <c:v>23.085999999999999</c:v>
                </c:pt>
                <c:pt idx="23">
                  <c:v>23.155999999999999</c:v>
                </c:pt>
                <c:pt idx="24">
                  <c:v>23.166</c:v>
                </c:pt>
                <c:pt idx="25">
                  <c:v>23.173999999999999</c:v>
                </c:pt>
                <c:pt idx="26">
                  <c:v>23.123999999999999</c:v>
                </c:pt>
                <c:pt idx="27">
                  <c:v>23.08</c:v>
                </c:pt>
                <c:pt idx="28">
                  <c:v>23.033000000000001</c:v>
                </c:pt>
                <c:pt idx="29">
                  <c:v>22.960999999999999</c:v>
                </c:pt>
                <c:pt idx="30">
                  <c:v>22.952000000000002</c:v>
                </c:pt>
                <c:pt idx="31">
                  <c:v>22.934000000000001</c:v>
                </c:pt>
                <c:pt idx="32">
                  <c:v>23.074000000000002</c:v>
                </c:pt>
                <c:pt idx="33">
                  <c:v>23.17</c:v>
                </c:pt>
                <c:pt idx="34">
                  <c:v>23.148</c:v>
                </c:pt>
                <c:pt idx="35">
                  <c:v>23.231999999999999</c:v>
                </c:pt>
                <c:pt idx="36">
                  <c:v>23.350999999999999</c:v>
                </c:pt>
                <c:pt idx="37">
                  <c:v>23.31</c:v>
                </c:pt>
                <c:pt idx="38">
                  <c:v>23.486000000000001</c:v>
                </c:pt>
                <c:pt idx="39">
                  <c:v>23.565000000000001</c:v>
                </c:pt>
                <c:pt idx="40">
                  <c:v>24.117999999999999</c:v>
                </c:pt>
                <c:pt idx="41">
                  <c:v>24.088000000000001</c:v>
                </c:pt>
                <c:pt idx="42">
                  <c:v>24.262</c:v>
                </c:pt>
                <c:pt idx="43">
                  <c:v>24.298999999999999</c:v>
                </c:pt>
                <c:pt idx="44">
                  <c:v>24.341999999999999</c:v>
                </c:pt>
                <c:pt idx="45">
                  <c:v>24.878</c:v>
                </c:pt>
                <c:pt idx="46">
                  <c:v>25.134</c:v>
                </c:pt>
                <c:pt idx="47">
                  <c:v>25.184000000000001</c:v>
                </c:pt>
                <c:pt idx="48">
                  <c:v>25.122</c:v>
                </c:pt>
                <c:pt idx="49">
                  <c:v>25.29</c:v>
                </c:pt>
                <c:pt idx="50">
                  <c:v>25.451000000000001</c:v>
                </c:pt>
                <c:pt idx="51">
                  <c:v>26.131</c:v>
                </c:pt>
                <c:pt idx="52">
                  <c:v>26.718</c:v>
                </c:pt>
                <c:pt idx="53">
                  <c:v>27.192</c:v>
                </c:pt>
                <c:pt idx="54">
                  <c:v>27.925000000000001</c:v>
                </c:pt>
                <c:pt idx="55">
                  <c:v>28.265000000000001</c:v>
                </c:pt>
                <c:pt idx="56">
                  <c:v>27.736999999999998</c:v>
                </c:pt>
                <c:pt idx="57">
                  <c:v>28.396000000000001</c:v>
                </c:pt>
                <c:pt idx="58">
                  <c:v>28.209</c:v>
                </c:pt>
                <c:pt idx="59">
                  <c:v>29</c:v>
                </c:pt>
                <c:pt idx="60">
                  <c:v>29.048999999999999</c:v>
                </c:pt>
                <c:pt idx="61">
                  <c:v>28.73</c:v>
                </c:pt>
                <c:pt idx="62">
                  <c:v>28.815999999999999</c:v>
                </c:pt>
                <c:pt idx="63">
                  <c:v>28.901</c:v>
                </c:pt>
                <c:pt idx="64">
                  <c:v>28.890999999999998</c:v>
                </c:pt>
                <c:pt idx="65">
                  <c:v>28.951000000000001</c:v>
                </c:pt>
                <c:pt idx="66">
                  <c:v>28.706</c:v>
                </c:pt>
                <c:pt idx="67">
                  <c:v>28.821000000000002</c:v>
                </c:pt>
                <c:pt idx="68">
                  <c:v>28.815000000000001</c:v>
                </c:pt>
                <c:pt idx="69">
                  <c:v>29.2</c:v>
                </c:pt>
                <c:pt idx="70">
                  <c:v>29.114999999999998</c:v>
                </c:pt>
                <c:pt idx="71">
                  <c:v>29.265000000000001</c:v>
                </c:pt>
                <c:pt idx="72">
                  <c:v>29.245999999999999</c:v>
                </c:pt>
                <c:pt idx="73">
                  <c:v>29.256</c:v>
                </c:pt>
                <c:pt idx="74">
                  <c:v>29.8</c:v>
                </c:pt>
                <c:pt idx="75">
                  <c:v>29.643999999999998</c:v>
                </c:pt>
                <c:pt idx="76">
                  <c:v>30.041</c:v>
                </c:pt>
                <c:pt idx="77">
                  <c:v>29.834</c:v>
                </c:pt>
                <c:pt idx="78">
                  <c:v>30.335000000000001</c:v>
                </c:pt>
                <c:pt idx="79">
                  <c:v>30.079000000000001</c:v>
                </c:pt>
                <c:pt idx="80">
                  <c:v>30.576000000000001</c:v>
                </c:pt>
                <c:pt idx="81">
                  <c:v>30.795000000000002</c:v>
                </c:pt>
                <c:pt idx="82">
                  <c:v>30.61</c:v>
                </c:pt>
                <c:pt idx="83">
                  <c:v>30.86</c:v>
                </c:pt>
                <c:pt idx="84">
                  <c:v>30.754999999999999</c:v>
                </c:pt>
                <c:pt idx="85">
                  <c:v>30.77</c:v>
                </c:pt>
                <c:pt idx="86">
                  <c:v>30.841000000000001</c:v>
                </c:pt>
                <c:pt idx="87">
                  <c:v>30.495999999999999</c:v>
                </c:pt>
                <c:pt idx="88">
                  <c:v>30.923999999999999</c:v>
                </c:pt>
                <c:pt idx="89">
                  <c:v>30.722999999999999</c:v>
                </c:pt>
                <c:pt idx="90">
                  <c:v>30.283999999999999</c:v>
                </c:pt>
                <c:pt idx="91">
                  <c:v>29.998000000000001</c:v>
                </c:pt>
                <c:pt idx="92">
                  <c:v>30.055</c:v>
                </c:pt>
                <c:pt idx="93">
                  <c:v>30.190999999999999</c:v>
                </c:pt>
                <c:pt idx="94">
                  <c:v>30.102</c:v>
                </c:pt>
                <c:pt idx="95">
                  <c:v>29.969000000000001</c:v>
                </c:pt>
                <c:pt idx="96">
                  <c:v>30.004000000000001</c:v>
                </c:pt>
                <c:pt idx="97">
                  <c:v>29.870999999999999</c:v>
                </c:pt>
                <c:pt idx="98">
                  <c:v>29.826000000000001</c:v>
                </c:pt>
                <c:pt idx="99">
                  <c:v>29.539000000000001</c:v>
                </c:pt>
                <c:pt idx="100">
                  <c:v>29.22</c:v>
                </c:pt>
                <c:pt idx="101">
                  <c:v>29.457000000000001</c:v>
                </c:pt>
                <c:pt idx="102">
                  <c:v>29.309000000000001</c:v>
                </c:pt>
                <c:pt idx="103">
                  <c:v>28.44</c:v>
                </c:pt>
                <c:pt idx="104">
                  <c:v>28.318999999999999</c:v>
                </c:pt>
                <c:pt idx="105">
                  <c:v>28.943000000000001</c:v>
                </c:pt>
                <c:pt idx="106">
                  <c:v>28.762</c:v>
                </c:pt>
                <c:pt idx="107">
                  <c:v>28.59</c:v>
                </c:pt>
                <c:pt idx="108">
                  <c:v>28.463999999999999</c:v>
                </c:pt>
                <c:pt idx="109">
                  <c:v>28.329000000000001</c:v>
                </c:pt>
                <c:pt idx="110">
                  <c:v>28.155000000000001</c:v>
                </c:pt>
                <c:pt idx="111">
                  <c:v>28.245000000000001</c:v>
                </c:pt>
                <c:pt idx="112">
                  <c:v>28.033999999999999</c:v>
                </c:pt>
                <c:pt idx="113">
                  <c:v>28.018000000000001</c:v>
                </c:pt>
                <c:pt idx="114">
                  <c:v>28.08</c:v>
                </c:pt>
                <c:pt idx="115">
                  <c:v>27.425999999999998</c:v>
                </c:pt>
                <c:pt idx="116">
                  <c:v>27.282</c:v>
                </c:pt>
                <c:pt idx="117">
                  <c:v>27.158000000000001</c:v>
                </c:pt>
                <c:pt idx="118">
                  <c:v>26.975000000000001</c:v>
                </c:pt>
                <c:pt idx="119">
                  <c:v>26.945</c:v>
                </c:pt>
                <c:pt idx="120">
                  <c:v>26.824000000000002</c:v>
                </c:pt>
                <c:pt idx="121">
                  <c:v>26.693000000000001</c:v>
                </c:pt>
                <c:pt idx="122">
                  <c:v>26.46</c:v>
                </c:pt>
                <c:pt idx="123">
                  <c:v>26.495999999999999</c:v>
                </c:pt>
                <c:pt idx="124">
                  <c:v>26.411999999999999</c:v>
                </c:pt>
                <c:pt idx="125">
                  <c:v>26.207999999999998</c:v>
                </c:pt>
                <c:pt idx="126">
                  <c:v>26.167999999999999</c:v>
                </c:pt>
                <c:pt idx="127">
                  <c:v>26.135999999999999</c:v>
                </c:pt>
                <c:pt idx="128">
                  <c:v>25.899000000000001</c:v>
                </c:pt>
                <c:pt idx="129">
                  <c:v>25.901</c:v>
                </c:pt>
                <c:pt idx="130">
                  <c:v>26.018000000000001</c:v>
                </c:pt>
                <c:pt idx="131">
                  <c:v>25.902000000000001</c:v>
                </c:pt>
                <c:pt idx="132">
                  <c:v>25.920999999999999</c:v>
                </c:pt>
                <c:pt idx="133">
                  <c:v>25.895</c:v>
                </c:pt>
                <c:pt idx="134">
                  <c:v>25.657</c:v>
                </c:pt>
                <c:pt idx="135">
                  <c:v>25.866</c:v>
                </c:pt>
                <c:pt idx="136">
                  <c:v>25.826000000000001</c:v>
                </c:pt>
                <c:pt idx="137">
                  <c:v>25.795000000000002</c:v>
                </c:pt>
                <c:pt idx="138">
                  <c:v>25.643000000000001</c:v>
                </c:pt>
                <c:pt idx="139">
                  <c:v>25.431999999999999</c:v>
                </c:pt>
                <c:pt idx="140">
                  <c:v>25.666</c:v>
                </c:pt>
                <c:pt idx="141">
                  <c:v>25.547999999999998</c:v>
                </c:pt>
                <c:pt idx="142">
                  <c:v>25.661000000000001</c:v>
                </c:pt>
                <c:pt idx="143">
                  <c:v>25.635000000000002</c:v>
                </c:pt>
              </c:numCache>
            </c:numRef>
          </c:val>
          <c:smooth val="0"/>
          <c:extLst>
            <c:ext xmlns:c16="http://schemas.microsoft.com/office/drawing/2014/chart" uri="{C3380CC4-5D6E-409C-BE32-E72D297353CC}">
              <c16:uniqueId val="{00000003-F095-764E-8830-5385AC182C78}"/>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none"/>
        <c:minorTickMark val="none"/>
        <c:tickLblPos val="low"/>
        <c:spPr>
          <a:ln w="9525" cap="rnd">
            <a:solidFill>
              <a:srgbClr val="5E6B7A"/>
            </a:solidFill>
            <a:round/>
          </a:ln>
        </c:spPr>
        <c:crossAx val="20"/>
        <c:crosses val="autoZero"/>
        <c:auto val="1"/>
        <c:lblAlgn val="ctr"/>
        <c:lblOffset val="100"/>
        <c:noMultiLvlLbl val="0"/>
      </c:catAx>
      <c:valAx>
        <c:axId val="20"/>
        <c:scaling>
          <c:orientation val="minMax"/>
          <c:max val="32"/>
          <c:min val="22"/>
        </c:scaling>
        <c:delete val="0"/>
        <c:axPos val="l"/>
        <c:majorGridlines>
          <c:spPr>
            <a:ln w="9525" cap="rnd">
              <a:solidFill>
                <a:srgbClr val="E3E7EC"/>
              </a:solidFill>
              <a:round/>
            </a:ln>
          </c:spPr>
        </c:majorGridlines>
        <c:title>
          <c:tx>
            <c:rich>
              <a:bodyPr rot="-5400000" vert="horz"/>
              <a:lstStyle/>
              <a:p>
                <a:pPr>
                  <a:defRPr sz="900" b="0"/>
                </a:pPr>
                <a:r>
                  <a:rPr lang="ja-JP" sz="900" b="0"/>
                  <a:t>吸気温度［℃］</a:t>
                </a:r>
              </a:p>
            </c:rich>
          </c:tx>
          <c:overlay val="0"/>
        </c:title>
        <c:numFmt formatCode="0" sourceLinked="0"/>
        <c:majorTickMark val="out"/>
        <c:minorTickMark val="none"/>
        <c:tickLblPos val="nextTo"/>
        <c:spPr>
          <a:ln w="9525" cap="rnd">
            <a:solidFill>
              <a:srgbClr val="5E6B7A"/>
            </a:solidFill>
            <a:round/>
          </a:ln>
        </c:spPr>
        <c:crossAx val="10"/>
        <c:crosses val="autoZero"/>
        <c:crossBetween val="between"/>
        <c:majorUnit val="2"/>
      </c:valAx>
    </c:plotArea>
    <c:legend>
      <c:legendPos val="t"/>
      <c:overlay val="0"/>
    </c:legend>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manualLayout>
          <c:layoutTarget val="inner"/>
          <c:xMode val="edge"/>
          <c:yMode val="edge"/>
          <c:x val="0.2"/>
          <c:y val="0.05"/>
          <c:w val="0.76"/>
          <c:h val="0.72"/>
        </c:manualLayout>
      </c:layout>
      <c:lineChart>
        <c:grouping val="standard"/>
        <c:varyColors val="0"/>
        <c:ser>
          <c:idx val="0"/>
          <c:order val="0"/>
          <c:tx>
            <c:strRef>
              <c:f>'図17_分析8_典型日'!$G$1</c:f>
              <c:strCache>
                <c:ptCount val="1"/>
                <c:pt idx="0">
                  <c:v>列8</c:v>
                </c:pt>
              </c:strCache>
            </c:strRef>
          </c:tx>
          <c:spPr>
            <a:ln w="22225" cap="rnd">
              <a:solidFill>
                <a:srgbClr val="01B8AA"/>
              </a:solidFill>
              <a:round/>
            </a:ln>
          </c:spPr>
          <c:marker>
            <c:symbol val="none"/>
          </c:marker>
          <c:cat>
            <c:strRef>
              <c:f>'図17_分析8_典型日'!$B$2:$B$145</c:f>
              <c:strCache>
                <c:ptCount val="144"/>
                <c:pt idx="0">
                  <c:v>0:00</c:v>
                </c:pt>
                <c:pt idx="18">
                  <c:v>3:00</c:v>
                </c:pt>
                <c:pt idx="36">
                  <c:v>6:00</c:v>
                </c:pt>
                <c:pt idx="54">
                  <c:v>9:00</c:v>
                </c:pt>
                <c:pt idx="72">
                  <c:v>12:00</c:v>
                </c:pt>
                <c:pt idx="90">
                  <c:v>15:00</c:v>
                </c:pt>
                <c:pt idx="108">
                  <c:v>18:00</c:v>
                </c:pt>
                <c:pt idx="126">
                  <c:v>21:00</c:v>
                </c:pt>
              </c:strCache>
            </c:strRef>
          </c:cat>
          <c:val>
            <c:numRef>
              <c:f>'図17_分析8_典型日'!$G$2:$G$145</c:f>
              <c:numCache>
                <c:formatCode>General</c:formatCode>
                <c:ptCount val="144"/>
                <c:pt idx="0">
                  <c:v>-0.48</c:v>
                </c:pt>
                <c:pt idx="1">
                  <c:v>-0.54100000000000004</c:v>
                </c:pt>
                <c:pt idx="2">
                  <c:v>-0.48699999999999999</c:v>
                </c:pt>
                <c:pt idx="3">
                  <c:v>-0.46600000000000003</c:v>
                </c:pt>
                <c:pt idx="4">
                  <c:v>-0.45300000000000001</c:v>
                </c:pt>
                <c:pt idx="5">
                  <c:v>-0.47599999999999998</c:v>
                </c:pt>
                <c:pt idx="6">
                  <c:v>-0.47899999999999998</c:v>
                </c:pt>
                <c:pt idx="7">
                  <c:v>-0.46800000000000003</c:v>
                </c:pt>
                <c:pt idx="8">
                  <c:v>-0.51100000000000001</c:v>
                </c:pt>
                <c:pt idx="9">
                  <c:v>-0.439</c:v>
                </c:pt>
                <c:pt idx="10">
                  <c:v>-0.45900000000000002</c:v>
                </c:pt>
                <c:pt idx="11">
                  <c:v>-0.42</c:v>
                </c:pt>
                <c:pt idx="12">
                  <c:v>-0.38800000000000001</c:v>
                </c:pt>
                <c:pt idx="13">
                  <c:v>-0.38800000000000001</c:v>
                </c:pt>
                <c:pt idx="14">
                  <c:v>-0.36199999999999999</c:v>
                </c:pt>
                <c:pt idx="15">
                  <c:v>-0.36199999999999999</c:v>
                </c:pt>
                <c:pt idx="16">
                  <c:v>-0.35699999999999998</c:v>
                </c:pt>
                <c:pt idx="17">
                  <c:v>-0.33900000000000002</c:v>
                </c:pt>
                <c:pt idx="18">
                  <c:v>-0.32400000000000001</c:v>
                </c:pt>
                <c:pt idx="19">
                  <c:v>-0.27200000000000002</c:v>
                </c:pt>
                <c:pt idx="20">
                  <c:v>-0.32600000000000001</c:v>
                </c:pt>
                <c:pt idx="21">
                  <c:v>-0.312</c:v>
                </c:pt>
                <c:pt idx="22">
                  <c:v>-0.28000000000000003</c:v>
                </c:pt>
                <c:pt idx="23">
                  <c:v>-0.26</c:v>
                </c:pt>
                <c:pt idx="24">
                  <c:v>-0.3</c:v>
                </c:pt>
                <c:pt idx="25">
                  <c:v>-0.27600000000000002</c:v>
                </c:pt>
                <c:pt idx="26">
                  <c:v>-0.25</c:v>
                </c:pt>
                <c:pt idx="27">
                  <c:v>-0.26100000000000001</c:v>
                </c:pt>
                <c:pt idx="28">
                  <c:v>-0.27600000000000002</c:v>
                </c:pt>
                <c:pt idx="29">
                  <c:v>-0.23400000000000001</c:v>
                </c:pt>
                <c:pt idx="30">
                  <c:v>-0.24199999999999999</c:v>
                </c:pt>
                <c:pt idx="31">
                  <c:v>-0.23100000000000001</c:v>
                </c:pt>
                <c:pt idx="32">
                  <c:v>-0.25</c:v>
                </c:pt>
                <c:pt idx="33">
                  <c:v>-0.26</c:v>
                </c:pt>
                <c:pt idx="34">
                  <c:v>-0.24299999999999999</c:v>
                </c:pt>
                <c:pt idx="35">
                  <c:v>-0.23300000000000001</c:v>
                </c:pt>
                <c:pt idx="36">
                  <c:v>-0.27200000000000002</c:v>
                </c:pt>
                <c:pt idx="37">
                  <c:v>-0.29199999999999998</c:v>
                </c:pt>
                <c:pt idx="38">
                  <c:v>-0.31</c:v>
                </c:pt>
                <c:pt idx="39">
                  <c:v>-0.41199999999999998</c:v>
                </c:pt>
                <c:pt idx="40">
                  <c:v>-0.35399999999999998</c:v>
                </c:pt>
                <c:pt idx="41">
                  <c:v>0.13300000000000001</c:v>
                </c:pt>
                <c:pt idx="42">
                  <c:v>0.35299999999999998</c:v>
                </c:pt>
                <c:pt idx="43">
                  <c:v>0.16</c:v>
                </c:pt>
                <c:pt idx="44">
                  <c:v>0.104</c:v>
                </c:pt>
                <c:pt idx="45">
                  <c:v>0.79100000000000004</c:v>
                </c:pt>
                <c:pt idx="46">
                  <c:v>0.314</c:v>
                </c:pt>
                <c:pt idx="47">
                  <c:v>0.53300000000000003</c:v>
                </c:pt>
                <c:pt idx="48">
                  <c:v>0.39800000000000002</c:v>
                </c:pt>
                <c:pt idx="49">
                  <c:v>0.312</c:v>
                </c:pt>
                <c:pt idx="50">
                  <c:v>0.10299999999999999</c:v>
                </c:pt>
                <c:pt idx="51">
                  <c:v>-1.103</c:v>
                </c:pt>
                <c:pt idx="52">
                  <c:v>-1.401</c:v>
                </c:pt>
                <c:pt idx="53">
                  <c:v>-1.653</c:v>
                </c:pt>
                <c:pt idx="54">
                  <c:v>-1.5980000000000001</c:v>
                </c:pt>
                <c:pt idx="55">
                  <c:v>-2.431</c:v>
                </c:pt>
                <c:pt idx="56">
                  <c:v>-2.0310000000000001</c:v>
                </c:pt>
                <c:pt idx="57">
                  <c:v>-0.59799999999999998</c:v>
                </c:pt>
                <c:pt idx="58">
                  <c:v>0.65900000000000003</c:v>
                </c:pt>
                <c:pt idx="59">
                  <c:v>0.59699999999999998</c:v>
                </c:pt>
                <c:pt idx="60">
                  <c:v>0.23799999999999999</c:v>
                </c:pt>
                <c:pt idx="61">
                  <c:v>-0.26400000000000001</c:v>
                </c:pt>
                <c:pt idx="62">
                  <c:v>-0.26100000000000001</c:v>
                </c:pt>
                <c:pt idx="63">
                  <c:v>9.7000000000000003E-2</c:v>
                </c:pt>
                <c:pt idx="64">
                  <c:v>0.16300000000000001</c:v>
                </c:pt>
                <c:pt idx="65">
                  <c:v>2.7E-2</c:v>
                </c:pt>
                <c:pt idx="66">
                  <c:v>-0.183</c:v>
                </c:pt>
                <c:pt idx="67">
                  <c:v>-0.47</c:v>
                </c:pt>
                <c:pt idx="68">
                  <c:v>-0.28899999999999998</c:v>
                </c:pt>
                <c:pt idx="69">
                  <c:v>-7.8E-2</c:v>
                </c:pt>
                <c:pt idx="70">
                  <c:v>-0.13900000000000001</c:v>
                </c:pt>
                <c:pt idx="71">
                  <c:v>-0.38100000000000001</c:v>
                </c:pt>
                <c:pt idx="72">
                  <c:v>-7.1999999999999995E-2</c:v>
                </c:pt>
                <c:pt idx="73">
                  <c:v>-0.31</c:v>
                </c:pt>
                <c:pt idx="74">
                  <c:v>0.20300000000000001</c:v>
                </c:pt>
                <c:pt idx="75">
                  <c:v>-0.33600000000000002</c:v>
                </c:pt>
                <c:pt idx="76">
                  <c:v>0.16200000000000001</c:v>
                </c:pt>
                <c:pt idx="77">
                  <c:v>-0.51600000000000001</c:v>
                </c:pt>
                <c:pt idx="78">
                  <c:v>-0.378</c:v>
                </c:pt>
                <c:pt idx="79">
                  <c:v>-0.42</c:v>
                </c:pt>
                <c:pt idx="80">
                  <c:v>0.26400000000000001</c:v>
                </c:pt>
                <c:pt idx="81">
                  <c:v>8.4000000000000005E-2</c:v>
                </c:pt>
                <c:pt idx="82">
                  <c:v>0.51700000000000002</c:v>
                </c:pt>
                <c:pt idx="83">
                  <c:v>0.753</c:v>
                </c:pt>
                <c:pt idx="84">
                  <c:v>0.498</c:v>
                </c:pt>
                <c:pt idx="85">
                  <c:v>8.8999999999999996E-2</c:v>
                </c:pt>
                <c:pt idx="86">
                  <c:v>0.42099999999999999</c:v>
                </c:pt>
                <c:pt idx="87">
                  <c:v>1.0640000000000001</c:v>
                </c:pt>
                <c:pt idx="88">
                  <c:v>0.54800000000000004</c:v>
                </c:pt>
                <c:pt idx="89">
                  <c:v>0.40400000000000003</c:v>
                </c:pt>
                <c:pt idx="90">
                  <c:v>-0.182</c:v>
                </c:pt>
                <c:pt idx="91">
                  <c:v>-0.153</c:v>
                </c:pt>
                <c:pt idx="92">
                  <c:v>0.114</c:v>
                </c:pt>
                <c:pt idx="93">
                  <c:v>5.1999999999999998E-2</c:v>
                </c:pt>
                <c:pt idx="94">
                  <c:v>-0.159</c:v>
                </c:pt>
                <c:pt idx="95">
                  <c:v>0.218</c:v>
                </c:pt>
                <c:pt idx="96">
                  <c:v>0.10299999999999999</c:v>
                </c:pt>
                <c:pt idx="97">
                  <c:v>-1.6E-2</c:v>
                </c:pt>
                <c:pt idx="98">
                  <c:v>-8.3000000000000004E-2</c:v>
                </c:pt>
                <c:pt idx="99">
                  <c:v>-7.0000000000000007E-2</c:v>
                </c:pt>
                <c:pt idx="100">
                  <c:v>4.9000000000000002E-2</c:v>
                </c:pt>
                <c:pt idx="101">
                  <c:v>-0.33100000000000002</c:v>
                </c:pt>
                <c:pt idx="102">
                  <c:v>-0.152</c:v>
                </c:pt>
                <c:pt idx="103">
                  <c:v>-0.39200000000000002</c:v>
                </c:pt>
                <c:pt idx="104">
                  <c:v>-0.41699999999999998</c:v>
                </c:pt>
                <c:pt idx="105">
                  <c:v>-0.47799999999999998</c:v>
                </c:pt>
                <c:pt idx="106">
                  <c:v>-0.35899999999999999</c:v>
                </c:pt>
                <c:pt idx="107">
                  <c:v>-0.52200000000000002</c:v>
                </c:pt>
                <c:pt idx="108">
                  <c:v>-0.10299999999999999</c:v>
                </c:pt>
                <c:pt idx="109">
                  <c:v>-0.48199999999999998</c:v>
                </c:pt>
                <c:pt idx="110">
                  <c:v>-0.313</c:v>
                </c:pt>
                <c:pt idx="111">
                  <c:v>-0.497</c:v>
                </c:pt>
                <c:pt idx="112">
                  <c:v>-0.36699999999999999</c:v>
                </c:pt>
                <c:pt idx="113">
                  <c:v>-0.54300000000000004</c:v>
                </c:pt>
                <c:pt idx="114">
                  <c:v>-0.54400000000000004</c:v>
                </c:pt>
                <c:pt idx="115">
                  <c:v>-0.95199999999999996</c:v>
                </c:pt>
                <c:pt idx="116">
                  <c:v>-0.76</c:v>
                </c:pt>
                <c:pt idx="117">
                  <c:v>-0.27900000000000003</c:v>
                </c:pt>
                <c:pt idx="118">
                  <c:v>-0.35699999999999998</c:v>
                </c:pt>
                <c:pt idx="119">
                  <c:v>-0.95</c:v>
                </c:pt>
                <c:pt idx="120">
                  <c:v>-0.46100000000000002</c:v>
                </c:pt>
                <c:pt idx="121">
                  <c:v>-0.10299999999999999</c:v>
                </c:pt>
                <c:pt idx="122">
                  <c:v>-0.35199999999999998</c:v>
                </c:pt>
                <c:pt idx="123">
                  <c:v>-0.54</c:v>
                </c:pt>
                <c:pt idx="124">
                  <c:v>-0.69</c:v>
                </c:pt>
                <c:pt idx="125">
                  <c:v>-0.68700000000000006</c:v>
                </c:pt>
                <c:pt idx="126">
                  <c:v>-0.378</c:v>
                </c:pt>
                <c:pt idx="127">
                  <c:v>-0.26100000000000001</c:v>
                </c:pt>
                <c:pt idx="128">
                  <c:v>-0.20699999999999999</c:v>
                </c:pt>
                <c:pt idx="129">
                  <c:v>-0.156</c:v>
                </c:pt>
                <c:pt idx="130">
                  <c:v>-0.109</c:v>
                </c:pt>
                <c:pt idx="131">
                  <c:v>-0.111</c:v>
                </c:pt>
                <c:pt idx="132">
                  <c:v>-7.1999999999999995E-2</c:v>
                </c:pt>
                <c:pt idx="133">
                  <c:v>-0.02</c:v>
                </c:pt>
                <c:pt idx="134">
                  <c:v>-3.9E-2</c:v>
                </c:pt>
                <c:pt idx="135">
                  <c:v>6.0000000000000001E-3</c:v>
                </c:pt>
                <c:pt idx="136">
                  <c:v>-1.7999999999999999E-2</c:v>
                </c:pt>
                <c:pt idx="137">
                  <c:v>4.0000000000000001E-3</c:v>
                </c:pt>
                <c:pt idx="138">
                  <c:v>2.7E-2</c:v>
                </c:pt>
                <c:pt idx="139">
                  <c:v>2.1000000000000001E-2</c:v>
                </c:pt>
                <c:pt idx="140">
                  <c:v>7.0000000000000001E-3</c:v>
                </c:pt>
                <c:pt idx="141">
                  <c:v>3.4000000000000002E-2</c:v>
                </c:pt>
                <c:pt idx="142">
                  <c:v>2.4E-2</c:v>
                </c:pt>
                <c:pt idx="143">
                  <c:v>8.0000000000000002E-3</c:v>
                </c:pt>
              </c:numCache>
            </c:numRef>
          </c:val>
          <c:smooth val="0"/>
          <c:extLst>
            <c:ext xmlns:c16="http://schemas.microsoft.com/office/drawing/2014/chart" uri="{C3380CC4-5D6E-409C-BE32-E72D297353CC}">
              <c16:uniqueId val="{00000000-401E-8849-95D2-6C0CEC2FB2F6}"/>
            </c:ext>
          </c:extLst>
        </c:ser>
        <c:ser>
          <c:idx val="1"/>
          <c:order val="1"/>
          <c:tx>
            <c:strRef>
              <c:f>'図17_分析8_典型日'!$H$1</c:f>
              <c:strCache>
                <c:ptCount val="1"/>
                <c:pt idx="0">
                  <c:v>列11</c:v>
                </c:pt>
              </c:strCache>
            </c:strRef>
          </c:tx>
          <c:spPr>
            <a:ln w="22225" cap="rnd">
              <a:solidFill>
                <a:srgbClr val="118DFF"/>
              </a:solidFill>
              <a:round/>
            </a:ln>
          </c:spPr>
          <c:marker>
            <c:symbol val="none"/>
          </c:marker>
          <c:cat>
            <c:strRef>
              <c:f>'図17_分析8_典型日'!$B$2:$B$145</c:f>
              <c:strCache>
                <c:ptCount val="144"/>
                <c:pt idx="0">
                  <c:v>0:00</c:v>
                </c:pt>
                <c:pt idx="18">
                  <c:v>3:00</c:v>
                </c:pt>
                <c:pt idx="36">
                  <c:v>6:00</c:v>
                </c:pt>
                <c:pt idx="54">
                  <c:v>9:00</c:v>
                </c:pt>
                <c:pt idx="72">
                  <c:v>12:00</c:v>
                </c:pt>
                <c:pt idx="90">
                  <c:v>15:00</c:v>
                </c:pt>
                <c:pt idx="108">
                  <c:v>18:00</c:v>
                </c:pt>
                <c:pt idx="126">
                  <c:v>21:00</c:v>
                </c:pt>
              </c:strCache>
            </c:strRef>
          </c:cat>
          <c:val>
            <c:numRef>
              <c:f>'図17_分析8_典型日'!$H$2:$H$145</c:f>
              <c:numCache>
                <c:formatCode>General</c:formatCode>
                <c:ptCount val="144"/>
                <c:pt idx="0">
                  <c:v>-0.50600000000000001</c:v>
                </c:pt>
                <c:pt idx="1">
                  <c:v>-0.47799999999999998</c:v>
                </c:pt>
                <c:pt idx="2">
                  <c:v>-0.45600000000000002</c:v>
                </c:pt>
                <c:pt idx="3">
                  <c:v>-0.45</c:v>
                </c:pt>
                <c:pt idx="4">
                  <c:v>-0.46300000000000002</c:v>
                </c:pt>
                <c:pt idx="5">
                  <c:v>-0.47</c:v>
                </c:pt>
                <c:pt idx="6">
                  <c:v>-0.54600000000000004</c:v>
                </c:pt>
                <c:pt idx="7">
                  <c:v>-0.50600000000000001</c:v>
                </c:pt>
                <c:pt idx="8">
                  <c:v>-0.51</c:v>
                </c:pt>
                <c:pt idx="9">
                  <c:v>-0.42699999999999999</c:v>
                </c:pt>
                <c:pt idx="10">
                  <c:v>-0.44900000000000001</c:v>
                </c:pt>
                <c:pt idx="11">
                  <c:v>-0.45400000000000001</c:v>
                </c:pt>
                <c:pt idx="12">
                  <c:v>-0.40200000000000002</c:v>
                </c:pt>
                <c:pt idx="13">
                  <c:v>-0.39700000000000002</c:v>
                </c:pt>
                <c:pt idx="14">
                  <c:v>-0.35099999999999998</c:v>
                </c:pt>
                <c:pt idx="15">
                  <c:v>-0.36199999999999999</c:v>
                </c:pt>
                <c:pt idx="16">
                  <c:v>-0.33900000000000002</c:v>
                </c:pt>
                <c:pt idx="17">
                  <c:v>-0.315</c:v>
                </c:pt>
                <c:pt idx="18">
                  <c:v>-0.32100000000000001</c:v>
                </c:pt>
                <c:pt idx="19">
                  <c:v>-0.29599999999999999</c:v>
                </c:pt>
                <c:pt idx="20">
                  <c:v>-0.36</c:v>
                </c:pt>
                <c:pt idx="21">
                  <c:v>-0.35899999999999999</c:v>
                </c:pt>
                <c:pt idx="22">
                  <c:v>-0.35</c:v>
                </c:pt>
                <c:pt idx="23">
                  <c:v>-0.31</c:v>
                </c:pt>
                <c:pt idx="24">
                  <c:v>-0.376</c:v>
                </c:pt>
                <c:pt idx="25">
                  <c:v>-0.34399999999999997</c:v>
                </c:pt>
                <c:pt idx="26">
                  <c:v>-0.29499999999999998</c:v>
                </c:pt>
                <c:pt idx="27">
                  <c:v>-0.30199999999999999</c:v>
                </c:pt>
                <c:pt idx="28">
                  <c:v>-0.32700000000000001</c:v>
                </c:pt>
                <c:pt idx="29">
                  <c:v>-0.26100000000000001</c:v>
                </c:pt>
                <c:pt idx="30">
                  <c:v>-0.29399999999999998</c:v>
                </c:pt>
                <c:pt idx="31">
                  <c:v>-0.29499999999999998</c:v>
                </c:pt>
                <c:pt idx="32">
                  <c:v>-0.22500000000000001</c:v>
                </c:pt>
                <c:pt idx="33">
                  <c:v>-0.13300000000000001</c:v>
                </c:pt>
                <c:pt idx="34">
                  <c:v>-0.14499999999999999</c:v>
                </c:pt>
                <c:pt idx="35">
                  <c:v>-0.09</c:v>
                </c:pt>
                <c:pt idx="36">
                  <c:v>-0.115</c:v>
                </c:pt>
                <c:pt idx="37">
                  <c:v>-0.17899999999999999</c:v>
                </c:pt>
                <c:pt idx="38">
                  <c:v>-0.104</c:v>
                </c:pt>
                <c:pt idx="39">
                  <c:v>-0.26500000000000001</c:v>
                </c:pt>
                <c:pt idx="40">
                  <c:v>0.14099999999999999</c:v>
                </c:pt>
                <c:pt idx="41">
                  <c:v>0.188</c:v>
                </c:pt>
                <c:pt idx="42">
                  <c:v>0.21099999999999999</c:v>
                </c:pt>
                <c:pt idx="43">
                  <c:v>9.0999999999999998E-2</c:v>
                </c:pt>
                <c:pt idx="44">
                  <c:v>8.6999999999999994E-2</c:v>
                </c:pt>
                <c:pt idx="45">
                  <c:v>0.62</c:v>
                </c:pt>
                <c:pt idx="46">
                  <c:v>0.70099999999999996</c:v>
                </c:pt>
                <c:pt idx="47">
                  <c:v>0.49299999999999999</c:v>
                </c:pt>
                <c:pt idx="48">
                  <c:v>0.55600000000000005</c:v>
                </c:pt>
                <c:pt idx="49">
                  <c:v>-9.9000000000000005E-2</c:v>
                </c:pt>
                <c:pt idx="50">
                  <c:v>-0.69799999999999995</c:v>
                </c:pt>
                <c:pt idx="51">
                  <c:v>-1.341</c:v>
                </c:pt>
                <c:pt idx="52">
                  <c:v>-1.2310000000000001</c:v>
                </c:pt>
                <c:pt idx="53">
                  <c:v>-1.831</c:v>
                </c:pt>
                <c:pt idx="54">
                  <c:v>-1.956</c:v>
                </c:pt>
                <c:pt idx="55">
                  <c:v>-2.0640000000000001</c:v>
                </c:pt>
                <c:pt idx="56">
                  <c:v>-1.829</c:v>
                </c:pt>
                <c:pt idx="57">
                  <c:v>-0.48199999999999998</c:v>
                </c:pt>
                <c:pt idx="58">
                  <c:v>0.47299999999999998</c:v>
                </c:pt>
                <c:pt idx="59">
                  <c:v>0.35499999999999998</c:v>
                </c:pt>
                <c:pt idx="60">
                  <c:v>0.255</c:v>
                </c:pt>
                <c:pt idx="61">
                  <c:v>-0.373</c:v>
                </c:pt>
                <c:pt idx="62">
                  <c:v>0.01</c:v>
                </c:pt>
                <c:pt idx="63">
                  <c:v>0.22600000000000001</c:v>
                </c:pt>
                <c:pt idx="64">
                  <c:v>-3.1E-2</c:v>
                </c:pt>
                <c:pt idx="65">
                  <c:v>-4.7E-2</c:v>
                </c:pt>
                <c:pt idx="66">
                  <c:v>-0.5</c:v>
                </c:pt>
                <c:pt idx="67">
                  <c:v>-0.69499999999999995</c:v>
                </c:pt>
                <c:pt idx="68">
                  <c:v>-0.44400000000000001</c:v>
                </c:pt>
                <c:pt idx="69">
                  <c:v>-0.14699999999999999</c:v>
                </c:pt>
                <c:pt idx="70">
                  <c:v>-9.0999999999999998E-2</c:v>
                </c:pt>
                <c:pt idx="71">
                  <c:v>-0.42799999999999999</c:v>
                </c:pt>
                <c:pt idx="72">
                  <c:v>-4.0000000000000001E-3</c:v>
                </c:pt>
                <c:pt idx="73">
                  <c:v>-0.34499999999999997</c:v>
                </c:pt>
                <c:pt idx="74">
                  <c:v>2.8000000000000001E-2</c:v>
                </c:pt>
                <c:pt idx="75">
                  <c:v>-0.309</c:v>
                </c:pt>
                <c:pt idx="76">
                  <c:v>0.30099999999999999</c:v>
                </c:pt>
                <c:pt idx="77">
                  <c:v>-0.55500000000000005</c:v>
                </c:pt>
                <c:pt idx="78">
                  <c:v>-0.39400000000000002</c:v>
                </c:pt>
                <c:pt idx="79">
                  <c:v>-0.39800000000000002</c:v>
                </c:pt>
                <c:pt idx="80">
                  <c:v>-0.221</c:v>
                </c:pt>
                <c:pt idx="81">
                  <c:v>-0.30499999999999999</c:v>
                </c:pt>
                <c:pt idx="82">
                  <c:v>7.4999999999999997E-2</c:v>
                </c:pt>
                <c:pt idx="83">
                  <c:v>0.27100000000000002</c:v>
                </c:pt>
                <c:pt idx="84">
                  <c:v>-7.9000000000000001E-2</c:v>
                </c:pt>
                <c:pt idx="85">
                  <c:v>-0.47499999999999998</c:v>
                </c:pt>
                <c:pt idx="86">
                  <c:v>0.219</c:v>
                </c:pt>
                <c:pt idx="87">
                  <c:v>3.1E-2</c:v>
                </c:pt>
                <c:pt idx="88">
                  <c:v>0.188</c:v>
                </c:pt>
                <c:pt idx="89">
                  <c:v>6.7000000000000004E-2</c:v>
                </c:pt>
                <c:pt idx="90">
                  <c:v>-0.35499999999999998</c:v>
                </c:pt>
                <c:pt idx="91">
                  <c:v>-0.39200000000000002</c:v>
                </c:pt>
                <c:pt idx="92">
                  <c:v>-0.11899999999999999</c:v>
                </c:pt>
                <c:pt idx="93">
                  <c:v>1.0999999999999999E-2</c:v>
                </c:pt>
                <c:pt idx="94">
                  <c:v>-0.27500000000000002</c:v>
                </c:pt>
                <c:pt idx="95">
                  <c:v>-0.26400000000000001</c:v>
                </c:pt>
                <c:pt idx="96">
                  <c:v>0</c:v>
                </c:pt>
                <c:pt idx="97">
                  <c:v>-0.36199999999999999</c:v>
                </c:pt>
                <c:pt idx="98">
                  <c:v>-1.4E-2</c:v>
                </c:pt>
                <c:pt idx="99">
                  <c:v>-0.59299999999999997</c:v>
                </c:pt>
                <c:pt idx="100">
                  <c:v>-0.47099999999999997</c:v>
                </c:pt>
                <c:pt idx="101">
                  <c:v>-0.247</c:v>
                </c:pt>
                <c:pt idx="102">
                  <c:v>-0.49099999999999999</c:v>
                </c:pt>
                <c:pt idx="103">
                  <c:v>-1.306</c:v>
                </c:pt>
                <c:pt idx="104">
                  <c:v>-1.2470000000000001</c:v>
                </c:pt>
                <c:pt idx="105">
                  <c:v>-0.30399999999999999</c:v>
                </c:pt>
                <c:pt idx="106">
                  <c:v>-0.318</c:v>
                </c:pt>
                <c:pt idx="107">
                  <c:v>-0.41499999999999998</c:v>
                </c:pt>
                <c:pt idx="108">
                  <c:v>-0.25</c:v>
                </c:pt>
                <c:pt idx="109">
                  <c:v>-0.35899999999999999</c:v>
                </c:pt>
                <c:pt idx="110">
                  <c:v>-0.22700000000000001</c:v>
                </c:pt>
                <c:pt idx="111">
                  <c:v>-0.104</c:v>
                </c:pt>
                <c:pt idx="112">
                  <c:v>-0.124</c:v>
                </c:pt>
                <c:pt idx="113">
                  <c:v>-8.8999999999999996E-2</c:v>
                </c:pt>
                <c:pt idx="114">
                  <c:v>0.06</c:v>
                </c:pt>
                <c:pt idx="115">
                  <c:v>-0.53900000000000003</c:v>
                </c:pt>
                <c:pt idx="116">
                  <c:v>-0.52500000000000002</c:v>
                </c:pt>
                <c:pt idx="117">
                  <c:v>-0.255</c:v>
                </c:pt>
                <c:pt idx="118">
                  <c:v>-0.55400000000000005</c:v>
                </c:pt>
                <c:pt idx="119">
                  <c:v>-1.026</c:v>
                </c:pt>
                <c:pt idx="120">
                  <c:v>-0.78300000000000003</c:v>
                </c:pt>
                <c:pt idx="121">
                  <c:v>-0.67300000000000004</c:v>
                </c:pt>
                <c:pt idx="122">
                  <c:v>-0.81699999999999995</c:v>
                </c:pt>
                <c:pt idx="123">
                  <c:v>-0.82899999999999996</c:v>
                </c:pt>
                <c:pt idx="124">
                  <c:v>-0.78500000000000003</c:v>
                </c:pt>
                <c:pt idx="125">
                  <c:v>-0.80800000000000005</c:v>
                </c:pt>
                <c:pt idx="126">
                  <c:v>-0.40600000000000003</c:v>
                </c:pt>
                <c:pt idx="127">
                  <c:v>-0.24099999999999999</c:v>
                </c:pt>
                <c:pt idx="128">
                  <c:v>-0.32700000000000001</c:v>
                </c:pt>
                <c:pt idx="129">
                  <c:v>-0.25600000000000001</c:v>
                </c:pt>
                <c:pt idx="130">
                  <c:v>-8.3000000000000004E-2</c:v>
                </c:pt>
                <c:pt idx="131">
                  <c:v>-0.155</c:v>
                </c:pt>
                <c:pt idx="132">
                  <c:v>-0.03</c:v>
                </c:pt>
                <c:pt idx="133">
                  <c:v>-2.1000000000000001E-2</c:v>
                </c:pt>
                <c:pt idx="134">
                  <c:v>-0.252</c:v>
                </c:pt>
                <c:pt idx="135">
                  <c:v>6.0000000000000001E-3</c:v>
                </c:pt>
                <c:pt idx="136">
                  <c:v>8.0000000000000002E-3</c:v>
                </c:pt>
                <c:pt idx="137">
                  <c:v>1.4999999999999999E-2</c:v>
                </c:pt>
                <c:pt idx="138">
                  <c:v>-6.2E-2</c:v>
                </c:pt>
                <c:pt idx="139">
                  <c:v>-0.255</c:v>
                </c:pt>
                <c:pt idx="140">
                  <c:v>1.6E-2</c:v>
                </c:pt>
                <c:pt idx="141">
                  <c:v>-7.0999999999999994E-2</c:v>
                </c:pt>
                <c:pt idx="142">
                  <c:v>2.5999999999999999E-2</c:v>
                </c:pt>
                <c:pt idx="143">
                  <c:v>1.6E-2</c:v>
                </c:pt>
              </c:numCache>
            </c:numRef>
          </c:val>
          <c:smooth val="0"/>
          <c:extLst>
            <c:ext xmlns:c16="http://schemas.microsoft.com/office/drawing/2014/chart" uri="{C3380CC4-5D6E-409C-BE32-E72D297353CC}">
              <c16:uniqueId val="{00000001-401E-8849-95D2-6C0CEC2FB2F6}"/>
            </c:ext>
          </c:extLst>
        </c:ser>
        <c:dLbls>
          <c:showLegendKey val="0"/>
          <c:showVal val="0"/>
          <c:showCatName val="0"/>
          <c:showSerName val="0"/>
          <c:showPercent val="0"/>
          <c:showBubbleSize val="0"/>
        </c:dLbls>
        <c:smooth val="0"/>
        <c:axId val="10"/>
        <c:axId val="20"/>
      </c:lineChart>
      <c:catAx>
        <c:axId val="10"/>
        <c:scaling>
          <c:orientation val="minMax"/>
        </c:scaling>
        <c:delete val="0"/>
        <c:axPos val="b"/>
        <c:numFmt formatCode="General" sourceLinked="1"/>
        <c:majorTickMark val="none"/>
        <c:minorTickMark val="none"/>
        <c:tickLblPos val="low"/>
        <c:spPr>
          <a:ln w="15875" cap="rnd">
            <a:solidFill>
              <a:srgbClr val="5E6B7A"/>
            </a:solidFill>
            <a:round/>
          </a:ln>
        </c:spPr>
        <c:crossAx val="20"/>
        <c:crosses val="autoZero"/>
        <c:auto val="1"/>
        <c:lblAlgn val="ctr"/>
        <c:lblOffset val="100"/>
        <c:noMultiLvlLbl val="0"/>
      </c:catAx>
      <c:valAx>
        <c:axId val="20"/>
        <c:scaling>
          <c:orientation val="minMax"/>
          <c:max val="1.5"/>
          <c:min val="-2.5"/>
        </c:scaling>
        <c:delete val="0"/>
        <c:axPos val="l"/>
        <c:majorGridlines>
          <c:spPr>
            <a:ln w="9525" cap="rnd">
              <a:solidFill>
                <a:srgbClr val="E3E7EC"/>
              </a:solidFill>
              <a:round/>
            </a:ln>
          </c:spPr>
        </c:majorGridlines>
        <c:title>
          <c:tx>
            <c:rich>
              <a:bodyPr rot="-5400000" vert="horz"/>
              <a:lstStyle/>
              <a:p>
                <a:pPr>
                  <a:defRPr sz="900" b="0"/>
                </a:pPr>
                <a:r>
                  <a:rPr lang="ja-JP" sz="900" b="0"/>
                  <a:t>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majorUnit val="0.5"/>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scatterChart>
        <c:scatterStyle val="lineMarker"/>
        <c:varyColors val="0"/>
        <c:ser>
          <c:idx val="0"/>
          <c:order val="0"/>
          <c:tx>
            <c:strRef>
              <c:f>'付録_日射遮蔽'!$F$1</c:f>
              <c:strCache>
                <c:ptCount val="1"/>
                <c:pt idx="0">
                  <c:v>列8</c:v>
                </c:pt>
              </c:strCache>
            </c:strRef>
          </c:tx>
          <c:spPr>
            <a:ln>
              <a:noFill/>
            </a:ln>
          </c:spPr>
          <c:marker>
            <c:symbol val="circle"/>
            <c:size val="5"/>
            <c:spPr>
              <a:solidFill>
                <a:srgbClr val="01B8AA"/>
              </a:solidFill>
              <a:ln w="9525" cap="rnd">
                <a:solidFill>
                  <a:srgbClr val="01B8AA"/>
                </a:solidFill>
                <a:round/>
              </a:ln>
            </c:spPr>
          </c:marker>
          <c:trendline>
            <c:spPr>
              <a:ln w="15875" cap="rnd">
                <a:solidFill>
                  <a:srgbClr val="22354F"/>
                </a:solidFill>
                <a:prstDash val="dash"/>
                <a:round/>
              </a:ln>
            </c:spPr>
            <c:trendlineType val="linear"/>
            <c:dispRSqr val="0"/>
            <c:dispEq val="0"/>
          </c:trendline>
          <c:xVal>
            <c:numRef>
              <c:f>'付録_日射遮蔽'!$D$2:$D$60</c:f>
              <c:numCache>
                <c:formatCode>General</c:formatCode>
                <c:ptCount val="59"/>
                <c:pt idx="0">
                  <c:v>86.400999999999996</c:v>
                </c:pt>
                <c:pt idx="1">
                  <c:v>132.76599999999999</c:v>
                </c:pt>
                <c:pt idx="2">
                  <c:v>259.58100000000002</c:v>
                </c:pt>
                <c:pt idx="3">
                  <c:v>438.12599999999998</c:v>
                </c:pt>
                <c:pt idx="4">
                  <c:v>243.721</c:v>
                </c:pt>
                <c:pt idx="5">
                  <c:v>120.63200000000001</c:v>
                </c:pt>
                <c:pt idx="6">
                  <c:v>398.673</c:v>
                </c:pt>
                <c:pt idx="7">
                  <c:v>542.72400000000005</c:v>
                </c:pt>
                <c:pt idx="8">
                  <c:v>390.8</c:v>
                </c:pt>
                <c:pt idx="9">
                  <c:v>177.262</c:v>
                </c:pt>
                <c:pt idx="10">
                  <c:v>307.83199999999999</c:v>
                </c:pt>
                <c:pt idx="11">
                  <c:v>177.666</c:v>
                </c:pt>
                <c:pt idx="12">
                  <c:v>122.51900000000001</c:v>
                </c:pt>
                <c:pt idx="13">
                  <c:v>152.44300000000001</c:v>
                </c:pt>
                <c:pt idx="14">
                  <c:v>722.69100000000003</c:v>
                </c:pt>
                <c:pt idx="15">
                  <c:v>674.91200000000003</c:v>
                </c:pt>
                <c:pt idx="16">
                  <c:v>388.79599999999999</c:v>
                </c:pt>
                <c:pt idx="17">
                  <c:v>237.953</c:v>
                </c:pt>
                <c:pt idx="18">
                  <c:v>178.67699999999999</c:v>
                </c:pt>
                <c:pt idx="19">
                  <c:v>210.227</c:v>
                </c:pt>
                <c:pt idx="20">
                  <c:v>271.25400000000002</c:v>
                </c:pt>
                <c:pt idx="21">
                  <c:v>335.24200000000002</c:v>
                </c:pt>
                <c:pt idx="22">
                  <c:v>259.37599999999998</c:v>
                </c:pt>
                <c:pt idx="23">
                  <c:v>249.648</c:v>
                </c:pt>
                <c:pt idx="24">
                  <c:v>102.182</c:v>
                </c:pt>
                <c:pt idx="25">
                  <c:v>88.227000000000004</c:v>
                </c:pt>
                <c:pt idx="26">
                  <c:v>88.807000000000002</c:v>
                </c:pt>
                <c:pt idx="27">
                  <c:v>199.233</c:v>
                </c:pt>
                <c:pt idx="28">
                  <c:v>120.021</c:v>
                </c:pt>
                <c:pt idx="29">
                  <c:v>118.322</c:v>
                </c:pt>
                <c:pt idx="30">
                  <c:v>137.28700000000001</c:v>
                </c:pt>
                <c:pt idx="31">
                  <c:v>196.91499999999999</c:v>
                </c:pt>
                <c:pt idx="32">
                  <c:v>123.077</c:v>
                </c:pt>
                <c:pt idx="33">
                  <c:v>161.30000000000001</c:v>
                </c:pt>
                <c:pt idx="34">
                  <c:v>262.90300000000002</c:v>
                </c:pt>
                <c:pt idx="35">
                  <c:v>439.46600000000001</c:v>
                </c:pt>
                <c:pt idx="36">
                  <c:v>713.11900000000003</c:v>
                </c:pt>
                <c:pt idx="37">
                  <c:v>253.20400000000001</c:v>
                </c:pt>
                <c:pt idx="38">
                  <c:v>103.371</c:v>
                </c:pt>
                <c:pt idx="39">
                  <c:v>131.327</c:v>
                </c:pt>
                <c:pt idx="40">
                  <c:v>275.38400000000001</c:v>
                </c:pt>
                <c:pt idx="41">
                  <c:v>277.39299999999997</c:v>
                </c:pt>
                <c:pt idx="42">
                  <c:v>187.102</c:v>
                </c:pt>
                <c:pt idx="43">
                  <c:v>275.02999999999997</c:v>
                </c:pt>
                <c:pt idx="44">
                  <c:v>138.22399999999999</c:v>
                </c:pt>
                <c:pt idx="45">
                  <c:v>161.42699999999999</c:v>
                </c:pt>
                <c:pt idx="46">
                  <c:v>230.16399999999999</c:v>
                </c:pt>
                <c:pt idx="47">
                  <c:v>136.79400000000001</c:v>
                </c:pt>
                <c:pt idx="48">
                  <c:v>183.37700000000001</c:v>
                </c:pt>
                <c:pt idx="49">
                  <c:v>141.77600000000001</c:v>
                </c:pt>
                <c:pt idx="50">
                  <c:v>87.338999999999999</c:v>
                </c:pt>
                <c:pt idx="51">
                  <c:v>116.033</c:v>
                </c:pt>
                <c:pt idx="52">
                  <c:v>699.26700000000005</c:v>
                </c:pt>
                <c:pt idx="53">
                  <c:v>802.01</c:v>
                </c:pt>
                <c:pt idx="54">
                  <c:v>796.5</c:v>
                </c:pt>
                <c:pt idx="55">
                  <c:v>745.42899999999997</c:v>
                </c:pt>
                <c:pt idx="56">
                  <c:v>587.62800000000004</c:v>
                </c:pt>
                <c:pt idx="57">
                  <c:v>380.54199999999997</c:v>
                </c:pt>
                <c:pt idx="58">
                  <c:v>102.749</c:v>
                </c:pt>
              </c:numCache>
            </c:numRef>
          </c:xVal>
          <c:yVal>
            <c:numRef>
              <c:f>'付録_日射遮蔽'!$F$2:$F$60</c:f>
              <c:numCache>
                <c:formatCode>General</c:formatCode>
                <c:ptCount val="59"/>
                <c:pt idx="0">
                  <c:v>0.12</c:v>
                </c:pt>
                <c:pt idx="1">
                  <c:v>-0.23499999999999999</c:v>
                </c:pt>
                <c:pt idx="2">
                  <c:v>-0.64800000000000002</c:v>
                </c:pt>
                <c:pt idx="3">
                  <c:v>-5.8999999999999997E-2</c:v>
                </c:pt>
                <c:pt idx="4">
                  <c:v>-0.16200000000000001</c:v>
                </c:pt>
                <c:pt idx="5">
                  <c:v>-0.17399999999999999</c:v>
                </c:pt>
                <c:pt idx="6">
                  <c:v>-0.35499999999999998</c:v>
                </c:pt>
                <c:pt idx="7">
                  <c:v>-0.23300000000000001</c:v>
                </c:pt>
                <c:pt idx="8">
                  <c:v>-0.246</c:v>
                </c:pt>
                <c:pt idx="9">
                  <c:v>-0.20699999999999999</c:v>
                </c:pt>
                <c:pt idx="10">
                  <c:v>0.13600000000000001</c:v>
                </c:pt>
                <c:pt idx="11">
                  <c:v>2.8000000000000001E-2</c:v>
                </c:pt>
                <c:pt idx="12">
                  <c:v>-0.42899999999999999</c:v>
                </c:pt>
                <c:pt idx="13">
                  <c:v>-0.28100000000000003</c:v>
                </c:pt>
                <c:pt idx="14">
                  <c:v>-0.40400000000000003</c:v>
                </c:pt>
                <c:pt idx="15">
                  <c:v>0.22</c:v>
                </c:pt>
                <c:pt idx="16">
                  <c:v>-8.4000000000000005E-2</c:v>
                </c:pt>
                <c:pt idx="17">
                  <c:v>-0.222</c:v>
                </c:pt>
                <c:pt idx="18">
                  <c:v>-0.26500000000000001</c:v>
                </c:pt>
                <c:pt idx="19">
                  <c:v>-0.40100000000000002</c:v>
                </c:pt>
                <c:pt idx="20">
                  <c:v>-0.436</c:v>
                </c:pt>
                <c:pt idx="21">
                  <c:v>-0.31900000000000001</c:v>
                </c:pt>
                <c:pt idx="22">
                  <c:v>-0.32400000000000001</c:v>
                </c:pt>
                <c:pt idx="23">
                  <c:v>-0.159</c:v>
                </c:pt>
                <c:pt idx="24">
                  <c:v>9.1999999999999998E-2</c:v>
                </c:pt>
                <c:pt idx="25">
                  <c:v>-0.37</c:v>
                </c:pt>
                <c:pt idx="26">
                  <c:v>-0.45100000000000001</c:v>
                </c:pt>
                <c:pt idx="27">
                  <c:v>-0.59399999999999997</c:v>
                </c:pt>
                <c:pt idx="28">
                  <c:v>-0.46800000000000003</c:v>
                </c:pt>
                <c:pt idx="29">
                  <c:v>-0.51300000000000001</c:v>
                </c:pt>
                <c:pt idx="30">
                  <c:v>-0.50800000000000001</c:v>
                </c:pt>
                <c:pt idx="31">
                  <c:v>-0.66700000000000004</c:v>
                </c:pt>
                <c:pt idx="32">
                  <c:v>-1.157</c:v>
                </c:pt>
                <c:pt idx="33">
                  <c:v>-0.47599999999999998</c:v>
                </c:pt>
                <c:pt idx="34">
                  <c:v>-0.50600000000000001</c:v>
                </c:pt>
                <c:pt idx="35">
                  <c:v>-0.71699999999999997</c:v>
                </c:pt>
                <c:pt idx="36">
                  <c:v>-0.47099999999999997</c:v>
                </c:pt>
                <c:pt idx="37">
                  <c:v>-0.36399999999999999</c:v>
                </c:pt>
                <c:pt idx="38">
                  <c:v>-0.251</c:v>
                </c:pt>
                <c:pt idx="39">
                  <c:v>-0.52600000000000002</c:v>
                </c:pt>
                <c:pt idx="40">
                  <c:v>-0.57399999999999995</c:v>
                </c:pt>
                <c:pt idx="41">
                  <c:v>-0.372</c:v>
                </c:pt>
                <c:pt idx="42">
                  <c:v>-0.46</c:v>
                </c:pt>
                <c:pt idx="43">
                  <c:v>-0.46700000000000003</c:v>
                </c:pt>
                <c:pt idx="44">
                  <c:v>-8.6999999999999994E-2</c:v>
                </c:pt>
                <c:pt idx="45">
                  <c:v>-0.54900000000000004</c:v>
                </c:pt>
                <c:pt idx="46">
                  <c:v>-0.70799999999999996</c:v>
                </c:pt>
                <c:pt idx="47">
                  <c:v>-0.35099999999999998</c:v>
                </c:pt>
                <c:pt idx="48">
                  <c:v>-0.56599999999999995</c:v>
                </c:pt>
                <c:pt idx="49">
                  <c:v>0.59</c:v>
                </c:pt>
                <c:pt idx="50">
                  <c:v>-0.121</c:v>
                </c:pt>
                <c:pt idx="51">
                  <c:v>-0.47399999999999998</c:v>
                </c:pt>
                <c:pt idx="52">
                  <c:v>-0.81899999999999995</c:v>
                </c:pt>
                <c:pt idx="53">
                  <c:v>2.1999999999999999E-2</c:v>
                </c:pt>
                <c:pt idx="54">
                  <c:v>1.3340000000000001</c:v>
                </c:pt>
                <c:pt idx="55">
                  <c:v>0.44700000000000001</c:v>
                </c:pt>
                <c:pt idx="56">
                  <c:v>-0.29899999999999999</c:v>
                </c:pt>
                <c:pt idx="57">
                  <c:v>-0.51200000000000001</c:v>
                </c:pt>
                <c:pt idx="58">
                  <c:v>-0.24399999999999999</c:v>
                </c:pt>
              </c:numCache>
            </c:numRef>
          </c:yVal>
          <c:smooth val="0"/>
          <c:extLst>
            <c:ext xmlns:c16="http://schemas.microsoft.com/office/drawing/2014/chart" uri="{C3380CC4-5D6E-409C-BE32-E72D297353CC}">
              <c16:uniqueId val="{00000001-A17D-8C49-B514-BA7B12CF63CB}"/>
            </c:ext>
          </c:extLst>
        </c:ser>
        <c:dLbls>
          <c:showLegendKey val="0"/>
          <c:showVal val="0"/>
          <c:showCatName val="0"/>
          <c:showSerName val="0"/>
          <c:showPercent val="0"/>
          <c:showBubbleSize val="0"/>
        </c:dLbls>
        <c:axId val="10"/>
        <c:axId val="20"/>
      </c:scatterChart>
      <c:valAx>
        <c:axId val="10"/>
        <c:scaling>
          <c:orientation val="minMax"/>
          <c:max val="900"/>
          <c:min val="0"/>
        </c:scaling>
        <c:delete val="0"/>
        <c:axPos val="b"/>
        <c:title>
          <c:tx>
            <c:rich>
              <a:bodyPr/>
              <a:lstStyle/>
              <a:p>
                <a:pPr>
                  <a:defRPr sz="900" b="0"/>
                </a:pPr>
                <a:r>
                  <a:rPr lang="ja-JP" sz="900" b="0"/>
                  <a:t>遮られた日射量［W/㎡］</a:t>
                </a:r>
              </a:p>
            </c:rich>
          </c:tx>
          <c:overlay val="0"/>
        </c:title>
        <c:numFmt formatCode="0" sourceLinked="0"/>
        <c:majorTickMark val="out"/>
        <c:minorTickMark val="none"/>
        <c:tickLblPos val="low"/>
        <c:spPr>
          <a:ln w="15875" cap="rnd">
            <a:solidFill>
              <a:srgbClr val="5E6B7A"/>
            </a:solidFill>
            <a:round/>
          </a:ln>
        </c:spPr>
        <c:crossAx val="20"/>
        <c:crosses val="autoZero"/>
        <c:crossBetween val="midCat"/>
        <c:majorUnit val="200"/>
      </c:valAx>
      <c:valAx>
        <c:axId val="20"/>
        <c:scaling>
          <c:orientation val="minMax"/>
          <c:max val="1.5"/>
          <c:min val="-1.5"/>
        </c:scaling>
        <c:delete val="0"/>
        <c:axPos val="l"/>
        <c:majorGridlines>
          <c:spPr>
            <a:ln w="9525" cap="rnd">
              <a:solidFill>
                <a:srgbClr val="E3E7EC"/>
              </a:solidFill>
              <a:round/>
            </a:ln>
          </c:spPr>
        </c:majorGridlines>
        <c:title>
          <c:tx>
            <c:rich>
              <a:bodyPr rot="-5400000" vert="horz"/>
              <a:lstStyle/>
              <a:p>
                <a:pPr>
                  <a:defRPr sz="900" b="0"/>
                </a:pPr>
                <a:r>
                  <a:rPr lang="ja-JP" sz="900" b="0"/>
                  <a:t>1時間平均の吸気温度差［℃］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c:style val="2"/>
  <c:chart>
    <c:autoTitleDeleted val="1"/>
    <c:plotArea>
      <c:layout/>
      <c:scatterChart>
        <c:scatterStyle val="lineMarker"/>
        <c:varyColors val="0"/>
        <c:ser>
          <c:idx val="0"/>
          <c:order val="0"/>
          <c:tx>
            <c:strRef>
              <c:f>'付録_日射遮蔽'!$F$1</c:f>
              <c:strCache>
                <c:ptCount val="1"/>
                <c:pt idx="0">
                  <c:v>列8</c:v>
                </c:pt>
              </c:strCache>
            </c:strRef>
          </c:tx>
          <c:spPr>
            <a:ln>
              <a:noFill/>
            </a:ln>
          </c:spPr>
          <c:marker>
            <c:symbol val="circle"/>
            <c:size val="5"/>
            <c:spPr>
              <a:solidFill>
                <a:srgbClr val="01B8AA"/>
              </a:solidFill>
              <a:ln w="9525" cap="rnd">
                <a:solidFill>
                  <a:srgbClr val="01B8AA"/>
                </a:solidFill>
                <a:round/>
              </a:ln>
            </c:spPr>
          </c:marker>
          <c:trendline>
            <c:spPr>
              <a:ln w="15875" cap="rnd">
                <a:solidFill>
                  <a:srgbClr val="22354F"/>
                </a:solidFill>
                <a:prstDash val="dash"/>
                <a:round/>
              </a:ln>
            </c:spPr>
            <c:trendlineType val="linear"/>
            <c:dispRSqr val="0"/>
            <c:dispEq val="0"/>
          </c:trendline>
          <c:xVal>
            <c:numRef>
              <c:f>'付録_日射遮蔽'!$E$2:$E$60</c:f>
              <c:numCache>
                <c:formatCode>General</c:formatCode>
                <c:ptCount val="59"/>
                <c:pt idx="0">
                  <c:v>79.591999999999999</c:v>
                </c:pt>
                <c:pt idx="1">
                  <c:v>81.161000000000001</c:v>
                </c:pt>
                <c:pt idx="2">
                  <c:v>83.144999999999996</c:v>
                </c:pt>
                <c:pt idx="3">
                  <c:v>87.688999999999993</c:v>
                </c:pt>
                <c:pt idx="4">
                  <c:v>85.260999999999996</c:v>
                </c:pt>
                <c:pt idx="5">
                  <c:v>82.066999999999993</c:v>
                </c:pt>
                <c:pt idx="6">
                  <c:v>82.867999999999995</c:v>
                </c:pt>
                <c:pt idx="7">
                  <c:v>86.593000000000004</c:v>
                </c:pt>
                <c:pt idx="8">
                  <c:v>84.837999999999994</c:v>
                </c:pt>
                <c:pt idx="9">
                  <c:v>83.427000000000007</c:v>
                </c:pt>
                <c:pt idx="10">
                  <c:v>85.533000000000001</c:v>
                </c:pt>
                <c:pt idx="11">
                  <c:v>81.394000000000005</c:v>
                </c:pt>
                <c:pt idx="12">
                  <c:v>86.293000000000006</c:v>
                </c:pt>
                <c:pt idx="13">
                  <c:v>85.35</c:v>
                </c:pt>
                <c:pt idx="14">
                  <c:v>91.417000000000002</c:v>
                </c:pt>
                <c:pt idx="15">
                  <c:v>90.454999999999998</c:v>
                </c:pt>
                <c:pt idx="16">
                  <c:v>88.858999999999995</c:v>
                </c:pt>
                <c:pt idx="17">
                  <c:v>84.183000000000007</c:v>
                </c:pt>
                <c:pt idx="18">
                  <c:v>84.664000000000001</c:v>
                </c:pt>
                <c:pt idx="19">
                  <c:v>84.367999999999995</c:v>
                </c:pt>
                <c:pt idx="20">
                  <c:v>83.805999999999997</c:v>
                </c:pt>
                <c:pt idx="21">
                  <c:v>85.748000000000005</c:v>
                </c:pt>
                <c:pt idx="22">
                  <c:v>85.706999999999994</c:v>
                </c:pt>
                <c:pt idx="23">
                  <c:v>85.631</c:v>
                </c:pt>
                <c:pt idx="24">
                  <c:v>82.960999999999999</c:v>
                </c:pt>
                <c:pt idx="25">
                  <c:v>84.593999999999994</c:v>
                </c:pt>
                <c:pt idx="26">
                  <c:v>85.623999999999995</c:v>
                </c:pt>
                <c:pt idx="27">
                  <c:v>85.472999999999999</c:v>
                </c:pt>
                <c:pt idx="28">
                  <c:v>84.602000000000004</c:v>
                </c:pt>
                <c:pt idx="29">
                  <c:v>84.840999999999994</c:v>
                </c:pt>
                <c:pt idx="30">
                  <c:v>84.831000000000003</c:v>
                </c:pt>
                <c:pt idx="31">
                  <c:v>86.161000000000001</c:v>
                </c:pt>
                <c:pt idx="32">
                  <c:v>84.096000000000004</c:v>
                </c:pt>
                <c:pt idx="33">
                  <c:v>82.134</c:v>
                </c:pt>
                <c:pt idx="34">
                  <c:v>84.203000000000003</c:v>
                </c:pt>
                <c:pt idx="35">
                  <c:v>88.549000000000007</c:v>
                </c:pt>
                <c:pt idx="36">
                  <c:v>90.135000000000005</c:v>
                </c:pt>
                <c:pt idx="37">
                  <c:v>86.945999999999998</c:v>
                </c:pt>
                <c:pt idx="38">
                  <c:v>88.563999999999993</c:v>
                </c:pt>
                <c:pt idx="39">
                  <c:v>79.087999999999994</c:v>
                </c:pt>
                <c:pt idx="40">
                  <c:v>84.144000000000005</c:v>
                </c:pt>
                <c:pt idx="41">
                  <c:v>86.588999999999999</c:v>
                </c:pt>
                <c:pt idx="42">
                  <c:v>88.180999999999997</c:v>
                </c:pt>
                <c:pt idx="43">
                  <c:v>89.831999999999994</c:v>
                </c:pt>
                <c:pt idx="44">
                  <c:v>88.751000000000005</c:v>
                </c:pt>
                <c:pt idx="45">
                  <c:v>85.27</c:v>
                </c:pt>
                <c:pt idx="46">
                  <c:v>83.662999999999997</c:v>
                </c:pt>
                <c:pt idx="47">
                  <c:v>84.486999999999995</c:v>
                </c:pt>
                <c:pt idx="48">
                  <c:v>85.694999999999993</c:v>
                </c:pt>
                <c:pt idx="49">
                  <c:v>89.736000000000004</c:v>
                </c:pt>
                <c:pt idx="50">
                  <c:v>86.27</c:v>
                </c:pt>
                <c:pt idx="51">
                  <c:v>87.009</c:v>
                </c:pt>
                <c:pt idx="52">
                  <c:v>94.055999999999997</c:v>
                </c:pt>
                <c:pt idx="53">
                  <c:v>93.481999999999999</c:v>
                </c:pt>
                <c:pt idx="54">
                  <c:v>93.575999999999993</c:v>
                </c:pt>
                <c:pt idx="55">
                  <c:v>95.144000000000005</c:v>
                </c:pt>
                <c:pt idx="56">
                  <c:v>94.417000000000002</c:v>
                </c:pt>
                <c:pt idx="57">
                  <c:v>93.715999999999994</c:v>
                </c:pt>
                <c:pt idx="58">
                  <c:v>92.24</c:v>
                </c:pt>
              </c:numCache>
            </c:numRef>
          </c:xVal>
          <c:yVal>
            <c:numRef>
              <c:f>'付録_日射遮蔽'!$F$2:$F$60</c:f>
              <c:numCache>
                <c:formatCode>General</c:formatCode>
                <c:ptCount val="59"/>
                <c:pt idx="0">
                  <c:v>0.12</c:v>
                </c:pt>
                <c:pt idx="1">
                  <c:v>-0.23499999999999999</c:v>
                </c:pt>
                <c:pt idx="2">
                  <c:v>-0.64800000000000002</c:v>
                </c:pt>
                <c:pt idx="3">
                  <c:v>-5.8999999999999997E-2</c:v>
                </c:pt>
                <c:pt idx="4">
                  <c:v>-0.16200000000000001</c:v>
                </c:pt>
                <c:pt idx="5">
                  <c:v>-0.17399999999999999</c:v>
                </c:pt>
                <c:pt idx="6">
                  <c:v>-0.35499999999999998</c:v>
                </c:pt>
                <c:pt idx="7">
                  <c:v>-0.23300000000000001</c:v>
                </c:pt>
                <c:pt idx="8">
                  <c:v>-0.246</c:v>
                </c:pt>
                <c:pt idx="9">
                  <c:v>-0.20699999999999999</c:v>
                </c:pt>
                <c:pt idx="10">
                  <c:v>0.13600000000000001</c:v>
                </c:pt>
                <c:pt idx="11">
                  <c:v>2.8000000000000001E-2</c:v>
                </c:pt>
                <c:pt idx="12">
                  <c:v>-0.42899999999999999</c:v>
                </c:pt>
                <c:pt idx="13">
                  <c:v>-0.28100000000000003</c:v>
                </c:pt>
                <c:pt idx="14">
                  <c:v>-0.40400000000000003</c:v>
                </c:pt>
                <c:pt idx="15">
                  <c:v>0.22</c:v>
                </c:pt>
                <c:pt idx="16">
                  <c:v>-8.4000000000000005E-2</c:v>
                </c:pt>
                <c:pt idx="17">
                  <c:v>-0.222</c:v>
                </c:pt>
                <c:pt idx="18">
                  <c:v>-0.26500000000000001</c:v>
                </c:pt>
                <c:pt idx="19">
                  <c:v>-0.40100000000000002</c:v>
                </c:pt>
                <c:pt idx="20">
                  <c:v>-0.436</c:v>
                </c:pt>
                <c:pt idx="21">
                  <c:v>-0.31900000000000001</c:v>
                </c:pt>
                <c:pt idx="22">
                  <c:v>-0.32400000000000001</c:v>
                </c:pt>
                <c:pt idx="23">
                  <c:v>-0.159</c:v>
                </c:pt>
                <c:pt idx="24">
                  <c:v>9.1999999999999998E-2</c:v>
                </c:pt>
                <c:pt idx="25">
                  <c:v>-0.37</c:v>
                </c:pt>
                <c:pt idx="26">
                  <c:v>-0.45100000000000001</c:v>
                </c:pt>
                <c:pt idx="27">
                  <c:v>-0.59399999999999997</c:v>
                </c:pt>
                <c:pt idx="28">
                  <c:v>-0.46800000000000003</c:v>
                </c:pt>
                <c:pt idx="29">
                  <c:v>-0.51300000000000001</c:v>
                </c:pt>
                <c:pt idx="30">
                  <c:v>-0.50800000000000001</c:v>
                </c:pt>
                <c:pt idx="31">
                  <c:v>-0.66700000000000004</c:v>
                </c:pt>
                <c:pt idx="32">
                  <c:v>-1.157</c:v>
                </c:pt>
                <c:pt idx="33">
                  <c:v>-0.47599999999999998</c:v>
                </c:pt>
                <c:pt idx="34">
                  <c:v>-0.50600000000000001</c:v>
                </c:pt>
                <c:pt idx="35">
                  <c:v>-0.71699999999999997</c:v>
                </c:pt>
                <c:pt idx="36">
                  <c:v>-0.47099999999999997</c:v>
                </c:pt>
                <c:pt idx="37">
                  <c:v>-0.36399999999999999</c:v>
                </c:pt>
                <c:pt idx="38">
                  <c:v>-0.251</c:v>
                </c:pt>
                <c:pt idx="39">
                  <c:v>-0.52600000000000002</c:v>
                </c:pt>
                <c:pt idx="40">
                  <c:v>-0.57399999999999995</c:v>
                </c:pt>
                <c:pt idx="41">
                  <c:v>-0.372</c:v>
                </c:pt>
                <c:pt idx="42">
                  <c:v>-0.46</c:v>
                </c:pt>
                <c:pt idx="43">
                  <c:v>-0.46700000000000003</c:v>
                </c:pt>
                <c:pt idx="44">
                  <c:v>-8.6999999999999994E-2</c:v>
                </c:pt>
                <c:pt idx="45">
                  <c:v>-0.54900000000000004</c:v>
                </c:pt>
                <c:pt idx="46">
                  <c:v>-0.70799999999999996</c:v>
                </c:pt>
                <c:pt idx="47">
                  <c:v>-0.35099999999999998</c:v>
                </c:pt>
                <c:pt idx="48">
                  <c:v>-0.56599999999999995</c:v>
                </c:pt>
                <c:pt idx="49">
                  <c:v>0.59</c:v>
                </c:pt>
                <c:pt idx="50">
                  <c:v>-0.121</c:v>
                </c:pt>
                <c:pt idx="51">
                  <c:v>-0.47399999999999998</c:v>
                </c:pt>
                <c:pt idx="52">
                  <c:v>-0.81899999999999995</c:v>
                </c:pt>
                <c:pt idx="53">
                  <c:v>2.1999999999999999E-2</c:v>
                </c:pt>
                <c:pt idx="54">
                  <c:v>1.3340000000000001</c:v>
                </c:pt>
                <c:pt idx="55">
                  <c:v>0.44700000000000001</c:v>
                </c:pt>
                <c:pt idx="56">
                  <c:v>-0.29899999999999999</c:v>
                </c:pt>
                <c:pt idx="57">
                  <c:v>-0.51200000000000001</c:v>
                </c:pt>
                <c:pt idx="58">
                  <c:v>-0.24399999999999999</c:v>
                </c:pt>
              </c:numCache>
            </c:numRef>
          </c:yVal>
          <c:smooth val="0"/>
          <c:extLst>
            <c:ext xmlns:c16="http://schemas.microsoft.com/office/drawing/2014/chart" uri="{C3380CC4-5D6E-409C-BE32-E72D297353CC}">
              <c16:uniqueId val="{00000001-5B5D-F243-A5E4-506C3924017B}"/>
            </c:ext>
          </c:extLst>
        </c:ser>
        <c:dLbls>
          <c:showLegendKey val="0"/>
          <c:showVal val="0"/>
          <c:showCatName val="0"/>
          <c:showSerName val="0"/>
          <c:showPercent val="0"/>
          <c:showBubbleSize val="0"/>
        </c:dLbls>
        <c:axId val="10"/>
        <c:axId val="20"/>
      </c:scatterChart>
      <c:valAx>
        <c:axId val="10"/>
        <c:scaling>
          <c:orientation val="minMax"/>
          <c:max val="100"/>
          <c:min val="75"/>
        </c:scaling>
        <c:delete val="0"/>
        <c:axPos val="b"/>
        <c:title>
          <c:tx>
            <c:rich>
              <a:bodyPr/>
              <a:lstStyle/>
              <a:p>
                <a:pPr>
                  <a:defRPr sz="900" b="0"/>
                </a:pPr>
                <a:r>
                  <a:rPr lang="ja-JP" sz="900" b="0"/>
                  <a:t>日射遮蔽率［％］</a:t>
                </a:r>
              </a:p>
            </c:rich>
          </c:tx>
          <c:overlay val="0"/>
        </c:title>
        <c:numFmt formatCode="0" sourceLinked="0"/>
        <c:majorTickMark val="out"/>
        <c:minorTickMark val="none"/>
        <c:tickLblPos val="low"/>
        <c:spPr>
          <a:ln w="15875" cap="rnd">
            <a:solidFill>
              <a:srgbClr val="5E6B7A"/>
            </a:solidFill>
            <a:round/>
          </a:ln>
        </c:spPr>
        <c:crossAx val="20"/>
        <c:crosses val="autoZero"/>
        <c:crossBetween val="midCat"/>
        <c:majorUnit val="5"/>
      </c:valAx>
      <c:valAx>
        <c:axId val="20"/>
        <c:scaling>
          <c:orientation val="minMax"/>
          <c:max val="1.5"/>
          <c:min val="-1.5"/>
        </c:scaling>
        <c:delete val="0"/>
        <c:axPos val="l"/>
        <c:majorGridlines>
          <c:spPr>
            <a:ln w="9525" cap="rnd">
              <a:solidFill>
                <a:srgbClr val="E3E7EC"/>
              </a:solidFill>
              <a:round/>
            </a:ln>
          </c:spPr>
        </c:majorGridlines>
        <c:title>
          <c:tx>
            <c:rich>
              <a:bodyPr rot="-5400000" vert="horz"/>
              <a:lstStyle/>
              <a:p>
                <a:pPr>
                  <a:defRPr sz="900" b="0"/>
                </a:pPr>
                <a:r>
                  <a:rPr lang="ja-JP" sz="900" b="0"/>
                  <a:t>1時間平均の吸気温度差［℃］</a:t>
                </a:r>
              </a:p>
            </c:rich>
          </c:tx>
          <c:overlay val="0"/>
        </c:title>
        <c:numFmt formatCode="0.0" sourceLinked="0"/>
        <c:majorTickMark val="out"/>
        <c:minorTickMark val="none"/>
        <c:tickLblPos val="nextTo"/>
        <c:spPr>
          <a:ln w="9525" cap="rnd">
            <a:solidFill>
              <a:srgbClr val="5E6B7A"/>
            </a:solidFill>
            <a:round/>
          </a:ln>
        </c:spPr>
        <c:crossAx val="10"/>
        <c:crosses val="autoZero"/>
        <c:crossBetween val="between"/>
      </c:valAx>
    </c:plotArea>
    <c:plotVisOnly val="1"/>
    <c:dispBlanksAs val="gap"/>
    <c:showDLblsOverMax val="1"/>
  </c:chart>
  <c:spPr>
    <a:noFill/>
    <a:ln>
      <a:noFill/>
    </a:ln>
  </c:spPr>
  <c:txPr>
    <a:bodyPr/>
    <a:lstStyle/>
    <a:p>
      <a:pPr>
        <a:defRPr sz="900">
          <a:solidFill>
            <a:srgbClr val="172033"/>
          </a:solidFill>
          <a:latin typeface="游ゴシック"/>
          <a:ea typeface="游ゴシック"/>
          <a:cs typeface="游ゴシック"/>
        </a:defRPr>
      </a:pPr>
      <a:endParaRPr lang="ja-JP"/>
    </a:p>
  </c:txPr>
  <c:externalData r:id="rId1">
    <c:autoUpdate val="0"/>
  </c:externalData>
</c:chartSpace>
</file>

<file path=ppt/comments/modernComment_10A_0.xml><?xml version="1.0" encoding="utf-8"?>
<p188:cmLst xmlns:a="http://schemas.openxmlformats.org/drawingml/2006/main" xmlns:r="http://schemas.openxmlformats.org/officeDocument/2006/relationships" xmlns:p188="http://schemas.microsoft.com/office/powerpoint/2018/8/main">
  <p188:cm id="{85814CC8-9D74-BF4A-9949-20052A26B3FD}" authorId="{485FE2FF-9899-62DA-30A3-A58E7F9AFF31}" created="2026-10-04T06:32:41.133">
    <pc:sldMkLst xmlns:pc="http://schemas.microsoft.com/office/powerpoint/2013/main/command">
      <pc:docMk/>
      <pc:sldMk cId="0" sldId="266"/>
    </pc:sldMkLst>
    <p188:txBody>
      <a:bodyPr/>
      <a:lstStyle/>
      <a:p>
        <a:r>
          <a:rPr lang="ja-JP" altLang="en-US"/>
          <a:t>ここで扱っている吸気温度の算出方法をスライドに記入してください。列８のすべての吸気温度を平均しているのか、どこかの吸気温度を代表値を取って作成しているのか。</a:t>
        </a:r>
      </a:p>
    </p188:txBody>
  </p188:cm>
</p188:cmLst>
</file>

<file path=ppt/comments/modernComment_10E_0.xml><?xml version="1.0" encoding="utf-8"?>
<p188:cmLst xmlns:a="http://schemas.openxmlformats.org/drawingml/2006/main" xmlns:r="http://schemas.openxmlformats.org/officeDocument/2006/relationships" xmlns:p188="http://schemas.microsoft.com/office/powerpoint/2018/8/main">
  <p188:cm id="{36609C77-95D3-474B-B18D-F43D06E1E9AE}" authorId="{485FE2FF-9899-62DA-30A3-A58E7F9AFF31}" created="2026-10-04T06:34:15.168">
    <ac:deMkLst xmlns:ac="http://schemas.microsoft.com/office/drawing/2013/main/command">
      <pc:docMk xmlns:pc="http://schemas.microsoft.com/office/powerpoint/2013/main/command"/>
      <pc:sldMk xmlns:pc="http://schemas.microsoft.com/office/powerpoint/2013/main/command" cId="0" sldId="270"/>
      <ac:graphicFrameMk id="28" creationId="{00000000-0000-0000-0000-000000000000}"/>
    </ac:deMkLst>
    <p188:txBody>
      <a:bodyPr/>
      <a:lstStyle/>
      <a:p>
        <a:r>
          <a:rPr lang="ja-JP" altLang="en-US"/>
          <a:t>この淡い赤は何を示しているのですか？</a:t>
        </a:r>
      </a:p>
    </p188:txBody>
  </p188:cm>
</p188:cmLst>
</file>

<file path=ppt/comments/modernComment_10F_0.xml><?xml version="1.0" encoding="utf-8"?>
<p188:cmLst xmlns:a="http://schemas.openxmlformats.org/drawingml/2006/main" xmlns:r="http://schemas.openxmlformats.org/officeDocument/2006/relationships" xmlns:p188="http://schemas.microsoft.com/office/powerpoint/2018/8/main">
  <p188:cm id="{029B649A-9BE4-3E47-A9C0-B8DFC1C08609}" authorId="{485FE2FF-9899-62DA-30A3-A58E7F9AFF31}" created="2026-10-04T06:35:23.110">
    <pc:sldMkLst xmlns:pc="http://schemas.microsoft.com/office/powerpoint/2013/main/command">
      <pc:docMk/>
      <pc:sldMk cId="0" sldId="271"/>
    </pc:sldMkLst>
    <p188:txBody>
      <a:bodyPr/>
      <a:lstStyle/>
      <a:p>
        <a:r>
          <a:rPr lang="ja-JP" altLang="en-US"/>
          <a:t>このスライドで扱っている天気ごとの吸気温度はまたすべての吸気温度の平均ですか？</a:t>
        </a:r>
      </a:p>
    </p188:txBody>
  </p188:cm>
</p188:cmLst>
</file>

<file path=ppt/comments/modernComment_100_0.xml><?xml version="1.0" encoding="utf-8"?>
<p188:cmLst xmlns:a="http://schemas.openxmlformats.org/drawingml/2006/main" xmlns:r="http://schemas.openxmlformats.org/officeDocument/2006/relationships" xmlns:p188="http://schemas.microsoft.com/office/powerpoint/2018/8/main">
  <p188:cm id="{75140CB2-DB04-8A40-9A09-209A628D75CD}" authorId="{485FE2FF-9899-62DA-30A3-A58E7F9AFF31}" created="2026-10-04T07:51:28.931">
    <pc:sldMkLst xmlns:pc="http://schemas.microsoft.com/office/powerpoint/2013/main/command">
      <pc:docMk/>
      <pc:sldMk cId="0" sldId="256"/>
    </pc:sldMkLst>
    <p188:txBody>
      <a:bodyPr/>
      <a:lstStyle/>
      <a:p>
        <a:r>
          <a:rPr lang="ja-JP" altLang="en-US"/>
          <a:t>結果の文章をもっと下手して、わかりやすくする。</a:t>
        </a:r>
      </a:p>
    </p188:txBody>
  </p188:cm>
</p188:cmLst>
</file>

<file path=ppt/comments/modernComment_111_0.xml><?xml version="1.0" encoding="utf-8"?>
<p188:cmLst xmlns:a="http://schemas.openxmlformats.org/drawingml/2006/main" xmlns:r="http://schemas.openxmlformats.org/officeDocument/2006/relationships" xmlns:p188="http://schemas.microsoft.com/office/powerpoint/2018/8/main">
  <p188:cm id="{500C2579-24F7-C140-A6CC-C996952CAB3C}" authorId="{485FE2FF-9899-62DA-30A3-A58E7F9AFF31}" created="2026-10-04T07:41:58.534">
    <ac:txMkLst xmlns:ac="http://schemas.microsoft.com/office/drawing/2013/main/command">
      <pc:docMk xmlns:pc="http://schemas.microsoft.com/office/powerpoint/2013/main/command"/>
      <pc:sldMk xmlns:pc="http://schemas.microsoft.com/office/powerpoint/2013/main/command" cId="0" sldId="273"/>
      <ac:graphicFrameMk id="19" creationId="{00000000-0000-0000-0000-000000000000}"/>
      <ac:tblMk/>
      <ac:tcMk rowId="10001" colId="20004"/>
      <ac:txMk cp="0" len="4">
        <ac:context len="5" hash="311501806"/>
      </ac:txMk>
    </ac:txMkLst>
    <p188:pos x="4586514" y="665480"/>
    <p188:txBody>
      <a:bodyPr/>
      <a:lstStyle/>
      <a:p>
        <a:r>
          <a:rPr lang="ja-JP" altLang="en-US"/>
          <a:t>言葉の定義が曖昧だから、言葉を変えてください。</a:t>
        </a:r>
      </a:p>
    </p188:txBody>
  </p188:cm>
</p188:cmLst>
</file>

<file path=ppt/comments/modernComment_112_0.xml><?xml version="1.0" encoding="utf-8"?>
<p188:cmLst xmlns:a="http://schemas.openxmlformats.org/drawingml/2006/main" xmlns:r="http://schemas.openxmlformats.org/officeDocument/2006/relationships" xmlns:p188="http://schemas.microsoft.com/office/powerpoint/2018/8/main">
  <p188:cm id="{E3F67D2A-D102-4746-9482-CB5D8F445DEB}" authorId="{485FE2FF-9899-62DA-30A3-A58E7F9AFF31}" created="2026-10-04T06:38:39.956">
    <pc:sldMkLst xmlns:pc="http://schemas.microsoft.com/office/powerpoint/2013/main/command">
      <pc:docMk/>
      <pc:sldMk cId="0" sldId="274"/>
    </pc:sldMkLst>
    <p188:txBody>
      <a:bodyPr/>
      <a:lstStyle/>
      <a:p>
        <a:r>
          <a:rPr lang="ja-JP" altLang="en-US"/>
          <a:t>このスライド内に各風速の時間が合計で何時間あったのかを示す表を作成してください。</a:t>
        </a:r>
      </a:p>
    </p188:txBody>
  </p188:cm>
  <p188:cm id="{BBED6890-41F8-B94C-B43B-C279CD176D60}" authorId="{485FE2FF-9899-62DA-30A3-A58E7F9AFF31}" created="2026-10-04T07:44:56.279">
    <ac:deMkLst xmlns:ac="http://schemas.microsoft.com/office/drawing/2013/main/command">
      <pc:docMk xmlns:pc="http://schemas.microsoft.com/office/powerpoint/2013/main/command"/>
      <pc:sldMk xmlns:pc="http://schemas.microsoft.com/office/powerpoint/2013/main/command" cId="0" sldId="274"/>
      <ac:spMk id="15" creationId="{00000000-0000-0000-0000-000000000000}"/>
    </ac:deMkLst>
    <p188:txBody>
      <a:bodyPr/>
      <a:lstStyle/>
      <a:p>
        <a:r>
          <a:rPr lang="ja-JP" altLang="en-US"/>
          <a:t>考察を追加する</a:t>
        </a:r>
      </a:p>
    </p188:txBody>
  </p188:cm>
</p188:cmLst>
</file>

<file path=ppt/comments/modernComment_116_0.xml><?xml version="1.0" encoding="utf-8"?>
<p188:cmLst xmlns:a="http://schemas.openxmlformats.org/drawingml/2006/main" xmlns:r="http://schemas.openxmlformats.org/officeDocument/2006/relationships" xmlns:p188="http://schemas.microsoft.com/office/powerpoint/2018/8/main">
  <p188:cm id="{1C67FE75-1F59-E24A-A13E-74AC6DA2BD8F}" authorId="{485FE2FF-9899-62DA-30A3-A58E7F9AFF31}" created="2026-10-04T07:51:07.387">
    <ac:deMkLst xmlns:ac="http://schemas.microsoft.com/office/drawing/2013/main/command">
      <pc:docMk xmlns:pc="http://schemas.microsoft.com/office/powerpoint/2013/main/command"/>
      <pc:sldMk xmlns:pc="http://schemas.microsoft.com/office/powerpoint/2013/main/command" cId="0" sldId="278"/>
      <ac:graphicFrameMk id="26" creationId="{00000000-0000-0000-0000-000000000000}"/>
    </ac:deMkLst>
    <p188:txBody>
      <a:bodyPr/>
      <a:lstStyle/>
      <a:p>
        <a:r>
          <a:rPr lang="ja-JP" altLang="en-US"/>
          <a:t>線を細くするか、グラフを大きくするか</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34003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22354F"/>
          </a:solidFill>
          <a:ln/>
        </p:spPr>
      </p:sp>
      <p:sp>
        <p:nvSpPr>
          <p:cNvPr id="3" name="Shape 1"/>
          <p:cNvSpPr/>
          <p:nvPr/>
        </p:nvSpPr>
        <p:spPr>
          <a:xfrm>
            <a:off x="0" y="566928"/>
            <a:ext cx="73152" cy="4576572"/>
          </a:xfrm>
          <a:prstGeom prst="rect">
            <a:avLst/>
          </a:prstGeom>
          <a:solidFill>
            <a:srgbClr val="01B8AA"/>
          </a:solidFill>
          <a:ln/>
        </p:spPr>
      </p:sp>
      <p:sp>
        <p:nvSpPr>
          <p:cNvPr id="4" name="Text 2"/>
          <p:cNvSpPr/>
          <p:nvPr/>
        </p:nvSpPr>
        <p:spPr>
          <a:xfrm>
            <a:off x="365760" y="4846320"/>
            <a:ext cx="5486400" cy="228600"/>
          </a:xfrm>
          <a:prstGeom prst="rect">
            <a:avLst/>
          </a:prstGeom>
          <a:noFill/>
          <a:ln/>
        </p:spPr>
        <p:txBody>
          <a:bodyPr wrap="square" lIns="0" tIns="0" rIns="0" bIns="0" rtlCol="0" anchor="ctr"/>
          <a:lstStyle/>
          <a:p>
            <a:pPr marL="0" indent="0">
              <a:buNone/>
            </a:pPr>
            <a:r>
              <a:rPr lang="en-US" sz="900" dirty="0">
                <a:solidFill>
                  <a:srgbClr val="5E6B7A"/>
                </a:solidFill>
                <a:latin typeface="游ゴシック" pitchFamily="34" charset="0"/>
                <a:ea typeface="游ゴシック" pitchFamily="34" charset="-122"/>
                <a:cs typeface="游ゴシック" pitchFamily="34" charset="-120"/>
              </a:rPr>
              <a:t>屋上芋緑化｜2026年実測｜分析結果（暫定）</a:t>
            </a:r>
            <a:endParaRPr lang="en-US" sz="900" dirty="0"/>
          </a:p>
        </p:txBody>
      </p:sp>
      <p:sp>
        <p:nvSpPr>
          <p:cNvPr id="5" name="Text 3"/>
          <p:cNvSpPr>
            <a:spLocks noGrp="1"/>
          </p:cNvSpPr>
          <p:nvPr>
            <p:ph type="title" idx="103" hasCustomPrompt="1"/>
          </p:nvPr>
        </p:nvSpPr>
        <p:spPr>
          <a:xfrm>
            <a:off x="365760" y="73152"/>
            <a:ext cx="7223760" cy="420624"/>
          </a:xfrm>
          <a:prstGeom prst="rect">
            <a:avLst/>
          </a:prstGeom>
          <a:noFill/>
          <a:ln/>
        </p:spPr>
        <p:txBody>
          <a:bodyPr wrap="square" rtlCol="0"/>
          <a:lstStyle>
            <a:lvl1pPr marL="0" indent="0" algn="l">
              <a:buNone/>
              <a:defRPr lang="en-US" sz="2000" b="1" dirty="0">
                <a:solidFill>
                  <a:srgbClr val="FFFFFF"/>
                </a:solidFill>
                <a:latin typeface="游ゴシック" pitchFamily="34" charset="0"/>
                <a:ea typeface="游ゴシック" pitchFamily="34" charset="-122"/>
                <a:cs typeface="游ゴシック" pitchFamily="34" charset="-120"/>
              </a:defRPr>
            </a:lvl1pPr>
          </a:lstStyle>
          <a:p>
            <a:pPr marL="0" indent="0" algn="l">
              <a:buNone/>
            </a:pPr>
            <a:endParaRPr lang="en-US" sz="20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22354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0.xml"/><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0A_0.xml"/><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chart" Target="../charts/chart8.xml"/><Relationship Id="rId4" Type="http://schemas.openxmlformats.org/officeDocument/2006/relationships/chart" Target="../charts/chart7.xml"/></Relationships>
</file>

<file path=ppt/slides/_rels/slide12.xml.rels><?xml version="1.0" encoding="UTF-8" standalone="yes"?>
<Relationships xmlns="http://schemas.openxmlformats.org/package/2006/relationships"><Relationship Id="rId8" Type="http://schemas.openxmlformats.org/officeDocument/2006/relationships/chart" Target="../charts/chart14.xml"/><Relationship Id="rId3" Type="http://schemas.openxmlformats.org/officeDocument/2006/relationships/chart" Target="../charts/chart9.xml"/><Relationship Id="rId7" Type="http://schemas.openxmlformats.org/officeDocument/2006/relationships/chart" Target="../charts/chart13.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chart" Target="../charts/chart12.xml"/><Relationship Id="rId5" Type="http://schemas.openxmlformats.org/officeDocument/2006/relationships/chart" Target="../charts/chart11.xml"/><Relationship Id="rId4" Type="http://schemas.openxmlformats.org/officeDocument/2006/relationships/chart" Target="../charts/chart10.xml"/></Relationships>
</file>

<file path=ppt/slides/_rels/slide13.xml.rels><?xml version="1.0" encoding="UTF-8" standalone="yes"?>
<Relationships xmlns="http://schemas.openxmlformats.org/package/2006/relationships"><Relationship Id="rId8" Type="http://schemas.openxmlformats.org/officeDocument/2006/relationships/chart" Target="../charts/chart20.xml"/><Relationship Id="rId3" Type="http://schemas.openxmlformats.org/officeDocument/2006/relationships/chart" Target="../charts/chart15.xml"/><Relationship Id="rId7" Type="http://schemas.openxmlformats.org/officeDocument/2006/relationships/chart" Target="../charts/chart19.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chart" Target="../charts/chart18.xml"/><Relationship Id="rId5" Type="http://schemas.openxmlformats.org/officeDocument/2006/relationships/chart" Target="../charts/chart17.xml"/><Relationship Id="rId4" Type="http://schemas.openxmlformats.org/officeDocument/2006/relationships/chart" Target="../charts/chart16.xml"/></Relationships>
</file>

<file path=ppt/slides/_rels/slide14.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chart" Target="../charts/chart22.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0E_0.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chart" Target="../charts/chart25.xml"/><Relationship Id="rId5" Type="http://schemas.openxmlformats.org/officeDocument/2006/relationships/chart" Target="../charts/chart24.xml"/><Relationship Id="rId4" Type="http://schemas.openxmlformats.org/officeDocument/2006/relationships/chart" Target="../charts/chart23.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10F_0.xml"/><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chart" Target="../charts/chart27.xml"/><Relationship Id="rId4" Type="http://schemas.openxmlformats.org/officeDocument/2006/relationships/chart" Target="../charts/chart26.xml"/></Relationships>
</file>

<file path=ppt/slides/_rels/slide17.xml.rels><?xml version="1.0" encoding="UTF-8" standalone="yes"?>
<Relationships xmlns="http://schemas.openxmlformats.org/package/2006/relationships"><Relationship Id="rId3" Type="http://schemas.openxmlformats.org/officeDocument/2006/relationships/chart" Target="../charts/chart28.xm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chart" Target="../charts/chart29.xml"/></Relationships>
</file>

<file path=ppt/slides/_rels/slide18.xml.rels><?xml version="1.0" encoding="UTF-8" standalone="yes"?>
<Relationships xmlns="http://schemas.openxmlformats.org/package/2006/relationships"><Relationship Id="rId3" Type="http://schemas.microsoft.com/office/2018/10/relationships/comments" Target="../comments/modernComment_111_0.xm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chart" Target="../charts/chart30.xml"/></Relationships>
</file>

<file path=ppt/slides/_rels/slide19.xml.rels><?xml version="1.0" encoding="UTF-8" standalone="yes"?>
<Relationships xmlns="http://schemas.openxmlformats.org/package/2006/relationships"><Relationship Id="rId3" Type="http://schemas.microsoft.com/office/2018/10/relationships/comments" Target="../comments/modernComment_112_0.xml"/><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chart" Target="../charts/chart32.xml"/><Relationship Id="rId4" Type="http://schemas.openxmlformats.org/officeDocument/2006/relationships/chart" Target="../charts/chart31.xml"/></Relationships>
</file>

<file path=ppt/slides/_rels/slide20.xml.rels><?xml version="1.0" encoding="UTF-8" standalone="yes"?>
<Relationships xmlns="http://schemas.openxmlformats.org/package/2006/relationships"><Relationship Id="rId3" Type="http://schemas.openxmlformats.org/officeDocument/2006/relationships/chart" Target="../charts/chart33.xm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hart" Target="../charts/chart34.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chart" Target="../charts/chart37.xml"/><Relationship Id="rId5" Type="http://schemas.openxmlformats.org/officeDocument/2006/relationships/chart" Target="../charts/chart36.xml"/><Relationship Id="rId4" Type="http://schemas.openxmlformats.org/officeDocument/2006/relationships/chart" Target="../charts/chart35.xml"/></Relationships>
</file>

<file path=ppt/slides/_rels/slide23.xml.rels><?xml version="1.0" encoding="UTF-8" standalone="yes"?>
<Relationships xmlns="http://schemas.openxmlformats.org/package/2006/relationships"><Relationship Id="rId3" Type="http://schemas.microsoft.com/office/2018/10/relationships/comments" Target="../comments/modernComment_116_0.xml"/><Relationship Id="rId7" Type="http://schemas.openxmlformats.org/officeDocument/2006/relationships/chart" Target="../charts/chart41.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chart" Target="../charts/chart40.xml"/><Relationship Id="rId5" Type="http://schemas.openxmlformats.org/officeDocument/2006/relationships/chart" Target="../charts/chart39.xml"/><Relationship Id="rId4" Type="http://schemas.openxmlformats.org/officeDocument/2006/relationships/chart" Target="../charts/chart38.xml"/></Relationships>
</file>

<file path=ppt/slides/_rels/slide24.xml.rels><?xml version="1.0" encoding="UTF-8" standalone="yes"?>
<Relationships xmlns="http://schemas.openxmlformats.org/package/2006/relationships"><Relationship Id="rId3" Type="http://schemas.openxmlformats.org/officeDocument/2006/relationships/chart" Target="../charts/chart42.xm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chart" Target="../charts/chart4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chart" Target="../charts/chart44.xm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chart" Target="../charts/chart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1371600"/>
            <a:ext cx="91440" cy="1554480"/>
          </a:xfrm>
          <a:prstGeom prst="rect">
            <a:avLst/>
          </a:prstGeom>
          <a:solidFill>
            <a:srgbClr val="01B8AA"/>
          </a:solidFill>
          <a:ln w="12700">
            <a:solidFill>
              <a:srgbClr val="01B8AA"/>
            </a:solidFill>
            <a:prstDash val="solid"/>
          </a:ln>
        </p:spPr>
        <p:txBody>
          <a:bodyPr/>
          <a:lstStyle/>
          <a:p>
            <a:endParaRPr lang="ja-JP" altLang="en-US"/>
          </a:p>
        </p:txBody>
      </p:sp>
      <p:sp>
        <p:nvSpPr>
          <p:cNvPr id="3" name="Text 1"/>
          <p:cNvSpPr txBox="1"/>
          <p:nvPr/>
        </p:nvSpPr>
        <p:spPr>
          <a:xfrm>
            <a:off x="822960" y="1325880"/>
            <a:ext cx="7772400" cy="640080"/>
          </a:xfrm>
          <a:prstGeom prst="rect">
            <a:avLst/>
          </a:prstGeom>
          <a:noFill/>
          <a:ln/>
        </p:spPr>
        <p:txBody>
          <a:bodyPr wrap="square" lIns="0" tIns="0" rIns="0" bIns="0" rtlCol="0" anchor="ctr"/>
          <a:lstStyle/>
          <a:p>
            <a:pPr marL="0" indent="0">
              <a:buNone/>
            </a:pPr>
            <a:r>
              <a:rPr lang="en-US" sz="2800" b="1" dirty="0">
                <a:solidFill>
                  <a:srgbClr val="FFFFFF"/>
                </a:solidFill>
                <a:latin typeface="游ゴシック" pitchFamily="34" charset="0"/>
                <a:ea typeface="游ゴシック" pitchFamily="34" charset="-122"/>
                <a:cs typeface="游ゴシック" pitchFamily="34" charset="-120"/>
              </a:rPr>
              <a:t>屋上芋緑化が室外機の吸気温度に与える影響</a:t>
            </a:r>
            <a:endParaRPr lang="en-US" sz="2800" dirty="0"/>
          </a:p>
        </p:txBody>
      </p:sp>
      <p:sp>
        <p:nvSpPr>
          <p:cNvPr id="4" name="Text 2"/>
          <p:cNvSpPr txBox="1"/>
          <p:nvPr/>
        </p:nvSpPr>
        <p:spPr>
          <a:xfrm>
            <a:off x="822960" y="1965960"/>
            <a:ext cx="7772400" cy="457200"/>
          </a:xfrm>
          <a:prstGeom prst="rect">
            <a:avLst/>
          </a:prstGeom>
          <a:noFill/>
          <a:ln/>
        </p:spPr>
        <p:txBody>
          <a:bodyPr wrap="square" lIns="0" tIns="0" rIns="0" bIns="0" rtlCol="0" anchor="ctr"/>
          <a:lstStyle/>
          <a:p>
            <a:pPr marL="0" indent="0">
              <a:buNone/>
            </a:pPr>
            <a:r>
              <a:rPr lang="en-US" sz="1800" dirty="0">
                <a:solidFill>
                  <a:srgbClr val="D6E0EA"/>
                </a:solidFill>
                <a:latin typeface="游ゴシック" pitchFamily="34" charset="0"/>
                <a:ea typeface="游ゴシック" pitchFamily="34" charset="-122"/>
                <a:cs typeface="游ゴシック" pitchFamily="34" charset="-120"/>
              </a:rPr>
              <a:t>2026年 実測データの分析結果（暫定）</a:t>
            </a:r>
            <a:endParaRPr lang="en-US" sz="1800" dirty="0"/>
          </a:p>
        </p:txBody>
      </p:sp>
      <p:sp>
        <p:nvSpPr>
          <p:cNvPr id="5" name="Text 3"/>
          <p:cNvSpPr txBox="1"/>
          <p:nvPr/>
        </p:nvSpPr>
        <p:spPr>
          <a:xfrm>
            <a:off x="822960" y="2514600"/>
            <a:ext cx="7772400" cy="365760"/>
          </a:xfrm>
          <a:prstGeom prst="rect">
            <a:avLst/>
          </a:prstGeom>
          <a:noFill/>
          <a:ln/>
        </p:spPr>
        <p:txBody>
          <a:bodyPr wrap="square" lIns="0" tIns="0" rIns="0" bIns="0" rtlCol="0" anchor="ctr"/>
          <a:lstStyle/>
          <a:p>
            <a:pPr marL="0" indent="0">
              <a:buNone/>
            </a:pPr>
            <a:r>
              <a:rPr lang="en-US" sz="1300" dirty="0">
                <a:solidFill>
                  <a:srgbClr val="D6E0EA"/>
                </a:solidFill>
                <a:latin typeface="游ゴシック" pitchFamily="34" charset="0"/>
                <a:ea typeface="游ゴシック" pitchFamily="34" charset="-122"/>
                <a:cs typeface="游ゴシック" pitchFamily="34" charset="-120"/>
              </a:rPr>
              <a:t>OACP-3（芋緑化なし）と OACP-8・OACP-11（芋緑化あり）の同時刻比較｜7/30〜9/14</a:t>
            </a:r>
            <a:endParaRPr lang="en-US" sz="1300" dirty="0"/>
          </a:p>
        </p:txBody>
      </p:sp>
      <p:sp>
        <p:nvSpPr>
          <p:cNvPr id="6" name="Text 4"/>
          <p:cNvSpPr txBox="1"/>
          <p:nvPr/>
        </p:nvSpPr>
        <p:spPr>
          <a:xfrm>
            <a:off x="822960" y="4206240"/>
            <a:ext cx="7772400" cy="320040"/>
          </a:xfrm>
          <a:prstGeom prst="rect">
            <a:avLst/>
          </a:prstGeom>
          <a:noFill/>
          <a:ln/>
        </p:spPr>
        <p:txBody>
          <a:bodyPr wrap="square" lIns="0" tIns="0" rIns="0" bIns="0" rtlCol="0" anchor="ctr"/>
          <a:lstStyle/>
          <a:p>
            <a:pPr marL="0" indent="0">
              <a:buNone/>
            </a:pPr>
            <a:r>
              <a:rPr lang="en-US" sz="1100" dirty="0">
                <a:solidFill>
                  <a:srgbClr val="AFC0D0"/>
                </a:solidFill>
                <a:latin typeface="游ゴシック" pitchFamily="34" charset="0"/>
                <a:ea typeface="游ゴシック" pitchFamily="34" charset="-122"/>
                <a:cs typeface="游ゴシック" pitchFamily="34" charset="-120"/>
              </a:rPr>
              <a:t>高口研究室｜2026年の計測は継続中のため、結果は暫定値</a:t>
            </a:r>
            <a:endParaRPr lang="en-US" sz="1100" dirty="0"/>
          </a:p>
        </p:txBody>
      </p:sp>
    </p:spTree>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結果の要約</a:t>
            </a:r>
            <a:endParaRPr lang="en-US" sz="2000" dirty="0"/>
          </a:p>
        </p:txBody>
      </p:sp>
      <p:sp>
        <p:nvSpPr>
          <p:cNvPr id="3" name="Shape 1"/>
          <p:cNvSpPr/>
          <p:nvPr/>
        </p:nvSpPr>
        <p:spPr>
          <a:xfrm>
            <a:off x="7726680" y="155448"/>
            <a:ext cx="1097280" cy="274320"/>
          </a:xfrm>
          <a:prstGeom prst="roundRect">
            <a:avLst>
              <a:gd name="adj" fmla="val 26667"/>
            </a:avLst>
          </a:prstGeom>
          <a:solidFill>
            <a:srgbClr val="01B8AA"/>
          </a:solidFill>
          <a:ln w="12700">
            <a:solidFill>
              <a:srgbClr val="01B8AA"/>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要約</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芋緑化ありの列の吸気温度が、同じ時刻の列3より低いかを比べた（7/30〜9/14）</a:t>
            </a:r>
            <a:endParaRPr lang="en-US" sz="1200" dirty="0"/>
          </a:p>
        </p:txBody>
      </p:sp>
      <p:sp>
        <p:nvSpPr>
          <p:cNvPr id="6" name="Shape 4"/>
          <p:cNvSpPr/>
          <p:nvPr/>
        </p:nvSpPr>
        <p:spPr>
          <a:xfrm>
            <a:off x="411480" y="1234440"/>
            <a:ext cx="384048" cy="384048"/>
          </a:xfrm>
          <a:prstGeom prst="ellipse">
            <a:avLst/>
          </a:prstGeom>
          <a:solidFill>
            <a:srgbClr val="118DFF"/>
          </a:solidFill>
          <a:ln w="12700">
            <a:solidFill>
              <a:srgbClr val="118DFF"/>
            </a:solidFill>
            <a:prstDash val="solid"/>
          </a:ln>
        </p:spPr>
        <p:txBody>
          <a:bodyPr/>
          <a:lstStyle/>
          <a:p>
            <a:endParaRPr lang="ja-JP" altLang="en-US"/>
          </a:p>
        </p:txBody>
      </p:sp>
      <p:sp>
        <p:nvSpPr>
          <p:cNvPr id="7" name="Text 5"/>
          <p:cNvSpPr txBox="1"/>
          <p:nvPr/>
        </p:nvSpPr>
        <p:spPr>
          <a:xfrm>
            <a:off x="411480" y="123444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游ゴシック" pitchFamily="34" charset="0"/>
                <a:ea typeface="游ゴシック" pitchFamily="34" charset="-122"/>
                <a:cs typeface="游ゴシック" pitchFamily="34" charset="-120"/>
              </a:rPr>
              <a:t>1</a:t>
            </a:r>
            <a:endParaRPr lang="en-US" sz="1300" dirty="0"/>
          </a:p>
        </p:txBody>
      </p:sp>
      <p:sp>
        <p:nvSpPr>
          <p:cNvPr id="8" name="Text 6"/>
          <p:cNvSpPr txBox="1"/>
          <p:nvPr/>
        </p:nvSpPr>
        <p:spPr>
          <a:xfrm>
            <a:off x="960120" y="1143000"/>
            <a:ext cx="2651760" cy="566928"/>
          </a:xfrm>
          <a:prstGeom prst="rect">
            <a:avLst/>
          </a:prstGeom>
          <a:noFill/>
          <a:ln/>
        </p:spPr>
        <p:txBody>
          <a:bodyPr wrap="square" lIns="0" tIns="0" rIns="0" bIns="0" rtlCol="0" anchor="ctr"/>
          <a:lstStyle/>
          <a:p>
            <a:pPr marL="0" indent="0">
              <a:buNone/>
            </a:pPr>
            <a:r>
              <a:rPr lang="en-US" sz="1300" b="1" dirty="0">
                <a:solidFill>
                  <a:srgbClr val="22354F"/>
                </a:solidFill>
                <a:latin typeface="游ゴシック" pitchFamily="34" charset="0"/>
                <a:ea typeface="游ゴシック" pitchFamily="34" charset="-122"/>
                <a:cs typeface="游ゴシック" pitchFamily="34" charset="-120"/>
              </a:rPr>
              <a:t>列11（外側）は低い</a:t>
            </a:r>
            <a:endParaRPr lang="en-US" sz="1300" dirty="0"/>
          </a:p>
        </p:txBody>
      </p:sp>
      <p:sp>
        <p:nvSpPr>
          <p:cNvPr id="9" name="Text 7"/>
          <p:cNvSpPr txBox="1"/>
          <p:nvPr/>
        </p:nvSpPr>
        <p:spPr>
          <a:xfrm>
            <a:off x="3611880" y="1143000"/>
            <a:ext cx="5166360" cy="566928"/>
          </a:xfrm>
          <a:prstGeom prst="rect">
            <a:avLst/>
          </a:prstGeom>
          <a:noFill/>
          <a:ln/>
        </p:spPr>
        <p:txBody>
          <a:bodyPr wrap="square" lIns="0" tIns="0" rIns="0" bIns="0" rtlCol="0" anchor="ctr"/>
          <a:lstStyle/>
          <a:p>
            <a:pPr marL="0" indent="0">
              <a:buNone/>
            </a:pPr>
            <a:r>
              <a:rPr lang="en-US" sz="1150" dirty="0">
                <a:solidFill>
                  <a:srgbClr val="172033"/>
                </a:solidFill>
                <a:latin typeface="游ゴシック" pitchFamily="34" charset="0"/>
                <a:ea typeface="游ゴシック" pitchFamily="34" charset="-122"/>
                <a:cs typeface="游ゴシック" pitchFamily="34" charset="-120"/>
              </a:rPr>
              <a:t>勤務日32日間中28日間で列3より低い（−0.26℃）。運転状態と夜間の差をそろえても−0.16℃</a:t>
            </a:r>
            <a:endParaRPr lang="en-US" sz="1150" dirty="0"/>
          </a:p>
        </p:txBody>
      </p:sp>
      <p:sp>
        <p:nvSpPr>
          <p:cNvPr id="10" name="Shape 8"/>
          <p:cNvSpPr/>
          <p:nvPr/>
        </p:nvSpPr>
        <p:spPr>
          <a:xfrm>
            <a:off x="411480" y="1837944"/>
            <a:ext cx="384048" cy="384048"/>
          </a:xfrm>
          <a:prstGeom prst="ellipse">
            <a:avLst/>
          </a:prstGeom>
          <a:solidFill>
            <a:srgbClr val="01B8AA"/>
          </a:solidFill>
          <a:ln w="12700">
            <a:solidFill>
              <a:srgbClr val="01B8AA"/>
            </a:solidFill>
            <a:prstDash val="solid"/>
          </a:ln>
        </p:spPr>
        <p:txBody>
          <a:bodyPr/>
          <a:lstStyle/>
          <a:p>
            <a:endParaRPr lang="ja-JP" altLang="en-US"/>
          </a:p>
        </p:txBody>
      </p:sp>
      <p:sp>
        <p:nvSpPr>
          <p:cNvPr id="11" name="Text 9"/>
          <p:cNvSpPr txBox="1"/>
          <p:nvPr/>
        </p:nvSpPr>
        <p:spPr>
          <a:xfrm>
            <a:off x="411480" y="183794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游ゴシック" pitchFamily="34" charset="0"/>
                <a:ea typeface="游ゴシック" pitchFamily="34" charset="-122"/>
                <a:cs typeface="游ゴシック" pitchFamily="34" charset="-120"/>
              </a:rPr>
              <a:t>2</a:t>
            </a:r>
            <a:endParaRPr lang="en-US" sz="1300" dirty="0"/>
          </a:p>
        </p:txBody>
      </p:sp>
      <p:sp>
        <p:nvSpPr>
          <p:cNvPr id="12" name="Text 10"/>
          <p:cNvSpPr txBox="1"/>
          <p:nvPr/>
        </p:nvSpPr>
        <p:spPr>
          <a:xfrm>
            <a:off x="960120" y="1746504"/>
            <a:ext cx="2651760" cy="566928"/>
          </a:xfrm>
          <a:prstGeom prst="rect">
            <a:avLst/>
          </a:prstGeom>
          <a:noFill/>
          <a:ln/>
        </p:spPr>
        <p:txBody>
          <a:bodyPr wrap="square" lIns="0" tIns="0" rIns="0" bIns="0" rtlCol="0" anchor="ctr"/>
          <a:lstStyle/>
          <a:p>
            <a:pPr marL="0" indent="0">
              <a:buNone/>
            </a:pPr>
            <a:r>
              <a:rPr lang="en-US" sz="1300" b="1" dirty="0">
                <a:solidFill>
                  <a:srgbClr val="22354F"/>
                </a:solidFill>
                <a:latin typeface="游ゴシック" pitchFamily="34" charset="0"/>
                <a:ea typeface="游ゴシック" pitchFamily="34" charset="-122"/>
                <a:cs typeface="游ゴシック" pitchFamily="34" charset="-120"/>
              </a:rPr>
              <a:t>列8（中央）は低くない</a:t>
            </a:r>
            <a:endParaRPr lang="en-US" sz="1300" dirty="0"/>
          </a:p>
        </p:txBody>
      </p:sp>
      <p:sp>
        <p:nvSpPr>
          <p:cNvPr id="13" name="Text 11"/>
          <p:cNvSpPr txBox="1"/>
          <p:nvPr/>
        </p:nvSpPr>
        <p:spPr>
          <a:xfrm>
            <a:off x="3611880" y="1746504"/>
            <a:ext cx="5166360" cy="566928"/>
          </a:xfrm>
          <a:prstGeom prst="rect">
            <a:avLst/>
          </a:prstGeom>
          <a:noFill/>
          <a:ln/>
        </p:spPr>
        <p:txBody>
          <a:bodyPr wrap="square" lIns="0" tIns="0" rIns="0" bIns="0" rtlCol="0" anchor="ctr"/>
          <a:lstStyle/>
          <a:p>
            <a:pPr marL="0" indent="0">
              <a:buNone/>
            </a:pPr>
            <a:r>
              <a:rPr lang="en-US" sz="1150" dirty="0">
                <a:solidFill>
                  <a:srgbClr val="172033"/>
                </a:solidFill>
                <a:latin typeface="游ゴシック" pitchFamily="34" charset="0"/>
                <a:ea typeface="游ゴシック" pitchFamily="34" charset="-122"/>
                <a:cs typeface="游ゴシック" pitchFamily="34" charset="-120"/>
              </a:rPr>
              <a:t>期間平均−0.06℃で区間が0℃をまたぐ。両方運転中で夜間の差を除くと＋0.23℃</a:t>
            </a:r>
            <a:endParaRPr lang="en-US" sz="1150" dirty="0"/>
          </a:p>
        </p:txBody>
      </p:sp>
      <p:sp>
        <p:nvSpPr>
          <p:cNvPr id="14" name="Shape 12"/>
          <p:cNvSpPr/>
          <p:nvPr/>
        </p:nvSpPr>
        <p:spPr>
          <a:xfrm>
            <a:off x="411480" y="2441448"/>
            <a:ext cx="384048" cy="384048"/>
          </a:xfrm>
          <a:prstGeom prst="ellipse">
            <a:avLst/>
          </a:prstGeom>
          <a:solidFill>
            <a:srgbClr val="8E5BC4"/>
          </a:solidFill>
          <a:ln w="12700">
            <a:solidFill>
              <a:srgbClr val="8E5BC4"/>
            </a:solidFill>
            <a:prstDash val="solid"/>
          </a:ln>
        </p:spPr>
        <p:txBody>
          <a:bodyPr/>
          <a:lstStyle/>
          <a:p>
            <a:endParaRPr lang="ja-JP" altLang="en-US"/>
          </a:p>
        </p:txBody>
      </p:sp>
      <p:sp>
        <p:nvSpPr>
          <p:cNvPr id="15" name="Text 13"/>
          <p:cNvSpPr txBox="1"/>
          <p:nvPr/>
        </p:nvSpPr>
        <p:spPr>
          <a:xfrm>
            <a:off x="411480" y="244144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游ゴシック" pitchFamily="34" charset="0"/>
                <a:ea typeface="游ゴシック" pitchFamily="34" charset="-122"/>
                <a:cs typeface="游ゴシック" pitchFamily="34" charset="-120"/>
              </a:rPr>
              <a:t>3</a:t>
            </a:r>
            <a:endParaRPr lang="en-US" sz="1300" dirty="0"/>
          </a:p>
        </p:txBody>
      </p:sp>
      <p:sp>
        <p:nvSpPr>
          <p:cNvPr id="16" name="Text 14"/>
          <p:cNvSpPr txBox="1"/>
          <p:nvPr/>
        </p:nvSpPr>
        <p:spPr>
          <a:xfrm>
            <a:off x="960120" y="2350008"/>
            <a:ext cx="2651760" cy="566928"/>
          </a:xfrm>
          <a:prstGeom prst="rect">
            <a:avLst/>
          </a:prstGeom>
          <a:noFill/>
          <a:ln/>
        </p:spPr>
        <p:txBody>
          <a:bodyPr wrap="square" lIns="0" tIns="0" rIns="0" bIns="0" rtlCol="0" anchor="ctr"/>
          <a:lstStyle/>
          <a:p>
            <a:pPr marL="0" indent="0">
              <a:buNone/>
            </a:pPr>
            <a:r>
              <a:rPr lang="en-US" sz="1300" b="1" dirty="0">
                <a:solidFill>
                  <a:srgbClr val="22354F"/>
                </a:solidFill>
                <a:latin typeface="游ゴシック" pitchFamily="34" charset="0"/>
                <a:ea typeface="游ゴシック" pitchFamily="34" charset="-122"/>
                <a:cs typeface="游ゴシック" pitchFamily="34" charset="-120"/>
              </a:rPr>
              <a:t>暑い日ほど低減効果が小さい</a:t>
            </a:r>
            <a:endParaRPr lang="en-US" sz="1300" dirty="0"/>
          </a:p>
        </p:txBody>
      </p:sp>
      <p:sp>
        <p:nvSpPr>
          <p:cNvPr id="17" name="Text 15"/>
          <p:cNvSpPr txBox="1"/>
          <p:nvPr/>
        </p:nvSpPr>
        <p:spPr>
          <a:xfrm>
            <a:off x="3611880" y="2350008"/>
            <a:ext cx="5166360" cy="566928"/>
          </a:xfrm>
          <a:prstGeom prst="rect">
            <a:avLst/>
          </a:prstGeom>
          <a:noFill/>
          <a:ln/>
        </p:spPr>
        <p:txBody>
          <a:bodyPr wrap="square" lIns="0" tIns="0" rIns="0" bIns="0" rtlCol="0" anchor="ctr"/>
          <a:lstStyle/>
          <a:p>
            <a:pPr marL="0" indent="0">
              <a:buNone/>
            </a:pPr>
            <a:r>
              <a:rPr lang="en-US" sz="1150" dirty="0">
                <a:solidFill>
                  <a:srgbClr val="172033"/>
                </a:solidFill>
                <a:latin typeface="游ゴシック" pitchFamily="34" charset="0"/>
                <a:ea typeface="游ゴシック" pitchFamily="34" charset="-122"/>
                <a:cs typeface="游ゴシック" pitchFamily="34" charset="-120"/>
              </a:rPr>
              <a:t>日中平均31.0℃以上の日は列8で＋0.27℃、28.0℃未満は−0.34℃。天気・風速より気温が効く</a:t>
            </a:r>
            <a:endParaRPr lang="en-US" sz="1150" dirty="0"/>
          </a:p>
        </p:txBody>
      </p:sp>
      <p:sp>
        <p:nvSpPr>
          <p:cNvPr id="18" name="Shape 16"/>
          <p:cNvSpPr/>
          <p:nvPr/>
        </p:nvSpPr>
        <p:spPr>
          <a:xfrm>
            <a:off x="411480" y="3044952"/>
            <a:ext cx="384048" cy="384048"/>
          </a:xfrm>
          <a:prstGeom prst="ellipse">
            <a:avLst/>
          </a:prstGeom>
          <a:solidFill>
            <a:srgbClr val="ED7D31"/>
          </a:solidFill>
          <a:ln w="12700">
            <a:solidFill>
              <a:srgbClr val="ED7D31"/>
            </a:solidFill>
            <a:prstDash val="solid"/>
          </a:ln>
        </p:spPr>
        <p:txBody>
          <a:bodyPr/>
          <a:lstStyle/>
          <a:p>
            <a:endParaRPr lang="ja-JP" altLang="en-US"/>
          </a:p>
        </p:txBody>
      </p:sp>
      <p:sp>
        <p:nvSpPr>
          <p:cNvPr id="19" name="Text 17"/>
          <p:cNvSpPr txBox="1"/>
          <p:nvPr/>
        </p:nvSpPr>
        <p:spPr>
          <a:xfrm>
            <a:off x="411480" y="304495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游ゴシック" pitchFamily="34" charset="0"/>
                <a:ea typeface="游ゴシック" pitchFamily="34" charset="-122"/>
                <a:cs typeface="游ゴシック" pitchFamily="34" charset="-120"/>
              </a:rPr>
              <a:t>4</a:t>
            </a:r>
            <a:endParaRPr lang="en-US" sz="1300" dirty="0"/>
          </a:p>
        </p:txBody>
      </p:sp>
      <p:sp>
        <p:nvSpPr>
          <p:cNvPr id="20" name="Text 18"/>
          <p:cNvSpPr txBox="1"/>
          <p:nvPr/>
        </p:nvSpPr>
        <p:spPr>
          <a:xfrm>
            <a:off x="960120" y="2953512"/>
            <a:ext cx="2651760" cy="566928"/>
          </a:xfrm>
          <a:prstGeom prst="rect">
            <a:avLst/>
          </a:prstGeom>
          <a:noFill/>
          <a:ln/>
        </p:spPr>
        <p:txBody>
          <a:bodyPr wrap="square" lIns="0" tIns="0" rIns="0" bIns="0" rtlCol="0" anchor="ctr"/>
          <a:lstStyle/>
          <a:p>
            <a:pPr marL="0" indent="0">
              <a:buNone/>
            </a:pPr>
            <a:r>
              <a:rPr lang="en-US" sz="1300" b="1" dirty="0">
                <a:solidFill>
                  <a:srgbClr val="22354F"/>
                </a:solidFill>
                <a:latin typeface="游ゴシック" pitchFamily="34" charset="0"/>
                <a:ea typeface="游ゴシック" pitchFamily="34" charset="-122"/>
                <a:cs typeface="游ゴシック" pitchFamily="34" charset="-120"/>
              </a:rPr>
              <a:t>同じ列でも区画で違う</a:t>
            </a:r>
            <a:endParaRPr lang="en-US" sz="1300" dirty="0"/>
          </a:p>
        </p:txBody>
      </p:sp>
      <p:sp>
        <p:nvSpPr>
          <p:cNvPr id="21" name="Text 19"/>
          <p:cNvSpPr txBox="1"/>
          <p:nvPr/>
        </p:nvSpPr>
        <p:spPr>
          <a:xfrm>
            <a:off x="3611880" y="2953512"/>
            <a:ext cx="5166360" cy="566928"/>
          </a:xfrm>
          <a:prstGeom prst="rect">
            <a:avLst/>
          </a:prstGeom>
          <a:noFill/>
          <a:ln/>
        </p:spPr>
        <p:txBody>
          <a:bodyPr wrap="square" lIns="0" tIns="0" rIns="0" bIns="0" rtlCol="0" anchor="ctr"/>
          <a:lstStyle/>
          <a:p>
            <a:pPr marL="0" indent="0">
              <a:buNone/>
            </a:pPr>
            <a:r>
              <a:rPr lang="en-US" sz="1150" dirty="0">
                <a:solidFill>
                  <a:srgbClr val="172033"/>
                </a:solidFill>
                <a:latin typeface="游ゴシック" pitchFamily="34" charset="0"/>
                <a:ea typeface="游ゴシック" pitchFamily="34" charset="-122"/>
                <a:cs typeface="游ゴシック" pitchFamily="34" charset="-120"/>
              </a:rPr>
              <a:t>両列とも左の区画は列3より高い。列11は中央（−0.59℃）、列8は中央・右（−0.38・−0.42℃）で低減効果が大きい</a:t>
            </a:r>
            <a:endParaRPr lang="en-US" sz="1150" dirty="0"/>
          </a:p>
        </p:txBody>
      </p:sp>
      <p:sp>
        <p:nvSpPr>
          <p:cNvPr id="22" name="Shape 20"/>
          <p:cNvSpPr/>
          <p:nvPr/>
        </p:nvSpPr>
        <p:spPr>
          <a:xfrm>
            <a:off x="411480" y="3648456"/>
            <a:ext cx="384048" cy="384048"/>
          </a:xfrm>
          <a:prstGeom prst="ellipse">
            <a:avLst/>
          </a:prstGeom>
          <a:solidFill>
            <a:srgbClr val="E66C64"/>
          </a:solidFill>
          <a:ln w="12700">
            <a:solidFill>
              <a:srgbClr val="E66C64"/>
            </a:solidFill>
            <a:prstDash val="solid"/>
          </a:ln>
        </p:spPr>
        <p:txBody>
          <a:bodyPr/>
          <a:lstStyle/>
          <a:p>
            <a:endParaRPr lang="ja-JP" altLang="en-US"/>
          </a:p>
        </p:txBody>
      </p:sp>
      <p:sp>
        <p:nvSpPr>
          <p:cNvPr id="23" name="Text 21"/>
          <p:cNvSpPr txBox="1"/>
          <p:nvPr/>
        </p:nvSpPr>
        <p:spPr>
          <a:xfrm>
            <a:off x="411480" y="364845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游ゴシック" pitchFamily="34" charset="0"/>
                <a:ea typeface="游ゴシック" pitchFamily="34" charset="-122"/>
                <a:cs typeface="游ゴシック" pitchFamily="34" charset="-120"/>
              </a:rPr>
              <a:t>5</a:t>
            </a:r>
            <a:endParaRPr lang="en-US" sz="1300" dirty="0"/>
          </a:p>
        </p:txBody>
      </p:sp>
      <p:sp>
        <p:nvSpPr>
          <p:cNvPr id="24" name="Text 22"/>
          <p:cNvSpPr txBox="1"/>
          <p:nvPr/>
        </p:nvSpPr>
        <p:spPr>
          <a:xfrm>
            <a:off x="960120" y="3557016"/>
            <a:ext cx="2651760" cy="566928"/>
          </a:xfrm>
          <a:prstGeom prst="rect">
            <a:avLst/>
          </a:prstGeom>
          <a:noFill/>
          <a:ln/>
        </p:spPr>
        <p:txBody>
          <a:bodyPr wrap="square" lIns="0" tIns="0" rIns="0" bIns="0" rtlCol="0" anchor="ctr"/>
          <a:lstStyle/>
          <a:p>
            <a:pPr marL="0" indent="0">
              <a:buNone/>
            </a:pPr>
            <a:r>
              <a:rPr lang="en-US" sz="1300" b="1" dirty="0">
                <a:solidFill>
                  <a:srgbClr val="22354F"/>
                </a:solidFill>
                <a:latin typeface="游ゴシック" pitchFamily="34" charset="0"/>
                <a:ea typeface="游ゴシック" pitchFamily="34" charset="-122"/>
                <a:cs typeface="游ゴシック" pitchFamily="34" charset="-120"/>
              </a:rPr>
              <a:t>仮説は支持されない</a:t>
            </a:r>
            <a:endParaRPr lang="en-US" sz="1300" dirty="0"/>
          </a:p>
        </p:txBody>
      </p:sp>
      <p:sp>
        <p:nvSpPr>
          <p:cNvPr id="25" name="Text 23"/>
          <p:cNvSpPr txBox="1"/>
          <p:nvPr/>
        </p:nvSpPr>
        <p:spPr>
          <a:xfrm>
            <a:off x="3611880" y="3557016"/>
            <a:ext cx="5166360" cy="566928"/>
          </a:xfrm>
          <a:prstGeom prst="rect">
            <a:avLst/>
          </a:prstGeom>
          <a:noFill/>
          <a:ln/>
        </p:spPr>
        <p:txBody>
          <a:bodyPr wrap="square" lIns="0" tIns="0" rIns="0" bIns="0" rtlCol="0" anchor="ctr"/>
          <a:lstStyle/>
          <a:p>
            <a:pPr marL="0" indent="0">
              <a:buNone/>
            </a:pPr>
            <a:r>
              <a:rPr lang="en-US" sz="1150" dirty="0">
                <a:solidFill>
                  <a:srgbClr val="172033"/>
                </a:solidFill>
                <a:latin typeface="游ゴシック" pitchFamily="34" charset="0"/>
                <a:ea typeface="游ゴシック" pitchFamily="34" charset="-122"/>
                <a:cs typeface="游ゴシック" pitchFamily="34" charset="-120"/>
              </a:rPr>
              <a:t>中央の列8は外側の列11より、すべての区画で吸気温度が高い（＋0.12〜＋0.50℃）</a:t>
            </a:r>
            <a:endParaRPr lang="en-US" sz="1150" dirty="0"/>
          </a:p>
        </p:txBody>
      </p:sp>
      <p:sp>
        <p:nvSpPr>
          <p:cNvPr id="26" name="Shape 24"/>
          <p:cNvSpPr/>
          <p:nvPr/>
        </p:nvSpPr>
        <p:spPr>
          <a:xfrm>
            <a:off x="365760" y="4206240"/>
            <a:ext cx="8412480" cy="502920"/>
          </a:xfrm>
          <a:prstGeom prst="roundRect">
            <a:avLst>
              <a:gd name="adj" fmla="val 10909"/>
            </a:avLst>
          </a:prstGeom>
          <a:solidFill>
            <a:srgbClr val="FDE8E6"/>
          </a:solidFill>
          <a:ln w="12700">
            <a:solidFill>
              <a:srgbClr val="FDE8E6"/>
            </a:solidFill>
            <a:prstDash val="solid"/>
          </a:ln>
        </p:spPr>
        <p:txBody>
          <a:bodyPr/>
          <a:lstStyle/>
          <a:p>
            <a:endParaRPr lang="ja-JP" altLang="en-US"/>
          </a:p>
        </p:txBody>
      </p:sp>
      <p:sp>
        <p:nvSpPr>
          <p:cNvPr id="27" name="Text 25"/>
          <p:cNvSpPr txBox="1"/>
          <p:nvPr/>
        </p:nvSpPr>
        <p:spPr>
          <a:xfrm>
            <a:off x="502920" y="4206240"/>
            <a:ext cx="8138160" cy="502920"/>
          </a:xfrm>
          <a:prstGeom prst="rect">
            <a:avLst/>
          </a:prstGeom>
          <a:noFill/>
          <a:ln/>
        </p:spPr>
        <p:txBody>
          <a:bodyPr wrap="square" lIns="0" tIns="0" rIns="0" bIns="0" rtlCol="0" anchor="ctr"/>
          <a:lstStyle/>
          <a:p>
            <a:pPr marL="0" indent="0">
              <a:buNone/>
            </a:pPr>
            <a:r>
              <a:rPr lang="en-US" sz="1100" b="1" dirty="0">
                <a:solidFill>
                  <a:srgbClr val="E66C64"/>
                </a:solidFill>
                <a:latin typeface="游ゴシック" pitchFamily="34" charset="0"/>
                <a:ea typeface="游ゴシック" pitchFamily="34" charset="-122"/>
                <a:cs typeface="游ゴシック" pitchFamily="34" charset="-120"/>
              </a:rPr>
              <a:t>注意　</a:t>
            </a:r>
            <a:r>
              <a:rPr lang="en-US" sz="1100" dirty="0">
                <a:solidFill>
                  <a:srgbClr val="172033"/>
                </a:solidFill>
                <a:latin typeface="游ゴシック" pitchFamily="34" charset="0"/>
                <a:ea typeface="游ゴシック" pitchFamily="34" charset="-122"/>
                <a:cs typeface="游ゴシック" pitchFamily="34" charset="-120"/>
              </a:rPr>
              <a:t>排気温度から見ると、列3は休日も夕方（〜20時）も運転している。休日・夕方に差が大きく見えるのは、列3だけが運転している時間が多いため</a:t>
            </a:r>
            <a:endParaRPr lang="en-US" sz="1100" dirty="0"/>
          </a:p>
        </p:txBody>
      </p:sp>
      <p:sp>
        <p:nvSpPr>
          <p:cNvPr id="28"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分析の流れ</a:t>
            </a:r>
            <a:endParaRPr lang="en-US" sz="2000" dirty="0"/>
          </a:p>
        </p:txBody>
      </p:sp>
      <p:sp>
        <p:nvSpPr>
          <p:cNvPr id="3" name="Shape 1"/>
          <p:cNvSpPr/>
          <p:nvPr/>
        </p:nvSpPr>
        <p:spPr>
          <a:xfrm>
            <a:off x="7726680" y="155448"/>
            <a:ext cx="1097280" cy="274320"/>
          </a:xfrm>
          <a:prstGeom prst="roundRect">
            <a:avLst>
              <a:gd name="adj" fmla="val 26667"/>
            </a:avLst>
          </a:prstGeom>
          <a:solidFill>
            <a:srgbClr val="5E6B7A"/>
          </a:solidFill>
          <a:ln w="12700">
            <a:solidFill>
              <a:srgbClr val="5E6B7A"/>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前提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前提の確認から順に、芋緑化ありの列の吸気温度が低いかを確かめる</a:t>
            </a:r>
            <a:endParaRPr lang="en-US" sz="1200" dirty="0"/>
          </a:p>
        </p:txBody>
      </p:sp>
      <p:sp>
        <p:nvSpPr>
          <p:cNvPr id="6" name="Shape 4"/>
          <p:cNvSpPr/>
          <p:nvPr/>
        </p:nvSpPr>
        <p:spPr>
          <a:xfrm>
            <a:off x="365760" y="1188720"/>
            <a:ext cx="1572768" cy="411480"/>
          </a:xfrm>
          <a:prstGeom prst="rect">
            <a:avLst/>
          </a:prstGeom>
          <a:solidFill>
            <a:srgbClr val="5E6B7A"/>
          </a:solidFill>
          <a:ln w="12700">
            <a:solidFill>
              <a:srgbClr val="5E6B7A"/>
            </a:solidFill>
            <a:prstDash val="solid"/>
          </a:ln>
        </p:spPr>
        <p:txBody>
          <a:bodyPr/>
          <a:lstStyle/>
          <a:p>
            <a:endParaRPr lang="ja-JP" altLang="en-US"/>
          </a:p>
        </p:txBody>
      </p:sp>
      <p:sp>
        <p:nvSpPr>
          <p:cNvPr id="7" name="Text 5"/>
          <p:cNvSpPr txBox="1"/>
          <p:nvPr/>
        </p:nvSpPr>
        <p:spPr>
          <a:xfrm>
            <a:off x="365760" y="1188720"/>
            <a:ext cx="1572768"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游ゴシック" pitchFamily="34" charset="0"/>
                <a:ea typeface="游ゴシック" pitchFamily="34" charset="-122"/>
                <a:cs typeface="游ゴシック" pitchFamily="34" charset="-120"/>
              </a:rPr>
              <a:t>前提</a:t>
            </a:r>
            <a:endParaRPr lang="en-US" sz="1200" dirty="0"/>
          </a:p>
        </p:txBody>
      </p:sp>
      <p:sp>
        <p:nvSpPr>
          <p:cNvPr id="8" name="Shape 6"/>
          <p:cNvSpPr/>
          <p:nvPr/>
        </p:nvSpPr>
        <p:spPr>
          <a:xfrm>
            <a:off x="365760" y="1600200"/>
            <a:ext cx="1572768" cy="1691640"/>
          </a:xfrm>
          <a:prstGeom prst="rect">
            <a:avLst/>
          </a:prstGeom>
          <a:solidFill>
            <a:srgbClr val="F3F5F8"/>
          </a:solidFill>
          <a:ln w="12700">
            <a:solidFill>
              <a:srgbClr val="F3F5F8"/>
            </a:solidFill>
            <a:prstDash val="solid"/>
          </a:ln>
        </p:spPr>
        <p:txBody>
          <a:bodyPr/>
          <a:lstStyle/>
          <a:p>
            <a:endParaRPr lang="ja-JP" altLang="en-US"/>
          </a:p>
        </p:txBody>
      </p:sp>
      <p:sp>
        <p:nvSpPr>
          <p:cNvPr id="9" name="Text 7"/>
          <p:cNvSpPr txBox="1"/>
          <p:nvPr/>
        </p:nvSpPr>
        <p:spPr>
          <a:xfrm>
            <a:off x="457200" y="1691640"/>
            <a:ext cx="1389888" cy="1234440"/>
          </a:xfrm>
          <a:prstGeom prst="rect">
            <a:avLst/>
          </a:prstGeom>
          <a:noFill/>
          <a:ln/>
        </p:spPr>
        <p:txBody>
          <a:bodyPr wrap="square" lIns="0" tIns="0" rIns="0" bIns="0" rtlCol="0" anchor="t"/>
          <a:lstStyle/>
          <a:p>
            <a:pPr marL="0" indent="0">
              <a:buNone/>
            </a:pPr>
            <a:r>
              <a:rPr lang="en-US" sz="1050" dirty="0">
                <a:solidFill>
                  <a:srgbClr val="172033"/>
                </a:solidFill>
                <a:latin typeface="游ゴシック" pitchFamily="34" charset="0"/>
                <a:ea typeface="游ゴシック" pitchFamily="34" charset="-122"/>
                <a:cs typeface="游ゴシック" pitchFamily="34" charset="-120"/>
              </a:rPr>
              <a:t>データの利用期間</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データの欠損と除外</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熱電対の誤差の確認</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吸気温度差の定義</a:t>
            </a:r>
            <a:endParaRPr lang="en-US" sz="1050" dirty="0"/>
          </a:p>
        </p:txBody>
      </p:sp>
      <p:sp>
        <p:nvSpPr>
          <p:cNvPr id="10" name="Text 8"/>
          <p:cNvSpPr txBox="1"/>
          <p:nvPr/>
        </p:nvSpPr>
        <p:spPr>
          <a:xfrm>
            <a:off x="457200" y="2990088"/>
            <a:ext cx="1389888" cy="237744"/>
          </a:xfrm>
          <a:prstGeom prst="rect">
            <a:avLst/>
          </a:prstGeom>
          <a:noFill/>
          <a:ln/>
        </p:spPr>
        <p:txBody>
          <a:bodyPr wrap="square" lIns="0" tIns="0" rIns="0" bIns="0" rtlCol="0" anchor="ctr"/>
          <a:lstStyle/>
          <a:p>
            <a:pPr marL="0" indent="0">
              <a:buNone/>
            </a:pPr>
            <a:r>
              <a:rPr lang="en-US" sz="1000" dirty="0">
                <a:solidFill>
                  <a:srgbClr val="5E6B7A"/>
                </a:solidFill>
                <a:latin typeface="游ゴシック" pitchFamily="34" charset="0"/>
                <a:ea typeface="游ゴシック" pitchFamily="34" charset="-122"/>
                <a:cs typeface="游ゴシック" pitchFamily="34" charset="-120"/>
              </a:rPr>
              <a:t>p.5〜8</a:t>
            </a:r>
            <a:endParaRPr lang="en-US" sz="1000" dirty="0"/>
          </a:p>
        </p:txBody>
      </p:sp>
      <p:sp>
        <p:nvSpPr>
          <p:cNvPr id="11" name="Shape 9"/>
          <p:cNvSpPr/>
          <p:nvPr/>
        </p:nvSpPr>
        <p:spPr>
          <a:xfrm>
            <a:off x="2075688" y="1188720"/>
            <a:ext cx="1572768" cy="411480"/>
          </a:xfrm>
          <a:prstGeom prst="rect">
            <a:avLst/>
          </a:prstGeom>
          <a:solidFill>
            <a:srgbClr val="E66C64"/>
          </a:solidFill>
          <a:ln w="12700">
            <a:solidFill>
              <a:srgbClr val="E66C64"/>
            </a:solidFill>
            <a:prstDash val="solid"/>
          </a:ln>
        </p:spPr>
        <p:txBody>
          <a:bodyPr/>
          <a:lstStyle/>
          <a:p>
            <a:endParaRPr lang="ja-JP" altLang="en-US"/>
          </a:p>
        </p:txBody>
      </p:sp>
      <p:sp>
        <p:nvSpPr>
          <p:cNvPr id="12" name="Text 10"/>
          <p:cNvSpPr txBox="1"/>
          <p:nvPr/>
        </p:nvSpPr>
        <p:spPr>
          <a:xfrm>
            <a:off x="2075688" y="1188720"/>
            <a:ext cx="1572768"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游ゴシック" pitchFamily="34" charset="0"/>
                <a:ea typeface="游ゴシック" pitchFamily="34" charset="-122"/>
                <a:cs typeface="游ゴシック" pitchFamily="34" charset="-120"/>
              </a:rPr>
              <a:t>主分析</a:t>
            </a:r>
            <a:endParaRPr lang="en-US" sz="1200" dirty="0"/>
          </a:p>
        </p:txBody>
      </p:sp>
      <p:sp>
        <p:nvSpPr>
          <p:cNvPr id="13" name="Shape 11"/>
          <p:cNvSpPr/>
          <p:nvPr/>
        </p:nvSpPr>
        <p:spPr>
          <a:xfrm>
            <a:off x="2075688" y="1600200"/>
            <a:ext cx="1572768" cy="1691640"/>
          </a:xfrm>
          <a:prstGeom prst="rect">
            <a:avLst/>
          </a:prstGeom>
          <a:solidFill>
            <a:srgbClr val="F3F5F8"/>
          </a:solidFill>
          <a:ln w="12700">
            <a:solidFill>
              <a:srgbClr val="F3F5F8"/>
            </a:solidFill>
            <a:prstDash val="solid"/>
          </a:ln>
        </p:spPr>
        <p:txBody>
          <a:bodyPr/>
          <a:lstStyle/>
          <a:p>
            <a:endParaRPr lang="ja-JP" altLang="en-US"/>
          </a:p>
        </p:txBody>
      </p:sp>
      <p:sp>
        <p:nvSpPr>
          <p:cNvPr id="14" name="Text 12"/>
          <p:cNvSpPr txBox="1"/>
          <p:nvPr/>
        </p:nvSpPr>
        <p:spPr>
          <a:xfrm>
            <a:off x="2167128" y="1691640"/>
            <a:ext cx="1389888" cy="1234440"/>
          </a:xfrm>
          <a:prstGeom prst="rect">
            <a:avLst/>
          </a:prstGeom>
          <a:noFill/>
          <a:ln/>
        </p:spPr>
        <p:txBody>
          <a:bodyPr wrap="square" lIns="0" tIns="0" rIns="0" bIns="0" rtlCol="0" anchor="t"/>
          <a:lstStyle/>
          <a:p>
            <a:pPr marL="0" indent="0">
              <a:buNone/>
            </a:pPr>
            <a:r>
              <a:rPr lang="en-US" sz="1050" dirty="0">
                <a:solidFill>
                  <a:srgbClr val="172033"/>
                </a:solidFill>
                <a:latin typeface="游ゴシック" pitchFamily="34" charset="0"/>
                <a:ea typeface="游ゴシック" pitchFamily="34" charset="-122"/>
                <a:cs typeface="游ゴシック" pitchFamily="34" charset="-120"/>
              </a:rPr>
              <a:t>分析1　期間全体</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　条件をそろえた比較</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分析2　時刻別</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分析3　区画別</a:t>
            </a:r>
            <a:endParaRPr lang="en-US" sz="1050" dirty="0"/>
          </a:p>
        </p:txBody>
      </p:sp>
      <p:sp>
        <p:nvSpPr>
          <p:cNvPr id="15" name="Text 13"/>
          <p:cNvSpPr txBox="1"/>
          <p:nvPr/>
        </p:nvSpPr>
        <p:spPr>
          <a:xfrm>
            <a:off x="2167128" y="2990088"/>
            <a:ext cx="1389888" cy="237744"/>
          </a:xfrm>
          <a:prstGeom prst="rect">
            <a:avLst/>
          </a:prstGeom>
          <a:noFill/>
          <a:ln/>
        </p:spPr>
        <p:txBody>
          <a:bodyPr wrap="square" lIns="0" tIns="0" rIns="0" bIns="0" rtlCol="0" anchor="ctr"/>
          <a:lstStyle/>
          <a:p>
            <a:pPr marL="0" indent="0">
              <a:buNone/>
            </a:pPr>
            <a:r>
              <a:rPr lang="en-US" sz="1000" dirty="0">
                <a:solidFill>
                  <a:srgbClr val="5E6B7A"/>
                </a:solidFill>
                <a:latin typeface="游ゴシック" pitchFamily="34" charset="0"/>
                <a:ea typeface="游ゴシック" pitchFamily="34" charset="-122"/>
                <a:cs typeface="游ゴシック" pitchFamily="34" charset="-120"/>
              </a:rPr>
              <a:t>p.9〜14</a:t>
            </a:r>
            <a:endParaRPr lang="en-US" sz="1000" dirty="0"/>
          </a:p>
        </p:txBody>
      </p:sp>
      <p:sp>
        <p:nvSpPr>
          <p:cNvPr id="16" name="Shape 14"/>
          <p:cNvSpPr/>
          <p:nvPr/>
        </p:nvSpPr>
        <p:spPr>
          <a:xfrm>
            <a:off x="3785616" y="1188720"/>
            <a:ext cx="1572768" cy="411480"/>
          </a:xfrm>
          <a:prstGeom prst="rect">
            <a:avLst/>
          </a:prstGeom>
          <a:solidFill>
            <a:srgbClr val="8E5BC4"/>
          </a:solidFill>
          <a:ln w="12700">
            <a:solidFill>
              <a:srgbClr val="8E5BC4"/>
            </a:solidFill>
            <a:prstDash val="solid"/>
          </a:ln>
        </p:spPr>
        <p:txBody>
          <a:bodyPr/>
          <a:lstStyle/>
          <a:p>
            <a:endParaRPr lang="ja-JP" altLang="en-US"/>
          </a:p>
        </p:txBody>
      </p:sp>
      <p:sp>
        <p:nvSpPr>
          <p:cNvPr id="17" name="Text 15"/>
          <p:cNvSpPr txBox="1"/>
          <p:nvPr/>
        </p:nvSpPr>
        <p:spPr>
          <a:xfrm>
            <a:off x="3785616" y="1188720"/>
            <a:ext cx="1572768"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游ゴシック" pitchFamily="34" charset="0"/>
                <a:ea typeface="游ゴシック" pitchFamily="34" charset="-122"/>
                <a:cs typeface="游ゴシック" pitchFamily="34" charset="-120"/>
              </a:rPr>
              <a:t>補足分析（条件別）</a:t>
            </a:r>
            <a:endParaRPr lang="en-US" sz="1200" dirty="0"/>
          </a:p>
        </p:txBody>
      </p:sp>
      <p:sp>
        <p:nvSpPr>
          <p:cNvPr id="18" name="Shape 16"/>
          <p:cNvSpPr/>
          <p:nvPr/>
        </p:nvSpPr>
        <p:spPr>
          <a:xfrm>
            <a:off x="3785616" y="1600200"/>
            <a:ext cx="1572768" cy="1691640"/>
          </a:xfrm>
          <a:prstGeom prst="rect">
            <a:avLst/>
          </a:prstGeom>
          <a:solidFill>
            <a:srgbClr val="F3F5F8"/>
          </a:solidFill>
          <a:ln w="12700">
            <a:solidFill>
              <a:srgbClr val="F3F5F8"/>
            </a:solidFill>
            <a:prstDash val="solid"/>
          </a:ln>
        </p:spPr>
        <p:txBody>
          <a:bodyPr/>
          <a:lstStyle/>
          <a:p>
            <a:endParaRPr lang="ja-JP" altLang="en-US"/>
          </a:p>
        </p:txBody>
      </p:sp>
      <p:sp>
        <p:nvSpPr>
          <p:cNvPr id="19" name="Text 17"/>
          <p:cNvSpPr txBox="1"/>
          <p:nvPr/>
        </p:nvSpPr>
        <p:spPr>
          <a:xfrm>
            <a:off x="3877056" y="1691640"/>
            <a:ext cx="1389888" cy="1234440"/>
          </a:xfrm>
          <a:prstGeom prst="rect">
            <a:avLst/>
          </a:prstGeom>
          <a:noFill/>
          <a:ln/>
        </p:spPr>
        <p:txBody>
          <a:bodyPr wrap="square" lIns="0" tIns="0" rIns="0" bIns="0" rtlCol="0" anchor="t"/>
          <a:lstStyle/>
          <a:p>
            <a:pPr marL="0" indent="0">
              <a:buNone/>
            </a:pPr>
            <a:r>
              <a:rPr lang="en-US" sz="1050" dirty="0">
                <a:solidFill>
                  <a:srgbClr val="172033"/>
                </a:solidFill>
                <a:latin typeface="游ゴシック" pitchFamily="34" charset="0"/>
                <a:ea typeface="游ゴシック" pitchFamily="34" charset="-122"/>
                <a:cs typeface="游ゴシック" pitchFamily="34" charset="-120"/>
              </a:rPr>
              <a:t>分析4　天気・気温</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　条件をまとめた回帰</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分析5　風速別</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分析7　期間の推移</a:t>
            </a:r>
            <a:endParaRPr lang="en-US" sz="1050" dirty="0"/>
          </a:p>
        </p:txBody>
      </p:sp>
      <p:sp>
        <p:nvSpPr>
          <p:cNvPr id="20" name="Text 18"/>
          <p:cNvSpPr txBox="1"/>
          <p:nvPr/>
        </p:nvSpPr>
        <p:spPr>
          <a:xfrm>
            <a:off x="3877056" y="2990088"/>
            <a:ext cx="1389888" cy="237744"/>
          </a:xfrm>
          <a:prstGeom prst="rect">
            <a:avLst/>
          </a:prstGeom>
          <a:noFill/>
          <a:ln/>
        </p:spPr>
        <p:txBody>
          <a:bodyPr wrap="square" lIns="0" tIns="0" rIns="0" bIns="0" rtlCol="0" anchor="ctr"/>
          <a:lstStyle/>
          <a:p>
            <a:pPr marL="0" indent="0">
              <a:buNone/>
            </a:pPr>
            <a:r>
              <a:rPr lang="en-US" sz="1000" dirty="0">
                <a:solidFill>
                  <a:srgbClr val="5E6B7A"/>
                </a:solidFill>
                <a:latin typeface="游ゴシック" pitchFamily="34" charset="0"/>
                <a:ea typeface="游ゴシック" pitchFamily="34" charset="-122"/>
                <a:cs typeface="游ゴシック" pitchFamily="34" charset="-120"/>
              </a:rPr>
              <a:t>p.15〜20</a:t>
            </a:r>
            <a:endParaRPr lang="en-US" sz="1000" dirty="0"/>
          </a:p>
        </p:txBody>
      </p:sp>
      <p:sp>
        <p:nvSpPr>
          <p:cNvPr id="21" name="Shape 19"/>
          <p:cNvSpPr/>
          <p:nvPr/>
        </p:nvSpPr>
        <p:spPr>
          <a:xfrm>
            <a:off x="5495544" y="1188720"/>
            <a:ext cx="1572768" cy="411480"/>
          </a:xfrm>
          <a:prstGeom prst="rect">
            <a:avLst/>
          </a:prstGeom>
          <a:solidFill>
            <a:srgbClr val="118DFF"/>
          </a:solidFill>
          <a:ln w="12700">
            <a:solidFill>
              <a:srgbClr val="118DFF"/>
            </a:solidFill>
            <a:prstDash val="solid"/>
          </a:ln>
        </p:spPr>
        <p:txBody>
          <a:bodyPr/>
          <a:lstStyle/>
          <a:p>
            <a:endParaRPr lang="ja-JP" altLang="en-US"/>
          </a:p>
        </p:txBody>
      </p:sp>
      <p:sp>
        <p:nvSpPr>
          <p:cNvPr id="22" name="Text 20"/>
          <p:cNvSpPr txBox="1"/>
          <p:nvPr/>
        </p:nvSpPr>
        <p:spPr>
          <a:xfrm>
            <a:off x="5495544" y="1188720"/>
            <a:ext cx="1572768"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游ゴシック" pitchFamily="34" charset="0"/>
                <a:ea typeface="游ゴシック" pitchFamily="34" charset="-122"/>
                <a:cs typeface="游ゴシック" pitchFamily="34" charset="-120"/>
              </a:rPr>
              <a:t>補足分析（詳細）</a:t>
            </a:r>
            <a:endParaRPr lang="en-US" sz="1200" dirty="0"/>
          </a:p>
        </p:txBody>
      </p:sp>
      <p:sp>
        <p:nvSpPr>
          <p:cNvPr id="23" name="Shape 21"/>
          <p:cNvSpPr/>
          <p:nvPr/>
        </p:nvSpPr>
        <p:spPr>
          <a:xfrm>
            <a:off x="5495544" y="1600200"/>
            <a:ext cx="1572768" cy="1691640"/>
          </a:xfrm>
          <a:prstGeom prst="rect">
            <a:avLst/>
          </a:prstGeom>
          <a:solidFill>
            <a:srgbClr val="F3F5F8"/>
          </a:solidFill>
          <a:ln w="12700">
            <a:solidFill>
              <a:srgbClr val="F3F5F8"/>
            </a:solidFill>
            <a:prstDash val="solid"/>
          </a:ln>
        </p:spPr>
        <p:txBody>
          <a:bodyPr/>
          <a:lstStyle/>
          <a:p>
            <a:endParaRPr lang="ja-JP" altLang="en-US"/>
          </a:p>
        </p:txBody>
      </p:sp>
      <p:sp>
        <p:nvSpPr>
          <p:cNvPr id="24" name="Text 22"/>
          <p:cNvSpPr txBox="1"/>
          <p:nvPr/>
        </p:nvSpPr>
        <p:spPr>
          <a:xfrm>
            <a:off x="5586984" y="1691640"/>
            <a:ext cx="1389888" cy="1234440"/>
          </a:xfrm>
          <a:prstGeom prst="rect">
            <a:avLst/>
          </a:prstGeom>
          <a:noFill/>
          <a:ln/>
        </p:spPr>
        <p:txBody>
          <a:bodyPr wrap="square" lIns="0" tIns="0" rIns="0" bIns="0" rtlCol="0" anchor="t"/>
          <a:lstStyle/>
          <a:p>
            <a:pPr marL="0" indent="0">
              <a:buNone/>
            </a:pPr>
            <a:r>
              <a:rPr lang="en-US" sz="1050" dirty="0">
                <a:solidFill>
                  <a:srgbClr val="172033"/>
                </a:solidFill>
                <a:latin typeface="游ゴシック" pitchFamily="34" charset="0"/>
                <a:ea typeface="游ゴシック" pitchFamily="34" charset="-122"/>
                <a:cs typeface="游ゴシック" pitchFamily="34" charset="-120"/>
              </a:rPr>
              <a:t>分析8　代表日</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（1日の流れの例）</a:t>
            </a:r>
            <a:endParaRPr lang="en-US" sz="1050" dirty="0"/>
          </a:p>
        </p:txBody>
      </p:sp>
      <p:sp>
        <p:nvSpPr>
          <p:cNvPr id="25" name="Text 23"/>
          <p:cNvSpPr txBox="1"/>
          <p:nvPr/>
        </p:nvSpPr>
        <p:spPr>
          <a:xfrm>
            <a:off x="5586984" y="2990088"/>
            <a:ext cx="1389888" cy="237744"/>
          </a:xfrm>
          <a:prstGeom prst="rect">
            <a:avLst/>
          </a:prstGeom>
          <a:noFill/>
          <a:ln/>
        </p:spPr>
        <p:txBody>
          <a:bodyPr wrap="square" lIns="0" tIns="0" rIns="0" bIns="0" rtlCol="0" anchor="ctr"/>
          <a:lstStyle/>
          <a:p>
            <a:pPr marL="0" indent="0">
              <a:buNone/>
            </a:pPr>
            <a:r>
              <a:rPr lang="en-US" sz="1000" dirty="0">
                <a:solidFill>
                  <a:srgbClr val="5E6B7A"/>
                </a:solidFill>
                <a:latin typeface="游ゴシック" pitchFamily="34" charset="0"/>
                <a:ea typeface="游ゴシック" pitchFamily="34" charset="-122"/>
                <a:cs typeface="游ゴシック" pitchFamily="34" charset="-120"/>
              </a:rPr>
              <a:t>p.21〜24</a:t>
            </a:r>
            <a:endParaRPr lang="en-US" sz="1000" dirty="0"/>
          </a:p>
        </p:txBody>
      </p:sp>
      <p:sp>
        <p:nvSpPr>
          <p:cNvPr id="26" name="Shape 24"/>
          <p:cNvSpPr/>
          <p:nvPr/>
        </p:nvSpPr>
        <p:spPr>
          <a:xfrm>
            <a:off x="7205472" y="1188720"/>
            <a:ext cx="1572768" cy="411480"/>
          </a:xfrm>
          <a:prstGeom prst="rect">
            <a:avLst/>
          </a:prstGeom>
          <a:solidFill>
            <a:srgbClr val="01B8AA"/>
          </a:solidFill>
          <a:ln w="12700">
            <a:solidFill>
              <a:srgbClr val="01B8AA"/>
            </a:solidFill>
            <a:prstDash val="solid"/>
          </a:ln>
        </p:spPr>
        <p:txBody>
          <a:bodyPr/>
          <a:lstStyle/>
          <a:p>
            <a:endParaRPr lang="ja-JP" altLang="en-US"/>
          </a:p>
        </p:txBody>
      </p:sp>
      <p:sp>
        <p:nvSpPr>
          <p:cNvPr id="27" name="Text 25"/>
          <p:cNvSpPr txBox="1"/>
          <p:nvPr/>
        </p:nvSpPr>
        <p:spPr>
          <a:xfrm>
            <a:off x="7205472" y="1188720"/>
            <a:ext cx="1572768"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游ゴシック" pitchFamily="34" charset="0"/>
                <a:ea typeface="游ゴシック" pitchFamily="34" charset="-122"/>
                <a:cs typeface="游ゴシック" pitchFamily="34" charset="-120"/>
              </a:rPr>
              <a:t>検証・まとめ</a:t>
            </a:r>
            <a:endParaRPr lang="en-US" sz="1200" dirty="0"/>
          </a:p>
        </p:txBody>
      </p:sp>
      <p:sp>
        <p:nvSpPr>
          <p:cNvPr id="28" name="Shape 26"/>
          <p:cNvSpPr/>
          <p:nvPr/>
        </p:nvSpPr>
        <p:spPr>
          <a:xfrm>
            <a:off x="7205472" y="1600200"/>
            <a:ext cx="1572768" cy="1691640"/>
          </a:xfrm>
          <a:prstGeom prst="rect">
            <a:avLst/>
          </a:prstGeom>
          <a:solidFill>
            <a:srgbClr val="F3F5F8"/>
          </a:solidFill>
          <a:ln w="12700">
            <a:solidFill>
              <a:srgbClr val="F3F5F8"/>
            </a:solidFill>
            <a:prstDash val="solid"/>
          </a:ln>
        </p:spPr>
        <p:txBody>
          <a:bodyPr/>
          <a:lstStyle/>
          <a:p>
            <a:endParaRPr lang="ja-JP" altLang="en-US"/>
          </a:p>
        </p:txBody>
      </p:sp>
      <p:sp>
        <p:nvSpPr>
          <p:cNvPr id="29" name="Text 27"/>
          <p:cNvSpPr txBox="1"/>
          <p:nvPr/>
        </p:nvSpPr>
        <p:spPr>
          <a:xfrm>
            <a:off x="7296912" y="1691640"/>
            <a:ext cx="1389888" cy="1234440"/>
          </a:xfrm>
          <a:prstGeom prst="rect">
            <a:avLst/>
          </a:prstGeom>
          <a:noFill/>
          <a:ln/>
        </p:spPr>
        <p:txBody>
          <a:bodyPr wrap="square" lIns="0" tIns="0" rIns="0" bIns="0" rtlCol="0" anchor="t"/>
          <a:lstStyle/>
          <a:p>
            <a:pPr marL="0" indent="0">
              <a:buNone/>
            </a:pPr>
            <a:r>
              <a:rPr lang="en-US" sz="1050" dirty="0">
                <a:solidFill>
                  <a:srgbClr val="172033"/>
                </a:solidFill>
                <a:latin typeface="游ゴシック" pitchFamily="34" charset="0"/>
                <a:ea typeface="游ゴシック" pitchFamily="34" charset="-122"/>
                <a:cs typeface="游ゴシック" pitchFamily="34" charset="-120"/>
              </a:rPr>
              <a:t>エアネット分析との比較</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言えること／まだ言えないこと</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今後の計測</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付録：分析6</a:t>
            </a:r>
            <a:endParaRPr lang="en-US" sz="1050" dirty="0"/>
          </a:p>
        </p:txBody>
      </p:sp>
      <p:sp>
        <p:nvSpPr>
          <p:cNvPr id="30" name="Text 28"/>
          <p:cNvSpPr txBox="1"/>
          <p:nvPr/>
        </p:nvSpPr>
        <p:spPr>
          <a:xfrm>
            <a:off x="7296912" y="2990088"/>
            <a:ext cx="1389888" cy="237744"/>
          </a:xfrm>
          <a:prstGeom prst="rect">
            <a:avLst/>
          </a:prstGeom>
          <a:noFill/>
          <a:ln/>
        </p:spPr>
        <p:txBody>
          <a:bodyPr wrap="square" lIns="0" tIns="0" rIns="0" bIns="0" rtlCol="0" anchor="ctr"/>
          <a:lstStyle/>
          <a:p>
            <a:pPr marL="0" indent="0">
              <a:buNone/>
            </a:pPr>
            <a:r>
              <a:rPr lang="en-US" sz="1000" dirty="0">
                <a:solidFill>
                  <a:srgbClr val="5E6B7A"/>
                </a:solidFill>
                <a:latin typeface="游ゴシック" pitchFamily="34" charset="0"/>
                <a:ea typeface="游ゴシック" pitchFamily="34" charset="-122"/>
                <a:cs typeface="游ゴシック" pitchFamily="34" charset="-120"/>
              </a:rPr>
              <a:t>p.25〜28</a:t>
            </a:r>
            <a:endParaRPr lang="en-US" sz="1000" dirty="0"/>
          </a:p>
        </p:txBody>
      </p:sp>
      <p:sp>
        <p:nvSpPr>
          <p:cNvPr id="31" name="Shape 29"/>
          <p:cNvSpPr/>
          <p:nvPr/>
        </p:nvSpPr>
        <p:spPr>
          <a:xfrm>
            <a:off x="365760" y="3520440"/>
            <a:ext cx="8412480" cy="1188720"/>
          </a:xfrm>
          <a:prstGeom prst="roundRect">
            <a:avLst>
              <a:gd name="adj" fmla="val 4615"/>
            </a:avLst>
          </a:prstGeom>
          <a:solidFill>
            <a:srgbClr val="E4F7F4"/>
          </a:solidFill>
          <a:ln w="12700">
            <a:solidFill>
              <a:srgbClr val="E4F7F4"/>
            </a:solidFill>
            <a:prstDash val="solid"/>
          </a:ln>
        </p:spPr>
        <p:txBody>
          <a:bodyPr/>
          <a:lstStyle/>
          <a:p>
            <a:endParaRPr lang="ja-JP" altLang="en-US"/>
          </a:p>
        </p:txBody>
      </p:sp>
      <p:sp>
        <p:nvSpPr>
          <p:cNvPr id="32" name="Text 30"/>
          <p:cNvSpPr txBox="1"/>
          <p:nvPr/>
        </p:nvSpPr>
        <p:spPr>
          <a:xfrm>
            <a:off x="502920" y="3593592"/>
            <a:ext cx="813816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読み方</a:t>
            </a:r>
            <a:endParaRPr lang="en-US" sz="1200" dirty="0"/>
          </a:p>
        </p:txBody>
      </p:sp>
      <p:sp>
        <p:nvSpPr>
          <p:cNvPr id="33" name="Text 31"/>
          <p:cNvSpPr txBox="1"/>
          <p:nvPr/>
        </p:nvSpPr>
        <p:spPr>
          <a:xfrm>
            <a:off x="502920" y="3886200"/>
            <a:ext cx="8138160" cy="758952"/>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172033"/>
                </a:solidFill>
                <a:latin typeface="游ゴシック" pitchFamily="34" charset="0"/>
                <a:ea typeface="游ゴシック" pitchFamily="34" charset="-122"/>
                <a:cs typeface="游ゴシック" pitchFamily="34" charset="-120"/>
              </a:rPr>
              <a:t>吸気温度差＝芋緑化ありの列 − なしの列（OACP-3）。負に大きいほど「吸気温度の低減効果が大きい」</a:t>
            </a:r>
            <a:endParaRPr lang="en-US" sz="1100" dirty="0"/>
          </a:p>
          <a:p>
            <a:pPr marL="152400" indent="-152400">
              <a:spcAft>
                <a:spcPts val="300"/>
              </a:spcAft>
              <a:buSzPct val="100000"/>
              <a:buChar char="•"/>
            </a:pPr>
            <a:r>
              <a:rPr lang="en-US" sz="1100" dirty="0">
                <a:solidFill>
                  <a:srgbClr val="172033"/>
                </a:solidFill>
                <a:latin typeface="游ゴシック" pitchFamily="34" charset="0"/>
                <a:ea typeface="游ゴシック" pitchFamily="34" charset="-122"/>
                <a:cs typeface="游ゴシック" pitchFamily="34" charset="-120"/>
              </a:rPr>
              <a:t>95％区間は、日の値が前後の日と似ていることを考え、連続5日間をひとまとまりにして再標本化して求めた</a:t>
            </a:r>
            <a:endParaRPr lang="en-US" sz="1100" dirty="0"/>
          </a:p>
        </p:txBody>
      </p:sp>
      <p:sp>
        <p:nvSpPr>
          <p:cNvPr id="34"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計測概要：対象の列と計測点</a:t>
            </a:r>
            <a:endParaRPr lang="en-US" sz="2000" dirty="0"/>
          </a:p>
        </p:txBody>
      </p:sp>
      <p:sp>
        <p:nvSpPr>
          <p:cNvPr id="3" name="Shape 1"/>
          <p:cNvSpPr/>
          <p:nvPr/>
        </p:nvSpPr>
        <p:spPr>
          <a:xfrm>
            <a:off x="7726680" y="155448"/>
            <a:ext cx="1097280" cy="274320"/>
          </a:xfrm>
          <a:prstGeom prst="roundRect">
            <a:avLst>
              <a:gd name="adj" fmla="val 26667"/>
            </a:avLst>
          </a:prstGeom>
          <a:solidFill>
            <a:srgbClr val="5E6B7A"/>
          </a:solidFill>
          <a:ln w="12700">
            <a:solidFill>
              <a:srgbClr val="5E6B7A"/>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前提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どの室外機のどこを測っているかを最初に共有する</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143000"/>
          <a:ext cx="4572000" cy="1554480"/>
        </p:xfrm>
        <a:graphic>
          <a:graphicData uri="http://schemas.openxmlformats.org/drawingml/2006/table">
            <a:tbl>
              <a:tblPr/>
              <a:tblGrid>
                <a:gridCol w="8229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310896">
                <a:tc>
                  <a:txBody>
                    <a:bodyP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列</a:t>
                      </a:r>
                      <a:endParaRPr lang="en-US" sz="11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芋緑化</a:t>
                      </a:r>
                      <a:endParaRPr lang="en-US" sz="11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区画</a:t>
                      </a:r>
                      <a:endParaRPr lang="en-US" sz="11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計測項目</a:t>
                      </a:r>
                      <a:endParaRPr lang="en-US" sz="11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extLst>
                  <a:ext uri="{0D108BD9-81ED-4DB2-BD59-A6C34878D82A}">
                    <a16:rowId xmlns:a16="http://schemas.microsoft.com/office/drawing/2014/main" val="10000"/>
                  </a:ext>
                </a:extLst>
              </a:tr>
              <a:tr h="512064">
                <a:tc>
                  <a:txBody>
                    <a:bodyPr/>
                    <a:lstStyle/>
                    <a:p>
                      <a:pPr marL="0" indent="0" algn="ctr">
                        <a:buNone/>
                      </a:pPr>
                      <a:r>
                        <a:rPr lang="en-US" sz="1100" dirty="0">
                          <a:solidFill>
                            <a:srgbClr val="172033"/>
                          </a:solidFill>
                          <a:latin typeface="游ゴシック" pitchFamily="34" charset="0"/>
                          <a:ea typeface="游ゴシック" pitchFamily="34" charset="-122"/>
                          <a:cs typeface="游ゴシック" pitchFamily="34" charset="-120"/>
                        </a:rPr>
                        <a:t>OACP-3</a:t>
                      </a:r>
                      <a:endParaRPr lang="en-US" sz="11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100" b="1" dirty="0">
                          <a:solidFill>
                            <a:srgbClr val="5E6B7A"/>
                          </a:solidFill>
                          <a:latin typeface="游ゴシック" pitchFamily="34" charset="0"/>
                          <a:ea typeface="游ゴシック" pitchFamily="34" charset="-122"/>
                          <a:cs typeface="游ゴシック" pitchFamily="34" charset="-120"/>
                        </a:rPr>
                        <a:t>なし</a:t>
                      </a:r>
                      <a:endParaRPr lang="en-US" sz="11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100" dirty="0">
                          <a:solidFill>
                            <a:srgbClr val="172033"/>
                          </a:solidFill>
                          <a:latin typeface="游ゴシック" pitchFamily="34" charset="0"/>
                          <a:ea typeface="游ゴシック" pitchFamily="34" charset="-122"/>
                          <a:cs typeface="游ゴシック" pitchFamily="34" charset="-120"/>
                        </a:rPr>
                        <a:t>左・中央・右</a:t>
                      </a:r>
                      <a:endParaRPr lang="en-US" sz="11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50" dirty="0">
                          <a:solidFill>
                            <a:srgbClr val="172033"/>
                          </a:solidFill>
                          <a:latin typeface="游ゴシック" pitchFamily="34" charset="0"/>
                          <a:ea typeface="游ゴシック" pitchFamily="34" charset="-122"/>
                          <a:cs typeface="游ゴシック" pitchFamily="34" charset="-120"/>
                        </a:rPr>
                        <a:t>吸気（3方位）・排気・</a:t>
                      </a:r>
                      <a:endParaRPr lang="en-US" sz="1050" dirty="0">
                        <a:latin typeface="游ゴシック" charset="0"/>
                        <a:ea typeface="游ゴシック" charset="0"/>
                        <a:cs typeface="游ゴシック" charset="0"/>
                      </a:endParaRPr>
                    </a:p>
                    <a:p>
                      <a:pPr marL="0" indent="0" algn="ctr">
                        <a:buNone/>
                      </a:pPr>
                      <a:r>
                        <a:rPr lang="en-US" sz="1050" dirty="0">
                          <a:solidFill>
                            <a:srgbClr val="172033"/>
                          </a:solidFill>
                          <a:latin typeface="游ゴシック" pitchFamily="34" charset="0"/>
                          <a:ea typeface="游ゴシック" pitchFamily="34" charset="-122"/>
                          <a:cs typeface="游ゴシック" pitchFamily="34" charset="-120"/>
                        </a:rPr>
                        <a:t>メンテ空間・表面</a:t>
                      </a:r>
                      <a:endParaRPr lang="en-US" sz="10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100" dirty="0">
                          <a:solidFill>
                            <a:srgbClr val="172033"/>
                          </a:solidFill>
                          <a:latin typeface="游ゴシック" pitchFamily="34" charset="0"/>
                          <a:ea typeface="游ゴシック" pitchFamily="34" charset="-122"/>
                          <a:cs typeface="游ゴシック" pitchFamily="34" charset="-120"/>
                        </a:rPr>
                        <a:t>OACP-8</a:t>
                      </a:r>
                      <a:endParaRPr lang="en-US" sz="11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100" b="1" dirty="0">
                          <a:solidFill>
                            <a:srgbClr val="E66C64"/>
                          </a:solidFill>
                          <a:latin typeface="游ゴシック" pitchFamily="34" charset="0"/>
                          <a:ea typeface="游ゴシック" pitchFamily="34" charset="-122"/>
                          <a:cs typeface="游ゴシック" pitchFamily="34" charset="-120"/>
                        </a:rPr>
                        <a:t>あり</a:t>
                      </a:r>
                      <a:endParaRPr lang="en-US" sz="11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100" dirty="0">
                          <a:solidFill>
                            <a:srgbClr val="172033"/>
                          </a:solidFill>
                          <a:latin typeface="游ゴシック" pitchFamily="34" charset="0"/>
                          <a:ea typeface="游ゴシック" pitchFamily="34" charset="-122"/>
                          <a:cs typeface="游ゴシック" pitchFamily="34" charset="-120"/>
                        </a:rPr>
                        <a:t>左・中央・右</a:t>
                      </a:r>
                      <a:endParaRPr lang="en-US" sz="11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50" dirty="0">
                          <a:solidFill>
                            <a:srgbClr val="172033"/>
                          </a:solidFill>
                          <a:latin typeface="游ゴシック" pitchFamily="34" charset="0"/>
                          <a:ea typeface="游ゴシック" pitchFamily="34" charset="-122"/>
                          <a:cs typeface="游ゴシック" pitchFamily="34" charset="-120"/>
                        </a:rPr>
                        <a:t>同上＋葉の温度</a:t>
                      </a:r>
                      <a:endParaRPr lang="en-US" sz="10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1100" dirty="0">
                          <a:solidFill>
                            <a:srgbClr val="172033"/>
                          </a:solidFill>
                          <a:latin typeface="游ゴシック" pitchFamily="34" charset="0"/>
                          <a:ea typeface="游ゴシック" pitchFamily="34" charset="-122"/>
                          <a:cs typeface="游ゴシック" pitchFamily="34" charset="-120"/>
                        </a:rPr>
                        <a:t>OACP-11</a:t>
                      </a:r>
                      <a:endParaRPr lang="en-US" sz="11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100" b="1" dirty="0">
                          <a:solidFill>
                            <a:srgbClr val="E66C64"/>
                          </a:solidFill>
                          <a:latin typeface="游ゴシック" pitchFamily="34" charset="0"/>
                          <a:ea typeface="游ゴシック" pitchFamily="34" charset="-122"/>
                          <a:cs typeface="游ゴシック" pitchFamily="34" charset="-120"/>
                        </a:rPr>
                        <a:t>あり</a:t>
                      </a:r>
                      <a:endParaRPr lang="en-US" sz="11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100" dirty="0">
                          <a:solidFill>
                            <a:srgbClr val="172033"/>
                          </a:solidFill>
                          <a:latin typeface="游ゴシック" pitchFamily="34" charset="0"/>
                          <a:ea typeface="游ゴシック" pitchFamily="34" charset="-122"/>
                          <a:cs typeface="游ゴシック" pitchFamily="34" charset="-120"/>
                        </a:rPr>
                        <a:t>左・中央・右</a:t>
                      </a:r>
                      <a:endParaRPr lang="en-US" sz="11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50" dirty="0">
                          <a:solidFill>
                            <a:srgbClr val="172033"/>
                          </a:solidFill>
                          <a:latin typeface="游ゴシック" pitchFamily="34" charset="0"/>
                          <a:ea typeface="游ゴシック" pitchFamily="34" charset="-122"/>
                          <a:cs typeface="游ゴシック" pitchFamily="34" charset="-120"/>
                        </a:rPr>
                        <a:t>同上＋葉の温度</a:t>
                      </a:r>
                      <a:endParaRPr lang="en-US" sz="10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Shape 4"/>
          <p:cNvSpPr/>
          <p:nvPr/>
        </p:nvSpPr>
        <p:spPr>
          <a:xfrm>
            <a:off x="365760" y="3063240"/>
            <a:ext cx="4572000" cy="1645920"/>
          </a:xfrm>
          <a:prstGeom prst="roundRect">
            <a:avLst>
              <a:gd name="adj" fmla="val 3333"/>
            </a:avLst>
          </a:prstGeom>
          <a:solidFill>
            <a:srgbClr val="EAF4FF"/>
          </a:solidFill>
          <a:ln w="12700">
            <a:solidFill>
              <a:srgbClr val="EAF4FF"/>
            </a:solidFill>
            <a:prstDash val="solid"/>
          </a:ln>
        </p:spPr>
        <p:txBody>
          <a:bodyPr/>
          <a:lstStyle/>
          <a:p>
            <a:endParaRPr lang="ja-JP" altLang="en-US"/>
          </a:p>
        </p:txBody>
      </p:sp>
      <p:sp>
        <p:nvSpPr>
          <p:cNvPr id="8" name="Text 5"/>
          <p:cNvSpPr txBox="1"/>
          <p:nvPr/>
        </p:nvSpPr>
        <p:spPr>
          <a:xfrm>
            <a:off x="502920" y="3136392"/>
            <a:ext cx="429768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共通の計測</a:t>
            </a:r>
            <a:endParaRPr lang="en-US" sz="1200" dirty="0"/>
          </a:p>
        </p:txBody>
      </p:sp>
      <p:sp>
        <p:nvSpPr>
          <p:cNvPr id="9" name="Text 6"/>
          <p:cNvSpPr txBox="1"/>
          <p:nvPr/>
        </p:nvSpPr>
        <p:spPr>
          <a:xfrm>
            <a:off x="502920" y="3429000"/>
            <a:ext cx="4297680" cy="1216152"/>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172033"/>
                </a:solidFill>
                <a:latin typeface="游ゴシック" pitchFamily="34" charset="0"/>
                <a:ea typeface="游ゴシック" pitchFamily="34" charset="-122"/>
                <a:cs typeface="游ゴシック" pitchFamily="34" charset="-120"/>
              </a:rPr>
              <a:t>通路内の温湿度（3列）、通路内の風速・風向（OACP-3・8）</a:t>
            </a:r>
            <a:endParaRPr lang="en-US" sz="1100" dirty="0"/>
          </a:p>
          <a:p>
            <a:pPr marL="152400" indent="-152400">
              <a:spcAft>
                <a:spcPts val="300"/>
              </a:spcAft>
              <a:buSzPct val="100000"/>
              <a:buChar char="•"/>
            </a:pPr>
            <a:r>
              <a:rPr lang="en-US" sz="1100" dirty="0">
                <a:solidFill>
                  <a:srgbClr val="172033"/>
                </a:solidFill>
                <a:latin typeface="游ゴシック" pitchFamily="34" charset="0"/>
                <a:ea typeface="游ゴシック" pitchFamily="34" charset="-122"/>
                <a:cs typeface="游ゴシック" pitchFamily="34" charset="-120"/>
              </a:rPr>
              <a:t>屋上の気温・湿度・風速・風向・雨量・照度</a:t>
            </a:r>
            <a:endParaRPr lang="en-US" sz="1100" dirty="0"/>
          </a:p>
          <a:p>
            <a:pPr marL="152400" indent="-152400">
              <a:spcAft>
                <a:spcPts val="300"/>
              </a:spcAft>
              <a:buSzPct val="100000"/>
              <a:buChar char="•"/>
            </a:pPr>
            <a:r>
              <a:rPr lang="en-US" sz="1100" dirty="0">
                <a:solidFill>
                  <a:srgbClr val="172033"/>
                </a:solidFill>
                <a:latin typeface="游ゴシック" pitchFamily="34" charset="0"/>
                <a:ea typeface="游ゴシック" pitchFamily="34" charset="-122"/>
                <a:cs typeface="游ゴシック" pitchFamily="34" charset="-120"/>
              </a:rPr>
              <a:t>日射量：OACP-3（日向）、OACP-8（緑陰内）</a:t>
            </a:r>
            <a:endParaRPr lang="en-US" sz="1100" dirty="0"/>
          </a:p>
          <a:p>
            <a:pPr marL="152400" indent="-152400">
              <a:spcAft>
                <a:spcPts val="300"/>
              </a:spcAft>
              <a:buSzPct val="100000"/>
              <a:buChar char="•"/>
            </a:pPr>
            <a:r>
              <a:rPr lang="en-US" sz="1100" dirty="0">
                <a:solidFill>
                  <a:srgbClr val="172033"/>
                </a:solidFill>
                <a:latin typeface="游ゴシック" pitchFamily="34" charset="0"/>
                <a:ea typeface="游ゴシック" pitchFamily="34" charset="-122"/>
                <a:cs typeface="游ゴシック" pitchFamily="34" charset="-120"/>
              </a:rPr>
              <a:t>区画1・2は1台目、区画3は2台目の室外機を計測</a:t>
            </a:r>
            <a:endParaRPr lang="en-US" sz="1100" dirty="0"/>
          </a:p>
        </p:txBody>
      </p:sp>
      <p:sp>
        <p:nvSpPr>
          <p:cNvPr id="10" name="Shape 7"/>
          <p:cNvSpPr/>
          <p:nvPr/>
        </p:nvSpPr>
        <p:spPr>
          <a:xfrm>
            <a:off x="5120640" y="1143000"/>
            <a:ext cx="3657600" cy="3566160"/>
          </a:xfrm>
          <a:prstGeom prst="rect">
            <a:avLst/>
          </a:prstGeom>
          <a:solidFill>
            <a:srgbClr val="FFFFFF"/>
          </a:solidFill>
          <a:ln w="12700">
            <a:solidFill>
              <a:srgbClr val="5E6B7A"/>
            </a:solidFill>
            <a:prstDash val="dash"/>
          </a:ln>
        </p:spPr>
        <p:txBody>
          <a:bodyPr/>
          <a:lstStyle/>
          <a:p>
            <a:endParaRPr lang="ja-JP" altLang="en-US"/>
          </a:p>
        </p:txBody>
      </p:sp>
      <p:sp>
        <p:nvSpPr>
          <p:cNvPr id="11" name="Text 8"/>
          <p:cNvSpPr txBox="1"/>
          <p:nvPr/>
        </p:nvSpPr>
        <p:spPr>
          <a:xfrm>
            <a:off x="5257800" y="1234440"/>
            <a:ext cx="914400" cy="237744"/>
          </a:xfrm>
          <a:prstGeom prst="rect">
            <a:avLst/>
          </a:prstGeom>
          <a:solidFill>
            <a:srgbClr val="5E6B7A"/>
          </a:solidFill>
          <a:ln/>
        </p:spPr>
        <p:txBody>
          <a:bodyPr wrap="square" lIns="0" tIns="0" rIns="0" bIns="0" rtlCol="0" anchor="ctr"/>
          <a:lstStyle/>
          <a:p>
            <a:pPr marL="0" indent="0" algn="ctr">
              <a:buNone/>
            </a:pPr>
            <a:r>
              <a:rPr lang="en-US" sz="1000" b="1" dirty="0">
                <a:solidFill>
                  <a:srgbClr val="FFFFFF"/>
                </a:solidFill>
                <a:latin typeface="游ゴシック" pitchFamily="34" charset="0"/>
                <a:ea typeface="游ゴシック" pitchFamily="34" charset="-122"/>
                <a:cs typeface="游ゴシック" pitchFamily="34" charset="-120"/>
              </a:rPr>
              <a:t>グラフ案</a:t>
            </a:r>
            <a:endParaRPr lang="en-US" sz="1000" dirty="0"/>
          </a:p>
        </p:txBody>
      </p:sp>
      <p:sp>
        <p:nvSpPr>
          <p:cNvPr id="12" name="Text 9"/>
          <p:cNvSpPr txBox="1"/>
          <p:nvPr/>
        </p:nvSpPr>
        <p:spPr>
          <a:xfrm>
            <a:off x="5257800" y="1527048"/>
            <a:ext cx="3383280" cy="457200"/>
          </a:xfrm>
          <a:prstGeom prst="rect">
            <a:avLst/>
          </a:prstGeom>
          <a:noFill/>
          <a:ln/>
        </p:spPr>
        <p:txBody>
          <a:bodyPr wrap="square" lIns="0" tIns="0" rIns="0" bIns="0" rtlCol="0" anchor="ctr"/>
          <a:lstStyle/>
          <a:p>
            <a:pPr marL="0" indent="0">
              <a:buNone/>
            </a:pPr>
            <a:r>
              <a:rPr lang="en-US" sz="1250" b="1" dirty="0">
                <a:solidFill>
                  <a:srgbClr val="22354F"/>
                </a:solidFill>
                <a:latin typeface="游ゴシック" pitchFamily="34" charset="0"/>
                <a:ea typeface="游ゴシック" pitchFamily="34" charset="-122"/>
                <a:cs typeface="游ゴシック" pitchFamily="34" charset="-120"/>
              </a:rPr>
              <a:t>屋上配置図と計測点の写真</a:t>
            </a:r>
            <a:endParaRPr lang="en-US" sz="1250" dirty="0"/>
          </a:p>
        </p:txBody>
      </p:sp>
      <p:sp>
        <p:nvSpPr>
          <p:cNvPr id="13" name="Text 10"/>
          <p:cNvSpPr txBox="1"/>
          <p:nvPr/>
        </p:nvSpPr>
        <p:spPr>
          <a:xfrm>
            <a:off x="5257800" y="2057400"/>
            <a:ext cx="3383280" cy="2578608"/>
          </a:xfrm>
          <a:prstGeom prst="rect">
            <a:avLst/>
          </a:prstGeom>
          <a:noFill/>
          <a:ln/>
        </p:spPr>
        <p:txBody>
          <a:bodyPr wrap="square" lIns="0" tIns="0" rIns="0" bIns="0" rtlCol="0" anchor="t"/>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横軸　</a:t>
            </a:r>
            <a:r>
              <a:rPr lang="en-US" sz="1050" dirty="0">
                <a:solidFill>
                  <a:srgbClr val="172033"/>
                </a:solidFill>
                <a:latin typeface="游ゴシック" pitchFamily="34" charset="0"/>
                <a:ea typeface="游ゴシック" pitchFamily="34" charset="-122"/>
                <a:cs typeface="游ゴシック" pitchFamily="34" charset="-120"/>
              </a:rPr>
              <a:t>―</a:t>
            </a:r>
            <a:endParaRPr lang="en-US" sz="1050" dirty="0"/>
          </a:p>
          <a:p>
            <a:pPr marL="0" indent="0">
              <a:buNone/>
            </a:pPr>
            <a:r>
              <a:rPr lang="en-US" sz="1050" b="1" dirty="0">
                <a:solidFill>
                  <a:srgbClr val="5E6B7A"/>
                </a:solidFill>
                <a:latin typeface="游ゴシック" pitchFamily="34" charset="0"/>
                <a:ea typeface="游ゴシック" pitchFamily="34" charset="-122"/>
                <a:cs typeface="游ゴシック" pitchFamily="34" charset="-120"/>
              </a:rPr>
              <a:t>縦軸　</a:t>
            </a:r>
            <a:r>
              <a:rPr lang="en-US" sz="1050" dirty="0">
                <a:solidFill>
                  <a:srgbClr val="172033"/>
                </a:solidFill>
                <a:latin typeface="游ゴシック" pitchFamily="34" charset="0"/>
                <a:ea typeface="游ゴシック" pitchFamily="34" charset="-122"/>
                <a:cs typeface="游ゴシック" pitchFamily="34" charset="-120"/>
              </a:rPr>
              <a:t>―</a:t>
            </a:r>
            <a:endParaRPr lang="en-US" sz="1050" dirty="0"/>
          </a:p>
          <a:p>
            <a:pPr marL="0" indent="0">
              <a:buNone/>
            </a:pPr>
            <a:r>
              <a:rPr lang="en-US" sz="1050" b="1" dirty="0">
                <a:solidFill>
                  <a:srgbClr val="5E6B7A"/>
                </a:solidFill>
                <a:latin typeface="游ゴシック" pitchFamily="34" charset="0"/>
                <a:ea typeface="游ゴシック" pitchFamily="34" charset="-122"/>
                <a:cs typeface="游ゴシック" pitchFamily="34" charset="-120"/>
              </a:rPr>
              <a:t>系列　</a:t>
            </a:r>
            <a:r>
              <a:rPr lang="en-US" sz="1050" dirty="0">
                <a:solidFill>
                  <a:srgbClr val="172033"/>
                </a:solidFill>
                <a:latin typeface="游ゴシック" pitchFamily="34" charset="0"/>
                <a:ea typeface="游ゴシック" pitchFamily="34" charset="-122"/>
                <a:cs typeface="游ゴシック" pitchFamily="34" charset="-120"/>
              </a:rPr>
              <a:t>3列×3区画の位置、吸気温度3方位の熱電対の位置、芋緑化の範囲、日射計の位置</a:t>
            </a:r>
            <a:endParaRPr lang="en-US" sz="1050" dirty="0"/>
          </a:p>
          <a:p>
            <a:pPr marL="0" indent="0">
              <a:buNone/>
            </a:pPr>
            <a:r>
              <a:rPr lang="en-US" sz="1050" b="1" dirty="0">
                <a:solidFill>
                  <a:srgbClr val="5E6B7A"/>
                </a:solidFill>
                <a:latin typeface="游ゴシック" pitchFamily="34" charset="0"/>
                <a:ea typeface="游ゴシック" pitchFamily="34" charset="-122"/>
                <a:cs typeface="游ゴシック" pitchFamily="34" charset="-120"/>
              </a:rPr>
              <a:t>備考　</a:t>
            </a:r>
            <a:r>
              <a:rPr lang="en-US" sz="1050" dirty="0">
                <a:solidFill>
                  <a:srgbClr val="172033"/>
                </a:solidFill>
                <a:latin typeface="游ゴシック" pitchFamily="34" charset="0"/>
                <a:ea typeface="游ゴシック" pitchFamily="34" charset="-122"/>
                <a:cs typeface="游ゴシック" pitchFamily="34" charset="-120"/>
              </a:rPr>
              <a:t>配置図は後から貼る</a:t>
            </a:r>
            <a:endParaRPr 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データの利用期間</a:t>
            </a:r>
            <a:endParaRPr lang="en-US" sz="2000" dirty="0"/>
          </a:p>
        </p:txBody>
      </p:sp>
      <p:sp>
        <p:nvSpPr>
          <p:cNvPr id="3" name="Shape 1"/>
          <p:cNvSpPr/>
          <p:nvPr/>
        </p:nvSpPr>
        <p:spPr>
          <a:xfrm>
            <a:off x="7726680" y="155448"/>
            <a:ext cx="1097280" cy="274320"/>
          </a:xfrm>
          <a:prstGeom prst="roundRect">
            <a:avLst>
              <a:gd name="adj" fmla="val 26667"/>
            </a:avLst>
          </a:prstGeom>
          <a:solidFill>
            <a:srgbClr val="5E6B7A"/>
          </a:solidFill>
          <a:ln w="12700">
            <a:solidFill>
              <a:srgbClr val="5E6B7A"/>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前提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計測項目ごとに、分析に使える期間を示す</a:t>
            </a:r>
            <a:endParaRPr lang="en-US" sz="1200" dirty="0"/>
          </a:p>
        </p:txBody>
      </p:sp>
      <p:sp>
        <p:nvSpPr>
          <p:cNvPr id="6" name="Shape 4"/>
          <p:cNvSpPr/>
          <p:nvPr/>
        </p:nvSpPr>
        <p:spPr>
          <a:xfrm>
            <a:off x="2331720" y="1207008"/>
            <a:ext cx="0" cy="2514600"/>
          </a:xfrm>
          <a:prstGeom prst="line">
            <a:avLst/>
          </a:prstGeom>
          <a:noFill/>
          <a:ln w="6350">
            <a:solidFill>
              <a:srgbClr val="C9D1DB"/>
            </a:solidFill>
            <a:prstDash val="dash"/>
          </a:ln>
        </p:spPr>
        <p:txBody>
          <a:bodyPr/>
          <a:lstStyle/>
          <a:p>
            <a:endParaRPr lang="ja-JP" altLang="en-US"/>
          </a:p>
        </p:txBody>
      </p:sp>
      <p:sp>
        <p:nvSpPr>
          <p:cNvPr id="7" name="Text 5"/>
          <p:cNvSpPr txBox="1"/>
          <p:nvPr/>
        </p:nvSpPr>
        <p:spPr>
          <a:xfrm>
            <a:off x="2057400" y="1024128"/>
            <a:ext cx="548640" cy="182880"/>
          </a:xfrm>
          <a:prstGeom prst="rect">
            <a:avLst/>
          </a:prstGeom>
          <a:noFill/>
          <a:ln/>
        </p:spPr>
        <p:txBody>
          <a:bodyPr wrap="square" lIns="0" tIns="0" rIns="0" bIns="0" rtlCol="0" anchor="ctr"/>
          <a:lstStyle/>
          <a:p>
            <a:pPr marL="0" indent="0" algn="ctr">
              <a:buNone/>
            </a:pPr>
            <a:r>
              <a:rPr lang="en-US" sz="900" dirty="0">
                <a:solidFill>
                  <a:srgbClr val="5E6B7A"/>
                </a:solidFill>
                <a:latin typeface="游ゴシック" pitchFamily="34" charset="0"/>
                <a:ea typeface="游ゴシック" pitchFamily="34" charset="-122"/>
                <a:cs typeface="游ゴシック" pitchFamily="34" charset="-120"/>
              </a:rPr>
              <a:t>7/29</a:t>
            </a:r>
            <a:endParaRPr lang="en-US" sz="900" dirty="0"/>
          </a:p>
        </p:txBody>
      </p:sp>
      <p:sp>
        <p:nvSpPr>
          <p:cNvPr id="8" name="Shape 6"/>
          <p:cNvSpPr/>
          <p:nvPr/>
        </p:nvSpPr>
        <p:spPr>
          <a:xfrm>
            <a:off x="2731770" y="1207008"/>
            <a:ext cx="0" cy="2514600"/>
          </a:xfrm>
          <a:prstGeom prst="line">
            <a:avLst/>
          </a:prstGeom>
          <a:noFill/>
          <a:ln w="6350">
            <a:solidFill>
              <a:srgbClr val="C9D1DB"/>
            </a:solidFill>
            <a:prstDash val="dash"/>
          </a:ln>
        </p:spPr>
        <p:txBody>
          <a:bodyPr/>
          <a:lstStyle/>
          <a:p>
            <a:endParaRPr lang="ja-JP" altLang="en-US"/>
          </a:p>
        </p:txBody>
      </p:sp>
      <p:sp>
        <p:nvSpPr>
          <p:cNvPr id="9" name="Text 7"/>
          <p:cNvSpPr txBox="1"/>
          <p:nvPr/>
        </p:nvSpPr>
        <p:spPr>
          <a:xfrm>
            <a:off x="2457450" y="1024128"/>
            <a:ext cx="548640" cy="182880"/>
          </a:xfrm>
          <a:prstGeom prst="rect">
            <a:avLst/>
          </a:prstGeom>
          <a:noFill/>
          <a:ln/>
        </p:spPr>
        <p:txBody>
          <a:bodyPr wrap="square" lIns="0" tIns="0" rIns="0" bIns="0" rtlCol="0" anchor="ctr"/>
          <a:lstStyle/>
          <a:p>
            <a:pPr marL="0" indent="0" algn="ctr">
              <a:buNone/>
            </a:pPr>
            <a:r>
              <a:rPr lang="en-US" sz="900" dirty="0">
                <a:solidFill>
                  <a:srgbClr val="5E6B7A"/>
                </a:solidFill>
                <a:latin typeface="游ゴシック" pitchFamily="34" charset="0"/>
                <a:ea typeface="游ゴシック" pitchFamily="34" charset="-122"/>
                <a:cs typeface="游ゴシック" pitchFamily="34" charset="-120"/>
              </a:rPr>
              <a:t>8/1</a:t>
            </a:r>
            <a:endParaRPr lang="en-US" sz="900" dirty="0"/>
          </a:p>
        </p:txBody>
      </p:sp>
      <p:sp>
        <p:nvSpPr>
          <p:cNvPr id="10" name="Shape 8"/>
          <p:cNvSpPr/>
          <p:nvPr/>
        </p:nvSpPr>
        <p:spPr>
          <a:xfrm>
            <a:off x="4598670" y="1207008"/>
            <a:ext cx="0" cy="2514600"/>
          </a:xfrm>
          <a:prstGeom prst="line">
            <a:avLst/>
          </a:prstGeom>
          <a:noFill/>
          <a:ln w="6350">
            <a:solidFill>
              <a:srgbClr val="C9D1DB"/>
            </a:solidFill>
            <a:prstDash val="dash"/>
          </a:ln>
        </p:spPr>
        <p:txBody>
          <a:bodyPr/>
          <a:lstStyle/>
          <a:p>
            <a:endParaRPr lang="ja-JP" altLang="en-US"/>
          </a:p>
        </p:txBody>
      </p:sp>
      <p:sp>
        <p:nvSpPr>
          <p:cNvPr id="11" name="Text 9"/>
          <p:cNvSpPr txBox="1"/>
          <p:nvPr/>
        </p:nvSpPr>
        <p:spPr>
          <a:xfrm>
            <a:off x="4324350" y="1024128"/>
            <a:ext cx="548640" cy="182880"/>
          </a:xfrm>
          <a:prstGeom prst="rect">
            <a:avLst/>
          </a:prstGeom>
          <a:noFill/>
          <a:ln/>
        </p:spPr>
        <p:txBody>
          <a:bodyPr wrap="square" lIns="0" tIns="0" rIns="0" bIns="0" rtlCol="0" anchor="ctr"/>
          <a:lstStyle/>
          <a:p>
            <a:pPr marL="0" indent="0" algn="ctr">
              <a:buNone/>
            </a:pPr>
            <a:r>
              <a:rPr lang="en-US" sz="900" dirty="0">
                <a:solidFill>
                  <a:srgbClr val="5E6B7A"/>
                </a:solidFill>
                <a:latin typeface="游ゴシック" pitchFamily="34" charset="0"/>
                <a:ea typeface="游ゴシック" pitchFamily="34" charset="-122"/>
                <a:cs typeface="游ゴシック" pitchFamily="34" charset="-120"/>
              </a:rPr>
              <a:t>8/15</a:t>
            </a:r>
            <a:endParaRPr lang="en-US" sz="900" dirty="0"/>
          </a:p>
        </p:txBody>
      </p:sp>
      <p:sp>
        <p:nvSpPr>
          <p:cNvPr id="12" name="Shape 10"/>
          <p:cNvSpPr/>
          <p:nvPr/>
        </p:nvSpPr>
        <p:spPr>
          <a:xfrm>
            <a:off x="6865620" y="1207008"/>
            <a:ext cx="0" cy="2514600"/>
          </a:xfrm>
          <a:prstGeom prst="line">
            <a:avLst/>
          </a:prstGeom>
          <a:noFill/>
          <a:ln w="6350">
            <a:solidFill>
              <a:srgbClr val="C9D1DB"/>
            </a:solidFill>
            <a:prstDash val="dash"/>
          </a:ln>
        </p:spPr>
        <p:txBody>
          <a:bodyPr/>
          <a:lstStyle/>
          <a:p>
            <a:endParaRPr lang="ja-JP" altLang="en-US"/>
          </a:p>
        </p:txBody>
      </p:sp>
      <p:sp>
        <p:nvSpPr>
          <p:cNvPr id="13" name="Text 11"/>
          <p:cNvSpPr txBox="1"/>
          <p:nvPr/>
        </p:nvSpPr>
        <p:spPr>
          <a:xfrm>
            <a:off x="6591300" y="1024128"/>
            <a:ext cx="548640" cy="182880"/>
          </a:xfrm>
          <a:prstGeom prst="rect">
            <a:avLst/>
          </a:prstGeom>
          <a:noFill/>
          <a:ln/>
        </p:spPr>
        <p:txBody>
          <a:bodyPr wrap="square" lIns="0" tIns="0" rIns="0" bIns="0" rtlCol="0" anchor="ctr"/>
          <a:lstStyle/>
          <a:p>
            <a:pPr marL="0" indent="0" algn="ctr">
              <a:buNone/>
            </a:pPr>
            <a:r>
              <a:rPr lang="en-US" sz="900" dirty="0">
                <a:solidFill>
                  <a:srgbClr val="5E6B7A"/>
                </a:solidFill>
                <a:latin typeface="游ゴシック" pitchFamily="34" charset="0"/>
                <a:ea typeface="游ゴシック" pitchFamily="34" charset="-122"/>
                <a:cs typeface="游ゴシック" pitchFamily="34" charset="-120"/>
              </a:rPr>
              <a:t>9/1</a:t>
            </a:r>
            <a:endParaRPr lang="en-US" sz="900" dirty="0"/>
          </a:p>
        </p:txBody>
      </p:sp>
      <p:sp>
        <p:nvSpPr>
          <p:cNvPr id="14" name="Shape 12"/>
          <p:cNvSpPr/>
          <p:nvPr/>
        </p:nvSpPr>
        <p:spPr>
          <a:xfrm>
            <a:off x="8599170" y="1207008"/>
            <a:ext cx="0" cy="2514600"/>
          </a:xfrm>
          <a:prstGeom prst="line">
            <a:avLst/>
          </a:prstGeom>
          <a:noFill/>
          <a:ln w="6350">
            <a:solidFill>
              <a:srgbClr val="C9D1DB"/>
            </a:solidFill>
            <a:prstDash val="dash"/>
          </a:ln>
        </p:spPr>
        <p:txBody>
          <a:bodyPr/>
          <a:lstStyle/>
          <a:p>
            <a:endParaRPr lang="ja-JP" altLang="en-US"/>
          </a:p>
        </p:txBody>
      </p:sp>
      <p:sp>
        <p:nvSpPr>
          <p:cNvPr id="15" name="Text 13"/>
          <p:cNvSpPr txBox="1"/>
          <p:nvPr/>
        </p:nvSpPr>
        <p:spPr>
          <a:xfrm>
            <a:off x="8324850" y="1024128"/>
            <a:ext cx="548640" cy="182880"/>
          </a:xfrm>
          <a:prstGeom prst="rect">
            <a:avLst/>
          </a:prstGeom>
          <a:noFill/>
          <a:ln/>
        </p:spPr>
        <p:txBody>
          <a:bodyPr wrap="square" lIns="0" tIns="0" rIns="0" bIns="0" rtlCol="0" anchor="ctr"/>
          <a:lstStyle/>
          <a:p>
            <a:pPr marL="0" indent="0" algn="ctr">
              <a:buNone/>
            </a:pPr>
            <a:r>
              <a:rPr lang="en-US" sz="900" dirty="0">
                <a:solidFill>
                  <a:srgbClr val="5E6B7A"/>
                </a:solidFill>
                <a:latin typeface="游ゴシック" pitchFamily="34" charset="0"/>
                <a:ea typeface="游ゴシック" pitchFamily="34" charset="-122"/>
                <a:cs typeface="游ゴシック" pitchFamily="34" charset="-120"/>
              </a:rPr>
              <a:t>9/14</a:t>
            </a:r>
            <a:endParaRPr lang="en-US" sz="900" dirty="0"/>
          </a:p>
        </p:txBody>
      </p:sp>
      <p:sp>
        <p:nvSpPr>
          <p:cNvPr id="16" name="Text 14"/>
          <p:cNvSpPr txBox="1"/>
          <p:nvPr/>
        </p:nvSpPr>
        <p:spPr>
          <a:xfrm>
            <a:off x="365760" y="1280160"/>
            <a:ext cx="1874520" cy="274320"/>
          </a:xfrm>
          <a:prstGeom prst="rect">
            <a:avLst/>
          </a:prstGeom>
          <a:noFill/>
          <a:ln/>
        </p:spPr>
        <p:txBody>
          <a:bodyPr wrap="square" lIns="0" tIns="0" rIns="0" bIns="0" rtlCol="0" anchor="ctr"/>
          <a:lstStyle/>
          <a:p>
            <a:pPr marL="0" indent="0">
              <a:buNone/>
            </a:pPr>
            <a:r>
              <a:rPr lang="en-US" sz="1100" b="1" dirty="0">
                <a:solidFill>
                  <a:srgbClr val="22354F"/>
                </a:solidFill>
                <a:latin typeface="游ゴシック" pitchFamily="34" charset="0"/>
                <a:ea typeface="游ゴシック" pitchFamily="34" charset="-122"/>
                <a:cs typeface="游ゴシック" pitchFamily="34" charset="-120"/>
              </a:rPr>
              <a:t>計測データ全体</a:t>
            </a:r>
            <a:endParaRPr lang="en-US" sz="1100" dirty="0"/>
          </a:p>
        </p:txBody>
      </p:sp>
      <p:sp>
        <p:nvSpPr>
          <p:cNvPr id="17" name="Shape 15"/>
          <p:cNvSpPr/>
          <p:nvPr/>
        </p:nvSpPr>
        <p:spPr>
          <a:xfrm>
            <a:off x="2421731" y="1307592"/>
            <a:ext cx="6271339" cy="219456"/>
          </a:xfrm>
          <a:prstGeom prst="rect">
            <a:avLst/>
          </a:prstGeom>
          <a:solidFill>
            <a:srgbClr val="22354F"/>
          </a:solidFill>
          <a:ln w="12700">
            <a:solidFill>
              <a:srgbClr val="22354F"/>
            </a:solidFill>
            <a:prstDash val="solid"/>
          </a:ln>
        </p:spPr>
        <p:txBody>
          <a:bodyPr/>
          <a:lstStyle/>
          <a:p>
            <a:endParaRPr lang="ja-JP" altLang="en-US"/>
          </a:p>
        </p:txBody>
      </p:sp>
      <p:sp>
        <p:nvSpPr>
          <p:cNvPr id="18" name="Text 16"/>
          <p:cNvSpPr txBox="1"/>
          <p:nvPr/>
        </p:nvSpPr>
        <p:spPr>
          <a:xfrm>
            <a:off x="2476595" y="1307592"/>
            <a:ext cx="6179899" cy="219456"/>
          </a:xfrm>
          <a:prstGeom prst="rect">
            <a:avLst/>
          </a:prstGeom>
          <a:noFill/>
          <a:ln/>
        </p:spPr>
        <p:txBody>
          <a:bodyPr wrap="square" lIns="0" tIns="0" rIns="0" bIns="0" rtlCol="0" anchor="ctr"/>
          <a:lstStyle/>
          <a:p>
            <a:pPr marL="0" indent="0">
              <a:buNone/>
            </a:pPr>
            <a:r>
              <a:rPr lang="en-US" sz="900" b="1" dirty="0">
                <a:solidFill>
                  <a:srgbClr val="FFFFFF"/>
                </a:solidFill>
                <a:latin typeface="游ゴシック" pitchFamily="34" charset="0"/>
                <a:ea typeface="游ゴシック" pitchFamily="34" charset="-122"/>
                <a:cs typeface="游ゴシック" pitchFamily="34" charset="-120"/>
              </a:rPr>
              <a:t>7/29 16:14〜9/14 16:52</a:t>
            </a:r>
            <a:endParaRPr lang="en-US" sz="900" dirty="0"/>
          </a:p>
        </p:txBody>
      </p:sp>
      <p:sp>
        <p:nvSpPr>
          <p:cNvPr id="19" name="Text 17"/>
          <p:cNvSpPr txBox="1"/>
          <p:nvPr/>
        </p:nvSpPr>
        <p:spPr>
          <a:xfrm>
            <a:off x="365760" y="1627632"/>
            <a:ext cx="1874520" cy="274320"/>
          </a:xfrm>
          <a:prstGeom prst="rect">
            <a:avLst/>
          </a:prstGeom>
          <a:noFill/>
          <a:ln/>
        </p:spPr>
        <p:txBody>
          <a:bodyPr wrap="square" lIns="0" tIns="0" rIns="0" bIns="0" rtlCol="0" anchor="ctr"/>
          <a:lstStyle/>
          <a:p>
            <a:pPr marL="0" indent="0">
              <a:buNone/>
            </a:pPr>
            <a:r>
              <a:rPr lang="en-US" sz="1100" b="1" dirty="0">
                <a:solidFill>
                  <a:srgbClr val="22354F"/>
                </a:solidFill>
                <a:latin typeface="游ゴシック" pitchFamily="34" charset="0"/>
                <a:ea typeface="游ゴシック" pitchFamily="34" charset="-122"/>
                <a:cs typeface="游ゴシック" pitchFamily="34" charset="-120"/>
              </a:rPr>
              <a:t>分析期間（47日間）</a:t>
            </a:r>
            <a:endParaRPr lang="en-US" sz="1100" dirty="0"/>
          </a:p>
        </p:txBody>
      </p:sp>
      <p:sp>
        <p:nvSpPr>
          <p:cNvPr id="20" name="Shape 18"/>
          <p:cNvSpPr/>
          <p:nvPr/>
        </p:nvSpPr>
        <p:spPr>
          <a:xfrm>
            <a:off x="2465070" y="1673352"/>
            <a:ext cx="122682" cy="182880"/>
          </a:xfrm>
          <a:prstGeom prst="rect">
            <a:avLst/>
          </a:prstGeom>
          <a:solidFill>
            <a:srgbClr val="E66C64"/>
          </a:solidFill>
          <a:ln/>
        </p:spPr>
        <p:txBody>
          <a:bodyPr/>
          <a:lstStyle/>
          <a:p>
            <a:endParaRPr lang="ja-JP" altLang="en-US"/>
          </a:p>
        </p:txBody>
      </p:sp>
      <p:sp>
        <p:nvSpPr>
          <p:cNvPr id="21" name="Shape 19"/>
          <p:cNvSpPr/>
          <p:nvPr/>
        </p:nvSpPr>
        <p:spPr>
          <a:xfrm>
            <a:off x="2598420" y="1673352"/>
            <a:ext cx="122682" cy="182880"/>
          </a:xfrm>
          <a:prstGeom prst="rect">
            <a:avLst/>
          </a:prstGeom>
          <a:solidFill>
            <a:srgbClr val="E66C64"/>
          </a:solidFill>
          <a:ln/>
        </p:spPr>
        <p:txBody>
          <a:bodyPr/>
          <a:lstStyle/>
          <a:p>
            <a:endParaRPr lang="ja-JP" altLang="en-US"/>
          </a:p>
        </p:txBody>
      </p:sp>
      <p:sp>
        <p:nvSpPr>
          <p:cNvPr id="22" name="Shape 20"/>
          <p:cNvSpPr/>
          <p:nvPr/>
        </p:nvSpPr>
        <p:spPr>
          <a:xfrm>
            <a:off x="2731770" y="1673352"/>
            <a:ext cx="122682" cy="182880"/>
          </a:xfrm>
          <a:prstGeom prst="rect">
            <a:avLst/>
          </a:prstGeom>
          <a:solidFill>
            <a:srgbClr val="C9D1DB"/>
          </a:solidFill>
          <a:ln/>
        </p:spPr>
        <p:txBody>
          <a:bodyPr/>
          <a:lstStyle/>
          <a:p>
            <a:endParaRPr lang="ja-JP" altLang="en-US"/>
          </a:p>
        </p:txBody>
      </p:sp>
      <p:sp>
        <p:nvSpPr>
          <p:cNvPr id="23" name="Shape 21"/>
          <p:cNvSpPr/>
          <p:nvPr/>
        </p:nvSpPr>
        <p:spPr>
          <a:xfrm>
            <a:off x="2865120" y="1673352"/>
            <a:ext cx="122682" cy="182880"/>
          </a:xfrm>
          <a:prstGeom prst="rect">
            <a:avLst/>
          </a:prstGeom>
          <a:solidFill>
            <a:srgbClr val="C9D1DB"/>
          </a:solidFill>
          <a:ln/>
        </p:spPr>
        <p:txBody>
          <a:bodyPr/>
          <a:lstStyle/>
          <a:p>
            <a:endParaRPr lang="ja-JP" altLang="en-US"/>
          </a:p>
        </p:txBody>
      </p:sp>
      <p:sp>
        <p:nvSpPr>
          <p:cNvPr id="24" name="Shape 22"/>
          <p:cNvSpPr/>
          <p:nvPr/>
        </p:nvSpPr>
        <p:spPr>
          <a:xfrm>
            <a:off x="2998470" y="1673352"/>
            <a:ext cx="122682" cy="182880"/>
          </a:xfrm>
          <a:prstGeom prst="rect">
            <a:avLst/>
          </a:prstGeom>
          <a:solidFill>
            <a:srgbClr val="E66C64"/>
          </a:solidFill>
          <a:ln/>
        </p:spPr>
        <p:txBody>
          <a:bodyPr/>
          <a:lstStyle/>
          <a:p>
            <a:endParaRPr lang="ja-JP" altLang="en-US"/>
          </a:p>
        </p:txBody>
      </p:sp>
      <p:sp>
        <p:nvSpPr>
          <p:cNvPr id="25" name="Shape 23"/>
          <p:cNvSpPr/>
          <p:nvPr/>
        </p:nvSpPr>
        <p:spPr>
          <a:xfrm>
            <a:off x="3131820" y="1673352"/>
            <a:ext cx="122682" cy="182880"/>
          </a:xfrm>
          <a:prstGeom prst="rect">
            <a:avLst/>
          </a:prstGeom>
          <a:solidFill>
            <a:srgbClr val="E66C64"/>
          </a:solidFill>
          <a:ln/>
        </p:spPr>
        <p:txBody>
          <a:bodyPr/>
          <a:lstStyle/>
          <a:p>
            <a:endParaRPr lang="ja-JP" altLang="en-US"/>
          </a:p>
        </p:txBody>
      </p:sp>
      <p:sp>
        <p:nvSpPr>
          <p:cNvPr id="26" name="Shape 24"/>
          <p:cNvSpPr/>
          <p:nvPr/>
        </p:nvSpPr>
        <p:spPr>
          <a:xfrm>
            <a:off x="3265170" y="1673352"/>
            <a:ext cx="122682" cy="182880"/>
          </a:xfrm>
          <a:prstGeom prst="rect">
            <a:avLst/>
          </a:prstGeom>
          <a:solidFill>
            <a:srgbClr val="E66C64"/>
          </a:solidFill>
          <a:ln/>
        </p:spPr>
        <p:txBody>
          <a:bodyPr/>
          <a:lstStyle/>
          <a:p>
            <a:endParaRPr lang="ja-JP" altLang="en-US"/>
          </a:p>
        </p:txBody>
      </p:sp>
      <p:sp>
        <p:nvSpPr>
          <p:cNvPr id="27" name="Shape 25"/>
          <p:cNvSpPr/>
          <p:nvPr/>
        </p:nvSpPr>
        <p:spPr>
          <a:xfrm>
            <a:off x="3398520" y="1673352"/>
            <a:ext cx="122682" cy="182880"/>
          </a:xfrm>
          <a:prstGeom prst="rect">
            <a:avLst/>
          </a:prstGeom>
          <a:solidFill>
            <a:srgbClr val="E66C64"/>
          </a:solidFill>
          <a:ln/>
        </p:spPr>
        <p:txBody>
          <a:bodyPr/>
          <a:lstStyle/>
          <a:p>
            <a:endParaRPr lang="ja-JP" altLang="en-US"/>
          </a:p>
        </p:txBody>
      </p:sp>
      <p:sp>
        <p:nvSpPr>
          <p:cNvPr id="28" name="Shape 26"/>
          <p:cNvSpPr/>
          <p:nvPr/>
        </p:nvSpPr>
        <p:spPr>
          <a:xfrm>
            <a:off x="3531870" y="1673352"/>
            <a:ext cx="122682" cy="182880"/>
          </a:xfrm>
          <a:prstGeom prst="rect">
            <a:avLst/>
          </a:prstGeom>
          <a:solidFill>
            <a:srgbClr val="E66C64"/>
          </a:solidFill>
          <a:ln/>
        </p:spPr>
        <p:txBody>
          <a:bodyPr/>
          <a:lstStyle/>
          <a:p>
            <a:endParaRPr lang="ja-JP" altLang="en-US"/>
          </a:p>
        </p:txBody>
      </p:sp>
      <p:sp>
        <p:nvSpPr>
          <p:cNvPr id="29" name="Shape 27"/>
          <p:cNvSpPr/>
          <p:nvPr/>
        </p:nvSpPr>
        <p:spPr>
          <a:xfrm>
            <a:off x="3665220" y="1673352"/>
            <a:ext cx="122682" cy="182880"/>
          </a:xfrm>
          <a:prstGeom prst="rect">
            <a:avLst/>
          </a:prstGeom>
          <a:solidFill>
            <a:srgbClr val="C9D1DB"/>
          </a:solidFill>
          <a:ln/>
        </p:spPr>
        <p:txBody>
          <a:bodyPr/>
          <a:lstStyle/>
          <a:p>
            <a:endParaRPr lang="ja-JP" altLang="en-US"/>
          </a:p>
        </p:txBody>
      </p:sp>
      <p:sp>
        <p:nvSpPr>
          <p:cNvPr id="30" name="Shape 28"/>
          <p:cNvSpPr/>
          <p:nvPr/>
        </p:nvSpPr>
        <p:spPr>
          <a:xfrm>
            <a:off x="3798570" y="1673352"/>
            <a:ext cx="122682" cy="182880"/>
          </a:xfrm>
          <a:prstGeom prst="rect">
            <a:avLst/>
          </a:prstGeom>
          <a:solidFill>
            <a:srgbClr val="C9D1DB"/>
          </a:solidFill>
          <a:ln/>
        </p:spPr>
        <p:txBody>
          <a:bodyPr/>
          <a:lstStyle/>
          <a:p>
            <a:endParaRPr lang="ja-JP" altLang="en-US"/>
          </a:p>
        </p:txBody>
      </p:sp>
      <p:sp>
        <p:nvSpPr>
          <p:cNvPr id="31" name="Shape 29"/>
          <p:cNvSpPr/>
          <p:nvPr/>
        </p:nvSpPr>
        <p:spPr>
          <a:xfrm>
            <a:off x="3931920" y="1673352"/>
            <a:ext cx="122682" cy="182880"/>
          </a:xfrm>
          <a:prstGeom prst="rect">
            <a:avLst/>
          </a:prstGeom>
          <a:solidFill>
            <a:srgbClr val="E66C64"/>
          </a:solidFill>
          <a:ln/>
        </p:spPr>
        <p:txBody>
          <a:bodyPr/>
          <a:lstStyle/>
          <a:p>
            <a:endParaRPr lang="ja-JP" altLang="en-US"/>
          </a:p>
        </p:txBody>
      </p:sp>
      <p:sp>
        <p:nvSpPr>
          <p:cNvPr id="32" name="Shape 30"/>
          <p:cNvSpPr/>
          <p:nvPr/>
        </p:nvSpPr>
        <p:spPr>
          <a:xfrm>
            <a:off x="4065270" y="1673352"/>
            <a:ext cx="122682" cy="182880"/>
          </a:xfrm>
          <a:prstGeom prst="rect">
            <a:avLst/>
          </a:prstGeom>
          <a:solidFill>
            <a:srgbClr val="C9D1DB"/>
          </a:solidFill>
          <a:ln/>
        </p:spPr>
        <p:txBody>
          <a:bodyPr/>
          <a:lstStyle/>
          <a:p>
            <a:endParaRPr lang="ja-JP" altLang="en-US"/>
          </a:p>
        </p:txBody>
      </p:sp>
      <p:sp>
        <p:nvSpPr>
          <p:cNvPr id="33" name="Shape 31"/>
          <p:cNvSpPr/>
          <p:nvPr/>
        </p:nvSpPr>
        <p:spPr>
          <a:xfrm>
            <a:off x="4198620" y="1673352"/>
            <a:ext cx="122682" cy="182880"/>
          </a:xfrm>
          <a:prstGeom prst="rect">
            <a:avLst/>
          </a:prstGeom>
          <a:solidFill>
            <a:srgbClr val="E66C64"/>
          </a:solidFill>
          <a:ln/>
        </p:spPr>
        <p:txBody>
          <a:bodyPr/>
          <a:lstStyle/>
          <a:p>
            <a:endParaRPr lang="ja-JP" altLang="en-US"/>
          </a:p>
        </p:txBody>
      </p:sp>
      <p:sp>
        <p:nvSpPr>
          <p:cNvPr id="34" name="Shape 32"/>
          <p:cNvSpPr/>
          <p:nvPr/>
        </p:nvSpPr>
        <p:spPr>
          <a:xfrm>
            <a:off x="4331970" y="1673352"/>
            <a:ext cx="122682" cy="182880"/>
          </a:xfrm>
          <a:prstGeom prst="rect">
            <a:avLst/>
          </a:prstGeom>
          <a:solidFill>
            <a:srgbClr val="E66C64"/>
          </a:solidFill>
          <a:ln/>
        </p:spPr>
        <p:txBody>
          <a:bodyPr/>
          <a:lstStyle/>
          <a:p>
            <a:endParaRPr lang="ja-JP" altLang="en-US"/>
          </a:p>
        </p:txBody>
      </p:sp>
      <p:sp>
        <p:nvSpPr>
          <p:cNvPr id="35" name="Shape 33"/>
          <p:cNvSpPr/>
          <p:nvPr/>
        </p:nvSpPr>
        <p:spPr>
          <a:xfrm>
            <a:off x="4465320" y="1673352"/>
            <a:ext cx="122682" cy="182880"/>
          </a:xfrm>
          <a:prstGeom prst="rect">
            <a:avLst/>
          </a:prstGeom>
          <a:solidFill>
            <a:srgbClr val="E66C64"/>
          </a:solidFill>
          <a:ln/>
        </p:spPr>
        <p:txBody>
          <a:bodyPr/>
          <a:lstStyle/>
          <a:p>
            <a:endParaRPr lang="ja-JP" altLang="en-US"/>
          </a:p>
        </p:txBody>
      </p:sp>
      <p:sp>
        <p:nvSpPr>
          <p:cNvPr id="36" name="Shape 34"/>
          <p:cNvSpPr/>
          <p:nvPr/>
        </p:nvSpPr>
        <p:spPr>
          <a:xfrm>
            <a:off x="4598670" y="1673352"/>
            <a:ext cx="122682" cy="182880"/>
          </a:xfrm>
          <a:prstGeom prst="rect">
            <a:avLst/>
          </a:prstGeom>
          <a:solidFill>
            <a:srgbClr val="C9D1DB"/>
          </a:solidFill>
          <a:ln/>
        </p:spPr>
        <p:txBody>
          <a:bodyPr/>
          <a:lstStyle/>
          <a:p>
            <a:endParaRPr lang="ja-JP" altLang="en-US"/>
          </a:p>
        </p:txBody>
      </p:sp>
      <p:sp>
        <p:nvSpPr>
          <p:cNvPr id="37" name="Shape 35"/>
          <p:cNvSpPr/>
          <p:nvPr/>
        </p:nvSpPr>
        <p:spPr>
          <a:xfrm>
            <a:off x="4732020" y="1673352"/>
            <a:ext cx="122682" cy="182880"/>
          </a:xfrm>
          <a:prstGeom prst="rect">
            <a:avLst/>
          </a:prstGeom>
          <a:solidFill>
            <a:srgbClr val="C9D1DB"/>
          </a:solidFill>
          <a:ln/>
        </p:spPr>
        <p:txBody>
          <a:bodyPr/>
          <a:lstStyle/>
          <a:p>
            <a:endParaRPr lang="ja-JP" altLang="en-US"/>
          </a:p>
        </p:txBody>
      </p:sp>
      <p:sp>
        <p:nvSpPr>
          <p:cNvPr id="38" name="Shape 36"/>
          <p:cNvSpPr/>
          <p:nvPr/>
        </p:nvSpPr>
        <p:spPr>
          <a:xfrm>
            <a:off x="4865370" y="1673352"/>
            <a:ext cx="122682" cy="182880"/>
          </a:xfrm>
          <a:prstGeom prst="rect">
            <a:avLst/>
          </a:prstGeom>
          <a:solidFill>
            <a:srgbClr val="E66C64"/>
          </a:solidFill>
          <a:ln/>
        </p:spPr>
        <p:txBody>
          <a:bodyPr/>
          <a:lstStyle/>
          <a:p>
            <a:endParaRPr lang="ja-JP" altLang="en-US"/>
          </a:p>
        </p:txBody>
      </p:sp>
      <p:sp>
        <p:nvSpPr>
          <p:cNvPr id="39" name="Shape 37"/>
          <p:cNvSpPr/>
          <p:nvPr/>
        </p:nvSpPr>
        <p:spPr>
          <a:xfrm>
            <a:off x="4998720" y="1673352"/>
            <a:ext cx="122682" cy="182880"/>
          </a:xfrm>
          <a:prstGeom prst="rect">
            <a:avLst/>
          </a:prstGeom>
          <a:solidFill>
            <a:srgbClr val="E66C64"/>
          </a:solidFill>
          <a:ln/>
        </p:spPr>
        <p:txBody>
          <a:bodyPr/>
          <a:lstStyle/>
          <a:p>
            <a:endParaRPr lang="ja-JP" altLang="en-US"/>
          </a:p>
        </p:txBody>
      </p:sp>
      <p:sp>
        <p:nvSpPr>
          <p:cNvPr id="40" name="Shape 38"/>
          <p:cNvSpPr/>
          <p:nvPr/>
        </p:nvSpPr>
        <p:spPr>
          <a:xfrm>
            <a:off x="5132070" y="1673352"/>
            <a:ext cx="122682" cy="182880"/>
          </a:xfrm>
          <a:prstGeom prst="rect">
            <a:avLst/>
          </a:prstGeom>
          <a:solidFill>
            <a:srgbClr val="E66C64"/>
          </a:solidFill>
          <a:ln/>
        </p:spPr>
        <p:txBody>
          <a:bodyPr/>
          <a:lstStyle/>
          <a:p>
            <a:endParaRPr lang="ja-JP" altLang="en-US"/>
          </a:p>
        </p:txBody>
      </p:sp>
      <p:sp>
        <p:nvSpPr>
          <p:cNvPr id="41" name="Shape 39"/>
          <p:cNvSpPr/>
          <p:nvPr/>
        </p:nvSpPr>
        <p:spPr>
          <a:xfrm>
            <a:off x="5265420" y="1673352"/>
            <a:ext cx="122682" cy="182880"/>
          </a:xfrm>
          <a:prstGeom prst="rect">
            <a:avLst/>
          </a:prstGeom>
          <a:solidFill>
            <a:srgbClr val="E66C64"/>
          </a:solidFill>
          <a:ln/>
        </p:spPr>
        <p:txBody>
          <a:bodyPr/>
          <a:lstStyle/>
          <a:p>
            <a:endParaRPr lang="ja-JP" altLang="en-US"/>
          </a:p>
        </p:txBody>
      </p:sp>
      <p:sp>
        <p:nvSpPr>
          <p:cNvPr id="42" name="Shape 40"/>
          <p:cNvSpPr/>
          <p:nvPr/>
        </p:nvSpPr>
        <p:spPr>
          <a:xfrm>
            <a:off x="5398770" y="1673352"/>
            <a:ext cx="122682" cy="182880"/>
          </a:xfrm>
          <a:prstGeom prst="rect">
            <a:avLst/>
          </a:prstGeom>
          <a:solidFill>
            <a:srgbClr val="E66C64"/>
          </a:solidFill>
          <a:ln/>
        </p:spPr>
        <p:txBody>
          <a:bodyPr/>
          <a:lstStyle/>
          <a:p>
            <a:endParaRPr lang="ja-JP" altLang="en-US"/>
          </a:p>
        </p:txBody>
      </p:sp>
      <p:sp>
        <p:nvSpPr>
          <p:cNvPr id="43" name="Shape 41"/>
          <p:cNvSpPr/>
          <p:nvPr/>
        </p:nvSpPr>
        <p:spPr>
          <a:xfrm>
            <a:off x="5532120" y="1673352"/>
            <a:ext cx="122682" cy="182880"/>
          </a:xfrm>
          <a:prstGeom prst="rect">
            <a:avLst/>
          </a:prstGeom>
          <a:solidFill>
            <a:srgbClr val="C9D1DB"/>
          </a:solidFill>
          <a:ln/>
        </p:spPr>
        <p:txBody>
          <a:bodyPr/>
          <a:lstStyle/>
          <a:p>
            <a:endParaRPr lang="ja-JP" altLang="en-US"/>
          </a:p>
        </p:txBody>
      </p:sp>
      <p:sp>
        <p:nvSpPr>
          <p:cNvPr id="44" name="Shape 42"/>
          <p:cNvSpPr/>
          <p:nvPr/>
        </p:nvSpPr>
        <p:spPr>
          <a:xfrm>
            <a:off x="5665470" y="1673352"/>
            <a:ext cx="122682" cy="182880"/>
          </a:xfrm>
          <a:prstGeom prst="rect">
            <a:avLst/>
          </a:prstGeom>
          <a:solidFill>
            <a:srgbClr val="C9D1DB"/>
          </a:solidFill>
          <a:ln/>
        </p:spPr>
        <p:txBody>
          <a:bodyPr/>
          <a:lstStyle/>
          <a:p>
            <a:endParaRPr lang="ja-JP" altLang="en-US"/>
          </a:p>
        </p:txBody>
      </p:sp>
      <p:sp>
        <p:nvSpPr>
          <p:cNvPr id="45" name="Shape 43"/>
          <p:cNvSpPr/>
          <p:nvPr/>
        </p:nvSpPr>
        <p:spPr>
          <a:xfrm>
            <a:off x="5798820" y="1673352"/>
            <a:ext cx="122682" cy="182880"/>
          </a:xfrm>
          <a:prstGeom prst="rect">
            <a:avLst/>
          </a:prstGeom>
          <a:solidFill>
            <a:srgbClr val="E66C64"/>
          </a:solidFill>
          <a:ln/>
        </p:spPr>
        <p:txBody>
          <a:bodyPr/>
          <a:lstStyle/>
          <a:p>
            <a:endParaRPr lang="ja-JP" altLang="en-US"/>
          </a:p>
        </p:txBody>
      </p:sp>
      <p:sp>
        <p:nvSpPr>
          <p:cNvPr id="46" name="Shape 44"/>
          <p:cNvSpPr/>
          <p:nvPr/>
        </p:nvSpPr>
        <p:spPr>
          <a:xfrm>
            <a:off x="5932170" y="1673352"/>
            <a:ext cx="122682" cy="182880"/>
          </a:xfrm>
          <a:prstGeom prst="rect">
            <a:avLst/>
          </a:prstGeom>
          <a:solidFill>
            <a:srgbClr val="E66C64"/>
          </a:solidFill>
          <a:ln/>
        </p:spPr>
        <p:txBody>
          <a:bodyPr/>
          <a:lstStyle/>
          <a:p>
            <a:endParaRPr lang="ja-JP" altLang="en-US"/>
          </a:p>
        </p:txBody>
      </p:sp>
      <p:sp>
        <p:nvSpPr>
          <p:cNvPr id="47" name="Shape 45"/>
          <p:cNvSpPr/>
          <p:nvPr/>
        </p:nvSpPr>
        <p:spPr>
          <a:xfrm>
            <a:off x="6065520" y="1673352"/>
            <a:ext cx="122682" cy="182880"/>
          </a:xfrm>
          <a:prstGeom prst="rect">
            <a:avLst/>
          </a:prstGeom>
          <a:solidFill>
            <a:srgbClr val="E66C64"/>
          </a:solidFill>
          <a:ln/>
        </p:spPr>
        <p:txBody>
          <a:bodyPr/>
          <a:lstStyle/>
          <a:p>
            <a:endParaRPr lang="ja-JP" altLang="en-US"/>
          </a:p>
        </p:txBody>
      </p:sp>
      <p:sp>
        <p:nvSpPr>
          <p:cNvPr id="48" name="Shape 46"/>
          <p:cNvSpPr/>
          <p:nvPr/>
        </p:nvSpPr>
        <p:spPr>
          <a:xfrm>
            <a:off x="6198870" y="1673352"/>
            <a:ext cx="122682" cy="182880"/>
          </a:xfrm>
          <a:prstGeom prst="rect">
            <a:avLst/>
          </a:prstGeom>
          <a:solidFill>
            <a:srgbClr val="E66C64"/>
          </a:solidFill>
          <a:ln/>
        </p:spPr>
        <p:txBody>
          <a:bodyPr/>
          <a:lstStyle/>
          <a:p>
            <a:endParaRPr lang="ja-JP" altLang="en-US"/>
          </a:p>
        </p:txBody>
      </p:sp>
      <p:sp>
        <p:nvSpPr>
          <p:cNvPr id="49" name="Shape 47"/>
          <p:cNvSpPr/>
          <p:nvPr/>
        </p:nvSpPr>
        <p:spPr>
          <a:xfrm>
            <a:off x="6332220" y="1673352"/>
            <a:ext cx="122682" cy="182880"/>
          </a:xfrm>
          <a:prstGeom prst="rect">
            <a:avLst/>
          </a:prstGeom>
          <a:solidFill>
            <a:srgbClr val="E66C64"/>
          </a:solidFill>
          <a:ln/>
        </p:spPr>
        <p:txBody>
          <a:bodyPr/>
          <a:lstStyle/>
          <a:p>
            <a:endParaRPr lang="ja-JP" altLang="en-US"/>
          </a:p>
        </p:txBody>
      </p:sp>
      <p:sp>
        <p:nvSpPr>
          <p:cNvPr id="50" name="Shape 48"/>
          <p:cNvSpPr/>
          <p:nvPr/>
        </p:nvSpPr>
        <p:spPr>
          <a:xfrm>
            <a:off x="6465570" y="1673352"/>
            <a:ext cx="122682" cy="182880"/>
          </a:xfrm>
          <a:prstGeom prst="rect">
            <a:avLst/>
          </a:prstGeom>
          <a:solidFill>
            <a:srgbClr val="C9D1DB"/>
          </a:solidFill>
          <a:ln/>
        </p:spPr>
        <p:txBody>
          <a:bodyPr/>
          <a:lstStyle/>
          <a:p>
            <a:endParaRPr lang="ja-JP" altLang="en-US"/>
          </a:p>
        </p:txBody>
      </p:sp>
      <p:sp>
        <p:nvSpPr>
          <p:cNvPr id="51" name="Shape 49"/>
          <p:cNvSpPr/>
          <p:nvPr/>
        </p:nvSpPr>
        <p:spPr>
          <a:xfrm>
            <a:off x="6598920" y="1673352"/>
            <a:ext cx="122682" cy="182880"/>
          </a:xfrm>
          <a:prstGeom prst="rect">
            <a:avLst/>
          </a:prstGeom>
          <a:solidFill>
            <a:srgbClr val="C9D1DB"/>
          </a:solidFill>
          <a:ln/>
        </p:spPr>
        <p:txBody>
          <a:bodyPr/>
          <a:lstStyle/>
          <a:p>
            <a:endParaRPr lang="ja-JP" altLang="en-US"/>
          </a:p>
        </p:txBody>
      </p:sp>
      <p:sp>
        <p:nvSpPr>
          <p:cNvPr id="52" name="Shape 50"/>
          <p:cNvSpPr/>
          <p:nvPr/>
        </p:nvSpPr>
        <p:spPr>
          <a:xfrm>
            <a:off x="6732270" y="1673352"/>
            <a:ext cx="122682" cy="182880"/>
          </a:xfrm>
          <a:prstGeom prst="rect">
            <a:avLst/>
          </a:prstGeom>
          <a:solidFill>
            <a:srgbClr val="E66C64"/>
          </a:solidFill>
          <a:ln/>
        </p:spPr>
        <p:txBody>
          <a:bodyPr/>
          <a:lstStyle/>
          <a:p>
            <a:endParaRPr lang="ja-JP" altLang="en-US"/>
          </a:p>
        </p:txBody>
      </p:sp>
      <p:sp>
        <p:nvSpPr>
          <p:cNvPr id="53" name="Shape 51"/>
          <p:cNvSpPr/>
          <p:nvPr/>
        </p:nvSpPr>
        <p:spPr>
          <a:xfrm>
            <a:off x="6865620" y="1673352"/>
            <a:ext cx="122682" cy="182880"/>
          </a:xfrm>
          <a:prstGeom prst="rect">
            <a:avLst/>
          </a:prstGeom>
          <a:solidFill>
            <a:srgbClr val="E66C64"/>
          </a:solidFill>
          <a:ln/>
        </p:spPr>
        <p:txBody>
          <a:bodyPr/>
          <a:lstStyle/>
          <a:p>
            <a:endParaRPr lang="ja-JP" altLang="en-US"/>
          </a:p>
        </p:txBody>
      </p:sp>
      <p:sp>
        <p:nvSpPr>
          <p:cNvPr id="54" name="Shape 52"/>
          <p:cNvSpPr/>
          <p:nvPr/>
        </p:nvSpPr>
        <p:spPr>
          <a:xfrm>
            <a:off x="6998970" y="1673352"/>
            <a:ext cx="122682" cy="182880"/>
          </a:xfrm>
          <a:prstGeom prst="rect">
            <a:avLst/>
          </a:prstGeom>
          <a:solidFill>
            <a:srgbClr val="E66C64"/>
          </a:solidFill>
          <a:ln/>
        </p:spPr>
        <p:txBody>
          <a:bodyPr/>
          <a:lstStyle/>
          <a:p>
            <a:endParaRPr lang="ja-JP" altLang="en-US"/>
          </a:p>
        </p:txBody>
      </p:sp>
      <p:sp>
        <p:nvSpPr>
          <p:cNvPr id="55" name="Shape 53"/>
          <p:cNvSpPr/>
          <p:nvPr/>
        </p:nvSpPr>
        <p:spPr>
          <a:xfrm>
            <a:off x="7132320" y="1673352"/>
            <a:ext cx="122682" cy="182880"/>
          </a:xfrm>
          <a:prstGeom prst="rect">
            <a:avLst/>
          </a:prstGeom>
          <a:solidFill>
            <a:srgbClr val="E66C64"/>
          </a:solidFill>
          <a:ln/>
        </p:spPr>
        <p:txBody>
          <a:bodyPr/>
          <a:lstStyle/>
          <a:p>
            <a:endParaRPr lang="ja-JP" altLang="en-US"/>
          </a:p>
        </p:txBody>
      </p:sp>
      <p:sp>
        <p:nvSpPr>
          <p:cNvPr id="56" name="Shape 54"/>
          <p:cNvSpPr/>
          <p:nvPr/>
        </p:nvSpPr>
        <p:spPr>
          <a:xfrm>
            <a:off x="7265670" y="1673352"/>
            <a:ext cx="122682" cy="182880"/>
          </a:xfrm>
          <a:prstGeom prst="rect">
            <a:avLst/>
          </a:prstGeom>
          <a:solidFill>
            <a:srgbClr val="E66C64"/>
          </a:solidFill>
          <a:ln/>
        </p:spPr>
        <p:txBody>
          <a:bodyPr/>
          <a:lstStyle/>
          <a:p>
            <a:endParaRPr lang="ja-JP" altLang="en-US"/>
          </a:p>
        </p:txBody>
      </p:sp>
      <p:sp>
        <p:nvSpPr>
          <p:cNvPr id="57" name="Shape 55"/>
          <p:cNvSpPr/>
          <p:nvPr/>
        </p:nvSpPr>
        <p:spPr>
          <a:xfrm>
            <a:off x="7399020" y="1673352"/>
            <a:ext cx="122682" cy="182880"/>
          </a:xfrm>
          <a:prstGeom prst="rect">
            <a:avLst/>
          </a:prstGeom>
          <a:solidFill>
            <a:srgbClr val="C9D1DB"/>
          </a:solidFill>
          <a:ln/>
        </p:spPr>
        <p:txBody>
          <a:bodyPr/>
          <a:lstStyle/>
          <a:p>
            <a:endParaRPr lang="ja-JP" altLang="en-US"/>
          </a:p>
        </p:txBody>
      </p:sp>
      <p:sp>
        <p:nvSpPr>
          <p:cNvPr id="58" name="Shape 56"/>
          <p:cNvSpPr/>
          <p:nvPr/>
        </p:nvSpPr>
        <p:spPr>
          <a:xfrm>
            <a:off x="7532370" y="1673352"/>
            <a:ext cx="122682" cy="182880"/>
          </a:xfrm>
          <a:prstGeom prst="rect">
            <a:avLst/>
          </a:prstGeom>
          <a:solidFill>
            <a:srgbClr val="C9D1DB"/>
          </a:solidFill>
          <a:ln/>
        </p:spPr>
        <p:txBody>
          <a:bodyPr/>
          <a:lstStyle/>
          <a:p>
            <a:endParaRPr lang="ja-JP" altLang="en-US"/>
          </a:p>
        </p:txBody>
      </p:sp>
      <p:sp>
        <p:nvSpPr>
          <p:cNvPr id="59" name="Shape 57"/>
          <p:cNvSpPr/>
          <p:nvPr/>
        </p:nvSpPr>
        <p:spPr>
          <a:xfrm>
            <a:off x="7665720" y="1673352"/>
            <a:ext cx="122682" cy="182880"/>
          </a:xfrm>
          <a:prstGeom prst="rect">
            <a:avLst/>
          </a:prstGeom>
          <a:solidFill>
            <a:srgbClr val="E66C64"/>
          </a:solidFill>
          <a:ln/>
        </p:spPr>
        <p:txBody>
          <a:bodyPr/>
          <a:lstStyle/>
          <a:p>
            <a:endParaRPr lang="ja-JP" altLang="en-US"/>
          </a:p>
        </p:txBody>
      </p:sp>
      <p:sp>
        <p:nvSpPr>
          <p:cNvPr id="60" name="Shape 58"/>
          <p:cNvSpPr/>
          <p:nvPr/>
        </p:nvSpPr>
        <p:spPr>
          <a:xfrm>
            <a:off x="7799070" y="1673352"/>
            <a:ext cx="122682" cy="182880"/>
          </a:xfrm>
          <a:prstGeom prst="rect">
            <a:avLst/>
          </a:prstGeom>
          <a:solidFill>
            <a:srgbClr val="E66C64"/>
          </a:solidFill>
          <a:ln/>
        </p:spPr>
        <p:txBody>
          <a:bodyPr/>
          <a:lstStyle/>
          <a:p>
            <a:endParaRPr lang="ja-JP" altLang="en-US"/>
          </a:p>
        </p:txBody>
      </p:sp>
      <p:sp>
        <p:nvSpPr>
          <p:cNvPr id="61" name="Shape 59"/>
          <p:cNvSpPr/>
          <p:nvPr/>
        </p:nvSpPr>
        <p:spPr>
          <a:xfrm>
            <a:off x="7932420" y="1673352"/>
            <a:ext cx="122682" cy="182880"/>
          </a:xfrm>
          <a:prstGeom prst="rect">
            <a:avLst/>
          </a:prstGeom>
          <a:solidFill>
            <a:srgbClr val="E66C64"/>
          </a:solidFill>
          <a:ln/>
        </p:spPr>
        <p:txBody>
          <a:bodyPr/>
          <a:lstStyle/>
          <a:p>
            <a:endParaRPr lang="ja-JP" altLang="en-US"/>
          </a:p>
        </p:txBody>
      </p:sp>
      <p:sp>
        <p:nvSpPr>
          <p:cNvPr id="62" name="Shape 60"/>
          <p:cNvSpPr/>
          <p:nvPr/>
        </p:nvSpPr>
        <p:spPr>
          <a:xfrm>
            <a:off x="8065770" y="1673352"/>
            <a:ext cx="122682" cy="182880"/>
          </a:xfrm>
          <a:prstGeom prst="rect">
            <a:avLst/>
          </a:prstGeom>
          <a:solidFill>
            <a:srgbClr val="E66C64"/>
          </a:solidFill>
          <a:ln/>
        </p:spPr>
        <p:txBody>
          <a:bodyPr/>
          <a:lstStyle/>
          <a:p>
            <a:endParaRPr lang="ja-JP" altLang="en-US"/>
          </a:p>
        </p:txBody>
      </p:sp>
      <p:sp>
        <p:nvSpPr>
          <p:cNvPr id="63" name="Shape 61"/>
          <p:cNvSpPr/>
          <p:nvPr/>
        </p:nvSpPr>
        <p:spPr>
          <a:xfrm>
            <a:off x="8199120" y="1673352"/>
            <a:ext cx="122682" cy="182880"/>
          </a:xfrm>
          <a:prstGeom prst="rect">
            <a:avLst/>
          </a:prstGeom>
          <a:solidFill>
            <a:srgbClr val="E66C64"/>
          </a:solidFill>
          <a:ln/>
        </p:spPr>
        <p:txBody>
          <a:bodyPr/>
          <a:lstStyle/>
          <a:p>
            <a:endParaRPr lang="ja-JP" altLang="en-US"/>
          </a:p>
        </p:txBody>
      </p:sp>
      <p:sp>
        <p:nvSpPr>
          <p:cNvPr id="64" name="Shape 62"/>
          <p:cNvSpPr/>
          <p:nvPr/>
        </p:nvSpPr>
        <p:spPr>
          <a:xfrm>
            <a:off x="8332470" y="1673352"/>
            <a:ext cx="122682" cy="182880"/>
          </a:xfrm>
          <a:prstGeom prst="rect">
            <a:avLst/>
          </a:prstGeom>
          <a:solidFill>
            <a:srgbClr val="C9D1DB"/>
          </a:solidFill>
          <a:ln/>
        </p:spPr>
        <p:txBody>
          <a:bodyPr/>
          <a:lstStyle/>
          <a:p>
            <a:endParaRPr lang="ja-JP" altLang="en-US"/>
          </a:p>
        </p:txBody>
      </p:sp>
      <p:sp>
        <p:nvSpPr>
          <p:cNvPr id="65" name="Shape 63"/>
          <p:cNvSpPr/>
          <p:nvPr/>
        </p:nvSpPr>
        <p:spPr>
          <a:xfrm>
            <a:off x="8465820" y="1673352"/>
            <a:ext cx="122682" cy="182880"/>
          </a:xfrm>
          <a:prstGeom prst="rect">
            <a:avLst/>
          </a:prstGeom>
          <a:solidFill>
            <a:srgbClr val="C9D1DB"/>
          </a:solidFill>
          <a:ln/>
        </p:spPr>
        <p:txBody>
          <a:bodyPr/>
          <a:lstStyle/>
          <a:p>
            <a:endParaRPr lang="ja-JP" altLang="en-US"/>
          </a:p>
        </p:txBody>
      </p:sp>
      <p:sp>
        <p:nvSpPr>
          <p:cNvPr id="66" name="Shape 64"/>
          <p:cNvSpPr/>
          <p:nvPr/>
        </p:nvSpPr>
        <p:spPr>
          <a:xfrm>
            <a:off x="8599170" y="1673352"/>
            <a:ext cx="122682" cy="182880"/>
          </a:xfrm>
          <a:prstGeom prst="rect">
            <a:avLst/>
          </a:prstGeom>
          <a:solidFill>
            <a:srgbClr val="E66C64"/>
          </a:solidFill>
          <a:ln/>
        </p:spPr>
        <p:txBody>
          <a:bodyPr/>
          <a:lstStyle/>
          <a:p>
            <a:endParaRPr lang="ja-JP" altLang="en-US"/>
          </a:p>
        </p:txBody>
      </p:sp>
      <p:sp>
        <p:nvSpPr>
          <p:cNvPr id="67" name="Text 65"/>
          <p:cNvSpPr txBox="1"/>
          <p:nvPr/>
        </p:nvSpPr>
        <p:spPr>
          <a:xfrm>
            <a:off x="365760" y="1975104"/>
            <a:ext cx="1874520" cy="274320"/>
          </a:xfrm>
          <a:prstGeom prst="rect">
            <a:avLst/>
          </a:prstGeom>
          <a:noFill/>
          <a:ln/>
        </p:spPr>
        <p:txBody>
          <a:bodyPr wrap="square" lIns="0" tIns="0" rIns="0" bIns="0" rtlCol="0" anchor="ctr"/>
          <a:lstStyle/>
          <a:p>
            <a:pPr marL="0" indent="0">
              <a:buNone/>
            </a:pPr>
            <a:r>
              <a:rPr lang="en-US" sz="1100" b="1" dirty="0">
                <a:solidFill>
                  <a:srgbClr val="22354F"/>
                </a:solidFill>
                <a:latin typeface="游ゴシック" pitchFamily="34" charset="0"/>
                <a:ea typeface="游ゴシック" pitchFamily="34" charset="-122"/>
                <a:cs typeface="游ゴシック" pitchFamily="34" charset="-120"/>
              </a:rPr>
              <a:t>吸気温度（熱電対）</a:t>
            </a:r>
            <a:endParaRPr lang="en-US" sz="1100" dirty="0"/>
          </a:p>
        </p:txBody>
      </p:sp>
      <p:sp>
        <p:nvSpPr>
          <p:cNvPr id="68" name="Shape 66"/>
          <p:cNvSpPr/>
          <p:nvPr/>
        </p:nvSpPr>
        <p:spPr>
          <a:xfrm>
            <a:off x="2421731" y="2002536"/>
            <a:ext cx="6271339" cy="219456"/>
          </a:xfrm>
          <a:prstGeom prst="rect">
            <a:avLst/>
          </a:prstGeom>
          <a:solidFill>
            <a:srgbClr val="01B8AA"/>
          </a:solidFill>
          <a:ln w="12700">
            <a:solidFill>
              <a:srgbClr val="01B8AA"/>
            </a:solidFill>
            <a:prstDash val="solid"/>
          </a:ln>
        </p:spPr>
        <p:txBody>
          <a:bodyPr/>
          <a:lstStyle/>
          <a:p>
            <a:endParaRPr lang="ja-JP" altLang="en-US"/>
          </a:p>
        </p:txBody>
      </p:sp>
      <p:sp>
        <p:nvSpPr>
          <p:cNvPr id="69" name="Text 67"/>
          <p:cNvSpPr txBox="1"/>
          <p:nvPr/>
        </p:nvSpPr>
        <p:spPr>
          <a:xfrm>
            <a:off x="2476595" y="2002536"/>
            <a:ext cx="6179899" cy="219456"/>
          </a:xfrm>
          <a:prstGeom prst="rect">
            <a:avLst/>
          </a:prstGeom>
          <a:noFill/>
          <a:ln/>
        </p:spPr>
        <p:txBody>
          <a:bodyPr wrap="square" lIns="0" tIns="0" rIns="0" bIns="0" rtlCol="0" anchor="ctr"/>
          <a:lstStyle/>
          <a:p>
            <a:pPr marL="0" indent="0">
              <a:buNone/>
            </a:pPr>
            <a:r>
              <a:rPr lang="en-US" sz="900" b="1" dirty="0">
                <a:solidFill>
                  <a:srgbClr val="FFFFFF"/>
                </a:solidFill>
                <a:latin typeface="游ゴシック" pitchFamily="34" charset="0"/>
                <a:ea typeface="游ゴシック" pitchFamily="34" charset="-122"/>
                <a:cs typeface="游ゴシック" pitchFamily="34" charset="-120"/>
              </a:rPr>
              <a:t>全期間</a:t>
            </a:r>
            <a:endParaRPr lang="en-US" sz="900" dirty="0"/>
          </a:p>
        </p:txBody>
      </p:sp>
      <p:sp>
        <p:nvSpPr>
          <p:cNvPr id="70" name="Text 68"/>
          <p:cNvSpPr txBox="1"/>
          <p:nvPr/>
        </p:nvSpPr>
        <p:spPr>
          <a:xfrm>
            <a:off x="365760" y="2322576"/>
            <a:ext cx="1874520" cy="274320"/>
          </a:xfrm>
          <a:prstGeom prst="rect">
            <a:avLst/>
          </a:prstGeom>
          <a:noFill/>
          <a:ln/>
        </p:spPr>
        <p:txBody>
          <a:bodyPr wrap="square" lIns="0" tIns="0" rIns="0" bIns="0" rtlCol="0" anchor="ctr"/>
          <a:lstStyle/>
          <a:p>
            <a:pPr marL="0" indent="0">
              <a:buNone/>
            </a:pPr>
            <a:r>
              <a:rPr lang="en-US" sz="1100" b="1" dirty="0">
                <a:solidFill>
                  <a:srgbClr val="22354F"/>
                </a:solidFill>
                <a:latin typeface="游ゴシック" pitchFamily="34" charset="0"/>
                <a:ea typeface="游ゴシック" pitchFamily="34" charset="-122"/>
                <a:cs typeface="游ゴシック" pitchFamily="34" charset="-120"/>
              </a:rPr>
              <a:t>通路内の温湿度</a:t>
            </a:r>
            <a:endParaRPr lang="en-US" sz="1100" dirty="0"/>
          </a:p>
        </p:txBody>
      </p:sp>
      <p:sp>
        <p:nvSpPr>
          <p:cNvPr id="71" name="Shape 69"/>
          <p:cNvSpPr/>
          <p:nvPr/>
        </p:nvSpPr>
        <p:spPr>
          <a:xfrm>
            <a:off x="3805237" y="2350008"/>
            <a:ext cx="4887833" cy="219456"/>
          </a:xfrm>
          <a:prstGeom prst="rect">
            <a:avLst/>
          </a:prstGeom>
          <a:solidFill>
            <a:srgbClr val="01B8AA"/>
          </a:solidFill>
          <a:ln w="12700">
            <a:solidFill>
              <a:srgbClr val="01B8AA"/>
            </a:solidFill>
            <a:prstDash val="solid"/>
          </a:ln>
        </p:spPr>
        <p:txBody>
          <a:bodyPr/>
          <a:lstStyle/>
          <a:p>
            <a:endParaRPr lang="ja-JP" altLang="en-US"/>
          </a:p>
        </p:txBody>
      </p:sp>
      <p:sp>
        <p:nvSpPr>
          <p:cNvPr id="72" name="Text 70"/>
          <p:cNvSpPr txBox="1"/>
          <p:nvPr/>
        </p:nvSpPr>
        <p:spPr>
          <a:xfrm>
            <a:off x="3860101" y="2350008"/>
            <a:ext cx="4796393" cy="219456"/>
          </a:xfrm>
          <a:prstGeom prst="rect">
            <a:avLst/>
          </a:prstGeom>
          <a:noFill/>
          <a:ln/>
        </p:spPr>
        <p:txBody>
          <a:bodyPr wrap="square" lIns="0" tIns="0" rIns="0" bIns="0" rtlCol="0" anchor="ctr"/>
          <a:lstStyle/>
          <a:p>
            <a:pPr marL="0" indent="0">
              <a:buNone/>
            </a:pPr>
            <a:r>
              <a:rPr lang="en-US" sz="900" b="1" dirty="0">
                <a:solidFill>
                  <a:srgbClr val="FFFFFF"/>
                </a:solidFill>
                <a:latin typeface="游ゴシック" pitchFamily="34" charset="0"/>
                <a:ea typeface="游ゴシック" pitchFamily="34" charset="-122"/>
                <a:cs typeface="游ゴシック" pitchFamily="34" charset="-120"/>
              </a:rPr>
              <a:t>8/9〜</a:t>
            </a:r>
            <a:endParaRPr lang="en-US" sz="900" dirty="0"/>
          </a:p>
        </p:txBody>
      </p:sp>
      <p:sp>
        <p:nvSpPr>
          <p:cNvPr id="73" name="Text 71"/>
          <p:cNvSpPr txBox="1"/>
          <p:nvPr/>
        </p:nvSpPr>
        <p:spPr>
          <a:xfrm>
            <a:off x="365760" y="2670048"/>
            <a:ext cx="1874520" cy="274320"/>
          </a:xfrm>
          <a:prstGeom prst="rect">
            <a:avLst/>
          </a:prstGeom>
          <a:noFill/>
          <a:ln/>
        </p:spPr>
        <p:txBody>
          <a:bodyPr wrap="square" lIns="0" tIns="0" rIns="0" bIns="0" rtlCol="0" anchor="ctr"/>
          <a:lstStyle/>
          <a:p>
            <a:pPr marL="0" indent="0">
              <a:buNone/>
            </a:pPr>
            <a:r>
              <a:rPr lang="en-US" sz="1100" b="1" dirty="0">
                <a:solidFill>
                  <a:srgbClr val="22354F"/>
                </a:solidFill>
                <a:latin typeface="游ゴシック" pitchFamily="34" charset="0"/>
                <a:ea typeface="游ゴシック" pitchFamily="34" charset="-122"/>
                <a:cs typeface="游ゴシック" pitchFamily="34" charset="-120"/>
              </a:rPr>
              <a:t>通路内の風速・風向</a:t>
            </a:r>
            <a:endParaRPr lang="en-US" sz="1100" dirty="0"/>
          </a:p>
        </p:txBody>
      </p:sp>
      <p:sp>
        <p:nvSpPr>
          <p:cNvPr id="74" name="Shape 72"/>
          <p:cNvSpPr/>
          <p:nvPr/>
        </p:nvSpPr>
        <p:spPr>
          <a:xfrm>
            <a:off x="4549775" y="2697480"/>
            <a:ext cx="4143296" cy="219456"/>
          </a:xfrm>
          <a:prstGeom prst="rect">
            <a:avLst/>
          </a:prstGeom>
          <a:solidFill>
            <a:srgbClr val="118DFF"/>
          </a:solidFill>
          <a:ln w="12700">
            <a:solidFill>
              <a:srgbClr val="118DFF"/>
            </a:solidFill>
            <a:prstDash val="solid"/>
          </a:ln>
        </p:spPr>
        <p:txBody>
          <a:bodyPr/>
          <a:lstStyle/>
          <a:p>
            <a:endParaRPr lang="ja-JP" altLang="en-US"/>
          </a:p>
        </p:txBody>
      </p:sp>
      <p:sp>
        <p:nvSpPr>
          <p:cNvPr id="75" name="Text 73"/>
          <p:cNvSpPr txBox="1"/>
          <p:nvPr/>
        </p:nvSpPr>
        <p:spPr>
          <a:xfrm>
            <a:off x="4604639" y="2697480"/>
            <a:ext cx="4051856" cy="219456"/>
          </a:xfrm>
          <a:prstGeom prst="rect">
            <a:avLst/>
          </a:prstGeom>
          <a:noFill/>
          <a:ln/>
        </p:spPr>
        <p:txBody>
          <a:bodyPr wrap="square" lIns="0" tIns="0" rIns="0" bIns="0" rtlCol="0" anchor="ctr"/>
          <a:lstStyle/>
          <a:p>
            <a:pPr marL="0" indent="0">
              <a:buNone/>
            </a:pPr>
            <a:r>
              <a:rPr lang="en-US" sz="900" b="1" dirty="0">
                <a:solidFill>
                  <a:srgbClr val="FFFFFF"/>
                </a:solidFill>
                <a:latin typeface="游ゴシック" pitchFamily="34" charset="0"/>
                <a:ea typeface="游ゴシック" pitchFamily="34" charset="-122"/>
                <a:cs typeface="游ゴシック" pitchFamily="34" charset="-120"/>
              </a:rPr>
              <a:t>8/14 15:10〜</a:t>
            </a:r>
            <a:endParaRPr lang="en-US" sz="900" dirty="0"/>
          </a:p>
        </p:txBody>
      </p:sp>
      <p:sp>
        <p:nvSpPr>
          <p:cNvPr id="76" name="Text 74"/>
          <p:cNvSpPr txBox="1"/>
          <p:nvPr/>
        </p:nvSpPr>
        <p:spPr>
          <a:xfrm>
            <a:off x="365760" y="3017520"/>
            <a:ext cx="1874520" cy="274320"/>
          </a:xfrm>
          <a:prstGeom prst="rect">
            <a:avLst/>
          </a:prstGeom>
          <a:noFill/>
          <a:ln/>
        </p:spPr>
        <p:txBody>
          <a:bodyPr wrap="square" lIns="0" tIns="0" rIns="0" bIns="0" rtlCol="0" anchor="ctr"/>
          <a:lstStyle/>
          <a:p>
            <a:pPr marL="0" indent="0">
              <a:buNone/>
            </a:pPr>
            <a:r>
              <a:rPr lang="en-US" sz="1100" b="1" dirty="0">
                <a:solidFill>
                  <a:srgbClr val="22354F"/>
                </a:solidFill>
                <a:latin typeface="游ゴシック" pitchFamily="34" charset="0"/>
                <a:ea typeface="游ゴシック" pitchFamily="34" charset="-122"/>
                <a:cs typeface="游ゴシック" pitchFamily="34" charset="-120"/>
              </a:rPr>
              <a:t>日射量（日向・緑陰）</a:t>
            </a:r>
            <a:endParaRPr lang="en-US" sz="1100" dirty="0"/>
          </a:p>
        </p:txBody>
      </p:sp>
      <p:sp>
        <p:nvSpPr>
          <p:cNvPr id="77" name="Shape 75"/>
          <p:cNvSpPr/>
          <p:nvPr/>
        </p:nvSpPr>
        <p:spPr>
          <a:xfrm>
            <a:off x="6465570" y="3044952"/>
            <a:ext cx="2227501" cy="219456"/>
          </a:xfrm>
          <a:prstGeom prst="rect">
            <a:avLst/>
          </a:prstGeom>
          <a:solidFill>
            <a:srgbClr val="ED7D31"/>
          </a:solidFill>
          <a:ln w="12700">
            <a:solidFill>
              <a:srgbClr val="ED7D31"/>
            </a:solidFill>
            <a:prstDash val="solid"/>
          </a:ln>
        </p:spPr>
        <p:txBody>
          <a:bodyPr/>
          <a:lstStyle/>
          <a:p>
            <a:endParaRPr lang="ja-JP" altLang="en-US"/>
          </a:p>
        </p:txBody>
      </p:sp>
      <p:sp>
        <p:nvSpPr>
          <p:cNvPr id="78" name="Text 76"/>
          <p:cNvSpPr txBox="1"/>
          <p:nvPr/>
        </p:nvSpPr>
        <p:spPr>
          <a:xfrm>
            <a:off x="6520434" y="3044952"/>
            <a:ext cx="2136061" cy="219456"/>
          </a:xfrm>
          <a:prstGeom prst="rect">
            <a:avLst/>
          </a:prstGeom>
          <a:noFill/>
          <a:ln/>
        </p:spPr>
        <p:txBody>
          <a:bodyPr wrap="square" lIns="0" tIns="0" rIns="0" bIns="0" rtlCol="0" anchor="ctr"/>
          <a:lstStyle/>
          <a:p>
            <a:pPr marL="0" indent="0">
              <a:buNone/>
            </a:pPr>
            <a:r>
              <a:rPr lang="en-US" sz="900" b="1" dirty="0">
                <a:solidFill>
                  <a:srgbClr val="FFFFFF"/>
                </a:solidFill>
                <a:latin typeface="游ゴシック" pitchFamily="34" charset="0"/>
                <a:ea typeface="游ゴシック" pitchFamily="34" charset="-122"/>
                <a:cs typeface="游ゴシック" pitchFamily="34" charset="-120"/>
              </a:rPr>
              <a:t>8/29〜（17日間）</a:t>
            </a:r>
            <a:endParaRPr lang="en-US" sz="900" dirty="0"/>
          </a:p>
        </p:txBody>
      </p:sp>
      <p:sp>
        <p:nvSpPr>
          <p:cNvPr id="79" name="Text 77"/>
          <p:cNvSpPr txBox="1"/>
          <p:nvPr/>
        </p:nvSpPr>
        <p:spPr>
          <a:xfrm>
            <a:off x="365760" y="3364992"/>
            <a:ext cx="1874520" cy="274320"/>
          </a:xfrm>
          <a:prstGeom prst="rect">
            <a:avLst/>
          </a:prstGeom>
          <a:noFill/>
          <a:ln/>
        </p:spPr>
        <p:txBody>
          <a:bodyPr wrap="square" lIns="0" tIns="0" rIns="0" bIns="0" rtlCol="0" anchor="ctr"/>
          <a:lstStyle/>
          <a:p>
            <a:pPr marL="0" indent="0">
              <a:buNone/>
            </a:pPr>
            <a:r>
              <a:rPr lang="en-US" sz="1100" b="1" dirty="0">
                <a:solidFill>
                  <a:srgbClr val="22354F"/>
                </a:solidFill>
                <a:latin typeface="游ゴシック" pitchFamily="34" charset="0"/>
                <a:ea typeface="游ゴシック" pitchFamily="34" charset="-122"/>
                <a:cs typeface="游ゴシック" pitchFamily="34" charset="-120"/>
              </a:rPr>
              <a:t>屋上の気象</a:t>
            </a:r>
            <a:endParaRPr lang="en-US" sz="1100" dirty="0"/>
          </a:p>
        </p:txBody>
      </p:sp>
      <p:sp>
        <p:nvSpPr>
          <p:cNvPr id="80" name="Shape 78"/>
          <p:cNvSpPr/>
          <p:nvPr/>
        </p:nvSpPr>
        <p:spPr>
          <a:xfrm>
            <a:off x="2421731" y="3392424"/>
            <a:ext cx="6177439" cy="219456"/>
          </a:xfrm>
          <a:prstGeom prst="rect">
            <a:avLst/>
          </a:prstGeom>
          <a:solidFill>
            <a:srgbClr val="8E5BC4"/>
          </a:solidFill>
          <a:ln w="12700">
            <a:solidFill>
              <a:srgbClr val="8E5BC4"/>
            </a:solidFill>
            <a:prstDash val="solid"/>
          </a:ln>
        </p:spPr>
        <p:txBody>
          <a:bodyPr/>
          <a:lstStyle/>
          <a:p>
            <a:endParaRPr lang="ja-JP" altLang="en-US"/>
          </a:p>
        </p:txBody>
      </p:sp>
      <p:sp>
        <p:nvSpPr>
          <p:cNvPr id="81" name="Text 79"/>
          <p:cNvSpPr txBox="1"/>
          <p:nvPr/>
        </p:nvSpPr>
        <p:spPr>
          <a:xfrm>
            <a:off x="2476595" y="3392424"/>
            <a:ext cx="6085999" cy="219456"/>
          </a:xfrm>
          <a:prstGeom prst="rect">
            <a:avLst/>
          </a:prstGeom>
          <a:noFill/>
          <a:ln/>
        </p:spPr>
        <p:txBody>
          <a:bodyPr wrap="square" lIns="0" tIns="0" rIns="0" bIns="0" rtlCol="0" anchor="ctr"/>
          <a:lstStyle/>
          <a:p>
            <a:pPr marL="0" indent="0">
              <a:buNone/>
            </a:pPr>
            <a:r>
              <a:rPr lang="en-US" sz="900" b="1" dirty="0">
                <a:solidFill>
                  <a:srgbClr val="FFFFFF"/>
                </a:solidFill>
                <a:latin typeface="游ゴシック" pitchFamily="34" charset="0"/>
                <a:ea typeface="游ゴシック" pitchFamily="34" charset="-122"/>
                <a:cs typeface="游ゴシック" pitchFamily="34" charset="-120"/>
              </a:rPr>
              <a:t>〜9/13</a:t>
            </a:r>
            <a:endParaRPr lang="en-US" sz="900" dirty="0"/>
          </a:p>
        </p:txBody>
      </p:sp>
      <p:sp>
        <p:nvSpPr>
          <p:cNvPr id="82" name="Shape 80"/>
          <p:cNvSpPr/>
          <p:nvPr/>
        </p:nvSpPr>
        <p:spPr>
          <a:xfrm>
            <a:off x="2331720" y="3767328"/>
            <a:ext cx="182880" cy="128016"/>
          </a:xfrm>
          <a:prstGeom prst="rect">
            <a:avLst/>
          </a:prstGeom>
          <a:solidFill>
            <a:srgbClr val="E66C64"/>
          </a:solidFill>
          <a:ln/>
        </p:spPr>
        <p:txBody>
          <a:bodyPr/>
          <a:lstStyle/>
          <a:p>
            <a:endParaRPr lang="ja-JP" altLang="en-US"/>
          </a:p>
        </p:txBody>
      </p:sp>
      <p:sp>
        <p:nvSpPr>
          <p:cNvPr id="83" name="Text 81"/>
          <p:cNvSpPr txBox="1"/>
          <p:nvPr/>
        </p:nvSpPr>
        <p:spPr>
          <a:xfrm>
            <a:off x="2560320" y="3721608"/>
            <a:ext cx="1280160" cy="219456"/>
          </a:xfrm>
          <a:prstGeom prst="rect">
            <a:avLst/>
          </a:prstGeom>
          <a:noFill/>
          <a:ln/>
        </p:spPr>
        <p:txBody>
          <a:bodyPr wrap="square" lIns="0" tIns="0" rIns="0" bIns="0" rtlCol="0" anchor="ctr"/>
          <a:lstStyle/>
          <a:p>
            <a:pPr marL="0" indent="0">
              <a:buNone/>
            </a:pPr>
            <a:r>
              <a:rPr lang="en-US" sz="900" dirty="0">
                <a:solidFill>
                  <a:srgbClr val="5E6B7A"/>
                </a:solidFill>
                <a:latin typeface="游ゴシック" pitchFamily="34" charset="0"/>
                <a:ea typeface="游ゴシック" pitchFamily="34" charset="-122"/>
                <a:cs typeface="游ゴシック" pitchFamily="34" charset="-120"/>
              </a:rPr>
              <a:t>勤務日（32日間）</a:t>
            </a:r>
            <a:endParaRPr lang="en-US" sz="900" dirty="0"/>
          </a:p>
        </p:txBody>
      </p:sp>
      <p:sp>
        <p:nvSpPr>
          <p:cNvPr id="84" name="Shape 82"/>
          <p:cNvSpPr/>
          <p:nvPr/>
        </p:nvSpPr>
        <p:spPr>
          <a:xfrm>
            <a:off x="3840480" y="3767328"/>
            <a:ext cx="182880" cy="128016"/>
          </a:xfrm>
          <a:prstGeom prst="rect">
            <a:avLst/>
          </a:prstGeom>
          <a:solidFill>
            <a:srgbClr val="C9D1DB"/>
          </a:solidFill>
          <a:ln/>
        </p:spPr>
        <p:txBody>
          <a:bodyPr/>
          <a:lstStyle/>
          <a:p>
            <a:endParaRPr lang="ja-JP" altLang="en-US"/>
          </a:p>
        </p:txBody>
      </p:sp>
      <p:sp>
        <p:nvSpPr>
          <p:cNvPr id="85" name="Text 83"/>
          <p:cNvSpPr txBox="1"/>
          <p:nvPr/>
        </p:nvSpPr>
        <p:spPr>
          <a:xfrm>
            <a:off x="4069080" y="3721608"/>
            <a:ext cx="2011680" cy="219456"/>
          </a:xfrm>
          <a:prstGeom prst="rect">
            <a:avLst/>
          </a:prstGeom>
          <a:noFill/>
          <a:ln/>
        </p:spPr>
        <p:txBody>
          <a:bodyPr wrap="square" lIns="0" tIns="0" rIns="0" bIns="0" rtlCol="0" anchor="ctr"/>
          <a:lstStyle/>
          <a:p>
            <a:pPr marL="0" indent="0">
              <a:buNone/>
            </a:pPr>
            <a:r>
              <a:rPr lang="en-US" sz="900" dirty="0">
                <a:solidFill>
                  <a:srgbClr val="5E6B7A"/>
                </a:solidFill>
                <a:latin typeface="游ゴシック" pitchFamily="34" charset="0"/>
                <a:ea typeface="游ゴシック" pitchFamily="34" charset="-122"/>
                <a:cs typeface="游ゴシック" pitchFamily="34" charset="-120"/>
              </a:rPr>
              <a:t>休日：土日・8/11（15日間）</a:t>
            </a:r>
            <a:endParaRPr lang="en-US" sz="900" dirty="0"/>
          </a:p>
        </p:txBody>
      </p:sp>
      <p:sp>
        <p:nvSpPr>
          <p:cNvPr id="86" name="Shape 84"/>
          <p:cNvSpPr/>
          <p:nvPr/>
        </p:nvSpPr>
        <p:spPr>
          <a:xfrm>
            <a:off x="365760" y="4005072"/>
            <a:ext cx="8412480" cy="749808"/>
          </a:xfrm>
          <a:prstGeom prst="roundRect">
            <a:avLst>
              <a:gd name="adj" fmla="val 7317"/>
            </a:avLst>
          </a:prstGeom>
          <a:solidFill>
            <a:srgbClr val="E4F7F4"/>
          </a:solidFill>
          <a:ln w="12700">
            <a:solidFill>
              <a:srgbClr val="E4F7F4"/>
            </a:solidFill>
            <a:prstDash val="solid"/>
          </a:ln>
        </p:spPr>
        <p:txBody>
          <a:bodyPr/>
          <a:lstStyle/>
          <a:p>
            <a:endParaRPr lang="ja-JP" altLang="en-US"/>
          </a:p>
        </p:txBody>
      </p:sp>
      <p:sp>
        <p:nvSpPr>
          <p:cNvPr id="87" name="Text 85"/>
          <p:cNvSpPr txBox="1"/>
          <p:nvPr/>
        </p:nvSpPr>
        <p:spPr>
          <a:xfrm>
            <a:off x="502920" y="4078224"/>
            <a:ext cx="813816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分析に使う範囲</a:t>
            </a:r>
            <a:endParaRPr lang="en-US" sz="1200" dirty="0"/>
          </a:p>
        </p:txBody>
      </p:sp>
      <p:sp>
        <p:nvSpPr>
          <p:cNvPr id="88" name="Text 86"/>
          <p:cNvSpPr txBox="1"/>
          <p:nvPr/>
        </p:nvSpPr>
        <p:spPr>
          <a:xfrm>
            <a:off x="502920" y="4370832"/>
            <a:ext cx="8138160" cy="32004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期間は7/30〜9/14（7/29は設置当日で日中のデータがない）。主分析は勤務日32日間、休日は参考。日中は9〜18時（室外機の運転時間）</a:t>
            </a:r>
            <a:endParaRPr lang="en-US" sz="1050" dirty="0"/>
          </a:p>
        </p:txBody>
      </p:sp>
      <p:sp>
        <p:nvSpPr>
          <p:cNvPr id="89"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データの欠損と除外の基準</a:t>
            </a:r>
            <a:endParaRPr lang="en-US" sz="2000" dirty="0"/>
          </a:p>
        </p:txBody>
      </p:sp>
      <p:sp>
        <p:nvSpPr>
          <p:cNvPr id="3" name="Shape 1"/>
          <p:cNvSpPr/>
          <p:nvPr/>
        </p:nvSpPr>
        <p:spPr>
          <a:xfrm>
            <a:off x="7726680" y="155448"/>
            <a:ext cx="1097280" cy="274320"/>
          </a:xfrm>
          <a:prstGeom prst="roundRect">
            <a:avLst>
              <a:gd name="adj" fmla="val 26667"/>
            </a:avLst>
          </a:prstGeom>
          <a:solidFill>
            <a:srgbClr val="5E6B7A"/>
          </a:solidFill>
          <a:ln w="12700">
            <a:solidFill>
              <a:srgbClr val="5E6B7A"/>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前提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どのデータが欠けているか、どの基準で値を除外したかを1枚で示す</a:t>
            </a:r>
            <a:endParaRPr lang="en-US" sz="1200" dirty="0"/>
          </a:p>
        </p:txBody>
      </p:sp>
      <p:sp>
        <p:nvSpPr>
          <p:cNvPr id="6" name="Text 4"/>
          <p:cNvSpPr txBox="1"/>
          <p:nvPr/>
        </p:nvSpPr>
        <p:spPr>
          <a:xfrm>
            <a:off x="365760" y="1051560"/>
            <a:ext cx="4114800" cy="237744"/>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欠けているデータ</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325880"/>
          <a:ext cx="4114800" cy="2273808"/>
        </p:xfrm>
        <a:graphic>
          <a:graphicData uri="http://schemas.openxmlformats.org/drawingml/2006/table">
            <a:tbl>
              <a:tblPr/>
              <a:tblGrid>
                <a:gridCol w="10058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292608">
                <a:tc>
                  <a:txBody>
                    <a:bodyPr/>
                    <a:lstStyle/>
                    <a:p>
                      <a:pPr marL="0" indent="0" algn="ctr">
                        <a:buNone/>
                      </a:pPr>
                      <a:r>
                        <a:rPr lang="en-US" sz="1050" b="1" dirty="0">
                          <a:solidFill>
                            <a:srgbClr val="FFFFFF"/>
                          </a:solidFill>
                          <a:latin typeface="游ゴシック" pitchFamily="34" charset="0"/>
                          <a:ea typeface="游ゴシック" pitchFamily="34" charset="-122"/>
                          <a:cs typeface="游ゴシック" pitchFamily="34" charset="-120"/>
                        </a:rPr>
                        <a:t>種類</a:t>
                      </a:r>
                      <a:endParaRPr lang="en-US" sz="10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50" b="1" dirty="0">
                          <a:solidFill>
                            <a:srgbClr val="FFFFFF"/>
                          </a:solidFill>
                          <a:latin typeface="游ゴシック" pitchFamily="34" charset="0"/>
                          <a:ea typeface="游ゴシック" pitchFamily="34" charset="-122"/>
                          <a:cs typeface="游ゴシック" pitchFamily="34" charset="-120"/>
                        </a:rPr>
                        <a:t>対象</a:t>
                      </a:r>
                      <a:endParaRPr lang="en-US" sz="10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50" b="1" dirty="0">
                          <a:solidFill>
                            <a:srgbClr val="FFFFFF"/>
                          </a:solidFill>
                          <a:latin typeface="游ゴシック" pitchFamily="34" charset="0"/>
                          <a:ea typeface="游ゴシック" pitchFamily="34" charset="-122"/>
                          <a:cs typeface="游ゴシック" pitchFamily="34" charset="-120"/>
                        </a:rPr>
                        <a:t>期間</a:t>
                      </a:r>
                      <a:endParaRPr lang="en-US" sz="10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extLst>
                  <a:ext uri="{0D108BD9-81ED-4DB2-BD59-A6C34878D82A}">
                    <a16:rowId xmlns:a16="http://schemas.microsoft.com/office/drawing/2014/main" val="10000"/>
                  </a:ext>
                </a:extLst>
              </a:tr>
              <a:tr h="320040">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回収時の停止</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全ロガー（数分〜77分）</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8/14・8/28・9/7</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センサー未接続</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11-3北側吸気・8上層の葉</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〜8/14</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センサー不良</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3-2排気</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8/30〜9/7</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3"/>
                  </a:ext>
                </a:extLst>
              </a:tr>
              <a:tr h="320040">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設置不良</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8-2排気</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8/14〜8/28</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4"/>
                  </a:ext>
                </a:extLst>
              </a:tr>
              <a:tr h="320040">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使わない期間</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日射量</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〜8/28</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5"/>
                  </a:ext>
                </a:extLst>
              </a:tr>
              <a:tr h="320040">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計測の終了</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屋上の気象</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9/14</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 5"/>
          <p:cNvSpPr txBox="1"/>
          <p:nvPr/>
        </p:nvSpPr>
        <p:spPr>
          <a:xfrm>
            <a:off x="4663440" y="1051560"/>
            <a:ext cx="4114800" cy="237744"/>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除外の基準</a:t>
            </a:r>
            <a:endParaRPr lang="en-US" sz="12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4663440" y="1325880"/>
          <a:ext cx="4114800" cy="2121408"/>
        </p:xfrm>
        <a:graphic>
          <a:graphicData uri="http://schemas.openxmlformats.org/drawingml/2006/table">
            <a:tbl>
              <a:tblPr/>
              <a:tblGrid>
                <a:gridCol w="105156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92608">
                <a:tc>
                  <a:txBody>
                    <a:bodyPr/>
                    <a:lstStyle/>
                    <a:p>
                      <a:pPr marL="0" indent="0" algn="ctr">
                        <a:buNone/>
                      </a:pPr>
                      <a:r>
                        <a:rPr lang="en-US" sz="1050" b="1" dirty="0">
                          <a:solidFill>
                            <a:srgbClr val="FFFFFF"/>
                          </a:solidFill>
                          <a:latin typeface="游ゴシック" pitchFamily="34" charset="0"/>
                          <a:ea typeface="游ゴシック" pitchFamily="34" charset="-122"/>
                          <a:cs typeface="游ゴシック" pitchFamily="34" charset="-120"/>
                        </a:rPr>
                        <a:t>基準</a:t>
                      </a:r>
                      <a:endParaRPr lang="en-US" sz="10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50" b="1" dirty="0">
                          <a:solidFill>
                            <a:srgbClr val="FFFFFF"/>
                          </a:solidFill>
                          <a:latin typeface="游ゴシック" pitchFamily="34" charset="0"/>
                          <a:ea typeface="游ゴシック" pitchFamily="34" charset="-122"/>
                          <a:cs typeface="游ゴシック" pitchFamily="34" charset="-120"/>
                        </a:rPr>
                        <a:t>内容</a:t>
                      </a:r>
                      <a:endParaRPr lang="en-US" sz="10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50" b="1" dirty="0">
                          <a:solidFill>
                            <a:srgbClr val="FFFFFF"/>
                          </a:solidFill>
                          <a:latin typeface="游ゴシック" pitchFamily="34" charset="0"/>
                          <a:ea typeface="游ゴシック" pitchFamily="34" charset="-122"/>
                          <a:cs typeface="游ゴシック" pitchFamily="34" charset="-120"/>
                        </a:rPr>
                        <a:t>件数</a:t>
                      </a:r>
                      <a:endParaRPr lang="en-US" sz="10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extLst>
                  <a:ext uri="{0D108BD9-81ED-4DB2-BD59-A6C34878D82A}">
                    <a16:rowId xmlns:a16="http://schemas.microsoft.com/office/drawing/2014/main" val="10000"/>
                  </a:ext>
                </a:extLst>
              </a:tr>
              <a:tr h="457200">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エラー値</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ロガーのエラー値（99991など）</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r">
                        <a:buNone/>
                      </a:pPr>
                      <a:r>
                        <a:rPr lang="en-US" sz="950" dirty="0">
                          <a:solidFill>
                            <a:srgbClr val="172033"/>
                          </a:solidFill>
                          <a:latin typeface="游ゴシック" pitchFamily="34" charset="0"/>
                          <a:ea typeface="游ゴシック" pitchFamily="34" charset="-122"/>
                          <a:cs typeface="游ゴシック" pitchFamily="34" charset="-120"/>
                        </a:rPr>
                        <a:t>56,200</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範囲外</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熱電対で5℃未満・70℃超</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r">
                        <a:buNone/>
                      </a:pPr>
                      <a:r>
                        <a:rPr lang="en-US" sz="950" dirty="0">
                          <a:solidFill>
                            <a:srgbClr val="172033"/>
                          </a:solidFill>
                          <a:latin typeface="游ゴシック" pitchFamily="34" charset="0"/>
                          <a:ea typeface="游ゴシック" pitchFamily="34" charset="-122"/>
                          <a:cs typeface="游ゴシック" pitchFamily="34" charset="-120"/>
                        </a:rPr>
                        <a:t>169</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スパイク</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前後5分の中央値から±4℃超</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r">
                        <a:buNone/>
                      </a:pPr>
                      <a:r>
                        <a:rPr lang="en-US" sz="950" dirty="0">
                          <a:solidFill>
                            <a:srgbClr val="172033"/>
                          </a:solidFill>
                          <a:latin typeface="游ゴシック" pitchFamily="34" charset="0"/>
                          <a:ea typeface="游ゴシック" pitchFamily="34" charset="-122"/>
                          <a:cs typeface="游ゴシック" pitchFamily="34" charset="-120"/>
                        </a:rPr>
                        <a:t>783</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日射量の期間</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950" dirty="0">
                          <a:solidFill>
                            <a:srgbClr val="172033"/>
                          </a:solidFill>
                          <a:latin typeface="游ゴシック" pitchFamily="34" charset="0"/>
                          <a:ea typeface="游ゴシック" pitchFamily="34" charset="-122"/>
                          <a:cs typeface="游ゴシック" pitchFamily="34" charset="-120"/>
                        </a:rPr>
                        <a:t>8/28以前はすべて使わない</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r">
                        <a:buNone/>
                      </a:pPr>
                      <a:r>
                        <a:rPr lang="en-US" sz="950" dirty="0">
                          <a:solidFill>
                            <a:srgbClr val="172033"/>
                          </a:solidFill>
                          <a:latin typeface="游ゴシック" pitchFamily="34" charset="0"/>
                          <a:ea typeface="游ゴシック" pitchFamily="34" charset="-122"/>
                          <a:cs typeface="游ゴシック" pitchFamily="34" charset="-120"/>
                        </a:rPr>
                        <a:t>87,073</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Text 6"/>
          <p:cNvSpPr txBox="1"/>
          <p:nvPr/>
        </p:nvSpPr>
        <p:spPr>
          <a:xfrm>
            <a:off x="4663440" y="3474720"/>
            <a:ext cx="4114800" cy="182880"/>
          </a:xfrm>
          <a:prstGeom prst="rect">
            <a:avLst/>
          </a:prstGeom>
          <a:noFill/>
          <a:ln/>
        </p:spPr>
        <p:txBody>
          <a:bodyPr wrap="square" lIns="0" tIns="0" rIns="0" bIns="0" rtlCol="0" anchor="ctr"/>
          <a:lstStyle/>
          <a:p>
            <a:pPr marL="0" indent="0" algn="r">
              <a:buNone/>
            </a:pPr>
            <a:r>
              <a:rPr lang="en-US" sz="850" dirty="0">
                <a:solidFill>
                  <a:srgbClr val="5E6B7A"/>
                </a:solidFill>
                <a:latin typeface="游ゴシック" pitchFamily="34" charset="0"/>
                <a:ea typeface="游ゴシック" pitchFamily="34" charset="-122"/>
                <a:cs typeface="游ゴシック" pitchFamily="34" charset="-120"/>
              </a:rPr>
              <a:t>件数は全78列の合計（値の数）</a:t>
            </a:r>
            <a:endParaRPr lang="en-US" sz="850" dirty="0"/>
          </a:p>
        </p:txBody>
      </p:sp>
      <p:sp>
        <p:nvSpPr>
          <p:cNvPr id="11" name="Shape 7"/>
          <p:cNvSpPr/>
          <p:nvPr/>
        </p:nvSpPr>
        <p:spPr>
          <a:xfrm>
            <a:off x="365760" y="3767328"/>
            <a:ext cx="2743200" cy="969264"/>
          </a:xfrm>
          <a:prstGeom prst="roundRect">
            <a:avLst>
              <a:gd name="adj" fmla="val 5660"/>
            </a:avLst>
          </a:prstGeom>
          <a:solidFill>
            <a:srgbClr val="EAF4FF"/>
          </a:solidFill>
          <a:ln w="12700">
            <a:solidFill>
              <a:srgbClr val="EAF4FF"/>
            </a:solidFill>
            <a:prstDash val="solid"/>
          </a:ln>
        </p:spPr>
        <p:txBody>
          <a:bodyPr/>
          <a:lstStyle/>
          <a:p>
            <a:endParaRPr lang="ja-JP" altLang="en-US"/>
          </a:p>
        </p:txBody>
      </p:sp>
      <p:sp>
        <p:nvSpPr>
          <p:cNvPr id="12" name="Text 8"/>
          <p:cNvSpPr txBox="1"/>
          <p:nvPr/>
        </p:nvSpPr>
        <p:spPr>
          <a:xfrm>
            <a:off x="502920" y="3840480"/>
            <a:ext cx="246888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集計の基準</a:t>
            </a:r>
            <a:endParaRPr lang="en-US" sz="1200" dirty="0"/>
          </a:p>
        </p:txBody>
      </p:sp>
      <p:sp>
        <p:nvSpPr>
          <p:cNvPr id="9" name="Text 9"/>
          <p:cNvSpPr txBox="1"/>
          <p:nvPr/>
        </p:nvSpPr>
        <p:spPr>
          <a:xfrm>
            <a:off x="502920" y="4133088"/>
            <a:ext cx="2468880" cy="539496"/>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172033"/>
                </a:solidFill>
                <a:latin typeface="游ゴシック" pitchFamily="34" charset="0"/>
                <a:ea typeface="游ゴシック" pitchFamily="34" charset="-122"/>
                <a:cs typeface="游ゴシック" pitchFamily="34" charset="-120"/>
              </a:rPr>
              <a:t>1時間平均：有効48分以上</a:t>
            </a:r>
            <a:endParaRPr lang="en-US" sz="950" dirty="0"/>
          </a:p>
          <a:p>
            <a:pPr marL="152400" indent="-152400">
              <a:spcAft>
                <a:spcPts val="300"/>
              </a:spcAft>
              <a:buSzPct val="100000"/>
              <a:buChar char="•"/>
            </a:pPr>
            <a:r>
              <a:rPr lang="en-US" sz="950" dirty="0">
                <a:solidFill>
                  <a:srgbClr val="172033"/>
                </a:solidFill>
                <a:latin typeface="游ゴシック" pitchFamily="34" charset="0"/>
                <a:ea typeface="游ゴシック" pitchFamily="34" charset="-122"/>
                <a:cs typeface="游ゴシック" pitchFamily="34" charset="-120"/>
              </a:rPr>
              <a:t>日中平均：9時間中7時間以上</a:t>
            </a:r>
            <a:endParaRPr lang="en-US" sz="950" dirty="0"/>
          </a:p>
        </p:txBody>
      </p:sp>
      <p:sp>
        <p:nvSpPr>
          <p:cNvPr id="14" name="Shape 10"/>
          <p:cNvSpPr/>
          <p:nvPr/>
        </p:nvSpPr>
        <p:spPr>
          <a:xfrm>
            <a:off x="3200400" y="3767328"/>
            <a:ext cx="2743200" cy="969264"/>
          </a:xfrm>
          <a:prstGeom prst="roundRect">
            <a:avLst>
              <a:gd name="adj" fmla="val 5660"/>
            </a:avLst>
          </a:prstGeom>
          <a:solidFill>
            <a:srgbClr val="FFF7D1"/>
          </a:solidFill>
          <a:ln w="12700">
            <a:solidFill>
              <a:srgbClr val="FFF7D1"/>
            </a:solidFill>
            <a:prstDash val="solid"/>
          </a:ln>
        </p:spPr>
        <p:txBody>
          <a:bodyPr/>
          <a:lstStyle/>
          <a:p>
            <a:endParaRPr lang="ja-JP" altLang="en-US"/>
          </a:p>
        </p:txBody>
      </p:sp>
      <p:sp>
        <p:nvSpPr>
          <p:cNvPr id="15" name="Text 11"/>
          <p:cNvSpPr txBox="1"/>
          <p:nvPr/>
        </p:nvSpPr>
        <p:spPr>
          <a:xfrm>
            <a:off x="3337560" y="3840480"/>
            <a:ext cx="2468880" cy="256032"/>
          </a:xfrm>
          <a:prstGeom prst="rect">
            <a:avLst/>
          </a:prstGeom>
          <a:noFill/>
          <a:ln/>
        </p:spPr>
        <p:txBody>
          <a:bodyPr wrap="square" lIns="0" tIns="0" rIns="0" bIns="0" rtlCol="0" anchor="ctr"/>
          <a:lstStyle/>
          <a:p>
            <a:pPr marL="0" indent="0">
              <a:buNone/>
            </a:pPr>
            <a:r>
              <a:rPr lang="en-US" sz="1200" b="1" dirty="0">
                <a:solidFill>
                  <a:srgbClr val="ED7D31"/>
                </a:solidFill>
                <a:latin typeface="游ゴシック" pitchFamily="34" charset="0"/>
                <a:ea typeface="游ゴシック" pitchFamily="34" charset="-122"/>
                <a:cs typeface="游ゴシック" pitchFamily="34" charset="-120"/>
              </a:rPr>
              <a:t>除外しないもの</a:t>
            </a:r>
            <a:endParaRPr lang="en-US" sz="1200" dirty="0"/>
          </a:p>
        </p:txBody>
      </p:sp>
      <p:sp>
        <p:nvSpPr>
          <p:cNvPr id="16" name="Text 12"/>
          <p:cNvSpPr txBox="1"/>
          <p:nvPr/>
        </p:nvSpPr>
        <p:spPr>
          <a:xfrm>
            <a:off x="3337560" y="4133088"/>
            <a:ext cx="2468880" cy="539496"/>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172033"/>
                </a:solidFill>
                <a:latin typeface="游ゴシック" pitchFamily="34" charset="0"/>
                <a:ea typeface="游ゴシック" pitchFamily="34" charset="-122"/>
                <a:cs typeface="游ゴシック" pitchFamily="34" charset="-120"/>
              </a:rPr>
              <a:t>データ回収の日を一括では消さない</a:t>
            </a:r>
            <a:endParaRPr lang="en-US" sz="950" dirty="0"/>
          </a:p>
          <a:p>
            <a:pPr marL="152400" indent="-152400">
              <a:spcAft>
                <a:spcPts val="300"/>
              </a:spcAft>
              <a:buSzPct val="100000"/>
              <a:buChar char="•"/>
            </a:pPr>
            <a:r>
              <a:rPr lang="en-US" sz="950" dirty="0">
                <a:solidFill>
                  <a:srgbClr val="172033"/>
                </a:solidFill>
                <a:latin typeface="游ゴシック" pitchFamily="34" charset="0"/>
                <a:ea typeface="游ゴシック" pitchFamily="34" charset="-122"/>
                <a:cs typeface="游ゴシック" pitchFamily="34" charset="-120"/>
              </a:rPr>
              <a:t>11-3メンテ空間温度は保留</a:t>
            </a:r>
            <a:endParaRPr lang="en-US" sz="950" dirty="0"/>
          </a:p>
        </p:txBody>
      </p:sp>
      <p:sp>
        <p:nvSpPr>
          <p:cNvPr id="17" name="Shape 13"/>
          <p:cNvSpPr/>
          <p:nvPr/>
        </p:nvSpPr>
        <p:spPr>
          <a:xfrm>
            <a:off x="6035040" y="3767328"/>
            <a:ext cx="2743200" cy="969264"/>
          </a:xfrm>
          <a:prstGeom prst="roundRect">
            <a:avLst>
              <a:gd name="adj" fmla="val 5660"/>
            </a:avLst>
          </a:prstGeom>
          <a:solidFill>
            <a:srgbClr val="E4F7F4"/>
          </a:solidFill>
          <a:ln w="12700">
            <a:solidFill>
              <a:srgbClr val="E4F7F4"/>
            </a:solidFill>
            <a:prstDash val="solid"/>
          </a:ln>
        </p:spPr>
        <p:txBody>
          <a:bodyPr/>
          <a:lstStyle/>
          <a:p>
            <a:endParaRPr lang="ja-JP" altLang="en-US"/>
          </a:p>
        </p:txBody>
      </p:sp>
      <p:sp>
        <p:nvSpPr>
          <p:cNvPr id="18" name="Text 14"/>
          <p:cNvSpPr txBox="1"/>
          <p:nvPr/>
        </p:nvSpPr>
        <p:spPr>
          <a:xfrm>
            <a:off x="6172200" y="3840480"/>
            <a:ext cx="246888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残ったデータ</a:t>
            </a:r>
            <a:endParaRPr lang="en-US" sz="1200" dirty="0"/>
          </a:p>
        </p:txBody>
      </p:sp>
      <p:sp>
        <p:nvSpPr>
          <p:cNvPr id="19" name="Text 15"/>
          <p:cNvSpPr txBox="1"/>
          <p:nvPr/>
        </p:nvSpPr>
        <p:spPr>
          <a:xfrm>
            <a:off x="6172200" y="4133088"/>
            <a:ext cx="2468880" cy="539496"/>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172033"/>
                </a:solidFill>
                <a:latin typeface="游ゴシック" pitchFamily="34" charset="0"/>
                <a:ea typeface="游ゴシック" pitchFamily="34" charset="-122"/>
                <a:cs typeface="游ゴシック" pitchFamily="34" charset="-120"/>
              </a:rPr>
              <a:t>吸気温度は元の値の97〜99％</a:t>
            </a:r>
            <a:endParaRPr lang="en-US" sz="950" dirty="0"/>
          </a:p>
          <a:p>
            <a:pPr marL="152400" indent="-152400">
              <a:spcAft>
                <a:spcPts val="300"/>
              </a:spcAft>
              <a:buSzPct val="100000"/>
              <a:buChar char="•"/>
            </a:pPr>
            <a:r>
              <a:rPr lang="en-US" sz="950" dirty="0">
                <a:solidFill>
                  <a:srgbClr val="172033"/>
                </a:solidFill>
                <a:latin typeface="游ゴシック" pitchFamily="34" charset="0"/>
                <a:ea typeface="游ゴシック" pitchFamily="34" charset="-122"/>
                <a:cs typeface="游ゴシック" pitchFamily="34" charset="-120"/>
              </a:rPr>
              <a:t>不備は空欄のまま（埋めない）</a:t>
            </a:r>
            <a:endParaRPr lang="en-US" sz="9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熱電対ごとの誤差の確認</a:t>
            </a:r>
            <a:endParaRPr lang="en-US" sz="2000" dirty="0"/>
          </a:p>
        </p:txBody>
      </p:sp>
      <p:sp>
        <p:nvSpPr>
          <p:cNvPr id="3" name="Shape 1"/>
          <p:cNvSpPr/>
          <p:nvPr/>
        </p:nvSpPr>
        <p:spPr>
          <a:xfrm>
            <a:off x="7726680" y="155448"/>
            <a:ext cx="1097280" cy="274320"/>
          </a:xfrm>
          <a:prstGeom prst="roundRect">
            <a:avLst>
              <a:gd name="adj" fmla="val 26667"/>
            </a:avLst>
          </a:prstGeom>
          <a:solidFill>
            <a:srgbClr val="5E6B7A"/>
          </a:solidFill>
          <a:ln w="12700">
            <a:solidFill>
              <a:srgbClr val="5E6B7A"/>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前提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熱電対ごとの誤差が小さく、吸気温度差に対して十分小さいかを確かめる</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9台の室外機がすべて停止している夜間（1〜5時、計31時間）に、各熱電対と吸気温度27点の中央値との差（偏差）を計算</a:t>
            </a:r>
            <a:endParaRPr lang="en-US" sz="1050" dirty="0"/>
          </a:p>
        </p:txBody>
      </p:sp>
      <p:sp>
        <p:nvSpPr>
          <p:cNvPr id="8" name="Text 6"/>
          <p:cNvSpPr txBox="1"/>
          <p:nvPr/>
        </p:nvSpPr>
        <p:spPr>
          <a:xfrm>
            <a:off x="365760" y="4572000"/>
            <a:ext cx="5074920" cy="201168"/>
          </a:xfrm>
          <a:prstGeom prst="rect">
            <a:avLst/>
          </a:prstGeom>
          <a:noFill/>
          <a:ln/>
        </p:spPr>
        <p:txBody>
          <a:bodyPr wrap="square" lIns="0" tIns="0" rIns="0" bIns="0" rtlCol="0" anchor="ctr"/>
          <a:lstStyle/>
          <a:p>
            <a:pPr marL="0" indent="0">
              <a:buNone/>
            </a:pPr>
            <a:r>
              <a:rPr lang="en-US" sz="850" dirty="0">
                <a:solidFill>
                  <a:srgbClr val="5E6B7A"/>
                </a:solidFill>
                <a:latin typeface="游ゴシック" pitchFamily="34" charset="0"/>
                <a:ea typeface="游ゴシック" pitchFamily="34" charset="-122"/>
                <a:cs typeface="游ゴシック" pitchFamily="34" charset="-120"/>
              </a:rPr>
              <a:t>点：偏差の平均、ひげ：95％の範囲（2.5〜97.5％）、破線：±0.3℃</a:t>
            </a:r>
            <a:endParaRPr lang="en-US" sz="850" dirty="0"/>
          </a:p>
        </p:txBody>
      </p:sp>
      <p:sp>
        <p:nvSpPr>
          <p:cNvPr id="9" name="Shape 7"/>
          <p:cNvSpPr/>
          <p:nvPr/>
        </p:nvSpPr>
        <p:spPr>
          <a:xfrm>
            <a:off x="5577840" y="1325880"/>
            <a:ext cx="3200400" cy="2057400"/>
          </a:xfrm>
          <a:prstGeom prst="roundRect">
            <a:avLst>
              <a:gd name="adj" fmla="val 2667"/>
            </a:avLst>
          </a:prstGeom>
          <a:solidFill>
            <a:srgbClr val="EAF4FF"/>
          </a:solidFill>
          <a:ln w="12700">
            <a:solidFill>
              <a:srgbClr val="EAF4FF"/>
            </a:solidFill>
            <a:prstDash val="solid"/>
          </a:ln>
        </p:spPr>
        <p:txBody>
          <a:bodyPr/>
          <a:lstStyle/>
          <a:p>
            <a:endParaRPr lang="ja-JP" altLang="en-US"/>
          </a:p>
        </p:txBody>
      </p:sp>
      <p:sp>
        <p:nvSpPr>
          <p:cNvPr id="10" name="Text 8"/>
          <p:cNvSpPr txBox="1"/>
          <p:nvPr/>
        </p:nvSpPr>
        <p:spPr>
          <a:xfrm>
            <a:off x="5715000" y="1399032"/>
            <a:ext cx="292608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a:t>
            </a:r>
            <a:endParaRPr lang="en-US" sz="1200" dirty="0"/>
          </a:p>
        </p:txBody>
      </p:sp>
      <p:sp>
        <p:nvSpPr>
          <p:cNvPr id="11" name="Text 9"/>
          <p:cNvSpPr txBox="1"/>
          <p:nvPr/>
        </p:nvSpPr>
        <p:spPr>
          <a:xfrm>
            <a:off x="5715000" y="1691640"/>
            <a:ext cx="2926080" cy="1627632"/>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各熱電対の偏差の平均は−0.21〜＋0.29℃に収まる</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列3の9点はそろって高く、平均＋0.17℃（列8は−0.05℃、列11は−0.07℃）</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室外機の運転状態は、排気温度から推定した（p.10）</a:t>
            </a:r>
            <a:endParaRPr lang="en-US" sz="1050" dirty="0"/>
          </a:p>
        </p:txBody>
      </p:sp>
      <p:sp>
        <p:nvSpPr>
          <p:cNvPr id="12" name="Shape 10"/>
          <p:cNvSpPr/>
          <p:nvPr/>
        </p:nvSpPr>
        <p:spPr>
          <a:xfrm>
            <a:off x="5577840" y="3474720"/>
            <a:ext cx="3200400" cy="1252728"/>
          </a:xfrm>
          <a:prstGeom prst="roundRect">
            <a:avLst>
              <a:gd name="adj" fmla="val 4380"/>
            </a:avLst>
          </a:prstGeom>
          <a:solidFill>
            <a:srgbClr val="FFF7D1"/>
          </a:solidFill>
          <a:ln w="12700">
            <a:solidFill>
              <a:srgbClr val="FFF7D1"/>
            </a:solidFill>
            <a:prstDash val="solid"/>
          </a:ln>
        </p:spPr>
        <p:txBody>
          <a:bodyPr/>
          <a:lstStyle/>
          <a:p>
            <a:endParaRPr lang="ja-JP" altLang="en-US"/>
          </a:p>
        </p:txBody>
      </p:sp>
      <p:sp>
        <p:nvSpPr>
          <p:cNvPr id="13" name="Text 11"/>
          <p:cNvSpPr txBox="1"/>
          <p:nvPr/>
        </p:nvSpPr>
        <p:spPr>
          <a:xfrm>
            <a:off x="5715000" y="3520440"/>
            <a:ext cx="2926080" cy="1161288"/>
          </a:xfrm>
          <a:prstGeom prst="rect">
            <a:avLst/>
          </a:prstGeom>
          <a:noFill/>
          <a:ln/>
        </p:spPr>
        <p:txBody>
          <a:bodyPr wrap="square" lIns="0" tIns="0" rIns="0" bIns="0" rtlCol="0" anchor="t"/>
          <a:lstStyle/>
          <a:p>
            <a:pPr marL="0" indent="0">
              <a:buNone/>
            </a:pPr>
            <a:r>
              <a:rPr lang="en-US" sz="1050" b="1" dirty="0">
                <a:solidFill>
                  <a:srgbClr val="ED7D31"/>
                </a:solidFill>
                <a:latin typeface="游ゴシック" pitchFamily="34" charset="0"/>
                <a:ea typeface="游ゴシック" pitchFamily="34" charset="-122"/>
                <a:cs typeface="游ゴシック" pitchFamily="34" charset="-120"/>
              </a:rPr>
              <a:t>読み取り</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1点ずつの誤差は±0.3℃以内と小さい。ただし列3全体で約0.2℃高い差があり、熱電対と位置のどちらの違いかは分けられない。この夜間の差は、p.10で差し引く</a:t>
            </a:r>
            <a:endParaRPr 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7</a:t>
            </a:fld>
            <a:endParaRPr lang="en-US"/>
          </a:p>
        </p:txBody>
      </p:sp>
      <p:graphicFrame>
        <p:nvGraphicFramePr>
          <p:cNvPr id="26" name="グラフ sensor"/>
          <p:cNvGraphicFramePr>
            <a:graphicFrameLocks noGrp="1"/>
          </p:cNvGraphicFramePr>
          <p:nvPr/>
        </p:nvGraphicFramePr>
        <p:xfrm>
          <a:off x="365760" y="1325880"/>
          <a:ext cx="5074920" cy="324612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吸気温度差の定義</a:t>
            </a:r>
            <a:endParaRPr lang="en-US" sz="2000" dirty="0"/>
          </a:p>
        </p:txBody>
      </p:sp>
      <p:sp>
        <p:nvSpPr>
          <p:cNvPr id="3" name="Shape 1"/>
          <p:cNvSpPr/>
          <p:nvPr/>
        </p:nvSpPr>
        <p:spPr>
          <a:xfrm>
            <a:off x="7726680" y="155448"/>
            <a:ext cx="1097280" cy="274320"/>
          </a:xfrm>
          <a:prstGeom prst="roundRect">
            <a:avLst>
              <a:gd name="adj" fmla="val 26667"/>
            </a:avLst>
          </a:prstGeom>
          <a:solidFill>
            <a:srgbClr val="5E6B7A"/>
          </a:solidFill>
          <a:ln w="12700">
            <a:solidFill>
              <a:srgbClr val="5E6B7A"/>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前提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何と何の差を取るかを、1枚で説明できるようにする</a:t>
            </a:r>
            <a:endParaRPr lang="en-US" sz="1200" dirty="0"/>
          </a:p>
        </p:txBody>
      </p:sp>
      <p:sp>
        <p:nvSpPr>
          <p:cNvPr id="6" name="Shape 4"/>
          <p:cNvSpPr/>
          <p:nvPr/>
        </p:nvSpPr>
        <p:spPr>
          <a:xfrm>
            <a:off x="365760" y="1115568"/>
            <a:ext cx="8412480" cy="868680"/>
          </a:xfrm>
          <a:prstGeom prst="roundRect">
            <a:avLst>
              <a:gd name="adj" fmla="val 6316"/>
            </a:avLst>
          </a:prstGeom>
          <a:solidFill>
            <a:srgbClr val="E4F7F4"/>
          </a:solidFill>
          <a:ln w="12700">
            <a:solidFill>
              <a:srgbClr val="E4F7F4"/>
            </a:solidFill>
            <a:prstDash val="solid"/>
          </a:ln>
        </p:spPr>
        <p:txBody>
          <a:bodyPr/>
          <a:lstStyle/>
          <a:p>
            <a:endParaRPr lang="ja-JP" altLang="en-US"/>
          </a:p>
        </p:txBody>
      </p:sp>
      <p:sp>
        <p:nvSpPr>
          <p:cNvPr id="7" name="Text 5"/>
          <p:cNvSpPr txBox="1"/>
          <p:nvPr/>
        </p:nvSpPr>
        <p:spPr>
          <a:xfrm>
            <a:off x="548640" y="1143000"/>
            <a:ext cx="8046720" cy="822960"/>
          </a:xfrm>
          <a:prstGeom prst="rect">
            <a:avLst/>
          </a:prstGeom>
          <a:noFill/>
          <a:ln/>
        </p:spPr>
        <p:txBody>
          <a:bodyPr wrap="square" lIns="0" tIns="0" rIns="0" bIns="0" rtlCol="0" anchor="ctr"/>
          <a:lstStyle/>
          <a:p>
            <a:pPr marL="0" indent="0">
              <a:buNone/>
            </a:pPr>
            <a:r>
              <a:rPr lang="en-US" sz="1600" b="1" dirty="0">
                <a:solidFill>
                  <a:srgbClr val="22354F"/>
                </a:solidFill>
                <a:latin typeface="游ゴシック" pitchFamily="34" charset="0"/>
                <a:ea typeface="游ゴシック" pitchFamily="34" charset="-122"/>
                <a:cs typeface="游ゴシック" pitchFamily="34" charset="-120"/>
              </a:rPr>
              <a:t>吸気温度差 ＝ 芋緑化ありの列の吸気温度 − 芋緑化なしの列の吸気温度</a:t>
            </a:r>
            <a:endParaRPr lang="en-US" sz="1600" dirty="0"/>
          </a:p>
          <a:p>
            <a:pPr marL="0" indent="0">
              <a:buNone/>
            </a:pPr>
            <a:r>
              <a:rPr lang="en-US" sz="1200" dirty="0">
                <a:solidFill>
                  <a:srgbClr val="172033"/>
                </a:solidFill>
                <a:latin typeface="游ゴシック" pitchFamily="34" charset="0"/>
                <a:ea typeface="游ゴシック" pitchFamily="34" charset="-122"/>
                <a:cs typeface="游ゴシック" pitchFamily="34" charset="-120"/>
              </a:rPr>
              <a:t>ありはOACP-8・11、なしはOACP-3。同じ時刻・同じ区画・同じ方位どうしで計算する。</a:t>
            </a:r>
            <a:r>
              <a:rPr lang="en-US" sz="1200" b="1" dirty="0">
                <a:solidFill>
                  <a:srgbClr val="E66C64"/>
                </a:solidFill>
                <a:latin typeface="游ゴシック" pitchFamily="34" charset="0"/>
                <a:ea typeface="游ゴシック" pitchFamily="34" charset="-122"/>
                <a:cs typeface="游ゴシック" pitchFamily="34" charset="-120"/>
              </a:rPr>
              <a:t>負の値＝芋緑化ありの列のほうが低い</a:t>
            </a:r>
            <a:endParaRPr lang="en-US" sz="1600" dirty="0"/>
          </a:p>
        </p:txBody>
      </p:sp>
      <p:sp>
        <p:nvSpPr>
          <p:cNvPr id="8" name="Shape 6"/>
          <p:cNvSpPr/>
          <p:nvPr/>
        </p:nvSpPr>
        <p:spPr>
          <a:xfrm>
            <a:off x="365760" y="2148840"/>
            <a:ext cx="2103120" cy="502920"/>
          </a:xfrm>
          <a:prstGeom prst="roundRect">
            <a:avLst>
              <a:gd name="adj" fmla="val 10909"/>
            </a:avLst>
          </a:prstGeom>
          <a:solidFill>
            <a:srgbClr val="01B8AA"/>
          </a:solidFill>
          <a:ln w="12700">
            <a:solidFill>
              <a:srgbClr val="01B8AA"/>
            </a:solidFill>
            <a:prstDash val="solid"/>
          </a:ln>
        </p:spPr>
        <p:txBody>
          <a:bodyPr/>
          <a:lstStyle/>
          <a:p>
            <a:endParaRPr lang="ja-JP" altLang="en-US"/>
          </a:p>
        </p:txBody>
      </p:sp>
      <p:sp>
        <p:nvSpPr>
          <p:cNvPr id="9" name="Text 7"/>
          <p:cNvSpPr txBox="1"/>
          <p:nvPr/>
        </p:nvSpPr>
        <p:spPr>
          <a:xfrm>
            <a:off x="365760" y="2148840"/>
            <a:ext cx="21031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游ゴシック" pitchFamily="34" charset="0"/>
                <a:ea typeface="游ゴシック" pitchFamily="34" charset="-122"/>
                <a:cs typeface="游ゴシック" pitchFamily="34" charset="-120"/>
              </a:rPr>
              <a:t>OACP-8 区画1 正面</a:t>
            </a:r>
            <a:endParaRPr lang="en-US" sz="1200" dirty="0"/>
          </a:p>
        </p:txBody>
      </p:sp>
      <p:sp>
        <p:nvSpPr>
          <p:cNvPr id="10" name="Text 8"/>
          <p:cNvSpPr txBox="1"/>
          <p:nvPr/>
        </p:nvSpPr>
        <p:spPr>
          <a:xfrm>
            <a:off x="2468880" y="2148840"/>
            <a:ext cx="411480" cy="502920"/>
          </a:xfrm>
          <a:prstGeom prst="rect">
            <a:avLst/>
          </a:prstGeom>
          <a:noFill/>
          <a:ln/>
        </p:spPr>
        <p:txBody>
          <a:bodyPr wrap="square" lIns="0" tIns="0" rIns="0" bIns="0" rtlCol="0" anchor="ctr"/>
          <a:lstStyle/>
          <a:p>
            <a:pPr marL="0" indent="0" algn="ctr">
              <a:buNone/>
            </a:pPr>
            <a:r>
              <a:rPr lang="en-US" sz="2200" b="1" dirty="0">
                <a:solidFill>
                  <a:srgbClr val="22354F"/>
                </a:solidFill>
                <a:latin typeface="游ゴシック" pitchFamily="34" charset="0"/>
                <a:ea typeface="游ゴシック" pitchFamily="34" charset="-122"/>
                <a:cs typeface="游ゴシック" pitchFamily="34" charset="-120"/>
              </a:rPr>
              <a:t>−</a:t>
            </a:r>
            <a:endParaRPr lang="en-US" sz="2200" dirty="0"/>
          </a:p>
        </p:txBody>
      </p:sp>
      <p:sp>
        <p:nvSpPr>
          <p:cNvPr id="11" name="Shape 9"/>
          <p:cNvSpPr/>
          <p:nvPr/>
        </p:nvSpPr>
        <p:spPr>
          <a:xfrm>
            <a:off x="2880360" y="2148840"/>
            <a:ext cx="2103120" cy="502920"/>
          </a:xfrm>
          <a:prstGeom prst="roundRect">
            <a:avLst>
              <a:gd name="adj" fmla="val 10909"/>
            </a:avLst>
          </a:prstGeom>
          <a:solidFill>
            <a:srgbClr val="5E6B7A"/>
          </a:solidFill>
          <a:ln w="12700">
            <a:solidFill>
              <a:srgbClr val="5E6B7A"/>
            </a:solidFill>
            <a:prstDash val="solid"/>
          </a:ln>
        </p:spPr>
        <p:txBody>
          <a:bodyPr/>
          <a:lstStyle/>
          <a:p>
            <a:endParaRPr lang="ja-JP" altLang="en-US"/>
          </a:p>
        </p:txBody>
      </p:sp>
      <p:sp>
        <p:nvSpPr>
          <p:cNvPr id="12" name="Text 10"/>
          <p:cNvSpPr txBox="1"/>
          <p:nvPr/>
        </p:nvSpPr>
        <p:spPr>
          <a:xfrm>
            <a:off x="2880360" y="2148840"/>
            <a:ext cx="21031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游ゴシック" pitchFamily="34" charset="0"/>
                <a:ea typeface="游ゴシック" pitchFamily="34" charset="-122"/>
                <a:cs typeface="游ゴシック" pitchFamily="34" charset="-120"/>
              </a:rPr>
              <a:t>OACP-3 区画1 正面</a:t>
            </a:r>
            <a:endParaRPr lang="en-US" sz="1200" dirty="0"/>
          </a:p>
        </p:txBody>
      </p:sp>
      <p:sp>
        <p:nvSpPr>
          <p:cNvPr id="13" name="Text 11"/>
          <p:cNvSpPr txBox="1"/>
          <p:nvPr/>
        </p:nvSpPr>
        <p:spPr>
          <a:xfrm>
            <a:off x="4983480" y="2148840"/>
            <a:ext cx="411480" cy="502920"/>
          </a:xfrm>
          <a:prstGeom prst="rect">
            <a:avLst/>
          </a:prstGeom>
          <a:noFill/>
          <a:ln/>
        </p:spPr>
        <p:txBody>
          <a:bodyPr wrap="square" lIns="0" tIns="0" rIns="0" bIns="0" rtlCol="0" anchor="ctr"/>
          <a:lstStyle/>
          <a:p>
            <a:pPr marL="0" indent="0" algn="ctr">
              <a:buNone/>
            </a:pPr>
            <a:r>
              <a:rPr lang="en-US" sz="2200" b="1" dirty="0">
                <a:solidFill>
                  <a:srgbClr val="22354F"/>
                </a:solidFill>
                <a:latin typeface="游ゴシック" pitchFamily="34" charset="0"/>
                <a:ea typeface="游ゴシック" pitchFamily="34" charset="-122"/>
                <a:cs typeface="游ゴシック" pitchFamily="34" charset="-120"/>
              </a:rPr>
              <a:t>＝</a:t>
            </a:r>
            <a:endParaRPr lang="en-US" sz="2200" dirty="0"/>
          </a:p>
        </p:txBody>
      </p:sp>
      <p:sp>
        <p:nvSpPr>
          <p:cNvPr id="14" name="Shape 12"/>
          <p:cNvSpPr/>
          <p:nvPr/>
        </p:nvSpPr>
        <p:spPr>
          <a:xfrm>
            <a:off x="5394960" y="2148840"/>
            <a:ext cx="2103120" cy="502920"/>
          </a:xfrm>
          <a:prstGeom prst="roundRect">
            <a:avLst>
              <a:gd name="adj" fmla="val 10909"/>
            </a:avLst>
          </a:prstGeom>
          <a:solidFill>
            <a:srgbClr val="E66C64"/>
          </a:solidFill>
          <a:ln w="12700">
            <a:solidFill>
              <a:srgbClr val="E66C64"/>
            </a:solidFill>
            <a:prstDash val="solid"/>
          </a:ln>
        </p:spPr>
        <p:txBody>
          <a:bodyPr/>
          <a:lstStyle/>
          <a:p>
            <a:endParaRPr lang="ja-JP" altLang="en-US"/>
          </a:p>
        </p:txBody>
      </p:sp>
      <p:sp>
        <p:nvSpPr>
          <p:cNvPr id="15" name="Text 13"/>
          <p:cNvSpPr txBox="1"/>
          <p:nvPr/>
        </p:nvSpPr>
        <p:spPr>
          <a:xfrm>
            <a:off x="5394960" y="2148840"/>
            <a:ext cx="21031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游ゴシック" pitchFamily="34" charset="0"/>
                <a:ea typeface="游ゴシック" pitchFamily="34" charset="-122"/>
                <a:cs typeface="游ゴシック" pitchFamily="34" charset="-120"/>
              </a:rPr>
              <a:t>吸気温度差（列8）</a:t>
            </a:r>
            <a:endParaRPr lang="en-US" sz="1200" dirty="0"/>
          </a:p>
        </p:txBody>
      </p:sp>
      <p:sp>
        <p:nvSpPr>
          <p:cNvPr id="16" name="Shape 14"/>
          <p:cNvSpPr/>
          <p:nvPr/>
        </p:nvSpPr>
        <p:spPr>
          <a:xfrm>
            <a:off x="365760" y="2834640"/>
            <a:ext cx="2697480" cy="1874520"/>
          </a:xfrm>
          <a:prstGeom prst="roundRect">
            <a:avLst>
              <a:gd name="adj" fmla="val 2927"/>
            </a:avLst>
          </a:prstGeom>
          <a:solidFill>
            <a:srgbClr val="EAF4FF"/>
          </a:solidFill>
          <a:ln w="12700">
            <a:solidFill>
              <a:srgbClr val="EAF4FF"/>
            </a:solidFill>
            <a:prstDash val="solid"/>
          </a:ln>
        </p:spPr>
        <p:txBody>
          <a:bodyPr/>
          <a:lstStyle/>
          <a:p>
            <a:endParaRPr lang="ja-JP" altLang="en-US"/>
          </a:p>
        </p:txBody>
      </p:sp>
      <p:sp>
        <p:nvSpPr>
          <p:cNvPr id="17" name="Text 15"/>
          <p:cNvSpPr txBox="1"/>
          <p:nvPr/>
        </p:nvSpPr>
        <p:spPr>
          <a:xfrm>
            <a:off x="502920" y="2907792"/>
            <a:ext cx="242316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組み合わせ</a:t>
            </a:r>
            <a:endParaRPr lang="en-US" sz="1200" dirty="0"/>
          </a:p>
        </p:txBody>
      </p:sp>
      <p:sp>
        <p:nvSpPr>
          <p:cNvPr id="18" name="Text 16"/>
          <p:cNvSpPr txBox="1"/>
          <p:nvPr/>
        </p:nvSpPr>
        <p:spPr>
          <a:xfrm>
            <a:off x="502920" y="3200400"/>
            <a:ext cx="2423160" cy="1444752"/>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172033"/>
                </a:solidFill>
                <a:latin typeface="游ゴシック" pitchFamily="34" charset="0"/>
                <a:ea typeface="游ゴシック" pitchFamily="34" charset="-122"/>
                <a:cs typeface="游ゴシック" pitchFamily="34" charset="-120"/>
              </a:rPr>
              <a:t>列8・列11 × 3区画 × 3方位（計17組）</a:t>
            </a:r>
            <a:endParaRPr lang="en-US" sz="1100" dirty="0"/>
          </a:p>
          <a:p>
            <a:pPr marL="152400" indent="-152400">
              <a:spcAft>
                <a:spcPts val="300"/>
              </a:spcAft>
              <a:buSzPct val="100000"/>
              <a:buChar char="•"/>
            </a:pPr>
            <a:r>
              <a:rPr lang="en-US" sz="1100" dirty="0">
                <a:solidFill>
                  <a:srgbClr val="172033"/>
                </a:solidFill>
                <a:latin typeface="游ゴシック" pitchFamily="34" charset="0"/>
                <a:ea typeface="游ゴシック" pitchFamily="34" charset="-122"/>
                <a:cs typeface="游ゴシック" pitchFamily="34" charset="-120"/>
              </a:rPr>
              <a:t>列の代表値：列8は9組、列11は8組の平均（OACP-11-3北側は8/14まで未接続のため全期間で除く）</a:t>
            </a:r>
            <a:endParaRPr lang="en-US" sz="1100" dirty="0"/>
          </a:p>
          <a:p>
            <a:pPr marL="152400" indent="-152400">
              <a:spcAft>
                <a:spcPts val="300"/>
              </a:spcAft>
              <a:buSzPct val="100000"/>
              <a:buChar char="•"/>
            </a:pPr>
            <a:r>
              <a:rPr lang="en-US" sz="1100" dirty="0">
                <a:solidFill>
                  <a:srgbClr val="172033"/>
                </a:solidFill>
                <a:latin typeface="游ゴシック" pitchFamily="34" charset="0"/>
                <a:ea typeface="游ゴシック" pitchFamily="34" charset="-122"/>
                <a:cs typeface="游ゴシック" pitchFamily="34" charset="-120"/>
              </a:rPr>
              <a:t>区画ごとの値も残す（分析3）</a:t>
            </a:r>
            <a:endParaRPr lang="en-US" sz="1100" dirty="0"/>
          </a:p>
        </p:txBody>
      </p:sp>
      <p:sp>
        <p:nvSpPr>
          <p:cNvPr id="19" name="Shape 17"/>
          <p:cNvSpPr/>
          <p:nvPr/>
        </p:nvSpPr>
        <p:spPr>
          <a:xfrm>
            <a:off x="3223260" y="2834640"/>
            <a:ext cx="2697480" cy="1874520"/>
          </a:xfrm>
          <a:prstGeom prst="roundRect">
            <a:avLst>
              <a:gd name="adj" fmla="val 2927"/>
            </a:avLst>
          </a:prstGeom>
          <a:solidFill>
            <a:srgbClr val="EAF4FF"/>
          </a:solidFill>
          <a:ln w="12700">
            <a:solidFill>
              <a:srgbClr val="EAF4FF"/>
            </a:solidFill>
            <a:prstDash val="solid"/>
          </a:ln>
        </p:spPr>
        <p:txBody>
          <a:bodyPr/>
          <a:lstStyle/>
          <a:p>
            <a:endParaRPr lang="ja-JP" altLang="en-US"/>
          </a:p>
        </p:txBody>
      </p:sp>
      <p:sp>
        <p:nvSpPr>
          <p:cNvPr id="20" name="Text 18"/>
          <p:cNvSpPr txBox="1"/>
          <p:nvPr/>
        </p:nvSpPr>
        <p:spPr>
          <a:xfrm>
            <a:off x="3360420" y="2907792"/>
            <a:ext cx="242316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集計の順番</a:t>
            </a:r>
            <a:endParaRPr lang="en-US" sz="1200" dirty="0"/>
          </a:p>
        </p:txBody>
      </p:sp>
      <p:sp>
        <p:nvSpPr>
          <p:cNvPr id="21" name="Text 19"/>
          <p:cNvSpPr txBox="1"/>
          <p:nvPr/>
        </p:nvSpPr>
        <p:spPr>
          <a:xfrm>
            <a:off x="3360420" y="3200400"/>
            <a:ext cx="2423160" cy="1444752"/>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172033"/>
                </a:solidFill>
                <a:latin typeface="游ゴシック" pitchFamily="34" charset="0"/>
                <a:ea typeface="游ゴシック" pitchFamily="34" charset="-122"/>
                <a:cs typeface="游ゴシック" pitchFamily="34" charset="-120"/>
              </a:rPr>
              <a:t>1分値 → 1時間平均 → 日中平均（9〜18時）</a:t>
            </a:r>
            <a:endParaRPr lang="en-US" sz="1100" dirty="0"/>
          </a:p>
          <a:p>
            <a:pPr marL="152400" indent="-152400">
              <a:spcAft>
                <a:spcPts val="300"/>
              </a:spcAft>
              <a:buSzPct val="100000"/>
              <a:buChar char="•"/>
            </a:pPr>
            <a:r>
              <a:rPr lang="en-US" sz="1100" dirty="0">
                <a:solidFill>
                  <a:srgbClr val="172033"/>
                </a:solidFill>
                <a:latin typeface="游ゴシック" pitchFamily="34" charset="0"/>
                <a:ea typeface="游ゴシック" pitchFamily="34" charset="-122"/>
                <a:cs typeface="游ゴシック" pitchFamily="34" charset="-120"/>
              </a:rPr>
              <a:t>分析ごとの単位：日（分析1・4・7）と1時間（分析2・3・5）</a:t>
            </a:r>
            <a:endParaRPr lang="en-US" sz="1100" dirty="0"/>
          </a:p>
        </p:txBody>
      </p:sp>
      <p:sp>
        <p:nvSpPr>
          <p:cNvPr id="22" name="Shape 20"/>
          <p:cNvSpPr/>
          <p:nvPr/>
        </p:nvSpPr>
        <p:spPr>
          <a:xfrm>
            <a:off x="6080760" y="2834640"/>
            <a:ext cx="2697480" cy="1874520"/>
          </a:xfrm>
          <a:prstGeom prst="roundRect">
            <a:avLst>
              <a:gd name="adj" fmla="val 2927"/>
            </a:avLst>
          </a:prstGeom>
          <a:solidFill>
            <a:srgbClr val="FFF7D1"/>
          </a:solidFill>
          <a:ln w="12700">
            <a:solidFill>
              <a:srgbClr val="FFF7D1"/>
            </a:solidFill>
            <a:prstDash val="solid"/>
          </a:ln>
        </p:spPr>
        <p:txBody>
          <a:bodyPr/>
          <a:lstStyle/>
          <a:p>
            <a:endParaRPr lang="ja-JP" altLang="en-US"/>
          </a:p>
        </p:txBody>
      </p:sp>
      <p:sp>
        <p:nvSpPr>
          <p:cNvPr id="23" name="Text 21"/>
          <p:cNvSpPr txBox="1"/>
          <p:nvPr/>
        </p:nvSpPr>
        <p:spPr>
          <a:xfrm>
            <a:off x="6217920" y="2907792"/>
            <a:ext cx="2423160" cy="256032"/>
          </a:xfrm>
          <a:prstGeom prst="rect">
            <a:avLst/>
          </a:prstGeom>
          <a:noFill/>
          <a:ln/>
        </p:spPr>
        <p:txBody>
          <a:bodyPr wrap="square" lIns="0" tIns="0" rIns="0" bIns="0" rtlCol="0" anchor="ctr"/>
          <a:lstStyle/>
          <a:p>
            <a:pPr marL="0" indent="0">
              <a:buNone/>
            </a:pPr>
            <a:r>
              <a:rPr lang="en-US" sz="1200" b="1" dirty="0">
                <a:solidFill>
                  <a:srgbClr val="ED7D31"/>
                </a:solidFill>
                <a:latin typeface="游ゴシック" pitchFamily="34" charset="0"/>
                <a:ea typeface="游ゴシック" pitchFamily="34" charset="-122"/>
                <a:cs typeface="游ゴシック" pitchFamily="34" charset="-120"/>
              </a:rPr>
              <a:t>言葉の使い方</a:t>
            </a:r>
            <a:endParaRPr lang="en-US" sz="1200" dirty="0"/>
          </a:p>
        </p:txBody>
      </p:sp>
      <p:sp>
        <p:nvSpPr>
          <p:cNvPr id="24" name="Text 22"/>
          <p:cNvSpPr txBox="1"/>
          <p:nvPr/>
        </p:nvSpPr>
        <p:spPr>
          <a:xfrm>
            <a:off x="6217920" y="3200400"/>
            <a:ext cx="2423160" cy="1444752"/>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172033"/>
                </a:solidFill>
                <a:latin typeface="游ゴシック" pitchFamily="34" charset="0"/>
                <a:ea typeface="游ゴシック" pitchFamily="34" charset="-122"/>
                <a:cs typeface="游ゴシック" pitchFamily="34" charset="-120"/>
              </a:rPr>
              <a:t>吸気温度差が負に大きいほど「吸気温度の低減効果が大きい」と書く</a:t>
            </a:r>
            <a:endParaRPr lang="en-US" sz="1100" dirty="0"/>
          </a:p>
          <a:p>
            <a:pPr marL="152400" indent="-152400">
              <a:spcAft>
                <a:spcPts val="300"/>
              </a:spcAft>
              <a:buSzPct val="100000"/>
              <a:buChar char="•"/>
            </a:pPr>
            <a:r>
              <a:rPr lang="en-US" sz="1100" dirty="0">
                <a:solidFill>
                  <a:srgbClr val="172033"/>
                </a:solidFill>
                <a:latin typeface="游ゴシック" pitchFamily="34" charset="0"/>
                <a:ea typeface="游ゴシック" pitchFamily="34" charset="-122"/>
                <a:cs typeface="游ゴシック" pitchFamily="34" charset="-120"/>
              </a:rPr>
              <a:t>グラフは吸気温度差で描き、0℃の線より下が低減効果あり</a:t>
            </a:r>
            <a:endParaRPr lang="en-US" sz="11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分析1：期間全体の吸気温度の比較</a:t>
            </a:r>
            <a:endParaRPr lang="en-US" sz="2000" dirty="0"/>
          </a:p>
        </p:txBody>
      </p:sp>
      <p:sp>
        <p:nvSpPr>
          <p:cNvPr id="3" name="Shape 1"/>
          <p:cNvSpPr/>
          <p:nvPr/>
        </p:nvSpPr>
        <p:spPr>
          <a:xfrm>
            <a:off x="7726680" y="155448"/>
            <a:ext cx="1097280" cy="274320"/>
          </a:xfrm>
          <a:prstGeom prst="roundRect">
            <a:avLst>
              <a:gd name="adj" fmla="val 26667"/>
            </a:avLst>
          </a:prstGeom>
          <a:solidFill>
            <a:srgbClr val="E66C64"/>
          </a:solidFill>
          <a:ln w="12700">
            <a:solidFill>
              <a:srgbClr val="E66C6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主分析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芋緑化による吸気温度の低減が、そもそも存在するかを確かめる</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9組（列11は8組）平均の日中平均。上段：吸気温度、下段：吸気温度差（緑・青：列3より低い日、赤：高い日、灰：休日）</a:t>
            </a:r>
            <a:endParaRPr lang="en-US" sz="1050" dirty="0"/>
          </a:p>
        </p:txBody>
      </p:sp>
      <p:sp>
        <p:nvSpPr>
          <p:cNvPr id="11" name="Text 9"/>
          <p:cNvSpPr txBox="1"/>
          <p:nvPr/>
        </p:nvSpPr>
        <p:spPr>
          <a:xfrm>
            <a:off x="365760" y="3904488"/>
            <a:ext cx="4114800" cy="201168"/>
          </a:xfrm>
          <a:prstGeom prst="rect">
            <a:avLst/>
          </a:prstGeom>
          <a:noFill/>
          <a:ln/>
        </p:spPr>
        <p:txBody>
          <a:bodyPr wrap="square" lIns="0" tIns="0" rIns="0" bIns="0" rtlCol="0" anchor="ctr"/>
          <a:lstStyle/>
          <a:p>
            <a:pPr marL="0" indent="0" algn="ctr">
              <a:buNone/>
            </a:pPr>
            <a:r>
              <a:rPr lang="en-US" sz="950" b="1" dirty="0">
                <a:solidFill>
                  <a:srgbClr val="01B8AA"/>
                </a:solidFill>
                <a:latin typeface="游ゴシック" pitchFamily="34" charset="0"/>
                <a:ea typeface="游ゴシック" pitchFamily="34" charset="-122"/>
                <a:cs typeface="游ゴシック" pitchFamily="34" charset="-120"/>
              </a:rPr>
              <a:t>Fig. 1　列8と列3</a:t>
            </a:r>
            <a:endParaRPr lang="en-US" sz="950" dirty="0"/>
          </a:p>
        </p:txBody>
      </p:sp>
      <p:sp>
        <p:nvSpPr>
          <p:cNvPr id="12" name="Text 10"/>
          <p:cNvSpPr txBox="1"/>
          <p:nvPr/>
        </p:nvSpPr>
        <p:spPr>
          <a:xfrm>
            <a:off x="4663440" y="3904488"/>
            <a:ext cx="4114800" cy="201168"/>
          </a:xfrm>
          <a:prstGeom prst="rect">
            <a:avLst/>
          </a:prstGeom>
          <a:noFill/>
          <a:ln/>
        </p:spPr>
        <p:txBody>
          <a:bodyPr wrap="square" lIns="0" tIns="0" rIns="0" bIns="0" rtlCol="0" anchor="ctr"/>
          <a:lstStyle/>
          <a:p>
            <a:pPr marL="0" indent="0" algn="ctr">
              <a:buNone/>
            </a:pPr>
            <a:r>
              <a:rPr lang="en-US" sz="950" b="1" dirty="0">
                <a:solidFill>
                  <a:srgbClr val="118DFF"/>
                </a:solidFill>
                <a:latin typeface="游ゴシック" pitchFamily="34" charset="0"/>
                <a:ea typeface="游ゴシック" pitchFamily="34" charset="-122"/>
                <a:cs typeface="游ゴシック" pitchFamily="34" charset="-120"/>
              </a:rPr>
              <a:t>Fig. 2　列11と列3</a:t>
            </a:r>
            <a:endParaRPr lang="en-US" sz="950" dirty="0"/>
          </a:p>
        </p:txBody>
      </p:sp>
      <p:sp>
        <p:nvSpPr>
          <p:cNvPr id="13" name="Shape 11"/>
          <p:cNvSpPr/>
          <p:nvPr/>
        </p:nvSpPr>
        <p:spPr>
          <a:xfrm>
            <a:off x="365760" y="4114800"/>
            <a:ext cx="4114800" cy="566928"/>
          </a:xfrm>
          <a:prstGeom prst="roundRect">
            <a:avLst>
              <a:gd name="adj" fmla="val 9677"/>
            </a:avLst>
          </a:prstGeom>
          <a:solidFill>
            <a:srgbClr val="E4F7F4"/>
          </a:solidFill>
          <a:ln w="12700">
            <a:solidFill>
              <a:srgbClr val="E4F7F4"/>
            </a:solidFill>
            <a:prstDash val="solid"/>
          </a:ln>
        </p:spPr>
        <p:txBody>
          <a:bodyPr/>
          <a:lstStyle/>
          <a:p>
            <a:endParaRPr lang="ja-JP" altLang="en-US"/>
          </a:p>
        </p:txBody>
      </p:sp>
      <p:sp>
        <p:nvSpPr>
          <p:cNvPr id="14" name="Text 12"/>
          <p:cNvSpPr txBox="1"/>
          <p:nvPr/>
        </p:nvSpPr>
        <p:spPr>
          <a:xfrm>
            <a:off x="502920" y="4114800"/>
            <a:ext cx="3840480" cy="566928"/>
          </a:xfrm>
          <a:prstGeom prst="rect">
            <a:avLst/>
          </a:prstGeom>
          <a:noFill/>
          <a:ln/>
        </p:spPr>
        <p:txBody>
          <a:bodyPr wrap="square" lIns="0" tIns="0" rIns="0" bIns="0" rtlCol="0" anchor="ctr"/>
          <a:lstStyle/>
          <a:p>
            <a:pPr marL="0" indent="0">
              <a:buNone/>
            </a:pPr>
            <a:r>
              <a:rPr lang="en-US" sz="1100" b="1" dirty="0">
                <a:solidFill>
                  <a:srgbClr val="01B8AA"/>
                </a:solidFill>
                <a:latin typeface="游ゴシック" pitchFamily="34" charset="0"/>
                <a:ea typeface="游ゴシック" pitchFamily="34" charset="-122"/>
                <a:cs typeface="游ゴシック" pitchFamily="34" charset="-120"/>
              </a:rPr>
              <a:t>列8　</a:t>
            </a:r>
            <a:r>
              <a:rPr lang="en-US" sz="1100" dirty="0">
                <a:solidFill>
                  <a:srgbClr val="172033"/>
                </a:solidFill>
                <a:latin typeface="游ゴシック" pitchFamily="34" charset="0"/>
                <a:ea typeface="游ゴシック" pitchFamily="34" charset="-122"/>
                <a:cs typeface="游ゴシック" pitchFamily="34" charset="-120"/>
              </a:rPr>
              <a:t>勤務日32日間中18日間で列3より低い。平均−0.06℃（95％区間−0.28〜＋0.13℃）で、低いとは言えない</a:t>
            </a:r>
            <a:endParaRPr lang="en-US" sz="1100" dirty="0"/>
          </a:p>
        </p:txBody>
      </p:sp>
      <p:sp>
        <p:nvSpPr>
          <p:cNvPr id="15" name="Shape 13"/>
          <p:cNvSpPr/>
          <p:nvPr/>
        </p:nvSpPr>
        <p:spPr>
          <a:xfrm>
            <a:off x="4663440" y="4114800"/>
            <a:ext cx="4114800" cy="566928"/>
          </a:xfrm>
          <a:prstGeom prst="roundRect">
            <a:avLst>
              <a:gd name="adj" fmla="val 9677"/>
            </a:avLst>
          </a:prstGeom>
          <a:solidFill>
            <a:srgbClr val="EAF4FF"/>
          </a:solidFill>
          <a:ln w="12700">
            <a:solidFill>
              <a:srgbClr val="EAF4FF"/>
            </a:solidFill>
            <a:prstDash val="solid"/>
          </a:ln>
        </p:spPr>
        <p:txBody>
          <a:bodyPr/>
          <a:lstStyle/>
          <a:p>
            <a:endParaRPr lang="ja-JP" altLang="en-US"/>
          </a:p>
        </p:txBody>
      </p:sp>
      <p:sp>
        <p:nvSpPr>
          <p:cNvPr id="16" name="Text 14"/>
          <p:cNvSpPr txBox="1"/>
          <p:nvPr/>
        </p:nvSpPr>
        <p:spPr>
          <a:xfrm>
            <a:off x="4800600" y="4114800"/>
            <a:ext cx="3840480" cy="566928"/>
          </a:xfrm>
          <a:prstGeom prst="rect">
            <a:avLst/>
          </a:prstGeom>
          <a:noFill/>
          <a:ln/>
        </p:spPr>
        <p:txBody>
          <a:bodyPr wrap="square" lIns="0" tIns="0" rIns="0" bIns="0" rtlCol="0" anchor="ctr"/>
          <a:lstStyle/>
          <a:p>
            <a:pPr marL="0" indent="0">
              <a:buNone/>
            </a:pPr>
            <a:r>
              <a:rPr lang="en-US" sz="1100" b="1" dirty="0">
                <a:solidFill>
                  <a:srgbClr val="118DFF"/>
                </a:solidFill>
                <a:latin typeface="游ゴシック" pitchFamily="34" charset="0"/>
                <a:ea typeface="游ゴシック" pitchFamily="34" charset="-122"/>
                <a:cs typeface="游ゴシック" pitchFamily="34" charset="-120"/>
              </a:rPr>
              <a:t>列11　</a:t>
            </a:r>
            <a:r>
              <a:rPr lang="en-US" sz="1100" dirty="0">
                <a:solidFill>
                  <a:srgbClr val="172033"/>
                </a:solidFill>
                <a:latin typeface="游ゴシック" pitchFamily="34" charset="0"/>
                <a:ea typeface="游ゴシック" pitchFamily="34" charset="-122"/>
                <a:cs typeface="游ゴシック" pitchFamily="34" charset="-120"/>
              </a:rPr>
              <a:t>勤務日32日間中28日間で列3より低い。平均−0.26℃（95％区間−0.39〜−0.15℃）</a:t>
            </a:r>
            <a:endParaRPr lang="en-US" sz="1100" dirty="0"/>
          </a:p>
        </p:txBody>
      </p:sp>
      <p:sp>
        <p:nvSpPr>
          <p:cNvPr id="17" name="Text 15"/>
          <p:cNvSpPr txBox="1"/>
          <p:nvPr/>
        </p:nvSpPr>
        <p:spPr>
          <a:xfrm>
            <a:off x="365760" y="4690872"/>
            <a:ext cx="8412480" cy="146304"/>
          </a:xfrm>
          <a:prstGeom prst="rect">
            <a:avLst/>
          </a:prstGeom>
          <a:noFill/>
          <a:ln/>
        </p:spPr>
        <p:txBody>
          <a:bodyPr wrap="square" lIns="0" tIns="0" rIns="0" bIns="0" rtlCol="0" anchor="ctr"/>
          <a:lstStyle/>
          <a:p>
            <a:pPr marL="0" indent="0">
              <a:buNone/>
            </a:pPr>
            <a:r>
              <a:rPr lang="en-US" sz="800" dirty="0">
                <a:solidFill>
                  <a:srgbClr val="5E6B7A"/>
                </a:solidFill>
                <a:latin typeface="游ゴシック" pitchFamily="34" charset="0"/>
                <a:ea typeface="游ゴシック" pitchFamily="34" charset="-122"/>
                <a:cs typeface="游ゴシック" pitchFamily="34" charset="-120"/>
              </a:rPr>
              <a:t>8/28・9/7はデータ回収でロガーが止まった時間を除き、残っている7時間で日中平均を計算</a:t>
            </a:r>
            <a:endParaRPr lang="en-US" sz="8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9</a:t>
            </a:fld>
            <a:endParaRPr lang="en-US"/>
          </a:p>
        </p:txBody>
      </p:sp>
      <p:graphicFrame>
        <p:nvGraphicFramePr>
          <p:cNvPr id="26" name="グラフ a1_8_t"/>
          <p:cNvGraphicFramePr>
            <a:graphicFrameLocks noGrp="1"/>
          </p:cNvGraphicFramePr>
          <p:nvPr/>
        </p:nvGraphicFramePr>
        <p:xfrm>
          <a:off x="365760" y="1261872"/>
          <a:ext cx="4114800" cy="148132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7" name="グラフ a1_8_b"/>
          <p:cNvGraphicFramePr>
            <a:graphicFrameLocks noGrp="1"/>
          </p:cNvGraphicFramePr>
          <p:nvPr/>
        </p:nvGraphicFramePr>
        <p:xfrm>
          <a:off x="365760" y="2743200"/>
          <a:ext cx="4114800" cy="116128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8" name="グラフ a1_11_t"/>
          <p:cNvGraphicFramePr>
            <a:graphicFrameLocks noGrp="1"/>
          </p:cNvGraphicFramePr>
          <p:nvPr/>
        </p:nvGraphicFramePr>
        <p:xfrm>
          <a:off x="4663440" y="1261872"/>
          <a:ext cx="4114800" cy="148132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9" name="グラフ a1_11_b"/>
          <p:cNvGraphicFramePr>
            <a:graphicFrameLocks noGrp="1"/>
          </p:cNvGraphicFramePr>
          <p:nvPr/>
        </p:nvGraphicFramePr>
        <p:xfrm>
          <a:off x="4663440" y="2743200"/>
          <a:ext cx="4114800" cy="1161288"/>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分析1（補正）：運転状態と夜間の差をそろえた比較</a:t>
            </a:r>
            <a:endParaRPr lang="en-US" sz="2000" dirty="0"/>
          </a:p>
        </p:txBody>
      </p:sp>
      <p:sp>
        <p:nvSpPr>
          <p:cNvPr id="3" name="Shape 1"/>
          <p:cNvSpPr/>
          <p:nvPr/>
        </p:nvSpPr>
        <p:spPr>
          <a:xfrm>
            <a:off x="7726680" y="155448"/>
            <a:ext cx="1097280" cy="274320"/>
          </a:xfrm>
          <a:prstGeom prst="roundRect">
            <a:avLst>
              <a:gd name="adj" fmla="val 26667"/>
            </a:avLst>
          </a:prstGeom>
          <a:solidFill>
            <a:srgbClr val="E66C64"/>
          </a:solidFill>
          <a:ln w="12700">
            <a:solidFill>
              <a:srgbClr val="E66C6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主分析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運転状態の違いと、列の位置による差を除いても、芋緑化側が低いかを確かめる</a:t>
            </a:r>
            <a:endParaRPr lang="en-US" sz="1200" dirty="0"/>
          </a:p>
        </p:txBody>
      </p:sp>
      <p:sp>
        <p:nvSpPr>
          <p:cNvPr id="7" name="Text 5"/>
          <p:cNvSpPr txBox="1"/>
          <p:nvPr/>
        </p:nvSpPr>
        <p:spPr>
          <a:xfrm>
            <a:off x="365760" y="3200400"/>
            <a:ext cx="4206240" cy="182880"/>
          </a:xfrm>
          <a:prstGeom prst="rect">
            <a:avLst/>
          </a:prstGeom>
          <a:noFill/>
          <a:ln/>
        </p:spPr>
        <p:txBody>
          <a:bodyPr wrap="square" lIns="0" tIns="0" rIns="0" bIns="0" rtlCol="0" anchor="ctr"/>
          <a:lstStyle/>
          <a:p>
            <a:pPr marL="0" indent="0">
              <a:buNone/>
            </a:pPr>
            <a:r>
              <a:rPr lang="en-US" sz="850" dirty="0">
                <a:solidFill>
                  <a:srgbClr val="5E6B7A"/>
                </a:solidFill>
                <a:latin typeface="游ゴシック" pitchFamily="34" charset="0"/>
                <a:ea typeface="游ゴシック" pitchFamily="34" charset="-122"/>
                <a:cs typeface="游ゴシック" pitchFamily="34" charset="-120"/>
              </a:rPr>
              <a:t>ひげ：95％区間</a:t>
            </a:r>
            <a:endParaRPr lang="en-US" sz="850" dirty="0"/>
          </a:p>
        </p:txBody>
      </p:sp>
      <p:sp>
        <p:nvSpPr>
          <p:cNvPr id="8" name="Shape 6"/>
          <p:cNvSpPr/>
          <p:nvPr/>
        </p:nvSpPr>
        <p:spPr>
          <a:xfrm>
            <a:off x="365760" y="3401568"/>
            <a:ext cx="4206240" cy="1325880"/>
          </a:xfrm>
          <a:prstGeom prst="roundRect">
            <a:avLst>
              <a:gd name="adj" fmla="val 4138"/>
            </a:avLst>
          </a:prstGeom>
          <a:solidFill>
            <a:srgbClr val="EAF4FF"/>
          </a:solidFill>
          <a:ln w="12700">
            <a:solidFill>
              <a:srgbClr val="EAF4FF"/>
            </a:solidFill>
            <a:prstDash val="solid"/>
          </a:ln>
        </p:spPr>
        <p:txBody>
          <a:bodyPr/>
          <a:lstStyle/>
          <a:p>
            <a:endParaRPr lang="ja-JP" altLang="en-US"/>
          </a:p>
        </p:txBody>
      </p:sp>
      <p:sp>
        <p:nvSpPr>
          <p:cNvPr id="9" name="Text 7"/>
          <p:cNvSpPr txBox="1"/>
          <p:nvPr/>
        </p:nvSpPr>
        <p:spPr>
          <a:xfrm>
            <a:off x="502920" y="3474720"/>
            <a:ext cx="393192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a:t>
            </a:r>
            <a:endParaRPr lang="en-US" sz="1200" dirty="0"/>
          </a:p>
        </p:txBody>
      </p:sp>
      <p:sp>
        <p:nvSpPr>
          <p:cNvPr id="10" name="Text 8"/>
          <p:cNvSpPr txBox="1"/>
          <p:nvPr/>
        </p:nvSpPr>
        <p:spPr>
          <a:xfrm>
            <a:off x="502920" y="3767328"/>
            <a:ext cx="3931920" cy="896112"/>
          </a:xfrm>
          <a:prstGeom prst="rect">
            <a:avLst/>
          </a:prstGeom>
          <a:noFill/>
          <a:ln/>
        </p:spPr>
        <p:txBody>
          <a:bodyPr wrap="square" lIns="0" tIns="0" rIns="0" bIns="0" rtlCol="0" anchor="t"/>
          <a:lstStyle/>
          <a:p>
            <a:pPr marL="152400" indent="-152400">
              <a:spcAft>
                <a:spcPts val="300"/>
              </a:spcAft>
              <a:buSzPct val="100000"/>
              <a:buChar char="•"/>
            </a:pPr>
            <a:r>
              <a:rPr lang="en-US" sz="1000" dirty="0">
                <a:solidFill>
                  <a:srgbClr val="172033"/>
                </a:solidFill>
                <a:latin typeface="游ゴシック" pitchFamily="34" charset="0"/>
                <a:ea typeface="游ゴシック" pitchFamily="34" charset="-122"/>
                <a:cs typeface="游ゴシック" pitchFamily="34" charset="-120"/>
              </a:rPr>
              <a:t>両方運転中：列11は33日間中29日間で低く−0.27℃。列8は＋0.10℃</a:t>
            </a:r>
            <a:endParaRPr lang="en-US" sz="1000" dirty="0"/>
          </a:p>
          <a:p>
            <a:pPr marL="152400" indent="-152400">
              <a:spcAft>
                <a:spcPts val="300"/>
              </a:spcAft>
              <a:buSzPct val="100000"/>
              <a:buChar char="•"/>
            </a:pPr>
            <a:r>
              <a:rPr lang="en-US" sz="1000" dirty="0">
                <a:solidFill>
                  <a:srgbClr val="172033"/>
                </a:solidFill>
                <a:latin typeface="游ゴシック" pitchFamily="34" charset="0"/>
                <a:ea typeface="游ゴシック" pitchFamily="34" charset="-122"/>
                <a:cs typeface="游ゴシック" pitchFamily="34" charset="-120"/>
              </a:rPr>
              <a:t>基準差（夜間）：列8−0.10℃、列11−0.15℃</a:t>
            </a:r>
            <a:endParaRPr lang="en-US" sz="1000" dirty="0"/>
          </a:p>
          <a:p>
            <a:pPr marL="152400" indent="-152400">
              <a:spcAft>
                <a:spcPts val="300"/>
              </a:spcAft>
              <a:buSzPct val="100000"/>
              <a:buChar char="•"/>
            </a:pPr>
            <a:r>
              <a:rPr lang="en-US" sz="1000" dirty="0">
                <a:solidFill>
                  <a:srgbClr val="172033"/>
                </a:solidFill>
                <a:latin typeface="游ゴシック" pitchFamily="34" charset="0"/>
                <a:ea typeface="游ゴシック" pitchFamily="34" charset="-122"/>
                <a:cs typeface="游ゴシック" pitchFamily="34" charset="-120"/>
              </a:rPr>
              <a:t>補正後：列11は−0.16℃（区間−0.29〜−0.03）、列8は＋0.23℃（＋0.07〜＋0.40）</a:t>
            </a:r>
            <a:endParaRPr lang="en-US" sz="1000" dirty="0"/>
          </a:p>
        </p:txBody>
      </p:sp>
      <p:sp>
        <p:nvSpPr>
          <p:cNvPr id="11" name="Shape 9"/>
          <p:cNvSpPr/>
          <p:nvPr/>
        </p:nvSpPr>
        <p:spPr>
          <a:xfrm>
            <a:off x="4709160" y="1024128"/>
            <a:ext cx="4069080" cy="2606040"/>
          </a:xfrm>
          <a:prstGeom prst="roundRect">
            <a:avLst>
              <a:gd name="adj" fmla="val 2105"/>
            </a:avLst>
          </a:prstGeom>
          <a:solidFill>
            <a:srgbClr val="E4F7F4"/>
          </a:solidFill>
          <a:ln w="12700">
            <a:solidFill>
              <a:srgbClr val="E4F7F4"/>
            </a:solidFill>
            <a:prstDash val="solid"/>
          </a:ln>
        </p:spPr>
        <p:txBody>
          <a:bodyPr/>
          <a:lstStyle/>
          <a:p>
            <a:endParaRPr lang="ja-JP" altLang="en-US"/>
          </a:p>
        </p:txBody>
      </p:sp>
      <p:sp>
        <p:nvSpPr>
          <p:cNvPr id="12" name="Text 10"/>
          <p:cNvSpPr txBox="1"/>
          <p:nvPr/>
        </p:nvSpPr>
        <p:spPr>
          <a:xfrm>
            <a:off x="4846320" y="1078992"/>
            <a:ext cx="3840480" cy="237744"/>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補正の方法</a:t>
            </a:r>
            <a:endParaRPr lang="en-US" sz="1200" dirty="0"/>
          </a:p>
        </p:txBody>
      </p:sp>
      <p:sp>
        <p:nvSpPr>
          <p:cNvPr id="13" name="Shape 11"/>
          <p:cNvSpPr/>
          <p:nvPr/>
        </p:nvSpPr>
        <p:spPr>
          <a:xfrm>
            <a:off x="4846320" y="1399032"/>
            <a:ext cx="237744" cy="237744"/>
          </a:xfrm>
          <a:prstGeom prst="ellipse">
            <a:avLst/>
          </a:prstGeom>
          <a:solidFill>
            <a:srgbClr val="01B8AA"/>
          </a:solidFill>
          <a:ln w="12700">
            <a:solidFill>
              <a:srgbClr val="01B8AA"/>
            </a:solidFill>
            <a:prstDash val="solid"/>
          </a:ln>
        </p:spPr>
        <p:txBody>
          <a:bodyPr/>
          <a:lstStyle/>
          <a:p>
            <a:endParaRPr lang="ja-JP" altLang="en-US"/>
          </a:p>
        </p:txBody>
      </p:sp>
      <p:sp>
        <p:nvSpPr>
          <p:cNvPr id="14" name="Text 12"/>
          <p:cNvSpPr txBox="1"/>
          <p:nvPr/>
        </p:nvSpPr>
        <p:spPr>
          <a:xfrm>
            <a:off x="4846320" y="139903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游ゴシック" pitchFamily="34" charset="0"/>
                <a:ea typeface="游ゴシック" pitchFamily="34" charset="-122"/>
                <a:cs typeface="游ゴシック" pitchFamily="34" charset="-120"/>
              </a:rPr>
              <a:t>1</a:t>
            </a:r>
            <a:endParaRPr lang="en-US" sz="1000" dirty="0"/>
          </a:p>
        </p:txBody>
      </p:sp>
      <p:sp>
        <p:nvSpPr>
          <p:cNvPr id="15" name="Text 13"/>
          <p:cNvSpPr txBox="1"/>
          <p:nvPr/>
        </p:nvSpPr>
        <p:spPr>
          <a:xfrm>
            <a:off x="5166360" y="1371600"/>
            <a:ext cx="3520440" cy="530352"/>
          </a:xfrm>
          <a:prstGeom prst="rect">
            <a:avLst/>
          </a:prstGeom>
          <a:noFill/>
          <a:ln/>
        </p:spPr>
        <p:txBody>
          <a:bodyPr wrap="square" lIns="0" tIns="0" rIns="0" bIns="0" rtlCol="0" anchor="t"/>
          <a:lstStyle/>
          <a:p>
            <a:pPr marL="0" indent="0">
              <a:buNone/>
            </a:pPr>
            <a:r>
              <a:rPr lang="en-US" sz="900" b="1" dirty="0">
                <a:solidFill>
                  <a:srgbClr val="22354F"/>
                </a:solidFill>
                <a:latin typeface="游ゴシック" pitchFamily="34" charset="0"/>
                <a:ea typeface="游ゴシック" pitchFamily="34" charset="-122"/>
                <a:cs typeface="游ゴシック" pitchFamily="34" charset="-120"/>
              </a:rPr>
              <a:t>運転状態を判定　</a:t>
            </a:r>
            <a:r>
              <a:rPr lang="en-US" sz="900" dirty="0">
                <a:solidFill>
                  <a:srgbClr val="172033"/>
                </a:solidFill>
                <a:latin typeface="游ゴシック" pitchFamily="34" charset="0"/>
                <a:ea typeface="游ゴシック" pitchFamily="34" charset="-122"/>
                <a:cs typeface="游ゴシック" pitchFamily="34" charset="-120"/>
              </a:rPr>
              <a:t>排気温度−吸気温度（10分の移動中央値）が1.0℃以上なら運転中。1時間の8割以上で運転、2割以下で停止。列3は休日も20時頃まで運転し、列8・11は7〜8時に始まり17〜18時に止まる</a:t>
            </a:r>
            <a:endParaRPr lang="en-US" sz="900" dirty="0"/>
          </a:p>
        </p:txBody>
      </p:sp>
      <p:sp>
        <p:nvSpPr>
          <p:cNvPr id="16" name="Shape 14"/>
          <p:cNvSpPr/>
          <p:nvPr/>
        </p:nvSpPr>
        <p:spPr>
          <a:xfrm>
            <a:off x="4846320" y="1947672"/>
            <a:ext cx="237744" cy="237744"/>
          </a:xfrm>
          <a:prstGeom prst="ellipse">
            <a:avLst/>
          </a:prstGeom>
          <a:solidFill>
            <a:srgbClr val="01B8AA"/>
          </a:solidFill>
          <a:ln w="12700">
            <a:solidFill>
              <a:srgbClr val="01B8AA"/>
            </a:solidFill>
            <a:prstDash val="solid"/>
          </a:ln>
        </p:spPr>
        <p:txBody>
          <a:bodyPr/>
          <a:lstStyle/>
          <a:p>
            <a:endParaRPr lang="ja-JP" altLang="en-US"/>
          </a:p>
        </p:txBody>
      </p:sp>
      <p:sp>
        <p:nvSpPr>
          <p:cNvPr id="17" name="Text 15"/>
          <p:cNvSpPr txBox="1"/>
          <p:nvPr/>
        </p:nvSpPr>
        <p:spPr>
          <a:xfrm>
            <a:off x="4846320" y="194767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游ゴシック" pitchFamily="34" charset="0"/>
                <a:ea typeface="游ゴシック" pitchFamily="34" charset="-122"/>
                <a:cs typeface="游ゴシック" pitchFamily="34" charset="-120"/>
              </a:rPr>
              <a:t>2</a:t>
            </a:r>
            <a:endParaRPr lang="en-US" sz="1000" dirty="0"/>
          </a:p>
        </p:txBody>
      </p:sp>
      <p:sp>
        <p:nvSpPr>
          <p:cNvPr id="18" name="Text 16"/>
          <p:cNvSpPr txBox="1"/>
          <p:nvPr/>
        </p:nvSpPr>
        <p:spPr>
          <a:xfrm>
            <a:off x="5166360" y="1920240"/>
            <a:ext cx="3520440" cy="530352"/>
          </a:xfrm>
          <a:prstGeom prst="rect">
            <a:avLst/>
          </a:prstGeom>
          <a:noFill/>
          <a:ln/>
        </p:spPr>
        <p:txBody>
          <a:bodyPr wrap="square" lIns="0" tIns="0" rIns="0" bIns="0" rtlCol="0" anchor="t"/>
          <a:lstStyle/>
          <a:p>
            <a:pPr marL="0" indent="0">
              <a:buNone/>
            </a:pPr>
            <a:r>
              <a:rPr lang="en-US" sz="900" b="1" dirty="0">
                <a:solidFill>
                  <a:srgbClr val="22354F"/>
                </a:solidFill>
                <a:latin typeface="游ゴシック" pitchFamily="34" charset="0"/>
                <a:ea typeface="游ゴシック" pitchFamily="34" charset="-122"/>
                <a:cs typeface="游ゴシック" pitchFamily="34" charset="-120"/>
              </a:rPr>
              <a:t>運転状態をそろえる　</a:t>
            </a:r>
            <a:r>
              <a:rPr lang="en-US" sz="900" dirty="0">
                <a:solidFill>
                  <a:srgbClr val="172033"/>
                </a:solidFill>
                <a:latin typeface="游ゴシック" pitchFamily="34" charset="0"/>
                <a:ea typeface="游ゴシック" pitchFamily="34" charset="-122"/>
                <a:cs typeface="游ゴシック" pitchFamily="34" charset="-120"/>
              </a:rPr>
              <a:t>同じ区画の2台（例：8-1と3-1）がともに運転している日中の1時間だけで、吸気温度差を平均する</a:t>
            </a:r>
            <a:endParaRPr lang="en-US" sz="900" dirty="0"/>
          </a:p>
        </p:txBody>
      </p:sp>
      <p:sp>
        <p:nvSpPr>
          <p:cNvPr id="19" name="Shape 17"/>
          <p:cNvSpPr/>
          <p:nvPr/>
        </p:nvSpPr>
        <p:spPr>
          <a:xfrm>
            <a:off x="4846320" y="2496312"/>
            <a:ext cx="237744" cy="237744"/>
          </a:xfrm>
          <a:prstGeom prst="ellipse">
            <a:avLst/>
          </a:prstGeom>
          <a:solidFill>
            <a:srgbClr val="01B8AA"/>
          </a:solidFill>
          <a:ln w="12700">
            <a:solidFill>
              <a:srgbClr val="01B8AA"/>
            </a:solidFill>
            <a:prstDash val="solid"/>
          </a:ln>
        </p:spPr>
        <p:txBody>
          <a:bodyPr/>
          <a:lstStyle/>
          <a:p>
            <a:endParaRPr lang="ja-JP" altLang="en-US"/>
          </a:p>
        </p:txBody>
      </p:sp>
      <p:sp>
        <p:nvSpPr>
          <p:cNvPr id="20" name="Text 18"/>
          <p:cNvSpPr txBox="1"/>
          <p:nvPr/>
        </p:nvSpPr>
        <p:spPr>
          <a:xfrm>
            <a:off x="4846320" y="24963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游ゴシック" pitchFamily="34" charset="0"/>
                <a:ea typeface="游ゴシック" pitchFamily="34" charset="-122"/>
                <a:cs typeface="游ゴシック" pitchFamily="34" charset="-120"/>
              </a:rPr>
              <a:t>3</a:t>
            </a:r>
            <a:endParaRPr lang="en-US" sz="1000" dirty="0"/>
          </a:p>
        </p:txBody>
      </p:sp>
      <p:sp>
        <p:nvSpPr>
          <p:cNvPr id="21" name="Text 19"/>
          <p:cNvSpPr txBox="1"/>
          <p:nvPr/>
        </p:nvSpPr>
        <p:spPr>
          <a:xfrm>
            <a:off x="5166360" y="2468880"/>
            <a:ext cx="3520440" cy="530352"/>
          </a:xfrm>
          <a:prstGeom prst="rect">
            <a:avLst/>
          </a:prstGeom>
          <a:noFill/>
          <a:ln/>
        </p:spPr>
        <p:txBody>
          <a:bodyPr wrap="square" lIns="0" tIns="0" rIns="0" bIns="0" rtlCol="0" anchor="t"/>
          <a:lstStyle/>
          <a:p>
            <a:pPr marL="0" indent="0">
              <a:buNone/>
            </a:pPr>
            <a:r>
              <a:rPr lang="en-US" sz="900" b="1" dirty="0">
                <a:solidFill>
                  <a:srgbClr val="22354F"/>
                </a:solidFill>
                <a:latin typeface="游ゴシック" pitchFamily="34" charset="0"/>
                <a:ea typeface="游ゴシック" pitchFamily="34" charset="-122"/>
                <a:cs typeface="游ゴシック" pitchFamily="34" charset="-120"/>
              </a:rPr>
              <a:t>位置の差を求める　</a:t>
            </a:r>
            <a:r>
              <a:rPr lang="en-US" sz="900" dirty="0">
                <a:solidFill>
                  <a:srgbClr val="172033"/>
                </a:solidFill>
                <a:latin typeface="游ゴシック" pitchFamily="34" charset="0"/>
                <a:ea typeface="游ゴシック" pitchFamily="34" charset="-122"/>
                <a:cs typeface="游ゴシック" pitchFamily="34" charset="-120"/>
              </a:rPr>
              <a:t>同じ日の夜間（1〜5時）で、2台ともに停止している時間の吸気温度差を「基準差」とする</a:t>
            </a:r>
            <a:endParaRPr lang="en-US" sz="900" dirty="0"/>
          </a:p>
        </p:txBody>
      </p:sp>
      <p:sp>
        <p:nvSpPr>
          <p:cNvPr id="22" name="Shape 20"/>
          <p:cNvSpPr/>
          <p:nvPr/>
        </p:nvSpPr>
        <p:spPr>
          <a:xfrm>
            <a:off x="4846320" y="3044952"/>
            <a:ext cx="237744" cy="237744"/>
          </a:xfrm>
          <a:prstGeom prst="ellipse">
            <a:avLst/>
          </a:prstGeom>
          <a:solidFill>
            <a:srgbClr val="01B8AA"/>
          </a:solidFill>
          <a:ln w="12700">
            <a:solidFill>
              <a:srgbClr val="01B8AA"/>
            </a:solidFill>
            <a:prstDash val="solid"/>
          </a:ln>
        </p:spPr>
        <p:txBody>
          <a:bodyPr/>
          <a:lstStyle/>
          <a:p>
            <a:endParaRPr lang="ja-JP" altLang="en-US"/>
          </a:p>
        </p:txBody>
      </p:sp>
      <p:sp>
        <p:nvSpPr>
          <p:cNvPr id="23" name="Text 21"/>
          <p:cNvSpPr txBox="1"/>
          <p:nvPr/>
        </p:nvSpPr>
        <p:spPr>
          <a:xfrm>
            <a:off x="4846320" y="304495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游ゴシック" pitchFamily="34" charset="0"/>
                <a:ea typeface="游ゴシック" pitchFamily="34" charset="-122"/>
                <a:cs typeface="游ゴシック" pitchFamily="34" charset="-120"/>
              </a:rPr>
              <a:t>4</a:t>
            </a:r>
            <a:endParaRPr lang="en-US" sz="1000" dirty="0"/>
          </a:p>
        </p:txBody>
      </p:sp>
      <p:sp>
        <p:nvSpPr>
          <p:cNvPr id="24" name="Text 22"/>
          <p:cNvSpPr txBox="1"/>
          <p:nvPr/>
        </p:nvSpPr>
        <p:spPr>
          <a:xfrm>
            <a:off x="5166360" y="3017520"/>
            <a:ext cx="3520440" cy="530352"/>
          </a:xfrm>
          <a:prstGeom prst="rect">
            <a:avLst/>
          </a:prstGeom>
          <a:noFill/>
          <a:ln/>
        </p:spPr>
        <p:txBody>
          <a:bodyPr wrap="square" lIns="0" tIns="0" rIns="0" bIns="0" rtlCol="0" anchor="t"/>
          <a:lstStyle/>
          <a:p>
            <a:pPr marL="0" indent="0">
              <a:buNone/>
            </a:pPr>
            <a:r>
              <a:rPr lang="en-US" sz="900" b="1" dirty="0">
                <a:solidFill>
                  <a:srgbClr val="22354F"/>
                </a:solidFill>
                <a:latin typeface="游ゴシック" pitchFamily="34" charset="0"/>
                <a:ea typeface="游ゴシック" pitchFamily="34" charset="-122"/>
                <a:cs typeface="游ゴシック" pitchFamily="34" charset="-120"/>
              </a:rPr>
              <a:t>差し引く　</a:t>
            </a:r>
            <a:r>
              <a:rPr lang="en-US" sz="900" dirty="0">
                <a:solidFill>
                  <a:srgbClr val="172033"/>
                </a:solidFill>
                <a:latin typeface="游ゴシック" pitchFamily="34" charset="0"/>
                <a:ea typeface="游ゴシック" pitchFamily="34" charset="-122"/>
                <a:cs typeface="游ゴシック" pitchFamily="34" charset="-120"/>
              </a:rPr>
              <a:t>日ごとに「両方運転中の差 − 基準差」を求め、期間で平均する</a:t>
            </a:r>
            <a:endParaRPr lang="en-US" sz="900" dirty="0"/>
          </a:p>
        </p:txBody>
      </p:sp>
      <p:sp>
        <p:nvSpPr>
          <p:cNvPr id="25" name="Shape 23"/>
          <p:cNvSpPr/>
          <p:nvPr/>
        </p:nvSpPr>
        <p:spPr>
          <a:xfrm>
            <a:off x="4709160" y="3703320"/>
            <a:ext cx="4069080" cy="1024128"/>
          </a:xfrm>
          <a:prstGeom prst="roundRect">
            <a:avLst>
              <a:gd name="adj" fmla="val 5357"/>
            </a:avLst>
          </a:prstGeom>
          <a:solidFill>
            <a:srgbClr val="FFF7D1"/>
          </a:solidFill>
          <a:ln w="12700">
            <a:solidFill>
              <a:srgbClr val="FFF7D1"/>
            </a:solidFill>
            <a:prstDash val="solid"/>
          </a:ln>
        </p:spPr>
        <p:txBody>
          <a:bodyPr/>
          <a:lstStyle/>
          <a:p>
            <a:endParaRPr lang="ja-JP" altLang="en-US"/>
          </a:p>
        </p:txBody>
      </p:sp>
      <p:sp>
        <p:nvSpPr>
          <p:cNvPr id="26" name="Text 24"/>
          <p:cNvSpPr txBox="1"/>
          <p:nvPr/>
        </p:nvSpPr>
        <p:spPr>
          <a:xfrm>
            <a:off x="4846320" y="3749040"/>
            <a:ext cx="3840480" cy="932688"/>
          </a:xfrm>
          <a:prstGeom prst="rect">
            <a:avLst/>
          </a:prstGeom>
          <a:noFill/>
          <a:ln/>
        </p:spPr>
        <p:txBody>
          <a:bodyPr wrap="square" lIns="0" tIns="0" rIns="0" bIns="0" rtlCol="0" anchor="t"/>
          <a:lstStyle/>
          <a:p>
            <a:pPr marL="0" indent="0">
              <a:buNone/>
            </a:pPr>
            <a:r>
              <a:rPr lang="en-US" sz="1000" b="1" dirty="0">
                <a:solidFill>
                  <a:srgbClr val="ED7D31"/>
                </a:solidFill>
                <a:latin typeface="游ゴシック" pitchFamily="34" charset="0"/>
                <a:ea typeface="游ゴシック" pitchFamily="34" charset="-122"/>
                <a:cs typeface="游ゴシック" pitchFamily="34" charset="-120"/>
              </a:rPr>
              <a:t>読み取り</a:t>
            </a:r>
            <a:endParaRPr lang="en-US" sz="1000" dirty="0"/>
          </a:p>
          <a:p>
            <a:pPr marL="0" indent="0">
              <a:buNone/>
            </a:pPr>
            <a:r>
              <a:rPr lang="en-US" sz="1000" dirty="0">
                <a:solidFill>
                  <a:srgbClr val="172033"/>
                </a:solidFill>
                <a:latin typeface="游ゴシック" pitchFamily="34" charset="0"/>
                <a:ea typeface="游ゴシック" pitchFamily="34" charset="-122"/>
                <a:cs typeface="游ゴシック" pitchFamily="34" charset="-120"/>
              </a:rPr>
              <a:t>列11は条件をそろえても低い。列8は運転中に列3より高い。夜間の差には芋緑化そのものの影響も含まれうるため、補正後の値は控えめな見積もり</a:t>
            </a:r>
            <a:endParaRPr lang="en-US" sz="1000" dirty="0"/>
          </a:p>
        </p:txBody>
      </p:sp>
      <p:sp>
        <p:nvSpPr>
          <p:cNvPr id="6"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10</a:t>
            </a:fld>
            <a:endParaRPr lang="en-US"/>
          </a:p>
        </p:txBody>
      </p:sp>
      <p:graphicFrame>
        <p:nvGraphicFramePr>
          <p:cNvPr id="27" name="グラフ corr"/>
          <p:cNvGraphicFramePr>
            <a:graphicFrameLocks noGrp="1"/>
          </p:cNvGraphicFramePr>
          <p:nvPr>
            <p:extLst>
              <p:ext uri="{D42A27DB-BD31-4B8C-83A1-F6EECF244321}">
                <p14:modId xmlns:p14="http://schemas.microsoft.com/office/powerpoint/2010/main" val="403730938"/>
              </p:ext>
            </p:extLst>
          </p:nvPr>
        </p:nvGraphicFramePr>
        <p:xfrm>
          <a:off x="365760" y="1024128"/>
          <a:ext cx="4206240" cy="21945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分析2：時刻別の吸気温度差</a:t>
            </a:r>
            <a:endParaRPr lang="en-US" sz="2000" dirty="0"/>
          </a:p>
        </p:txBody>
      </p:sp>
      <p:sp>
        <p:nvSpPr>
          <p:cNvPr id="3" name="Shape 1"/>
          <p:cNvSpPr/>
          <p:nvPr/>
        </p:nvSpPr>
        <p:spPr>
          <a:xfrm>
            <a:off x="7726680" y="155448"/>
            <a:ext cx="1097280" cy="274320"/>
          </a:xfrm>
          <a:prstGeom prst="roundRect">
            <a:avLst>
              <a:gd name="adj" fmla="val 26667"/>
            </a:avLst>
          </a:prstGeom>
          <a:solidFill>
            <a:srgbClr val="E66C64"/>
          </a:solidFill>
          <a:ln w="12700">
            <a:solidFill>
              <a:srgbClr val="E66C6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主分析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どの時間帯で吸気温度の低減効果が大きいかを特定する</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勤務日32日間の1時間平均の吸気温度差を、時刻ごとに箱ひげ図にした（箱：四分位、白線：中央値、線：ひげ）</a:t>
            </a:r>
            <a:endParaRPr lang="en-US" sz="1050" dirty="0"/>
          </a:p>
        </p:txBody>
      </p:sp>
      <p:sp>
        <p:nvSpPr>
          <p:cNvPr id="7" name="Text 5"/>
          <p:cNvSpPr txBox="1"/>
          <p:nvPr/>
        </p:nvSpPr>
        <p:spPr>
          <a:xfrm>
            <a:off x="365760" y="1325880"/>
            <a:ext cx="5074920" cy="201168"/>
          </a:xfrm>
          <a:prstGeom prst="rect">
            <a:avLst/>
          </a:prstGeom>
          <a:noFill/>
          <a:ln/>
        </p:spPr>
        <p:txBody>
          <a:bodyPr wrap="square" lIns="0" tIns="0" rIns="0" bIns="0" rtlCol="0" anchor="ctr"/>
          <a:lstStyle/>
          <a:p>
            <a:pPr marL="0" indent="0">
              <a:buNone/>
            </a:pPr>
            <a:r>
              <a:rPr lang="en-US" sz="950" b="1" dirty="0">
                <a:solidFill>
                  <a:srgbClr val="01B8AA"/>
                </a:solidFill>
                <a:latin typeface="游ゴシック" pitchFamily="34" charset="0"/>
                <a:ea typeface="游ゴシック" pitchFamily="34" charset="-122"/>
                <a:cs typeface="游ゴシック" pitchFamily="34" charset="-120"/>
              </a:rPr>
              <a:t>列8</a:t>
            </a:r>
            <a:endParaRPr lang="en-US" sz="950" dirty="0"/>
          </a:p>
        </p:txBody>
      </p:sp>
      <p:sp>
        <p:nvSpPr>
          <p:cNvPr id="9" name="Text 7"/>
          <p:cNvSpPr txBox="1"/>
          <p:nvPr/>
        </p:nvSpPr>
        <p:spPr>
          <a:xfrm>
            <a:off x="365760" y="3054096"/>
            <a:ext cx="5074920" cy="201168"/>
          </a:xfrm>
          <a:prstGeom prst="rect">
            <a:avLst/>
          </a:prstGeom>
          <a:noFill/>
          <a:ln/>
        </p:spPr>
        <p:txBody>
          <a:bodyPr wrap="square" lIns="0" tIns="0" rIns="0" bIns="0" rtlCol="0" anchor="ctr"/>
          <a:lstStyle/>
          <a:p>
            <a:pPr marL="0" indent="0">
              <a:buNone/>
            </a:pPr>
            <a:r>
              <a:rPr lang="en-US" sz="950" b="1" dirty="0">
                <a:solidFill>
                  <a:srgbClr val="118DFF"/>
                </a:solidFill>
                <a:latin typeface="游ゴシック" pitchFamily="34" charset="0"/>
                <a:ea typeface="游ゴシック" pitchFamily="34" charset="-122"/>
                <a:cs typeface="游ゴシック" pitchFamily="34" charset="-120"/>
              </a:rPr>
              <a:t>列11</a:t>
            </a:r>
            <a:endParaRPr lang="en-US" sz="950" dirty="0"/>
          </a:p>
        </p:txBody>
      </p:sp>
      <p:sp>
        <p:nvSpPr>
          <p:cNvPr id="11" name="Shape 9"/>
          <p:cNvSpPr/>
          <p:nvPr/>
        </p:nvSpPr>
        <p:spPr>
          <a:xfrm>
            <a:off x="5577840" y="1325880"/>
            <a:ext cx="3200400" cy="2377440"/>
          </a:xfrm>
          <a:prstGeom prst="roundRect">
            <a:avLst>
              <a:gd name="adj" fmla="val 2308"/>
            </a:avLst>
          </a:prstGeom>
          <a:solidFill>
            <a:srgbClr val="EAF4FF"/>
          </a:solidFill>
          <a:ln w="12700">
            <a:solidFill>
              <a:srgbClr val="EAF4FF"/>
            </a:solidFill>
            <a:prstDash val="solid"/>
          </a:ln>
        </p:spPr>
        <p:txBody>
          <a:bodyPr/>
          <a:lstStyle/>
          <a:p>
            <a:endParaRPr lang="ja-JP" altLang="en-US"/>
          </a:p>
        </p:txBody>
      </p:sp>
      <p:sp>
        <p:nvSpPr>
          <p:cNvPr id="12" name="Text 10"/>
          <p:cNvSpPr txBox="1"/>
          <p:nvPr/>
        </p:nvSpPr>
        <p:spPr>
          <a:xfrm>
            <a:off x="5715000" y="1399032"/>
            <a:ext cx="292608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a:t>
            </a:r>
            <a:endParaRPr lang="en-US" sz="1200" dirty="0"/>
          </a:p>
        </p:txBody>
      </p:sp>
      <p:sp>
        <p:nvSpPr>
          <p:cNvPr id="13" name="Text 11"/>
          <p:cNvSpPr txBox="1"/>
          <p:nvPr/>
        </p:nvSpPr>
        <p:spPr>
          <a:xfrm>
            <a:off x="5715000" y="1691640"/>
            <a:ext cx="2926080" cy="1947672"/>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列11：9〜17時台のすべてで中央値が負（−0.15〜−0.34℃）。負の日の割合は66〜93％</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列11で低減効果が大きいのは17時台（−0.34℃）、9時台（−0.33℃）、13時台（−0.30℃）</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列8：中央値は−0.25〜＋0.07℃で0℃付近。14時台だけ中央値が正</a:t>
            </a:r>
            <a:endParaRPr lang="en-US" sz="1050" dirty="0"/>
          </a:p>
        </p:txBody>
      </p:sp>
      <p:sp>
        <p:nvSpPr>
          <p:cNvPr id="14" name="Shape 12"/>
          <p:cNvSpPr/>
          <p:nvPr/>
        </p:nvSpPr>
        <p:spPr>
          <a:xfrm>
            <a:off x="5577840" y="3794760"/>
            <a:ext cx="3200400" cy="932688"/>
          </a:xfrm>
          <a:prstGeom prst="roundRect">
            <a:avLst>
              <a:gd name="adj" fmla="val 5882"/>
            </a:avLst>
          </a:prstGeom>
          <a:solidFill>
            <a:srgbClr val="FFF7D1"/>
          </a:solidFill>
          <a:ln w="12700">
            <a:solidFill>
              <a:srgbClr val="FFF7D1"/>
            </a:solidFill>
            <a:prstDash val="solid"/>
          </a:ln>
        </p:spPr>
        <p:txBody>
          <a:bodyPr/>
          <a:lstStyle/>
          <a:p>
            <a:endParaRPr lang="ja-JP" altLang="en-US"/>
          </a:p>
        </p:txBody>
      </p:sp>
      <p:sp>
        <p:nvSpPr>
          <p:cNvPr id="15" name="Text 13"/>
          <p:cNvSpPr txBox="1"/>
          <p:nvPr/>
        </p:nvSpPr>
        <p:spPr>
          <a:xfrm>
            <a:off x="5715000" y="3840480"/>
            <a:ext cx="2926080" cy="841248"/>
          </a:xfrm>
          <a:prstGeom prst="rect">
            <a:avLst/>
          </a:prstGeom>
          <a:noFill/>
          <a:ln/>
        </p:spPr>
        <p:txBody>
          <a:bodyPr wrap="square" lIns="0" tIns="0" rIns="0" bIns="0" rtlCol="0" anchor="t"/>
          <a:lstStyle/>
          <a:p>
            <a:pPr marL="0" indent="0">
              <a:buNone/>
            </a:pPr>
            <a:r>
              <a:rPr lang="en-US" sz="1050" b="1" dirty="0">
                <a:solidFill>
                  <a:srgbClr val="ED7D31"/>
                </a:solidFill>
                <a:latin typeface="游ゴシック" pitchFamily="34" charset="0"/>
                <a:ea typeface="游ゴシック" pitchFamily="34" charset="-122"/>
                <a:cs typeface="游ゴシック" pitchFamily="34" charset="-120"/>
              </a:rPr>
              <a:t>読み取り</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時刻による違いは小さく、エアネット分析のような14時のピークは見られない。9時台・17時台にやや大きいのは、運転開始・終了の時刻のずれを含むため（p.10）</a:t>
            </a:r>
            <a:endParaRPr 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11</a:t>
            </a:fld>
            <a:endParaRPr lang="en-US"/>
          </a:p>
        </p:txBody>
      </p:sp>
      <p:graphicFrame>
        <p:nvGraphicFramePr>
          <p:cNvPr id="26" name="グラフ a2_8"/>
          <p:cNvGraphicFramePr>
            <a:graphicFrameLocks noGrp="1"/>
          </p:cNvGraphicFramePr>
          <p:nvPr/>
        </p:nvGraphicFramePr>
        <p:xfrm>
          <a:off x="365760" y="1527048"/>
          <a:ext cx="5074920" cy="147218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7" name="グラフ a2_11"/>
          <p:cNvGraphicFramePr>
            <a:graphicFrameLocks noGrp="1"/>
          </p:cNvGraphicFramePr>
          <p:nvPr/>
        </p:nvGraphicFramePr>
        <p:xfrm>
          <a:off x="365760" y="3255264"/>
          <a:ext cx="5074920" cy="1472184"/>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分析3：列8の区画ごとの吸気温度</a:t>
            </a:r>
            <a:endParaRPr lang="en-US" sz="2000" dirty="0"/>
          </a:p>
        </p:txBody>
      </p:sp>
      <p:sp>
        <p:nvSpPr>
          <p:cNvPr id="3" name="Shape 1"/>
          <p:cNvSpPr/>
          <p:nvPr/>
        </p:nvSpPr>
        <p:spPr>
          <a:xfrm>
            <a:off x="7726680" y="155448"/>
            <a:ext cx="1097280" cy="274320"/>
          </a:xfrm>
          <a:prstGeom prst="roundRect">
            <a:avLst>
              <a:gd name="adj" fmla="val 26667"/>
            </a:avLst>
          </a:prstGeom>
          <a:solidFill>
            <a:srgbClr val="E66C64"/>
          </a:solidFill>
          <a:ln w="12700">
            <a:solidFill>
              <a:srgbClr val="E66C6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主分析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同じ列8の中で、どの区画の吸気温度が列3より下がっているかを見る</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列8と列3の同じ区画どうしを比べる。3方位平均の日中平均。上段：吸気温度、下段：吸気温度差</a:t>
            </a:r>
            <a:endParaRPr lang="en-US" sz="1050" dirty="0"/>
          </a:p>
        </p:txBody>
      </p:sp>
      <p:sp>
        <p:nvSpPr>
          <p:cNvPr id="7" name="Text 5"/>
          <p:cNvSpPr txBox="1"/>
          <p:nvPr/>
        </p:nvSpPr>
        <p:spPr>
          <a:xfrm>
            <a:off x="365760" y="1298448"/>
            <a:ext cx="2715768" cy="201168"/>
          </a:xfrm>
          <a:prstGeom prst="rect">
            <a:avLst/>
          </a:prstGeom>
          <a:noFill/>
          <a:ln/>
        </p:spPr>
        <p:txBody>
          <a:bodyPr wrap="square" lIns="0" tIns="0" rIns="0" bIns="0" rtlCol="0" anchor="ctr"/>
          <a:lstStyle/>
          <a:p>
            <a:pPr marL="0" indent="0">
              <a:buNone/>
            </a:pPr>
            <a:r>
              <a:rPr lang="en-US" sz="950" b="1" dirty="0">
                <a:solidFill>
                  <a:srgbClr val="01B8AA"/>
                </a:solidFill>
                <a:latin typeface="游ゴシック" pitchFamily="34" charset="0"/>
                <a:ea typeface="游ゴシック" pitchFamily="34" charset="-122"/>
                <a:cs typeface="游ゴシック" pitchFamily="34" charset="-120"/>
              </a:rPr>
              <a:t>8-1 と 3-1　区画1（左）</a:t>
            </a:r>
            <a:endParaRPr lang="en-US" sz="950" dirty="0"/>
          </a:p>
        </p:txBody>
      </p:sp>
      <p:sp>
        <p:nvSpPr>
          <p:cNvPr id="10" name="Shape 8"/>
          <p:cNvSpPr/>
          <p:nvPr/>
        </p:nvSpPr>
        <p:spPr>
          <a:xfrm>
            <a:off x="365760" y="3986784"/>
            <a:ext cx="2715768" cy="731520"/>
          </a:xfrm>
          <a:prstGeom prst="roundRect">
            <a:avLst>
              <a:gd name="adj" fmla="val 7500"/>
            </a:avLst>
          </a:prstGeom>
          <a:solidFill>
            <a:srgbClr val="FDE8E6"/>
          </a:solidFill>
          <a:ln w="12700">
            <a:solidFill>
              <a:srgbClr val="FDE8E6"/>
            </a:solidFill>
            <a:prstDash val="solid"/>
          </a:ln>
        </p:spPr>
        <p:txBody>
          <a:bodyPr/>
          <a:lstStyle/>
          <a:p>
            <a:endParaRPr lang="ja-JP" altLang="en-US"/>
          </a:p>
        </p:txBody>
      </p:sp>
      <p:sp>
        <p:nvSpPr>
          <p:cNvPr id="11" name="Text 9"/>
          <p:cNvSpPr txBox="1"/>
          <p:nvPr/>
        </p:nvSpPr>
        <p:spPr>
          <a:xfrm>
            <a:off x="502920" y="3986784"/>
            <a:ext cx="2441448" cy="731520"/>
          </a:xfrm>
          <a:prstGeom prst="rect">
            <a:avLst/>
          </a:prstGeom>
          <a:noFill/>
          <a:ln/>
        </p:spPr>
        <p:txBody>
          <a:bodyPr wrap="square" lIns="0" tIns="0" rIns="0" bIns="0" rtlCol="0" anchor="ctr"/>
          <a:lstStyle/>
          <a:p>
            <a:pPr marL="0" indent="0">
              <a:buNone/>
            </a:pPr>
            <a:r>
              <a:rPr lang="en-US" sz="1100" b="1" dirty="0">
                <a:solidFill>
                  <a:srgbClr val="E66C64"/>
                </a:solidFill>
                <a:latin typeface="游ゴシック" pitchFamily="34" charset="0"/>
                <a:ea typeface="游ゴシック" pitchFamily="34" charset="-122"/>
                <a:cs typeface="游ゴシック" pitchFamily="34" charset="-120"/>
              </a:rPr>
              <a:t>高い　</a:t>
            </a:r>
            <a:r>
              <a:rPr lang="en-US" sz="1100" dirty="0">
                <a:solidFill>
                  <a:srgbClr val="172033"/>
                </a:solidFill>
                <a:latin typeface="游ゴシック" pitchFamily="34" charset="0"/>
                <a:ea typeface="游ゴシック" pitchFamily="34" charset="-122"/>
                <a:cs typeface="游ゴシック" pitchFamily="34" charset="-120"/>
              </a:rPr>
              <a:t>勤務日32日間中3日間で低い。平均＋0.63℃（95％区間＋0.39〜＋0.85℃）</a:t>
            </a:r>
            <a:endParaRPr lang="en-US" sz="1100" dirty="0"/>
          </a:p>
        </p:txBody>
      </p:sp>
      <p:sp>
        <p:nvSpPr>
          <p:cNvPr id="12" name="Text 10"/>
          <p:cNvSpPr txBox="1"/>
          <p:nvPr/>
        </p:nvSpPr>
        <p:spPr>
          <a:xfrm>
            <a:off x="3214116" y="1298448"/>
            <a:ext cx="2715768" cy="201168"/>
          </a:xfrm>
          <a:prstGeom prst="rect">
            <a:avLst/>
          </a:prstGeom>
          <a:noFill/>
          <a:ln/>
        </p:spPr>
        <p:txBody>
          <a:bodyPr wrap="square" lIns="0" tIns="0" rIns="0" bIns="0" rtlCol="0" anchor="ctr"/>
          <a:lstStyle/>
          <a:p>
            <a:pPr marL="0" indent="0">
              <a:buNone/>
            </a:pPr>
            <a:r>
              <a:rPr lang="en-US" sz="950" b="1" dirty="0">
                <a:solidFill>
                  <a:srgbClr val="01B8AA"/>
                </a:solidFill>
                <a:latin typeface="游ゴシック" pitchFamily="34" charset="0"/>
                <a:ea typeface="游ゴシック" pitchFamily="34" charset="-122"/>
                <a:cs typeface="游ゴシック" pitchFamily="34" charset="-120"/>
              </a:rPr>
              <a:t>8-2 と 3-2　区画2（中央）</a:t>
            </a:r>
            <a:endParaRPr lang="en-US" sz="950" dirty="0"/>
          </a:p>
        </p:txBody>
      </p:sp>
      <p:sp>
        <p:nvSpPr>
          <p:cNvPr id="15" name="Shape 13"/>
          <p:cNvSpPr/>
          <p:nvPr/>
        </p:nvSpPr>
        <p:spPr>
          <a:xfrm>
            <a:off x="3214116" y="3986784"/>
            <a:ext cx="2715768" cy="731520"/>
          </a:xfrm>
          <a:prstGeom prst="roundRect">
            <a:avLst>
              <a:gd name="adj" fmla="val 7500"/>
            </a:avLst>
          </a:prstGeom>
          <a:solidFill>
            <a:srgbClr val="E4F7F4"/>
          </a:solidFill>
          <a:ln w="12700">
            <a:solidFill>
              <a:srgbClr val="E4F7F4"/>
            </a:solidFill>
            <a:prstDash val="solid"/>
          </a:ln>
        </p:spPr>
        <p:txBody>
          <a:bodyPr/>
          <a:lstStyle/>
          <a:p>
            <a:endParaRPr lang="ja-JP" altLang="en-US"/>
          </a:p>
        </p:txBody>
      </p:sp>
      <p:sp>
        <p:nvSpPr>
          <p:cNvPr id="16" name="Text 14"/>
          <p:cNvSpPr txBox="1"/>
          <p:nvPr/>
        </p:nvSpPr>
        <p:spPr>
          <a:xfrm>
            <a:off x="3351276" y="3986784"/>
            <a:ext cx="2441448" cy="731520"/>
          </a:xfrm>
          <a:prstGeom prst="rect">
            <a:avLst/>
          </a:prstGeom>
          <a:noFill/>
          <a:ln/>
        </p:spPr>
        <p:txBody>
          <a:bodyPr wrap="square" lIns="0" tIns="0" rIns="0" bIns="0" rtlCol="0" anchor="ctr"/>
          <a:lstStyle/>
          <a:p>
            <a:pPr marL="0" indent="0">
              <a:buNone/>
            </a:pPr>
            <a:r>
              <a:rPr lang="en-US" sz="1100" b="1" dirty="0">
                <a:solidFill>
                  <a:srgbClr val="01B8AA"/>
                </a:solidFill>
                <a:latin typeface="游ゴシック" pitchFamily="34" charset="0"/>
                <a:ea typeface="游ゴシック" pitchFamily="34" charset="-122"/>
                <a:cs typeface="游ゴシック" pitchFamily="34" charset="-120"/>
              </a:rPr>
              <a:t>低い　</a:t>
            </a:r>
            <a:r>
              <a:rPr lang="en-US" sz="1100" dirty="0">
                <a:solidFill>
                  <a:srgbClr val="172033"/>
                </a:solidFill>
                <a:latin typeface="游ゴシック" pitchFamily="34" charset="0"/>
                <a:ea typeface="游ゴシック" pitchFamily="34" charset="-122"/>
                <a:cs typeface="游ゴシック" pitchFamily="34" charset="-120"/>
              </a:rPr>
              <a:t>勤務日32日間中26日間で低い。平均−0.38℃（95％区間−0.60〜−0.19℃）</a:t>
            </a:r>
            <a:endParaRPr lang="en-US" sz="1100" dirty="0"/>
          </a:p>
        </p:txBody>
      </p:sp>
      <p:sp>
        <p:nvSpPr>
          <p:cNvPr id="17" name="Text 15"/>
          <p:cNvSpPr txBox="1"/>
          <p:nvPr/>
        </p:nvSpPr>
        <p:spPr>
          <a:xfrm>
            <a:off x="6062472" y="1298448"/>
            <a:ext cx="2715768" cy="201168"/>
          </a:xfrm>
          <a:prstGeom prst="rect">
            <a:avLst/>
          </a:prstGeom>
          <a:noFill/>
          <a:ln/>
        </p:spPr>
        <p:txBody>
          <a:bodyPr wrap="square" lIns="0" tIns="0" rIns="0" bIns="0" rtlCol="0" anchor="ctr"/>
          <a:lstStyle/>
          <a:p>
            <a:pPr marL="0" indent="0">
              <a:buNone/>
            </a:pPr>
            <a:r>
              <a:rPr lang="en-US" sz="950" b="1" dirty="0">
                <a:solidFill>
                  <a:srgbClr val="01B8AA"/>
                </a:solidFill>
                <a:latin typeface="游ゴシック" pitchFamily="34" charset="0"/>
                <a:ea typeface="游ゴシック" pitchFamily="34" charset="-122"/>
                <a:cs typeface="游ゴシック" pitchFamily="34" charset="-120"/>
              </a:rPr>
              <a:t>8-3 と 3-3　区画3（右）</a:t>
            </a:r>
            <a:endParaRPr lang="en-US" sz="950" dirty="0"/>
          </a:p>
        </p:txBody>
      </p:sp>
      <p:sp>
        <p:nvSpPr>
          <p:cNvPr id="20" name="Shape 18"/>
          <p:cNvSpPr/>
          <p:nvPr/>
        </p:nvSpPr>
        <p:spPr>
          <a:xfrm>
            <a:off x="6062472" y="3986784"/>
            <a:ext cx="2715768" cy="731520"/>
          </a:xfrm>
          <a:prstGeom prst="roundRect">
            <a:avLst>
              <a:gd name="adj" fmla="val 7500"/>
            </a:avLst>
          </a:prstGeom>
          <a:solidFill>
            <a:srgbClr val="E4F7F4"/>
          </a:solidFill>
          <a:ln w="12700">
            <a:solidFill>
              <a:srgbClr val="E4F7F4"/>
            </a:solidFill>
            <a:prstDash val="solid"/>
          </a:ln>
        </p:spPr>
        <p:txBody>
          <a:bodyPr/>
          <a:lstStyle/>
          <a:p>
            <a:endParaRPr lang="ja-JP" altLang="en-US"/>
          </a:p>
        </p:txBody>
      </p:sp>
      <p:sp>
        <p:nvSpPr>
          <p:cNvPr id="21" name="Text 19"/>
          <p:cNvSpPr txBox="1"/>
          <p:nvPr/>
        </p:nvSpPr>
        <p:spPr>
          <a:xfrm>
            <a:off x="6199632" y="3986784"/>
            <a:ext cx="2441448" cy="731520"/>
          </a:xfrm>
          <a:prstGeom prst="rect">
            <a:avLst/>
          </a:prstGeom>
          <a:noFill/>
          <a:ln/>
        </p:spPr>
        <p:txBody>
          <a:bodyPr wrap="square" lIns="0" tIns="0" rIns="0" bIns="0" rtlCol="0" anchor="ctr"/>
          <a:lstStyle/>
          <a:p>
            <a:pPr marL="0" indent="0">
              <a:buNone/>
            </a:pPr>
            <a:r>
              <a:rPr lang="en-US" sz="1100" b="1" dirty="0">
                <a:solidFill>
                  <a:srgbClr val="01B8AA"/>
                </a:solidFill>
                <a:latin typeface="游ゴシック" pitchFamily="34" charset="0"/>
                <a:ea typeface="游ゴシック" pitchFamily="34" charset="-122"/>
                <a:cs typeface="游ゴシック" pitchFamily="34" charset="-120"/>
              </a:rPr>
              <a:t>低い　</a:t>
            </a:r>
            <a:r>
              <a:rPr lang="en-US" sz="1100" dirty="0">
                <a:solidFill>
                  <a:srgbClr val="172033"/>
                </a:solidFill>
                <a:latin typeface="游ゴシック" pitchFamily="34" charset="0"/>
                <a:ea typeface="游ゴシック" pitchFamily="34" charset="-122"/>
                <a:cs typeface="游ゴシック" pitchFamily="34" charset="-120"/>
              </a:rPr>
              <a:t>勤務日32日間中28日間で低い。平均−0.42℃（95％区間−0.63〜−0.24℃）</a:t>
            </a:r>
            <a:endParaRPr lang="en-US" sz="11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12</a:t>
            </a:fld>
            <a:endParaRPr lang="en-US"/>
          </a:p>
        </p:txBody>
      </p:sp>
      <p:graphicFrame>
        <p:nvGraphicFramePr>
          <p:cNvPr id="26" name="グラフ k8_1_t"/>
          <p:cNvGraphicFramePr>
            <a:graphicFrameLocks noGrp="1"/>
          </p:cNvGraphicFramePr>
          <p:nvPr/>
        </p:nvGraphicFramePr>
        <p:xfrm>
          <a:off x="365760" y="1499616"/>
          <a:ext cx="2715768" cy="12801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7" name="グラフ k8_1_b"/>
          <p:cNvGraphicFramePr>
            <a:graphicFrameLocks noGrp="1"/>
          </p:cNvGraphicFramePr>
          <p:nvPr/>
        </p:nvGraphicFramePr>
        <p:xfrm>
          <a:off x="365760" y="2779776"/>
          <a:ext cx="2715768" cy="1143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8" name="グラフ k8_2_t"/>
          <p:cNvGraphicFramePr>
            <a:graphicFrameLocks noGrp="1"/>
          </p:cNvGraphicFramePr>
          <p:nvPr/>
        </p:nvGraphicFramePr>
        <p:xfrm>
          <a:off x="3214116" y="1499616"/>
          <a:ext cx="2715768" cy="128016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9" name="グラフ k8_2_b"/>
          <p:cNvGraphicFramePr>
            <a:graphicFrameLocks noGrp="1"/>
          </p:cNvGraphicFramePr>
          <p:nvPr/>
        </p:nvGraphicFramePr>
        <p:xfrm>
          <a:off x="3214116" y="2779776"/>
          <a:ext cx="2715768" cy="11430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0" name="グラフ k8_3_t"/>
          <p:cNvGraphicFramePr>
            <a:graphicFrameLocks noGrp="1"/>
          </p:cNvGraphicFramePr>
          <p:nvPr/>
        </p:nvGraphicFramePr>
        <p:xfrm>
          <a:off x="6062472" y="1499616"/>
          <a:ext cx="2715768" cy="128016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31" name="グラフ k8_3_b"/>
          <p:cNvGraphicFramePr>
            <a:graphicFrameLocks noGrp="1"/>
          </p:cNvGraphicFramePr>
          <p:nvPr/>
        </p:nvGraphicFramePr>
        <p:xfrm>
          <a:off x="6062472" y="2779776"/>
          <a:ext cx="2715768" cy="1143000"/>
        </p:xfrm>
        <a:graphic>
          <a:graphicData uri="http://schemas.openxmlformats.org/drawingml/2006/chart">
            <c:chart xmlns:c="http://schemas.openxmlformats.org/drawingml/2006/chart" xmlns:r="http://schemas.openxmlformats.org/officeDocument/2006/relationships" r:id="rId8"/>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分析3：列11の区画ごとの吸気温度</a:t>
            </a:r>
            <a:endParaRPr lang="en-US" sz="2000" dirty="0"/>
          </a:p>
        </p:txBody>
      </p:sp>
      <p:sp>
        <p:nvSpPr>
          <p:cNvPr id="3" name="Shape 1"/>
          <p:cNvSpPr/>
          <p:nvPr/>
        </p:nvSpPr>
        <p:spPr>
          <a:xfrm>
            <a:off x="7726680" y="155448"/>
            <a:ext cx="1097280" cy="274320"/>
          </a:xfrm>
          <a:prstGeom prst="roundRect">
            <a:avLst>
              <a:gd name="adj" fmla="val 26667"/>
            </a:avLst>
          </a:prstGeom>
          <a:solidFill>
            <a:srgbClr val="E66C64"/>
          </a:solidFill>
          <a:ln w="12700">
            <a:solidFill>
              <a:srgbClr val="E66C6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主分析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同じ列11の中で、どの区画の吸気温度が列3より下がっているかを見る</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列11と列3の同じ区画どうしを比べる。3方位（区画3は2方位）平均の日中平均。上段：吸気温度、下段：吸気温度差</a:t>
            </a:r>
            <a:endParaRPr lang="en-US" sz="1050" dirty="0"/>
          </a:p>
        </p:txBody>
      </p:sp>
      <p:sp>
        <p:nvSpPr>
          <p:cNvPr id="7" name="Text 5"/>
          <p:cNvSpPr txBox="1"/>
          <p:nvPr/>
        </p:nvSpPr>
        <p:spPr>
          <a:xfrm>
            <a:off x="365760" y="1298448"/>
            <a:ext cx="2715768" cy="201168"/>
          </a:xfrm>
          <a:prstGeom prst="rect">
            <a:avLst/>
          </a:prstGeom>
          <a:noFill/>
          <a:ln/>
        </p:spPr>
        <p:txBody>
          <a:bodyPr wrap="square" lIns="0" tIns="0" rIns="0" bIns="0" rtlCol="0" anchor="ctr"/>
          <a:lstStyle/>
          <a:p>
            <a:pPr marL="0" indent="0">
              <a:buNone/>
            </a:pPr>
            <a:r>
              <a:rPr lang="en-US" sz="950" b="1" dirty="0">
                <a:solidFill>
                  <a:srgbClr val="118DFF"/>
                </a:solidFill>
                <a:latin typeface="游ゴシック" pitchFamily="34" charset="0"/>
                <a:ea typeface="游ゴシック" pitchFamily="34" charset="-122"/>
                <a:cs typeface="游ゴシック" pitchFamily="34" charset="-120"/>
              </a:rPr>
              <a:t>11-1 と 3-1　区画1（左）</a:t>
            </a:r>
            <a:endParaRPr lang="en-US" sz="950" dirty="0"/>
          </a:p>
        </p:txBody>
      </p:sp>
      <p:sp>
        <p:nvSpPr>
          <p:cNvPr id="10" name="Shape 8"/>
          <p:cNvSpPr/>
          <p:nvPr/>
        </p:nvSpPr>
        <p:spPr>
          <a:xfrm>
            <a:off x="365760" y="3986784"/>
            <a:ext cx="2715768" cy="731520"/>
          </a:xfrm>
          <a:prstGeom prst="roundRect">
            <a:avLst>
              <a:gd name="adj" fmla="val 7500"/>
            </a:avLst>
          </a:prstGeom>
          <a:solidFill>
            <a:srgbClr val="FDE8E6"/>
          </a:solidFill>
          <a:ln w="12700">
            <a:solidFill>
              <a:srgbClr val="FDE8E6"/>
            </a:solidFill>
            <a:prstDash val="solid"/>
          </a:ln>
        </p:spPr>
        <p:txBody>
          <a:bodyPr/>
          <a:lstStyle/>
          <a:p>
            <a:endParaRPr lang="ja-JP" altLang="en-US"/>
          </a:p>
        </p:txBody>
      </p:sp>
      <p:sp>
        <p:nvSpPr>
          <p:cNvPr id="11" name="Text 9"/>
          <p:cNvSpPr txBox="1"/>
          <p:nvPr/>
        </p:nvSpPr>
        <p:spPr>
          <a:xfrm>
            <a:off x="502920" y="3986784"/>
            <a:ext cx="2441448" cy="731520"/>
          </a:xfrm>
          <a:prstGeom prst="rect">
            <a:avLst/>
          </a:prstGeom>
          <a:noFill/>
          <a:ln/>
        </p:spPr>
        <p:txBody>
          <a:bodyPr wrap="square" lIns="0" tIns="0" rIns="0" bIns="0" rtlCol="0" anchor="ctr"/>
          <a:lstStyle/>
          <a:p>
            <a:pPr marL="0" indent="0">
              <a:buNone/>
            </a:pPr>
            <a:r>
              <a:rPr lang="en-US" sz="1100" b="1" dirty="0">
                <a:solidFill>
                  <a:srgbClr val="E66C64"/>
                </a:solidFill>
                <a:latin typeface="游ゴシック" pitchFamily="34" charset="0"/>
                <a:ea typeface="游ゴシック" pitchFamily="34" charset="-122"/>
                <a:cs typeface="游ゴシック" pitchFamily="34" charset="-120"/>
              </a:rPr>
              <a:t>高い　</a:t>
            </a:r>
            <a:r>
              <a:rPr lang="en-US" sz="1100" dirty="0">
                <a:solidFill>
                  <a:srgbClr val="172033"/>
                </a:solidFill>
                <a:latin typeface="游ゴシック" pitchFamily="34" charset="0"/>
                <a:ea typeface="游ゴシック" pitchFamily="34" charset="-122"/>
                <a:cs typeface="游ゴシック" pitchFamily="34" charset="-120"/>
              </a:rPr>
              <a:t>勤務日32日間中9日間で低い。平均＋0.13℃（95％区間−0.08〜＋0.29℃）</a:t>
            </a:r>
            <a:endParaRPr lang="en-US" sz="1100" dirty="0"/>
          </a:p>
        </p:txBody>
      </p:sp>
      <p:sp>
        <p:nvSpPr>
          <p:cNvPr id="12" name="Text 10"/>
          <p:cNvSpPr txBox="1"/>
          <p:nvPr/>
        </p:nvSpPr>
        <p:spPr>
          <a:xfrm>
            <a:off x="3214116" y="1298448"/>
            <a:ext cx="2715768" cy="201168"/>
          </a:xfrm>
          <a:prstGeom prst="rect">
            <a:avLst/>
          </a:prstGeom>
          <a:noFill/>
          <a:ln/>
        </p:spPr>
        <p:txBody>
          <a:bodyPr wrap="square" lIns="0" tIns="0" rIns="0" bIns="0" rtlCol="0" anchor="ctr"/>
          <a:lstStyle/>
          <a:p>
            <a:pPr marL="0" indent="0">
              <a:buNone/>
            </a:pPr>
            <a:r>
              <a:rPr lang="en-US" sz="950" b="1" dirty="0">
                <a:solidFill>
                  <a:srgbClr val="118DFF"/>
                </a:solidFill>
                <a:latin typeface="游ゴシック" pitchFamily="34" charset="0"/>
                <a:ea typeface="游ゴシック" pitchFamily="34" charset="-122"/>
                <a:cs typeface="游ゴシック" pitchFamily="34" charset="-120"/>
              </a:rPr>
              <a:t>11-2 と 3-2　区画2（中央）</a:t>
            </a:r>
            <a:endParaRPr lang="en-US" sz="950" dirty="0"/>
          </a:p>
        </p:txBody>
      </p:sp>
      <p:sp>
        <p:nvSpPr>
          <p:cNvPr id="15" name="Shape 13"/>
          <p:cNvSpPr/>
          <p:nvPr/>
        </p:nvSpPr>
        <p:spPr>
          <a:xfrm>
            <a:off x="3214116" y="3986784"/>
            <a:ext cx="2715768" cy="731520"/>
          </a:xfrm>
          <a:prstGeom prst="roundRect">
            <a:avLst>
              <a:gd name="adj" fmla="val 7500"/>
            </a:avLst>
          </a:prstGeom>
          <a:solidFill>
            <a:srgbClr val="EAF4FF"/>
          </a:solidFill>
          <a:ln w="12700">
            <a:solidFill>
              <a:srgbClr val="EAF4FF"/>
            </a:solidFill>
            <a:prstDash val="solid"/>
          </a:ln>
        </p:spPr>
        <p:txBody>
          <a:bodyPr/>
          <a:lstStyle/>
          <a:p>
            <a:endParaRPr lang="ja-JP" altLang="en-US"/>
          </a:p>
        </p:txBody>
      </p:sp>
      <p:sp>
        <p:nvSpPr>
          <p:cNvPr id="16" name="Text 14"/>
          <p:cNvSpPr txBox="1"/>
          <p:nvPr/>
        </p:nvSpPr>
        <p:spPr>
          <a:xfrm>
            <a:off x="3351276" y="3986784"/>
            <a:ext cx="2441448" cy="731520"/>
          </a:xfrm>
          <a:prstGeom prst="rect">
            <a:avLst/>
          </a:prstGeom>
          <a:noFill/>
          <a:ln/>
        </p:spPr>
        <p:txBody>
          <a:bodyPr wrap="square" lIns="0" tIns="0" rIns="0" bIns="0" rtlCol="0" anchor="ctr"/>
          <a:lstStyle/>
          <a:p>
            <a:pPr marL="0" indent="0">
              <a:buNone/>
            </a:pPr>
            <a:r>
              <a:rPr lang="en-US" sz="1100" b="1" dirty="0">
                <a:solidFill>
                  <a:srgbClr val="118DFF"/>
                </a:solidFill>
                <a:latin typeface="游ゴシック" pitchFamily="34" charset="0"/>
                <a:ea typeface="游ゴシック" pitchFamily="34" charset="-122"/>
                <a:cs typeface="游ゴシック" pitchFamily="34" charset="-120"/>
              </a:rPr>
              <a:t>低い　</a:t>
            </a:r>
            <a:r>
              <a:rPr lang="en-US" sz="1100" dirty="0">
                <a:solidFill>
                  <a:srgbClr val="172033"/>
                </a:solidFill>
                <a:latin typeface="游ゴシック" pitchFamily="34" charset="0"/>
                <a:ea typeface="游ゴシック" pitchFamily="34" charset="-122"/>
                <a:cs typeface="游ゴシック" pitchFamily="34" charset="-120"/>
              </a:rPr>
              <a:t>勤務日32日間中32日間で低い。平均−0.59℃（95％区間−0.68〜−0.49℃）</a:t>
            </a:r>
            <a:endParaRPr lang="en-US" sz="1100" dirty="0"/>
          </a:p>
        </p:txBody>
      </p:sp>
      <p:sp>
        <p:nvSpPr>
          <p:cNvPr id="17" name="Text 15"/>
          <p:cNvSpPr txBox="1"/>
          <p:nvPr/>
        </p:nvSpPr>
        <p:spPr>
          <a:xfrm>
            <a:off x="6062472" y="1298448"/>
            <a:ext cx="2715768" cy="201168"/>
          </a:xfrm>
          <a:prstGeom prst="rect">
            <a:avLst/>
          </a:prstGeom>
          <a:noFill/>
          <a:ln/>
        </p:spPr>
        <p:txBody>
          <a:bodyPr wrap="square" lIns="0" tIns="0" rIns="0" bIns="0" rtlCol="0" anchor="ctr"/>
          <a:lstStyle/>
          <a:p>
            <a:pPr marL="0" indent="0">
              <a:buNone/>
            </a:pPr>
            <a:r>
              <a:rPr lang="en-US" sz="950" b="1" dirty="0">
                <a:solidFill>
                  <a:srgbClr val="118DFF"/>
                </a:solidFill>
                <a:latin typeface="游ゴシック" pitchFamily="34" charset="0"/>
                <a:ea typeface="游ゴシック" pitchFamily="34" charset="-122"/>
                <a:cs typeface="游ゴシック" pitchFamily="34" charset="-120"/>
              </a:rPr>
              <a:t>11-3 と 3-3　区画3（右）</a:t>
            </a:r>
            <a:endParaRPr lang="en-US" sz="950" dirty="0"/>
          </a:p>
        </p:txBody>
      </p:sp>
      <p:sp>
        <p:nvSpPr>
          <p:cNvPr id="20" name="Shape 18"/>
          <p:cNvSpPr/>
          <p:nvPr/>
        </p:nvSpPr>
        <p:spPr>
          <a:xfrm>
            <a:off x="6062472" y="3986784"/>
            <a:ext cx="2715768" cy="731520"/>
          </a:xfrm>
          <a:prstGeom prst="roundRect">
            <a:avLst>
              <a:gd name="adj" fmla="val 7500"/>
            </a:avLst>
          </a:prstGeom>
          <a:solidFill>
            <a:srgbClr val="EAF4FF"/>
          </a:solidFill>
          <a:ln w="12700">
            <a:solidFill>
              <a:srgbClr val="EAF4FF"/>
            </a:solidFill>
            <a:prstDash val="solid"/>
          </a:ln>
        </p:spPr>
        <p:txBody>
          <a:bodyPr/>
          <a:lstStyle/>
          <a:p>
            <a:endParaRPr lang="ja-JP" altLang="en-US"/>
          </a:p>
        </p:txBody>
      </p:sp>
      <p:sp>
        <p:nvSpPr>
          <p:cNvPr id="21" name="Text 19"/>
          <p:cNvSpPr txBox="1"/>
          <p:nvPr/>
        </p:nvSpPr>
        <p:spPr>
          <a:xfrm>
            <a:off x="6199632" y="3986784"/>
            <a:ext cx="2441448" cy="731520"/>
          </a:xfrm>
          <a:prstGeom prst="rect">
            <a:avLst/>
          </a:prstGeom>
          <a:noFill/>
          <a:ln/>
        </p:spPr>
        <p:txBody>
          <a:bodyPr wrap="square" lIns="0" tIns="0" rIns="0" bIns="0" rtlCol="0" anchor="ctr"/>
          <a:lstStyle/>
          <a:p>
            <a:pPr marL="0" indent="0">
              <a:buNone/>
            </a:pPr>
            <a:r>
              <a:rPr lang="en-US" sz="1100" b="1" dirty="0">
                <a:solidFill>
                  <a:srgbClr val="118DFF"/>
                </a:solidFill>
                <a:latin typeface="游ゴシック" pitchFamily="34" charset="0"/>
                <a:ea typeface="游ゴシック" pitchFamily="34" charset="-122"/>
                <a:cs typeface="游ゴシック" pitchFamily="34" charset="-120"/>
              </a:rPr>
              <a:t>低い　</a:t>
            </a:r>
            <a:r>
              <a:rPr lang="en-US" sz="1100" dirty="0">
                <a:solidFill>
                  <a:srgbClr val="172033"/>
                </a:solidFill>
                <a:latin typeface="游ゴシック" pitchFamily="34" charset="0"/>
                <a:ea typeface="游ゴシック" pitchFamily="34" charset="-122"/>
                <a:cs typeface="游ゴシック" pitchFamily="34" charset="-120"/>
              </a:rPr>
              <a:t>勤務日32日間中28日間で低い。平均−0.36℃（95％区間−0.50〜−0.24℃）</a:t>
            </a:r>
            <a:endParaRPr lang="en-US" sz="11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13</a:t>
            </a:fld>
            <a:endParaRPr lang="en-US"/>
          </a:p>
        </p:txBody>
      </p:sp>
      <p:graphicFrame>
        <p:nvGraphicFramePr>
          <p:cNvPr id="26" name="グラフ k11_1_t"/>
          <p:cNvGraphicFramePr>
            <a:graphicFrameLocks noGrp="1"/>
          </p:cNvGraphicFramePr>
          <p:nvPr/>
        </p:nvGraphicFramePr>
        <p:xfrm>
          <a:off x="365760" y="1499616"/>
          <a:ext cx="2715768" cy="12801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7" name="グラフ k11_1_b"/>
          <p:cNvGraphicFramePr>
            <a:graphicFrameLocks noGrp="1"/>
          </p:cNvGraphicFramePr>
          <p:nvPr/>
        </p:nvGraphicFramePr>
        <p:xfrm>
          <a:off x="365760" y="2779776"/>
          <a:ext cx="2715768" cy="1143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8" name="グラフ k11_2_t"/>
          <p:cNvGraphicFramePr>
            <a:graphicFrameLocks noGrp="1"/>
          </p:cNvGraphicFramePr>
          <p:nvPr/>
        </p:nvGraphicFramePr>
        <p:xfrm>
          <a:off x="3214116" y="1499616"/>
          <a:ext cx="2715768" cy="128016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9" name="グラフ k11_2_b"/>
          <p:cNvGraphicFramePr>
            <a:graphicFrameLocks noGrp="1"/>
          </p:cNvGraphicFramePr>
          <p:nvPr/>
        </p:nvGraphicFramePr>
        <p:xfrm>
          <a:off x="3214116" y="2779776"/>
          <a:ext cx="2715768" cy="11430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30" name="グラフ k11_3_t"/>
          <p:cNvGraphicFramePr>
            <a:graphicFrameLocks noGrp="1"/>
          </p:cNvGraphicFramePr>
          <p:nvPr/>
        </p:nvGraphicFramePr>
        <p:xfrm>
          <a:off x="6062472" y="1499616"/>
          <a:ext cx="2715768" cy="128016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31" name="グラフ k11_3_b"/>
          <p:cNvGraphicFramePr>
            <a:graphicFrameLocks noGrp="1"/>
          </p:cNvGraphicFramePr>
          <p:nvPr/>
        </p:nvGraphicFramePr>
        <p:xfrm>
          <a:off x="6062472" y="2779776"/>
          <a:ext cx="2715768" cy="1143000"/>
        </p:xfrm>
        <a:graphic>
          <a:graphicData uri="http://schemas.openxmlformats.org/drawingml/2006/chart">
            <c:chart xmlns:c="http://schemas.openxmlformats.org/drawingml/2006/chart" xmlns:r="http://schemas.openxmlformats.org/officeDocument/2006/relationships" r:id="rId8"/>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分析3：区画ごとの吸気温度差の分布と結論</a:t>
            </a:r>
            <a:endParaRPr lang="en-US" sz="2000" dirty="0"/>
          </a:p>
        </p:txBody>
      </p:sp>
      <p:sp>
        <p:nvSpPr>
          <p:cNvPr id="3" name="Shape 1"/>
          <p:cNvSpPr/>
          <p:nvPr/>
        </p:nvSpPr>
        <p:spPr>
          <a:xfrm>
            <a:off x="7726680" y="155448"/>
            <a:ext cx="1097280" cy="274320"/>
          </a:xfrm>
          <a:prstGeom prst="roundRect">
            <a:avLst>
              <a:gd name="adj" fmla="val 26667"/>
            </a:avLst>
          </a:prstGeom>
          <a:solidFill>
            <a:srgbClr val="E66C64"/>
          </a:solidFill>
          <a:ln w="12700">
            <a:solidFill>
              <a:srgbClr val="E66C6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主分析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同じ列の中で、どの区画の吸気温度の低減効果が最も大きいかを確かめる</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勤務日の日中（9〜17時台）の1時間平均の吸気温度差を、区画ごとに箱ひげ図にした（1つの箱＝約280時間）</a:t>
            </a:r>
            <a:endParaRPr lang="en-US" sz="1050" dirty="0"/>
          </a:p>
        </p:txBody>
      </p:sp>
      <p:sp>
        <p:nvSpPr>
          <p:cNvPr id="7" name="Text 5"/>
          <p:cNvSpPr txBox="1"/>
          <p:nvPr/>
        </p:nvSpPr>
        <p:spPr>
          <a:xfrm>
            <a:off x="365760" y="1325880"/>
            <a:ext cx="5074920" cy="201168"/>
          </a:xfrm>
          <a:prstGeom prst="rect">
            <a:avLst/>
          </a:prstGeom>
          <a:noFill/>
          <a:ln/>
        </p:spPr>
        <p:txBody>
          <a:bodyPr wrap="square" lIns="0" tIns="0" rIns="0" bIns="0" rtlCol="0" anchor="ctr"/>
          <a:lstStyle/>
          <a:p>
            <a:pPr marL="0" indent="0">
              <a:buNone/>
            </a:pPr>
            <a:r>
              <a:rPr lang="en-US" sz="950" b="1" dirty="0">
                <a:solidFill>
                  <a:srgbClr val="01B8AA"/>
                </a:solidFill>
                <a:latin typeface="游ゴシック" pitchFamily="34" charset="0"/>
                <a:ea typeface="游ゴシック" pitchFamily="34" charset="-122"/>
                <a:cs typeface="游ゴシック" pitchFamily="34" charset="-120"/>
              </a:rPr>
              <a:t>列8</a:t>
            </a:r>
            <a:endParaRPr lang="en-US" sz="950" dirty="0"/>
          </a:p>
        </p:txBody>
      </p:sp>
      <p:sp>
        <p:nvSpPr>
          <p:cNvPr id="9" name="Text 7"/>
          <p:cNvSpPr txBox="1"/>
          <p:nvPr/>
        </p:nvSpPr>
        <p:spPr>
          <a:xfrm>
            <a:off x="365760" y="3054096"/>
            <a:ext cx="5074920" cy="201168"/>
          </a:xfrm>
          <a:prstGeom prst="rect">
            <a:avLst/>
          </a:prstGeom>
          <a:noFill/>
          <a:ln/>
        </p:spPr>
        <p:txBody>
          <a:bodyPr wrap="square" lIns="0" tIns="0" rIns="0" bIns="0" rtlCol="0" anchor="ctr"/>
          <a:lstStyle/>
          <a:p>
            <a:pPr marL="0" indent="0">
              <a:buNone/>
            </a:pPr>
            <a:r>
              <a:rPr lang="en-US" sz="950" b="1" dirty="0">
                <a:solidFill>
                  <a:srgbClr val="118DFF"/>
                </a:solidFill>
                <a:latin typeface="游ゴシック" pitchFamily="34" charset="0"/>
                <a:ea typeface="游ゴシック" pitchFamily="34" charset="-122"/>
                <a:cs typeface="游ゴシック" pitchFamily="34" charset="-120"/>
              </a:rPr>
              <a:t>列11</a:t>
            </a:r>
            <a:endParaRPr lang="en-US" sz="950" dirty="0"/>
          </a:p>
        </p:txBody>
      </p:sp>
      <p:sp>
        <p:nvSpPr>
          <p:cNvPr id="11" name="Shape 9"/>
          <p:cNvSpPr/>
          <p:nvPr/>
        </p:nvSpPr>
        <p:spPr>
          <a:xfrm>
            <a:off x="5577840" y="1325880"/>
            <a:ext cx="3200400" cy="2350008"/>
          </a:xfrm>
          <a:prstGeom prst="roundRect">
            <a:avLst>
              <a:gd name="adj" fmla="val 2335"/>
            </a:avLst>
          </a:prstGeom>
          <a:solidFill>
            <a:srgbClr val="EAF4FF"/>
          </a:solidFill>
          <a:ln w="12700">
            <a:solidFill>
              <a:srgbClr val="EAF4FF"/>
            </a:solidFill>
            <a:prstDash val="solid"/>
          </a:ln>
        </p:spPr>
        <p:txBody>
          <a:bodyPr/>
          <a:lstStyle/>
          <a:p>
            <a:endParaRPr lang="ja-JP" altLang="en-US"/>
          </a:p>
        </p:txBody>
      </p:sp>
      <p:sp>
        <p:nvSpPr>
          <p:cNvPr id="12" name="Text 10"/>
          <p:cNvSpPr txBox="1"/>
          <p:nvPr/>
        </p:nvSpPr>
        <p:spPr>
          <a:xfrm>
            <a:off x="5715000" y="1399032"/>
            <a:ext cx="292608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a:t>
            </a:r>
            <a:endParaRPr lang="en-US" sz="1200" dirty="0"/>
          </a:p>
        </p:txBody>
      </p:sp>
      <p:sp>
        <p:nvSpPr>
          <p:cNvPr id="13" name="Text 11"/>
          <p:cNvSpPr txBox="1"/>
          <p:nvPr/>
        </p:nvSpPr>
        <p:spPr>
          <a:xfrm>
            <a:off x="5715000" y="1691640"/>
            <a:ext cx="2926080" cy="1920240"/>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172033"/>
                </a:solidFill>
                <a:latin typeface="游ゴシック" pitchFamily="34" charset="0"/>
                <a:ea typeface="游ゴシック" pitchFamily="34" charset="-122"/>
                <a:cs typeface="游ゴシック" pitchFamily="34" charset="-120"/>
              </a:rPr>
              <a:t>列8：区画1は中央値＋0.62℃で、90％の時間で列3より高い。区画2・3は−0.35・−0.39℃</a:t>
            </a:r>
            <a:endParaRPr lang="en-US" sz="950" dirty="0"/>
          </a:p>
          <a:p>
            <a:pPr marL="152400" indent="-152400">
              <a:spcAft>
                <a:spcPts val="300"/>
              </a:spcAft>
              <a:buSzPct val="100000"/>
              <a:buChar char="•"/>
            </a:pPr>
            <a:r>
              <a:rPr lang="en-US" sz="950" dirty="0">
                <a:solidFill>
                  <a:srgbClr val="172033"/>
                </a:solidFill>
                <a:latin typeface="游ゴシック" pitchFamily="34" charset="0"/>
                <a:ea typeface="游ゴシック" pitchFamily="34" charset="-122"/>
                <a:cs typeface="游ゴシック" pitchFamily="34" charset="-120"/>
              </a:rPr>
              <a:t>列11：区画2が最も低く中央値−0.55℃（92％の時間で低い）。区画3は−0.40℃、区画1は＋0.17℃</a:t>
            </a:r>
            <a:endParaRPr lang="en-US" sz="950" dirty="0"/>
          </a:p>
          <a:p>
            <a:pPr marL="152400" indent="-152400">
              <a:spcAft>
                <a:spcPts val="300"/>
              </a:spcAft>
              <a:buSzPct val="100000"/>
              <a:buChar char="•"/>
            </a:pPr>
            <a:r>
              <a:rPr lang="en-US" sz="950" dirty="0">
                <a:solidFill>
                  <a:srgbClr val="172033"/>
                </a:solidFill>
                <a:latin typeface="游ゴシック" pitchFamily="34" charset="0"/>
                <a:ea typeface="游ゴシック" pitchFamily="34" charset="-122"/>
                <a:cs typeface="游ゴシック" pitchFamily="34" charset="-120"/>
              </a:rPr>
              <a:t>区画どうしの差（日中平均）：列11の区画2−区画3は−0.22℃（区間−0.33〜−0.11）。列8は＋0.04℃で区間が0℃をまたぐ</a:t>
            </a:r>
            <a:endParaRPr lang="en-US" sz="950" dirty="0"/>
          </a:p>
          <a:p>
            <a:pPr marL="152400" indent="-152400">
              <a:spcAft>
                <a:spcPts val="300"/>
              </a:spcAft>
              <a:buSzPct val="100000"/>
              <a:buChar char="•"/>
            </a:pPr>
            <a:r>
              <a:rPr lang="en-US" sz="950" dirty="0">
                <a:solidFill>
                  <a:srgbClr val="172033"/>
                </a:solidFill>
                <a:latin typeface="游ゴシック" pitchFamily="34" charset="0"/>
                <a:ea typeface="游ゴシック" pitchFamily="34" charset="-122"/>
                <a:cs typeface="游ゴシック" pitchFamily="34" charset="-120"/>
              </a:rPr>
              <a:t>列8と列11を同じ区画で比べると、すべての区画で列8が高い（＋0.12〜＋0.50℃）</a:t>
            </a:r>
            <a:endParaRPr lang="en-US" sz="950" dirty="0"/>
          </a:p>
        </p:txBody>
      </p:sp>
      <p:sp>
        <p:nvSpPr>
          <p:cNvPr id="14" name="Shape 12"/>
          <p:cNvSpPr/>
          <p:nvPr/>
        </p:nvSpPr>
        <p:spPr>
          <a:xfrm>
            <a:off x="5577840" y="3767328"/>
            <a:ext cx="3200400" cy="960120"/>
          </a:xfrm>
          <a:prstGeom prst="roundRect">
            <a:avLst>
              <a:gd name="adj" fmla="val 5714"/>
            </a:avLst>
          </a:prstGeom>
          <a:solidFill>
            <a:srgbClr val="FFF7D1"/>
          </a:solidFill>
          <a:ln w="12700">
            <a:solidFill>
              <a:srgbClr val="FFF7D1"/>
            </a:solidFill>
            <a:prstDash val="solid"/>
          </a:ln>
        </p:spPr>
        <p:txBody>
          <a:bodyPr/>
          <a:lstStyle/>
          <a:p>
            <a:endParaRPr lang="ja-JP" altLang="en-US"/>
          </a:p>
        </p:txBody>
      </p:sp>
      <p:sp>
        <p:nvSpPr>
          <p:cNvPr id="15" name="Text 13"/>
          <p:cNvSpPr txBox="1"/>
          <p:nvPr/>
        </p:nvSpPr>
        <p:spPr>
          <a:xfrm>
            <a:off x="5715000" y="3813048"/>
            <a:ext cx="2926080" cy="868680"/>
          </a:xfrm>
          <a:prstGeom prst="rect">
            <a:avLst/>
          </a:prstGeom>
          <a:noFill/>
          <a:ln/>
        </p:spPr>
        <p:txBody>
          <a:bodyPr wrap="square" lIns="0" tIns="0" rIns="0" bIns="0" rtlCol="0" anchor="t"/>
          <a:lstStyle/>
          <a:p>
            <a:pPr marL="0" indent="0">
              <a:buNone/>
            </a:pPr>
            <a:r>
              <a:rPr lang="en-US" sz="950" b="1" dirty="0">
                <a:solidFill>
                  <a:srgbClr val="ED7D31"/>
                </a:solidFill>
                <a:latin typeface="游ゴシック" pitchFamily="34" charset="0"/>
                <a:ea typeface="游ゴシック" pitchFamily="34" charset="-122"/>
                <a:cs typeface="游ゴシック" pitchFamily="34" charset="-120"/>
              </a:rPr>
              <a:t>読み取り</a:t>
            </a:r>
            <a:endParaRPr lang="en-US" sz="950" dirty="0"/>
          </a:p>
          <a:p>
            <a:pPr marL="0" indent="0">
              <a:buNone/>
            </a:pPr>
            <a:r>
              <a:rPr lang="en-US" sz="950" dirty="0">
                <a:solidFill>
                  <a:srgbClr val="172033"/>
                </a:solidFill>
                <a:latin typeface="游ゴシック" pitchFamily="34" charset="0"/>
                <a:ea typeface="游ゴシック" pitchFamily="34" charset="-122"/>
                <a:cs typeface="游ゴシック" pitchFamily="34" charset="-120"/>
              </a:rPr>
              <a:t>最も低減効果が大きいのは、列11は中央の区画2、列8は中央・右の区画2・3。左の区画1は両列とも列3より高い。中央の列ほど低いという仮説は支持されない</a:t>
            </a:r>
            <a:endParaRPr lang="en-US" sz="9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14</a:t>
            </a:fld>
            <a:endParaRPr lang="en-US"/>
          </a:p>
        </p:txBody>
      </p:sp>
      <p:graphicFrame>
        <p:nvGraphicFramePr>
          <p:cNvPr id="26" name="グラフ kbox_8"/>
          <p:cNvGraphicFramePr>
            <a:graphicFrameLocks noGrp="1"/>
          </p:cNvGraphicFramePr>
          <p:nvPr/>
        </p:nvGraphicFramePr>
        <p:xfrm>
          <a:off x="365760" y="1527048"/>
          <a:ext cx="5074920" cy="147218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7" name="グラフ kbox_11"/>
          <p:cNvGraphicFramePr>
            <a:graphicFrameLocks noGrp="1"/>
          </p:cNvGraphicFramePr>
          <p:nvPr/>
        </p:nvGraphicFramePr>
        <p:xfrm>
          <a:off x="365760" y="3255264"/>
          <a:ext cx="5074920" cy="1472184"/>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分析4：天気と吸気温度差の関係（日ごとの推移）</a:t>
            </a:r>
            <a:endParaRPr lang="en-US" sz="2000" dirty="0"/>
          </a:p>
        </p:txBody>
      </p:sp>
      <p:sp>
        <p:nvSpPr>
          <p:cNvPr id="3" name="Shape 1"/>
          <p:cNvSpPr/>
          <p:nvPr/>
        </p:nvSpPr>
        <p:spPr>
          <a:xfrm>
            <a:off x="7726680" y="155448"/>
            <a:ext cx="1097280" cy="274320"/>
          </a:xfrm>
          <a:prstGeom prst="roundRect">
            <a:avLst>
              <a:gd name="adj" fmla="val 26667"/>
            </a:avLst>
          </a:prstGeom>
          <a:solidFill>
            <a:srgbClr val="8E5BC4"/>
          </a:solidFill>
          <a:ln w="12700">
            <a:solidFill>
              <a:srgbClr val="8E5BC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補足分析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天気によって吸気温度差がどう違うかを、日ごとの推移で一目で見る</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上段：日中平均の吸気温度、中段：吸気温度差、下段：その日の天気。横軸の日付は3段で共通</a:t>
            </a:r>
            <a:endParaRPr lang="en-US" sz="1050" dirty="0"/>
          </a:p>
        </p:txBody>
      </p:sp>
      <p:sp>
        <p:nvSpPr>
          <p:cNvPr id="10" name="Shape 8"/>
          <p:cNvSpPr/>
          <p:nvPr/>
        </p:nvSpPr>
        <p:spPr>
          <a:xfrm>
            <a:off x="1188720" y="4572000"/>
            <a:ext cx="146304" cy="128016"/>
          </a:xfrm>
          <a:prstGeom prst="rect">
            <a:avLst/>
          </a:prstGeom>
          <a:solidFill>
            <a:srgbClr val="E66C64"/>
          </a:solidFill>
          <a:ln w="12700">
            <a:solidFill>
              <a:srgbClr val="E66C64"/>
            </a:solidFill>
            <a:prstDash val="solid"/>
          </a:ln>
        </p:spPr>
        <p:txBody>
          <a:bodyPr/>
          <a:lstStyle/>
          <a:p>
            <a:endParaRPr lang="ja-JP" altLang="en-US"/>
          </a:p>
        </p:txBody>
      </p:sp>
      <p:sp>
        <p:nvSpPr>
          <p:cNvPr id="11" name="Text 9"/>
          <p:cNvSpPr txBox="1"/>
          <p:nvPr/>
        </p:nvSpPr>
        <p:spPr>
          <a:xfrm>
            <a:off x="1371600" y="4535424"/>
            <a:ext cx="868680" cy="201168"/>
          </a:xfrm>
          <a:prstGeom prst="rect">
            <a:avLst/>
          </a:prstGeom>
          <a:noFill/>
          <a:ln/>
        </p:spPr>
        <p:txBody>
          <a:bodyPr wrap="square" lIns="0" tIns="0" rIns="0" bIns="0" rtlCol="0" anchor="ctr"/>
          <a:lstStyle/>
          <a:p>
            <a:pPr marL="0" indent="0">
              <a:buNone/>
            </a:pPr>
            <a:r>
              <a:rPr lang="en-US" sz="900" dirty="0">
                <a:solidFill>
                  <a:srgbClr val="5E6B7A"/>
                </a:solidFill>
                <a:latin typeface="游ゴシック" pitchFamily="34" charset="0"/>
                <a:ea typeface="游ゴシック" pitchFamily="34" charset="-122"/>
                <a:cs typeface="游ゴシック" pitchFamily="34" charset="-120"/>
              </a:rPr>
              <a:t>晴れ</a:t>
            </a:r>
            <a:endParaRPr lang="en-US" sz="900" dirty="0"/>
          </a:p>
        </p:txBody>
      </p:sp>
      <p:sp>
        <p:nvSpPr>
          <p:cNvPr id="12" name="Shape 10"/>
          <p:cNvSpPr/>
          <p:nvPr/>
        </p:nvSpPr>
        <p:spPr>
          <a:xfrm>
            <a:off x="2240280" y="4572000"/>
            <a:ext cx="146304" cy="128016"/>
          </a:xfrm>
          <a:prstGeom prst="rect">
            <a:avLst/>
          </a:prstGeom>
          <a:solidFill>
            <a:srgbClr val="8A949E"/>
          </a:solidFill>
          <a:ln w="12700">
            <a:solidFill>
              <a:srgbClr val="8A949E"/>
            </a:solidFill>
            <a:prstDash val="solid"/>
          </a:ln>
        </p:spPr>
        <p:txBody>
          <a:bodyPr/>
          <a:lstStyle/>
          <a:p>
            <a:endParaRPr lang="ja-JP" altLang="en-US"/>
          </a:p>
        </p:txBody>
      </p:sp>
      <p:sp>
        <p:nvSpPr>
          <p:cNvPr id="13" name="Text 11"/>
          <p:cNvSpPr txBox="1"/>
          <p:nvPr/>
        </p:nvSpPr>
        <p:spPr>
          <a:xfrm>
            <a:off x="2423160" y="4535424"/>
            <a:ext cx="868680" cy="201168"/>
          </a:xfrm>
          <a:prstGeom prst="rect">
            <a:avLst/>
          </a:prstGeom>
          <a:noFill/>
          <a:ln/>
        </p:spPr>
        <p:txBody>
          <a:bodyPr wrap="square" lIns="0" tIns="0" rIns="0" bIns="0" rtlCol="0" anchor="ctr"/>
          <a:lstStyle/>
          <a:p>
            <a:pPr marL="0" indent="0">
              <a:buNone/>
            </a:pPr>
            <a:r>
              <a:rPr lang="en-US" sz="900" dirty="0">
                <a:solidFill>
                  <a:srgbClr val="5E6B7A"/>
                </a:solidFill>
                <a:latin typeface="游ゴシック" pitchFamily="34" charset="0"/>
                <a:ea typeface="游ゴシック" pitchFamily="34" charset="-122"/>
                <a:cs typeface="游ゴシック" pitchFamily="34" charset="-120"/>
              </a:rPr>
              <a:t>曇り</a:t>
            </a:r>
            <a:endParaRPr lang="en-US" sz="900" dirty="0"/>
          </a:p>
        </p:txBody>
      </p:sp>
      <p:sp>
        <p:nvSpPr>
          <p:cNvPr id="14" name="Shape 12"/>
          <p:cNvSpPr/>
          <p:nvPr/>
        </p:nvSpPr>
        <p:spPr>
          <a:xfrm>
            <a:off x="3291840" y="4572000"/>
            <a:ext cx="146304" cy="128016"/>
          </a:xfrm>
          <a:prstGeom prst="rect">
            <a:avLst/>
          </a:prstGeom>
          <a:solidFill>
            <a:srgbClr val="118DFF"/>
          </a:solidFill>
          <a:ln w="12700">
            <a:solidFill>
              <a:srgbClr val="118DFF"/>
            </a:solidFill>
            <a:prstDash val="solid"/>
          </a:ln>
        </p:spPr>
        <p:txBody>
          <a:bodyPr/>
          <a:lstStyle/>
          <a:p>
            <a:endParaRPr lang="ja-JP" altLang="en-US"/>
          </a:p>
        </p:txBody>
      </p:sp>
      <p:sp>
        <p:nvSpPr>
          <p:cNvPr id="15" name="Text 13"/>
          <p:cNvSpPr txBox="1"/>
          <p:nvPr/>
        </p:nvSpPr>
        <p:spPr>
          <a:xfrm>
            <a:off x="3474720" y="4535424"/>
            <a:ext cx="868680" cy="201168"/>
          </a:xfrm>
          <a:prstGeom prst="rect">
            <a:avLst/>
          </a:prstGeom>
          <a:noFill/>
          <a:ln/>
        </p:spPr>
        <p:txBody>
          <a:bodyPr wrap="square" lIns="0" tIns="0" rIns="0" bIns="0" rtlCol="0" anchor="ctr"/>
          <a:lstStyle/>
          <a:p>
            <a:pPr marL="0" indent="0">
              <a:buNone/>
            </a:pPr>
            <a:r>
              <a:rPr lang="en-US" sz="900" dirty="0">
                <a:solidFill>
                  <a:srgbClr val="5E6B7A"/>
                </a:solidFill>
                <a:latin typeface="游ゴシック" pitchFamily="34" charset="0"/>
                <a:ea typeface="游ゴシック" pitchFamily="34" charset="-122"/>
                <a:cs typeface="游ゴシック" pitchFamily="34" charset="-120"/>
              </a:rPr>
              <a:t>雨</a:t>
            </a:r>
            <a:endParaRPr lang="en-US" sz="900" dirty="0"/>
          </a:p>
        </p:txBody>
      </p:sp>
      <p:sp>
        <p:nvSpPr>
          <p:cNvPr id="16" name="Shape 14"/>
          <p:cNvSpPr/>
          <p:nvPr/>
        </p:nvSpPr>
        <p:spPr>
          <a:xfrm>
            <a:off x="4343400" y="4572000"/>
            <a:ext cx="146304" cy="128016"/>
          </a:xfrm>
          <a:prstGeom prst="rect">
            <a:avLst/>
          </a:prstGeom>
          <a:solidFill>
            <a:srgbClr val="D3D8DD"/>
          </a:solidFill>
          <a:ln w="12700">
            <a:solidFill>
              <a:srgbClr val="D3D8DD"/>
            </a:solidFill>
            <a:prstDash val="solid"/>
          </a:ln>
        </p:spPr>
        <p:txBody>
          <a:bodyPr/>
          <a:lstStyle/>
          <a:p>
            <a:endParaRPr lang="ja-JP" altLang="en-US"/>
          </a:p>
        </p:txBody>
      </p:sp>
      <p:sp>
        <p:nvSpPr>
          <p:cNvPr id="17" name="Text 15"/>
          <p:cNvSpPr txBox="1"/>
          <p:nvPr/>
        </p:nvSpPr>
        <p:spPr>
          <a:xfrm>
            <a:off x="4526280" y="4535424"/>
            <a:ext cx="868680" cy="201168"/>
          </a:xfrm>
          <a:prstGeom prst="rect">
            <a:avLst/>
          </a:prstGeom>
          <a:noFill/>
          <a:ln/>
        </p:spPr>
        <p:txBody>
          <a:bodyPr wrap="square" lIns="0" tIns="0" rIns="0" bIns="0" rtlCol="0" anchor="ctr"/>
          <a:lstStyle/>
          <a:p>
            <a:pPr marL="0" indent="0">
              <a:buNone/>
            </a:pPr>
            <a:r>
              <a:rPr lang="en-US" sz="900" dirty="0">
                <a:solidFill>
                  <a:srgbClr val="5E6B7A"/>
                </a:solidFill>
                <a:latin typeface="游ゴシック" pitchFamily="34" charset="0"/>
                <a:ea typeface="游ゴシック" pitchFamily="34" charset="-122"/>
                <a:cs typeface="游ゴシック" pitchFamily="34" charset="-120"/>
              </a:rPr>
              <a:t>淡い色＝休日</a:t>
            </a:r>
            <a:endParaRPr lang="en-US" sz="900" dirty="0"/>
          </a:p>
        </p:txBody>
      </p:sp>
      <p:sp>
        <p:nvSpPr>
          <p:cNvPr id="18" name="Shape 16"/>
          <p:cNvSpPr/>
          <p:nvPr/>
        </p:nvSpPr>
        <p:spPr>
          <a:xfrm>
            <a:off x="5989320" y="1298448"/>
            <a:ext cx="2788920" cy="1298448"/>
          </a:xfrm>
          <a:prstGeom prst="roundRect">
            <a:avLst>
              <a:gd name="adj" fmla="val 4225"/>
            </a:avLst>
          </a:prstGeom>
          <a:solidFill>
            <a:srgbClr val="E4F7F4"/>
          </a:solidFill>
          <a:ln w="12700">
            <a:solidFill>
              <a:srgbClr val="E4F7F4"/>
            </a:solidFill>
            <a:prstDash val="solid"/>
          </a:ln>
        </p:spPr>
        <p:txBody>
          <a:bodyPr/>
          <a:lstStyle/>
          <a:p>
            <a:endParaRPr lang="ja-JP" altLang="en-US"/>
          </a:p>
        </p:txBody>
      </p:sp>
      <p:sp>
        <p:nvSpPr>
          <p:cNvPr id="19" name="Text 17"/>
          <p:cNvSpPr txBox="1"/>
          <p:nvPr/>
        </p:nvSpPr>
        <p:spPr>
          <a:xfrm>
            <a:off x="6126480" y="1371600"/>
            <a:ext cx="251460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天気の判定（日中9〜18時）</a:t>
            </a:r>
            <a:endParaRPr lang="en-US" sz="1200" dirty="0"/>
          </a:p>
        </p:txBody>
      </p:sp>
      <p:sp>
        <p:nvSpPr>
          <p:cNvPr id="20" name="Text 18"/>
          <p:cNvSpPr txBox="1"/>
          <p:nvPr/>
        </p:nvSpPr>
        <p:spPr>
          <a:xfrm>
            <a:off x="6126480" y="1664208"/>
            <a:ext cx="2514600" cy="868680"/>
          </a:xfrm>
          <a:prstGeom prst="rect">
            <a:avLst/>
          </a:prstGeom>
          <a:noFill/>
          <a:ln/>
        </p:spPr>
        <p:txBody>
          <a:bodyPr wrap="square" lIns="0" tIns="0" rIns="0" bIns="0" rtlCol="0" anchor="t"/>
          <a:lstStyle/>
          <a:p>
            <a:pPr marL="152400" indent="-152400">
              <a:spcAft>
                <a:spcPts val="300"/>
              </a:spcAft>
              <a:buSzPct val="100000"/>
              <a:buChar char="•"/>
            </a:pPr>
            <a:r>
              <a:rPr lang="en-US" sz="850" dirty="0">
                <a:solidFill>
                  <a:srgbClr val="172033"/>
                </a:solidFill>
                <a:latin typeface="游ゴシック" pitchFamily="34" charset="0"/>
                <a:ea typeface="游ゴシック" pitchFamily="34" charset="-122"/>
                <a:cs typeface="游ゴシック" pitchFamily="34" charset="-120"/>
              </a:rPr>
              <a:t>雨：雨量1mm以上</a:t>
            </a:r>
            <a:endParaRPr lang="en-US" sz="850" dirty="0"/>
          </a:p>
          <a:p>
            <a:pPr marL="152400" indent="-152400">
              <a:spcAft>
                <a:spcPts val="300"/>
              </a:spcAft>
              <a:buSzPct val="100000"/>
              <a:buChar char="•"/>
            </a:pPr>
            <a:r>
              <a:rPr lang="en-US" sz="850" dirty="0">
                <a:solidFill>
                  <a:srgbClr val="172033"/>
                </a:solidFill>
                <a:latin typeface="游ゴシック" pitchFamily="34" charset="0"/>
                <a:ea typeface="游ゴシック" pitchFamily="34" charset="-122"/>
                <a:cs typeface="游ゴシック" pitchFamily="34" charset="-120"/>
              </a:rPr>
              <a:t>晴れ：照度比0.7以上、曇り：0.7未満</a:t>
            </a:r>
            <a:endParaRPr lang="en-US" sz="850" dirty="0"/>
          </a:p>
          <a:p>
            <a:pPr marL="152400" indent="-152400">
              <a:spcAft>
                <a:spcPts val="300"/>
              </a:spcAft>
              <a:buSzPct val="100000"/>
              <a:buChar char="•"/>
            </a:pPr>
            <a:r>
              <a:rPr lang="en-US" sz="850" dirty="0">
                <a:solidFill>
                  <a:srgbClr val="172033"/>
                </a:solidFill>
                <a:latin typeface="游ゴシック" pitchFamily="34" charset="0"/>
                <a:ea typeface="游ゴシック" pitchFamily="34" charset="-122"/>
                <a:cs typeface="游ゴシック" pitchFamily="34" charset="-120"/>
              </a:rPr>
              <a:t>照度比＝その日の平均照度÷勤務日で平均照度が最も高い3日間の平均（屋上の照度計）</a:t>
            </a:r>
            <a:endParaRPr lang="en-US" sz="850" dirty="0"/>
          </a:p>
        </p:txBody>
      </p:sp>
      <p:sp>
        <p:nvSpPr>
          <p:cNvPr id="21" name="Shape 19"/>
          <p:cNvSpPr/>
          <p:nvPr/>
        </p:nvSpPr>
        <p:spPr>
          <a:xfrm>
            <a:off x="5989320" y="2670048"/>
            <a:ext cx="2788920" cy="1234440"/>
          </a:xfrm>
          <a:prstGeom prst="roundRect">
            <a:avLst>
              <a:gd name="adj" fmla="val 4444"/>
            </a:avLst>
          </a:prstGeom>
          <a:solidFill>
            <a:srgbClr val="EAF4FF"/>
          </a:solidFill>
          <a:ln w="12700">
            <a:solidFill>
              <a:srgbClr val="EAF4FF"/>
            </a:solidFill>
            <a:prstDash val="solid"/>
          </a:ln>
        </p:spPr>
        <p:txBody>
          <a:bodyPr/>
          <a:lstStyle/>
          <a:p>
            <a:endParaRPr lang="ja-JP" altLang="en-US"/>
          </a:p>
        </p:txBody>
      </p:sp>
      <p:sp>
        <p:nvSpPr>
          <p:cNvPr id="22" name="Text 20"/>
          <p:cNvSpPr txBox="1"/>
          <p:nvPr/>
        </p:nvSpPr>
        <p:spPr>
          <a:xfrm>
            <a:off x="6126480" y="2743200"/>
            <a:ext cx="251460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結果（勤務日）</a:t>
            </a:r>
            <a:endParaRPr lang="en-US" sz="1200" dirty="0"/>
          </a:p>
        </p:txBody>
      </p:sp>
      <p:sp>
        <p:nvSpPr>
          <p:cNvPr id="23" name="Text 21"/>
          <p:cNvSpPr txBox="1"/>
          <p:nvPr/>
        </p:nvSpPr>
        <p:spPr>
          <a:xfrm>
            <a:off x="6126480" y="3035808"/>
            <a:ext cx="2514600" cy="804672"/>
          </a:xfrm>
          <a:prstGeom prst="rect">
            <a:avLst/>
          </a:prstGeom>
          <a:noFill/>
          <a:ln/>
        </p:spPr>
        <p:txBody>
          <a:bodyPr wrap="square" lIns="0" tIns="0" rIns="0" bIns="0" rtlCol="0" anchor="t"/>
          <a:lstStyle/>
          <a:p>
            <a:pPr marL="152400" indent="-152400">
              <a:spcAft>
                <a:spcPts val="300"/>
              </a:spcAft>
              <a:buSzPct val="100000"/>
              <a:buChar char="•"/>
            </a:pPr>
            <a:r>
              <a:rPr lang="en-US" sz="850" dirty="0">
                <a:solidFill>
                  <a:srgbClr val="172033"/>
                </a:solidFill>
                <a:latin typeface="游ゴシック" pitchFamily="34" charset="0"/>
                <a:ea typeface="游ゴシック" pitchFamily="34" charset="-122"/>
                <a:cs typeface="游ゴシック" pitchFamily="34" charset="-120"/>
              </a:rPr>
              <a:t>晴れ（15日間）：列8＋0.22℃、列11−0.13℃</a:t>
            </a:r>
            <a:endParaRPr lang="en-US" sz="850" dirty="0"/>
          </a:p>
          <a:p>
            <a:pPr marL="152400" indent="-152400">
              <a:spcAft>
                <a:spcPts val="300"/>
              </a:spcAft>
              <a:buSzPct val="100000"/>
              <a:buChar char="•"/>
            </a:pPr>
            <a:r>
              <a:rPr lang="en-US" sz="850" dirty="0">
                <a:solidFill>
                  <a:srgbClr val="172033"/>
                </a:solidFill>
                <a:latin typeface="游ゴシック" pitchFamily="34" charset="0"/>
                <a:ea typeface="游ゴシック" pitchFamily="34" charset="-122"/>
                <a:cs typeface="游ゴシック" pitchFamily="34" charset="-120"/>
              </a:rPr>
              <a:t>曇り（8日間）：列8−0.28℃、列11−0.30℃</a:t>
            </a:r>
            <a:endParaRPr lang="en-US" sz="850" dirty="0"/>
          </a:p>
          <a:p>
            <a:pPr marL="152400" indent="-152400">
              <a:spcAft>
                <a:spcPts val="300"/>
              </a:spcAft>
              <a:buSzPct val="100000"/>
              <a:buChar char="•"/>
            </a:pPr>
            <a:r>
              <a:rPr lang="en-US" sz="850" dirty="0">
                <a:solidFill>
                  <a:srgbClr val="172033"/>
                </a:solidFill>
                <a:latin typeface="游ゴシック" pitchFamily="34" charset="0"/>
                <a:ea typeface="游ゴシック" pitchFamily="34" charset="-122"/>
                <a:cs typeface="游ゴシック" pitchFamily="34" charset="-120"/>
              </a:rPr>
              <a:t>雨（8日間）：列8−0.37℃、列11−0.46℃</a:t>
            </a:r>
            <a:endParaRPr lang="en-US" sz="850" dirty="0"/>
          </a:p>
        </p:txBody>
      </p:sp>
      <p:sp>
        <p:nvSpPr>
          <p:cNvPr id="24" name="Shape 22"/>
          <p:cNvSpPr/>
          <p:nvPr/>
        </p:nvSpPr>
        <p:spPr>
          <a:xfrm>
            <a:off x="5989320" y="3977640"/>
            <a:ext cx="2788920" cy="749808"/>
          </a:xfrm>
          <a:prstGeom prst="roundRect">
            <a:avLst>
              <a:gd name="adj" fmla="val 7317"/>
            </a:avLst>
          </a:prstGeom>
          <a:solidFill>
            <a:srgbClr val="FFF7D1"/>
          </a:solidFill>
          <a:ln w="12700">
            <a:solidFill>
              <a:srgbClr val="FFF7D1"/>
            </a:solidFill>
            <a:prstDash val="solid"/>
          </a:ln>
        </p:spPr>
        <p:txBody>
          <a:bodyPr/>
          <a:lstStyle/>
          <a:p>
            <a:endParaRPr lang="ja-JP" altLang="en-US"/>
          </a:p>
        </p:txBody>
      </p:sp>
      <p:sp>
        <p:nvSpPr>
          <p:cNvPr id="25" name="Text 23"/>
          <p:cNvSpPr txBox="1"/>
          <p:nvPr/>
        </p:nvSpPr>
        <p:spPr>
          <a:xfrm>
            <a:off x="6080760" y="3995928"/>
            <a:ext cx="2606040" cy="713232"/>
          </a:xfrm>
          <a:prstGeom prst="rect">
            <a:avLst/>
          </a:prstGeom>
          <a:noFill/>
          <a:ln/>
        </p:spPr>
        <p:txBody>
          <a:bodyPr wrap="square" lIns="0" tIns="0" rIns="0" bIns="0" rtlCol="0" anchor="ctr"/>
          <a:lstStyle/>
          <a:p>
            <a:pPr marL="0" indent="0">
              <a:buNone/>
            </a:pPr>
            <a:r>
              <a:rPr lang="en-US" sz="900" b="1" dirty="0">
                <a:solidFill>
                  <a:srgbClr val="ED7D31"/>
                </a:solidFill>
                <a:latin typeface="游ゴシック" pitchFamily="34" charset="0"/>
                <a:ea typeface="游ゴシック" pitchFamily="34" charset="-122"/>
                <a:cs typeface="游ゴシック" pitchFamily="34" charset="-120"/>
              </a:rPr>
              <a:t>読み取り　</a:t>
            </a:r>
            <a:r>
              <a:rPr lang="en-US" sz="900" dirty="0">
                <a:solidFill>
                  <a:srgbClr val="172033"/>
                </a:solidFill>
                <a:latin typeface="游ゴシック" pitchFamily="34" charset="0"/>
                <a:ea typeface="游ゴシック" pitchFamily="34" charset="-122"/>
                <a:cs typeface="游ゴシック" pitchFamily="34" charset="-120"/>
              </a:rPr>
              <a:t>晴れの続く8月中旬〜下旬は列8が列3より高く、曇り・雨の多い9月は両列とも低い</a:t>
            </a:r>
            <a:endParaRPr lang="en-US" sz="900" dirty="0"/>
          </a:p>
        </p:txBody>
      </p:sp>
      <p:sp>
        <p:nvSpPr>
          <p:cNvPr id="7"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15</a:t>
            </a:fld>
            <a:endParaRPr lang="en-US"/>
          </a:p>
        </p:txBody>
      </p:sp>
      <p:graphicFrame>
        <p:nvGraphicFramePr>
          <p:cNvPr id="26" name="グラフ wx_t"/>
          <p:cNvGraphicFramePr>
            <a:graphicFrameLocks noGrp="1"/>
          </p:cNvGraphicFramePr>
          <p:nvPr/>
        </p:nvGraphicFramePr>
        <p:xfrm>
          <a:off x="365760" y="1298448"/>
          <a:ext cx="5486400" cy="1298448"/>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7" name="グラフ wx_m"/>
          <p:cNvGraphicFramePr>
            <a:graphicFrameLocks noGrp="1"/>
          </p:cNvGraphicFramePr>
          <p:nvPr/>
        </p:nvGraphicFramePr>
        <p:xfrm>
          <a:off x="365760" y="2596896"/>
          <a:ext cx="5486400" cy="117043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8" name="グラフ wx_b"/>
          <p:cNvGraphicFramePr>
            <a:graphicFrameLocks noGrp="1"/>
          </p:cNvGraphicFramePr>
          <p:nvPr/>
        </p:nvGraphicFramePr>
        <p:xfrm>
          <a:off x="365760" y="3767328"/>
          <a:ext cx="5486400" cy="749808"/>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分析4：天気別の吸気温度差</a:t>
            </a:r>
            <a:endParaRPr lang="en-US" sz="2000" dirty="0"/>
          </a:p>
        </p:txBody>
      </p:sp>
      <p:sp>
        <p:nvSpPr>
          <p:cNvPr id="3" name="Shape 1"/>
          <p:cNvSpPr/>
          <p:nvPr/>
        </p:nvSpPr>
        <p:spPr>
          <a:xfrm>
            <a:off x="7726680" y="155448"/>
            <a:ext cx="1097280" cy="274320"/>
          </a:xfrm>
          <a:prstGeom prst="roundRect">
            <a:avLst>
              <a:gd name="adj" fmla="val 26667"/>
            </a:avLst>
          </a:prstGeom>
          <a:solidFill>
            <a:srgbClr val="8E5BC4"/>
          </a:solidFill>
          <a:ln w="12700">
            <a:solidFill>
              <a:srgbClr val="8E5BC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補足分析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晴れ・曇り・雨で、吸気温度の低減効果の傾向が違うかを確かめる</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雨：雨量1mm以上／晴れ：照度比0.7以上／曇り：0.7未満（定義はp.15）。勤務日（晴れ15、曇り8、雨8日間）</a:t>
            </a:r>
            <a:endParaRPr lang="en-US" sz="1050" dirty="0"/>
          </a:p>
        </p:txBody>
      </p:sp>
      <p:sp>
        <p:nvSpPr>
          <p:cNvPr id="7" name="Text 5"/>
          <p:cNvSpPr txBox="1"/>
          <p:nvPr/>
        </p:nvSpPr>
        <p:spPr>
          <a:xfrm>
            <a:off x="365760" y="1325880"/>
            <a:ext cx="5074920" cy="201168"/>
          </a:xfrm>
          <a:prstGeom prst="rect">
            <a:avLst/>
          </a:prstGeom>
          <a:noFill/>
          <a:ln/>
        </p:spPr>
        <p:txBody>
          <a:bodyPr wrap="square" lIns="0" tIns="0" rIns="0" bIns="0" rtlCol="0" anchor="ctr"/>
          <a:lstStyle/>
          <a:p>
            <a:pPr marL="0" indent="0">
              <a:buNone/>
            </a:pPr>
            <a:r>
              <a:rPr lang="en-US" sz="950" b="1" dirty="0">
                <a:solidFill>
                  <a:srgbClr val="01B8AA"/>
                </a:solidFill>
                <a:latin typeface="游ゴシック" pitchFamily="34" charset="0"/>
                <a:ea typeface="游ゴシック" pitchFamily="34" charset="-122"/>
                <a:cs typeface="游ゴシック" pitchFamily="34" charset="-120"/>
              </a:rPr>
              <a:t>列8</a:t>
            </a:r>
            <a:endParaRPr lang="en-US" sz="950" dirty="0"/>
          </a:p>
        </p:txBody>
      </p:sp>
      <p:sp>
        <p:nvSpPr>
          <p:cNvPr id="9" name="Text 7"/>
          <p:cNvSpPr txBox="1"/>
          <p:nvPr/>
        </p:nvSpPr>
        <p:spPr>
          <a:xfrm>
            <a:off x="365760" y="3054096"/>
            <a:ext cx="5074920" cy="201168"/>
          </a:xfrm>
          <a:prstGeom prst="rect">
            <a:avLst/>
          </a:prstGeom>
          <a:noFill/>
          <a:ln/>
        </p:spPr>
        <p:txBody>
          <a:bodyPr wrap="square" lIns="0" tIns="0" rIns="0" bIns="0" rtlCol="0" anchor="ctr"/>
          <a:lstStyle/>
          <a:p>
            <a:pPr marL="0" indent="0">
              <a:buNone/>
            </a:pPr>
            <a:r>
              <a:rPr lang="en-US" sz="950" b="1" dirty="0">
                <a:solidFill>
                  <a:srgbClr val="118DFF"/>
                </a:solidFill>
                <a:latin typeface="游ゴシック" pitchFamily="34" charset="0"/>
                <a:ea typeface="游ゴシック" pitchFamily="34" charset="-122"/>
                <a:cs typeface="游ゴシック" pitchFamily="34" charset="-120"/>
              </a:rPr>
              <a:t>列11</a:t>
            </a:r>
            <a:endParaRPr lang="en-US" sz="950" dirty="0"/>
          </a:p>
        </p:txBody>
      </p:sp>
      <p:sp>
        <p:nvSpPr>
          <p:cNvPr id="11" name="Shape 9"/>
          <p:cNvSpPr/>
          <p:nvPr/>
        </p:nvSpPr>
        <p:spPr>
          <a:xfrm>
            <a:off x="5577840" y="1325880"/>
            <a:ext cx="3200400" cy="2377440"/>
          </a:xfrm>
          <a:prstGeom prst="roundRect">
            <a:avLst>
              <a:gd name="adj" fmla="val 2308"/>
            </a:avLst>
          </a:prstGeom>
          <a:solidFill>
            <a:srgbClr val="EAF4FF"/>
          </a:solidFill>
          <a:ln w="12700">
            <a:solidFill>
              <a:srgbClr val="EAF4FF"/>
            </a:solidFill>
            <a:prstDash val="solid"/>
          </a:ln>
        </p:spPr>
        <p:txBody>
          <a:bodyPr/>
          <a:lstStyle/>
          <a:p>
            <a:endParaRPr lang="ja-JP" altLang="en-US"/>
          </a:p>
        </p:txBody>
      </p:sp>
      <p:sp>
        <p:nvSpPr>
          <p:cNvPr id="12" name="Text 10"/>
          <p:cNvSpPr txBox="1"/>
          <p:nvPr/>
        </p:nvSpPr>
        <p:spPr>
          <a:xfrm>
            <a:off x="5715000" y="1399032"/>
            <a:ext cx="292608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a:t>
            </a:r>
            <a:endParaRPr lang="en-US" sz="1200" dirty="0"/>
          </a:p>
        </p:txBody>
      </p:sp>
      <p:sp>
        <p:nvSpPr>
          <p:cNvPr id="13" name="Text 11"/>
          <p:cNvSpPr txBox="1"/>
          <p:nvPr/>
        </p:nvSpPr>
        <p:spPr>
          <a:xfrm>
            <a:off x="5715000" y="1691640"/>
            <a:ext cx="2926080" cy="1947672"/>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曇り・雨：両列ともほぼすべての日で列3より低い（列8 −0.28・−0.37℃、列11 −0.30・−0.46℃）</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晴れ：列11は15日間中11日間で低いが、平均−0.13℃と小さい</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晴れ：列8は15日間中13日間で列3より高い。平均＋0.22℃</a:t>
            </a:r>
            <a:endParaRPr lang="en-US" sz="1050" dirty="0"/>
          </a:p>
        </p:txBody>
      </p:sp>
      <p:sp>
        <p:nvSpPr>
          <p:cNvPr id="14" name="Shape 12"/>
          <p:cNvSpPr/>
          <p:nvPr/>
        </p:nvSpPr>
        <p:spPr>
          <a:xfrm>
            <a:off x="5577840" y="3794760"/>
            <a:ext cx="3200400" cy="932688"/>
          </a:xfrm>
          <a:prstGeom prst="roundRect">
            <a:avLst>
              <a:gd name="adj" fmla="val 5882"/>
            </a:avLst>
          </a:prstGeom>
          <a:solidFill>
            <a:srgbClr val="FFF7D1"/>
          </a:solidFill>
          <a:ln w="12700">
            <a:solidFill>
              <a:srgbClr val="FFF7D1"/>
            </a:solidFill>
            <a:prstDash val="solid"/>
          </a:ln>
        </p:spPr>
        <p:txBody>
          <a:bodyPr/>
          <a:lstStyle/>
          <a:p>
            <a:endParaRPr lang="ja-JP" altLang="en-US"/>
          </a:p>
        </p:txBody>
      </p:sp>
      <p:sp>
        <p:nvSpPr>
          <p:cNvPr id="15" name="Text 13"/>
          <p:cNvSpPr txBox="1"/>
          <p:nvPr/>
        </p:nvSpPr>
        <p:spPr>
          <a:xfrm>
            <a:off x="5715000" y="3840480"/>
            <a:ext cx="2926080" cy="841248"/>
          </a:xfrm>
          <a:prstGeom prst="rect">
            <a:avLst/>
          </a:prstGeom>
          <a:noFill/>
          <a:ln/>
        </p:spPr>
        <p:txBody>
          <a:bodyPr wrap="square" lIns="0" tIns="0" rIns="0" bIns="0" rtlCol="0" anchor="t"/>
          <a:lstStyle/>
          <a:p>
            <a:pPr marL="0" indent="0">
              <a:buNone/>
            </a:pPr>
            <a:r>
              <a:rPr lang="en-US" sz="1050" b="1" dirty="0">
                <a:solidFill>
                  <a:srgbClr val="ED7D31"/>
                </a:solidFill>
                <a:latin typeface="游ゴシック" pitchFamily="34" charset="0"/>
                <a:ea typeface="游ゴシック" pitchFamily="34" charset="-122"/>
                <a:cs typeface="游ゴシック" pitchFamily="34" charset="-120"/>
              </a:rPr>
              <a:t>読み取り</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晴れの日に低減効果が小さく、列8では高くなる。ただし晴れの日は暑い日でもあり、次の2枚で気温の影響と分けて確かめる</a:t>
            </a:r>
            <a:endParaRPr 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16</a:t>
            </a:fld>
            <a:endParaRPr lang="en-US"/>
          </a:p>
        </p:txBody>
      </p:sp>
      <p:graphicFrame>
        <p:nvGraphicFramePr>
          <p:cNvPr id="26" name="グラフ a4_8"/>
          <p:cNvGraphicFramePr>
            <a:graphicFrameLocks noGrp="1"/>
          </p:cNvGraphicFramePr>
          <p:nvPr/>
        </p:nvGraphicFramePr>
        <p:xfrm>
          <a:off x="365760" y="1527048"/>
          <a:ext cx="5074920" cy="147218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7" name="グラフ a4_11"/>
          <p:cNvGraphicFramePr>
            <a:graphicFrameLocks noGrp="1"/>
          </p:cNvGraphicFramePr>
          <p:nvPr/>
        </p:nvGraphicFramePr>
        <p:xfrm>
          <a:off x="365760" y="3255264"/>
          <a:ext cx="5074920" cy="1472184"/>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分析4（補足）：気温区分別の吸気温度差</a:t>
            </a:r>
            <a:endParaRPr lang="en-US" sz="2000" dirty="0"/>
          </a:p>
        </p:txBody>
      </p:sp>
      <p:sp>
        <p:nvSpPr>
          <p:cNvPr id="3" name="Shape 1"/>
          <p:cNvSpPr/>
          <p:nvPr/>
        </p:nvSpPr>
        <p:spPr>
          <a:xfrm>
            <a:off x="7726680" y="155448"/>
            <a:ext cx="1097280" cy="274320"/>
          </a:xfrm>
          <a:prstGeom prst="roundRect">
            <a:avLst>
              <a:gd name="adj" fmla="val 26667"/>
            </a:avLst>
          </a:prstGeom>
          <a:solidFill>
            <a:srgbClr val="8E5BC4"/>
          </a:solidFill>
          <a:ln w="12700">
            <a:solidFill>
              <a:srgbClr val="8E5BC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補足分析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暑い日と涼しい日で、吸気温度の低減効果が違うかを確かめる</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勤務日の日中平均気温（屋上）で3区分（28.0℃未満9日間、28.0〜31.0℃11日間、31.0℃以上11日間）</a:t>
            </a:r>
            <a:endParaRPr lang="en-US" sz="1050" dirty="0"/>
          </a:p>
        </p:txBody>
      </p:sp>
      <p:sp>
        <p:nvSpPr>
          <p:cNvPr id="7" name="Text 5"/>
          <p:cNvSpPr txBox="1"/>
          <p:nvPr/>
        </p:nvSpPr>
        <p:spPr>
          <a:xfrm>
            <a:off x="365760" y="1325880"/>
            <a:ext cx="5074920" cy="201168"/>
          </a:xfrm>
          <a:prstGeom prst="rect">
            <a:avLst/>
          </a:prstGeom>
          <a:noFill/>
          <a:ln/>
        </p:spPr>
        <p:txBody>
          <a:bodyPr wrap="square" lIns="0" tIns="0" rIns="0" bIns="0" rtlCol="0" anchor="ctr"/>
          <a:lstStyle/>
          <a:p>
            <a:pPr marL="0" indent="0">
              <a:buNone/>
            </a:pPr>
            <a:r>
              <a:rPr lang="en-US" sz="950" b="1" dirty="0">
                <a:solidFill>
                  <a:srgbClr val="01B8AA"/>
                </a:solidFill>
                <a:latin typeface="游ゴシック" pitchFamily="34" charset="0"/>
                <a:ea typeface="游ゴシック" pitchFamily="34" charset="-122"/>
                <a:cs typeface="游ゴシック" pitchFamily="34" charset="-120"/>
              </a:rPr>
              <a:t>列8</a:t>
            </a:r>
            <a:endParaRPr lang="en-US" sz="950" dirty="0"/>
          </a:p>
        </p:txBody>
      </p:sp>
      <p:sp>
        <p:nvSpPr>
          <p:cNvPr id="9" name="Text 7"/>
          <p:cNvSpPr txBox="1"/>
          <p:nvPr/>
        </p:nvSpPr>
        <p:spPr>
          <a:xfrm>
            <a:off x="365760" y="3054096"/>
            <a:ext cx="5074920" cy="201168"/>
          </a:xfrm>
          <a:prstGeom prst="rect">
            <a:avLst/>
          </a:prstGeom>
          <a:noFill/>
          <a:ln/>
        </p:spPr>
        <p:txBody>
          <a:bodyPr wrap="square" lIns="0" tIns="0" rIns="0" bIns="0" rtlCol="0" anchor="ctr"/>
          <a:lstStyle/>
          <a:p>
            <a:pPr marL="0" indent="0">
              <a:buNone/>
            </a:pPr>
            <a:r>
              <a:rPr lang="en-US" sz="950" b="1" dirty="0">
                <a:solidFill>
                  <a:srgbClr val="118DFF"/>
                </a:solidFill>
                <a:latin typeface="游ゴシック" pitchFamily="34" charset="0"/>
                <a:ea typeface="游ゴシック" pitchFamily="34" charset="-122"/>
                <a:cs typeface="游ゴシック" pitchFamily="34" charset="-120"/>
              </a:rPr>
              <a:t>列11</a:t>
            </a:r>
            <a:endParaRPr lang="en-US" sz="950" dirty="0"/>
          </a:p>
        </p:txBody>
      </p:sp>
      <p:sp>
        <p:nvSpPr>
          <p:cNvPr id="11" name="Shape 9"/>
          <p:cNvSpPr/>
          <p:nvPr/>
        </p:nvSpPr>
        <p:spPr>
          <a:xfrm>
            <a:off x="5577840" y="1325880"/>
            <a:ext cx="3200400" cy="2304288"/>
          </a:xfrm>
          <a:prstGeom prst="roundRect">
            <a:avLst>
              <a:gd name="adj" fmla="val 2381"/>
            </a:avLst>
          </a:prstGeom>
          <a:solidFill>
            <a:srgbClr val="EAF4FF"/>
          </a:solidFill>
          <a:ln w="12700">
            <a:solidFill>
              <a:srgbClr val="EAF4FF"/>
            </a:solidFill>
            <a:prstDash val="solid"/>
          </a:ln>
        </p:spPr>
        <p:txBody>
          <a:bodyPr/>
          <a:lstStyle/>
          <a:p>
            <a:endParaRPr lang="ja-JP" altLang="en-US"/>
          </a:p>
        </p:txBody>
      </p:sp>
      <p:sp>
        <p:nvSpPr>
          <p:cNvPr id="12" name="Text 10"/>
          <p:cNvSpPr txBox="1"/>
          <p:nvPr/>
        </p:nvSpPr>
        <p:spPr>
          <a:xfrm>
            <a:off x="5715000" y="1399032"/>
            <a:ext cx="292608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a:t>
            </a:r>
            <a:endParaRPr lang="en-US" sz="1200" dirty="0"/>
          </a:p>
        </p:txBody>
      </p:sp>
      <p:sp>
        <p:nvSpPr>
          <p:cNvPr id="13" name="Text 11"/>
          <p:cNvSpPr txBox="1"/>
          <p:nvPr/>
        </p:nvSpPr>
        <p:spPr>
          <a:xfrm>
            <a:off x="5715000" y="1691640"/>
            <a:ext cx="2926080" cy="187452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28.0℃未満：列8は9日間中8日間、列11は9日間中9日間で低い（−0.34・−0.41℃）</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31.0℃以上：列8は11日間中10日間で列3より高い（＋0.27℃）。列11も−0.12℃と小さい</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暑い区分ほど、両列とも吸気温度差が正の方向へ動く</a:t>
            </a:r>
            <a:endParaRPr lang="en-US" sz="1050" dirty="0"/>
          </a:p>
        </p:txBody>
      </p:sp>
      <p:sp>
        <p:nvSpPr>
          <p:cNvPr id="14" name="Shape 12"/>
          <p:cNvSpPr/>
          <p:nvPr/>
        </p:nvSpPr>
        <p:spPr>
          <a:xfrm>
            <a:off x="5577840" y="3721608"/>
            <a:ext cx="3200400" cy="1005840"/>
          </a:xfrm>
          <a:prstGeom prst="roundRect">
            <a:avLst>
              <a:gd name="adj" fmla="val 5455"/>
            </a:avLst>
          </a:prstGeom>
          <a:solidFill>
            <a:srgbClr val="FFF7D1"/>
          </a:solidFill>
          <a:ln w="12700">
            <a:solidFill>
              <a:srgbClr val="FFF7D1"/>
            </a:solidFill>
            <a:prstDash val="solid"/>
          </a:ln>
        </p:spPr>
        <p:txBody>
          <a:bodyPr/>
          <a:lstStyle/>
          <a:p>
            <a:endParaRPr lang="ja-JP" altLang="en-US"/>
          </a:p>
        </p:txBody>
      </p:sp>
      <p:sp>
        <p:nvSpPr>
          <p:cNvPr id="15" name="Text 13"/>
          <p:cNvSpPr txBox="1"/>
          <p:nvPr/>
        </p:nvSpPr>
        <p:spPr>
          <a:xfrm>
            <a:off x="5715000" y="3767328"/>
            <a:ext cx="2926080" cy="914400"/>
          </a:xfrm>
          <a:prstGeom prst="rect">
            <a:avLst/>
          </a:prstGeom>
          <a:noFill/>
          <a:ln/>
        </p:spPr>
        <p:txBody>
          <a:bodyPr wrap="square" lIns="0" tIns="0" rIns="0" bIns="0" rtlCol="0" anchor="t"/>
          <a:lstStyle/>
          <a:p>
            <a:pPr marL="0" indent="0">
              <a:buNone/>
            </a:pPr>
            <a:r>
              <a:rPr lang="en-US" sz="1050" b="1" dirty="0">
                <a:solidFill>
                  <a:srgbClr val="ED7D31"/>
                </a:solidFill>
                <a:latin typeface="游ゴシック" pitchFamily="34" charset="0"/>
                <a:ea typeface="游ゴシック" pitchFamily="34" charset="-122"/>
                <a:cs typeface="游ゴシック" pitchFamily="34" charset="-120"/>
              </a:rPr>
              <a:t>読み取り</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暑い日ほど低減効果が小さい。冷房の負荷が大きく排熱が多い日に、芋緑化側が高くなりやすい</a:t>
            </a:r>
            <a:endParaRPr 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17</a:t>
            </a:fld>
            <a:endParaRPr lang="en-US"/>
          </a:p>
        </p:txBody>
      </p:sp>
      <p:graphicFrame>
        <p:nvGraphicFramePr>
          <p:cNvPr id="26" name="グラフ tcls_8"/>
          <p:cNvGraphicFramePr>
            <a:graphicFrameLocks noGrp="1"/>
          </p:cNvGraphicFramePr>
          <p:nvPr/>
        </p:nvGraphicFramePr>
        <p:xfrm>
          <a:off x="365760" y="1527048"/>
          <a:ext cx="5074920" cy="147218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7" name="グラフ tcls_11"/>
          <p:cNvGraphicFramePr>
            <a:graphicFrameLocks noGrp="1"/>
          </p:cNvGraphicFramePr>
          <p:nvPr/>
        </p:nvGraphicFramePr>
        <p:xfrm>
          <a:off x="365760" y="3255264"/>
          <a:ext cx="5074920" cy="1472184"/>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分析4（補足）：条件をまとめて見た回帰</a:t>
            </a:r>
            <a:endParaRPr lang="en-US" sz="2000" dirty="0"/>
          </a:p>
        </p:txBody>
      </p:sp>
      <p:sp>
        <p:nvSpPr>
          <p:cNvPr id="3" name="Shape 1"/>
          <p:cNvSpPr/>
          <p:nvPr/>
        </p:nvSpPr>
        <p:spPr>
          <a:xfrm>
            <a:off x="7726680" y="155448"/>
            <a:ext cx="1097280" cy="274320"/>
          </a:xfrm>
          <a:prstGeom prst="roundRect">
            <a:avLst>
              <a:gd name="adj" fmla="val 26667"/>
            </a:avLst>
          </a:prstGeom>
          <a:solidFill>
            <a:srgbClr val="8E5BC4"/>
          </a:solidFill>
          <a:ln w="12700">
            <a:solidFill>
              <a:srgbClr val="8E5BC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補足分析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気温・天気・風速・季節のうち、どれがどれだけ吸気温度差を変えるかを、一度に分けて求める</a:t>
            </a:r>
            <a:endParaRPr lang="en-US" sz="1200" dirty="0"/>
          </a:p>
        </p:txBody>
      </p:sp>
      <p:sp>
        <p:nvSpPr>
          <p:cNvPr id="6" name="Shape 4"/>
          <p:cNvSpPr/>
          <p:nvPr/>
        </p:nvSpPr>
        <p:spPr>
          <a:xfrm>
            <a:off x="365760" y="1005840"/>
            <a:ext cx="8412480" cy="804672"/>
          </a:xfrm>
          <a:prstGeom prst="roundRect">
            <a:avLst>
              <a:gd name="adj" fmla="val 6818"/>
            </a:avLst>
          </a:prstGeom>
          <a:solidFill>
            <a:srgbClr val="E4F7F4"/>
          </a:solidFill>
          <a:ln w="12700">
            <a:solidFill>
              <a:srgbClr val="E4F7F4"/>
            </a:solidFill>
            <a:prstDash val="solid"/>
          </a:ln>
        </p:spPr>
        <p:txBody>
          <a:bodyPr/>
          <a:lstStyle/>
          <a:p>
            <a:endParaRPr lang="ja-JP" altLang="en-US"/>
          </a:p>
        </p:txBody>
      </p:sp>
      <p:sp>
        <p:nvSpPr>
          <p:cNvPr id="7" name="Text 5"/>
          <p:cNvSpPr txBox="1"/>
          <p:nvPr/>
        </p:nvSpPr>
        <p:spPr>
          <a:xfrm>
            <a:off x="502920" y="1033272"/>
            <a:ext cx="8138160" cy="749808"/>
          </a:xfrm>
          <a:prstGeom prst="rect">
            <a:avLst/>
          </a:prstGeom>
          <a:noFill/>
          <a:ln/>
        </p:spPr>
        <p:txBody>
          <a:bodyPr wrap="square" lIns="0" tIns="0" rIns="0" bIns="0" rtlCol="0" anchor="ctr"/>
          <a:lstStyle/>
          <a:p>
            <a:pPr marL="0" indent="0">
              <a:buNone/>
            </a:pPr>
            <a:r>
              <a:rPr lang="en-US" sz="950" b="1" dirty="0">
                <a:solidFill>
                  <a:srgbClr val="22354F"/>
                </a:solidFill>
                <a:latin typeface="游ゴシック" pitchFamily="34" charset="0"/>
                <a:ea typeface="游ゴシック" pitchFamily="34" charset="-122"/>
                <a:cs typeface="游ゴシック" pitchFamily="34" charset="-120"/>
              </a:rPr>
              <a:t>重回帰（最小二乗法）　</a:t>
            </a:r>
            <a:r>
              <a:rPr lang="en-US" sz="950" b="1" dirty="0">
                <a:solidFill>
                  <a:srgbClr val="172033"/>
                </a:solidFill>
                <a:latin typeface="游ゴシック" pitchFamily="34" charset="0"/>
                <a:ea typeface="游ゴシック" pitchFamily="34" charset="-122"/>
                <a:cs typeface="游ゴシック" pitchFamily="34" charset="-120"/>
              </a:rPr>
              <a:t>吸気温度差 ＝ a ＋ b1×気温 ＋ b2×照度比 ＋ b3×風速 ＋ b4×経過日数</a:t>
            </a:r>
            <a:endParaRPr lang="en-US" sz="950" dirty="0"/>
          </a:p>
          <a:p>
            <a:pPr marL="0" indent="0">
              <a:buNone/>
            </a:pPr>
            <a:r>
              <a:rPr lang="en-US" sz="950" dirty="0">
                <a:solidFill>
                  <a:srgbClr val="172033"/>
                </a:solidFill>
                <a:latin typeface="游ゴシック" pitchFamily="34" charset="0"/>
                <a:ea typeface="游ゴシック" pitchFamily="34" charset="-122"/>
                <a:cs typeface="游ゴシック" pitchFamily="34" charset="-120"/>
              </a:rPr>
              <a:t>目的変数：勤務日の日中平均の吸気温度差［℃］（列8・列11で別々に計算）。説明変数：屋上の日中平均気温［℃］、照度比、日中平均風速［m/s］、7/30からの経過日数。データ：勤務日31日間。出力：b1〜b4（各条件が1単位変わったときの吸気温度差の変化）。95％区間は連続5日間の再標本化</a:t>
            </a:r>
            <a:endParaRPr lang="en-US" sz="950" dirty="0"/>
          </a:p>
        </p:txBody>
      </p:sp>
      <p:sp>
        <p:nvSpPr>
          <p:cNvPr id="9" name="Text 7"/>
          <p:cNvSpPr txBox="1"/>
          <p:nvPr/>
        </p:nvSpPr>
        <p:spPr>
          <a:xfrm>
            <a:off x="365760" y="4389120"/>
            <a:ext cx="3657600" cy="347472"/>
          </a:xfrm>
          <a:prstGeom prst="rect">
            <a:avLst/>
          </a:prstGeom>
          <a:noFill/>
          <a:ln/>
        </p:spPr>
        <p:txBody>
          <a:bodyPr wrap="square" lIns="0" tIns="0" rIns="0" bIns="0" rtlCol="0" anchor="ctr"/>
          <a:lstStyle/>
          <a:p>
            <a:pPr marL="0" indent="0">
              <a:buNone/>
            </a:pPr>
            <a:r>
              <a:rPr lang="en-US" sz="800" dirty="0">
                <a:solidFill>
                  <a:srgbClr val="5E6B7A"/>
                </a:solidFill>
                <a:latin typeface="游ゴシック" pitchFamily="34" charset="0"/>
                <a:ea typeface="游ゴシック" pitchFamily="34" charset="-122"/>
                <a:cs typeface="游ゴシック" pitchFamily="34" charset="-120"/>
              </a:rPr>
              <a:t>棒：各条件が1標準偏差（気温3.6℃、照度比0.26、風速0.76m/s、13日間）変わったときの変化。影響の大きさを比べるための図</a:t>
            </a:r>
            <a:endParaRPr lang="en-US" sz="800" dirty="0"/>
          </a:p>
        </p:txBody>
      </p:sp>
      <p:graphicFrame>
        <p:nvGraphicFramePr>
          <p:cNvPr id="19" name="Table 0"/>
          <p:cNvGraphicFramePr>
            <a:graphicFrameLocks noGrp="1"/>
          </p:cNvGraphicFramePr>
          <p:nvPr>
            <p:extLst>
              <p:ext uri="{D42A27DB-BD31-4B8C-83A1-F6EECF244321}">
                <p14:modId xmlns:p14="http://schemas.microsoft.com/office/powerpoint/2010/main" val="3588576364"/>
              </p:ext>
            </p:extLst>
          </p:nvPr>
        </p:nvGraphicFramePr>
        <p:xfrm>
          <a:off x="4114800" y="1874520"/>
          <a:ext cx="4663440" cy="1883664"/>
        </p:xfrm>
        <a:graphic>
          <a:graphicData uri="http://schemas.openxmlformats.org/drawingml/2006/table">
            <a:tbl>
              <a:tblPr/>
              <a:tblGrid>
                <a:gridCol w="7315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74320">
                <a:tc>
                  <a:txBody>
                    <a:bodyPr/>
                    <a:lstStyle/>
                    <a:p>
                      <a:pPr marL="0" indent="0" algn="ctr">
                        <a:buNone/>
                      </a:pPr>
                      <a:r>
                        <a:rPr lang="en-US" sz="950" b="1" dirty="0">
                          <a:solidFill>
                            <a:srgbClr val="FFFFFF"/>
                          </a:solidFill>
                          <a:latin typeface="游ゴシック" pitchFamily="34" charset="0"/>
                          <a:ea typeface="游ゴシック" pitchFamily="34" charset="-122"/>
                          <a:cs typeface="游ゴシック" pitchFamily="34" charset="-120"/>
                        </a:rPr>
                        <a:t>条件</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950" b="1" dirty="0">
                          <a:solidFill>
                            <a:srgbClr val="FFFFFF"/>
                          </a:solidFill>
                          <a:latin typeface="游ゴシック" pitchFamily="34" charset="0"/>
                          <a:ea typeface="游ゴシック" pitchFamily="34" charset="-122"/>
                          <a:cs typeface="游ゴシック" pitchFamily="34" charset="-120"/>
                        </a:rPr>
                        <a:t>変化</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950" b="1" dirty="0">
                          <a:solidFill>
                            <a:srgbClr val="FFFFFF"/>
                          </a:solidFill>
                          <a:latin typeface="游ゴシック" pitchFamily="34" charset="0"/>
                          <a:ea typeface="游ゴシック" pitchFamily="34" charset="-122"/>
                          <a:cs typeface="游ゴシック" pitchFamily="34" charset="-120"/>
                        </a:rPr>
                        <a:t>列8［℃］</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950" b="1" dirty="0">
                          <a:solidFill>
                            <a:srgbClr val="FFFFFF"/>
                          </a:solidFill>
                          <a:latin typeface="游ゴシック" pitchFamily="34" charset="0"/>
                          <a:ea typeface="游ゴシック" pitchFamily="34" charset="-122"/>
                          <a:cs typeface="游ゴシック" pitchFamily="34" charset="-120"/>
                        </a:rPr>
                        <a:t>列11［℃］</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950" b="1" dirty="0">
                          <a:solidFill>
                            <a:srgbClr val="FFFFFF"/>
                          </a:solidFill>
                          <a:latin typeface="游ゴシック" pitchFamily="34" charset="0"/>
                          <a:ea typeface="游ゴシック" pitchFamily="34" charset="-122"/>
                          <a:cs typeface="游ゴシック" pitchFamily="34" charset="-120"/>
                        </a:rPr>
                        <a:t>判定</a:t>
                      </a:r>
                      <a:endParaRPr lang="en-US" sz="9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extLst>
                  <a:ext uri="{0D108BD9-81ED-4DB2-BD59-A6C34878D82A}">
                    <a16:rowId xmlns:a16="http://schemas.microsoft.com/office/drawing/2014/main" val="10000"/>
                  </a:ext>
                </a:extLst>
              </a:tr>
              <a:tr h="402336">
                <a:tc>
                  <a:txBody>
                    <a:bodyPr/>
                    <a:lstStyle/>
                    <a:p>
                      <a:pPr marL="0" indent="0" algn="ctr">
                        <a:buNone/>
                      </a:pPr>
                      <a:r>
                        <a:rPr lang="en-US" sz="850" b="1" dirty="0">
                          <a:solidFill>
                            <a:srgbClr val="172033"/>
                          </a:solidFill>
                          <a:latin typeface="游ゴシック" pitchFamily="34" charset="0"/>
                          <a:ea typeface="游ゴシック" pitchFamily="34" charset="-122"/>
                          <a:cs typeface="游ゴシック" pitchFamily="34" charset="-120"/>
                        </a:rPr>
                        <a:t>気温</a:t>
                      </a:r>
                      <a:endParaRPr lang="en-US" sz="8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＋1℃</a:t>
                      </a:r>
                      <a:endParaRPr lang="en-US" sz="8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＋0.05</a:t>
                      </a:r>
                      <a:endParaRPr lang="en-US" sz="850" dirty="0">
                        <a:latin typeface="游ゴシック" charset="0"/>
                        <a:ea typeface="游ゴシック" charset="0"/>
                        <a:cs typeface="游ゴシック" charset="0"/>
                      </a:endParaRPr>
                    </a:p>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＋0.01〜＋0.13</a:t>
                      </a:r>
                      <a:endParaRPr lang="en-US" sz="8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＋0.05</a:t>
                      </a:r>
                      <a:endParaRPr lang="en-US" sz="850" dirty="0">
                        <a:latin typeface="游ゴシック" charset="0"/>
                        <a:ea typeface="游ゴシック" charset="0"/>
                        <a:cs typeface="游ゴシック" charset="0"/>
                      </a:endParaRPr>
                    </a:p>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＋0.01〜＋0.11</a:t>
                      </a:r>
                      <a:endParaRPr lang="en-US" sz="8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b="1" dirty="0" err="1">
                          <a:solidFill>
                            <a:srgbClr val="E66C64"/>
                          </a:solidFill>
                          <a:latin typeface="游ゴシック" pitchFamily="34" charset="0"/>
                          <a:ea typeface="游ゴシック" pitchFamily="34" charset="-122"/>
                          <a:cs typeface="游ゴシック" pitchFamily="34" charset="-120"/>
                        </a:rPr>
                        <a:t>効果あり</a:t>
                      </a:r>
                      <a:endParaRPr lang="en-US" sz="8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lgn="ctr">
                        <a:buNone/>
                      </a:pPr>
                      <a:r>
                        <a:rPr lang="en-US" sz="850" b="1" dirty="0">
                          <a:solidFill>
                            <a:srgbClr val="172033"/>
                          </a:solidFill>
                          <a:latin typeface="游ゴシック" pitchFamily="34" charset="0"/>
                          <a:ea typeface="游ゴシック" pitchFamily="34" charset="-122"/>
                          <a:cs typeface="游ゴシック" pitchFamily="34" charset="-120"/>
                        </a:rPr>
                        <a:t>照度比</a:t>
                      </a:r>
                      <a:endParaRPr lang="en-US" sz="8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＋0.1</a:t>
                      </a:r>
                      <a:endParaRPr lang="en-US" sz="8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＋0.03</a:t>
                      </a:r>
                      <a:endParaRPr lang="en-US" sz="850" dirty="0">
                        <a:latin typeface="游ゴシック" charset="0"/>
                        <a:ea typeface="游ゴシック" charset="0"/>
                        <a:cs typeface="游ゴシック" charset="0"/>
                      </a:endParaRPr>
                    </a:p>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−0.05〜＋0.09</a:t>
                      </a:r>
                      <a:endParaRPr lang="en-US" sz="8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0.00</a:t>
                      </a:r>
                      <a:endParaRPr lang="en-US" sz="850" dirty="0">
                        <a:latin typeface="游ゴシック" charset="0"/>
                        <a:ea typeface="游ゴシック" charset="0"/>
                        <a:cs typeface="游ゴシック" charset="0"/>
                      </a:endParaRPr>
                    </a:p>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−0.07〜＋0.07</a:t>
                      </a:r>
                      <a:endParaRPr lang="en-US" sz="8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b="1" dirty="0">
                          <a:solidFill>
                            <a:srgbClr val="5E6B7A"/>
                          </a:solidFill>
                          <a:latin typeface="游ゴシック" pitchFamily="34" charset="0"/>
                          <a:ea typeface="游ゴシック" pitchFamily="34" charset="-122"/>
                          <a:cs typeface="游ゴシック" pitchFamily="34" charset="-120"/>
                        </a:rPr>
                        <a:t>見られない</a:t>
                      </a:r>
                      <a:endParaRPr lang="en-US" sz="8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lgn="ctr">
                        <a:buNone/>
                      </a:pPr>
                      <a:r>
                        <a:rPr lang="en-US" sz="850" b="1" dirty="0">
                          <a:solidFill>
                            <a:srgbClr val="172033"/>
                          </a:solidFill>
                          <a:latin typeface="游ゴシック" pitchFamily="34" charset="0"/>
                          <a:ea typeface="游ゴシック" pitchFamily="34" charset="-122"/>
                          <a:cs typeface="游ゴシック" pitchFamily="34" charset="-120"/>
                        </a:rPr>
                        <a:t>風速</a:t>
                      </a:r>
                      <a:endParaRPr lang="en-US" sz="8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＋1m/s</a:t>
                      </a:r>
                      <a:endParaRPr lang="en-US" sz="8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−0.05</a:t>
                      </a:r>
                      <a:endParaRPr lang="en-US" sz="850" dirty="0">
                        <a:latin typeface="游ゴシック" charset="0"/>
                        <a:ea typeface="游ゴシック" charset="0"/>
                        <a:cs typeface="游ゴシック" charset="0"/>
                      </a:endParaRPr>
                    </a:p>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−0.22〜＋0.10</a:t>
                      </a:r>
                      <a:endParaRPr lang="en-US" sz="8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−0.10</a:t>
                      </a:r>
                      <a:endParaRPr lang="en-US" sz="850" dirty="0">
                        <a:latin typeface="游ゴシック" charset="0"/>
                        <a:ea typeface="游ゴシック" charset="0"/>
                        <a:cs typeface="游ゴシック" charset="0"/>
                      </a:endParaRPr>
                    </a:p>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−0.25〜＋0.02</a:t>
                      </a:r>
                      <a:endParaRPr lang="en-US" sz="8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b="1" dirty="0">
                          <a:solidFill>
                            <a:srgbClr val="5E6B7A"/>
                          </a:solidFill>
                          <a:latin typeface="游ゴシック" pitchFamily="34" charset="0"/>
                          <a:ea typeface="游ゴシック" pitchFamily="34" charset="-122"/>
                          <a:cs typeface="游ゴシック" pitchFamily="34" charset="-120"/>
                        </a:rPr>
                        <a:t>見られない</a:t>
                      </a:r>
                      <a:endParaRPr lang="en-US" sz="8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lgn="ctr">
                        <a:buNone/>
                      </a:pPr>
                      <a:r>
                        <a:rPr lang="en-US" sz="850" b="1" dirty="0">
                          <a:solidFill>
                            <a:srgbClr val="172033"/>
                          </a:solidFill>
                          <a:latin typeface="游ゴシック" pitchFamily="34" charset="0"/>
                          <a:ea typeface="游ゴシック" pitchFamily="34" charset="-122"/>
                          <a:cs typeface="游ゴシック" pitchFamily="34" charset="-120"/>
                        </a:rPr>
                        <a:t>経過日数</a:t>
                      </a:r>
                      <a:endParaRPr lang="en-US" sz="8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＋10日間</a:t>
                      </a:r>
                      <a:endParaRPr lang="en-US" sz="8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−0.07</a:t>
                      </a:r>
                      <a:endParaRPr lang="en-US" sz="850" dirty="0">
                        <a:latin typeface="游ゴシック" charset="0"/>
                        <a:ea typeface="游ゴシック" charset="0"/>
                        <a:cs typeface="游ゴシック" charset="0"/>
                      </a:endParaRPr>
                    </a:p>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−0.18〜＋0.05</a:t>
                      </a:r>
                      <a:endParaRPr lang="en-US" sz="8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−0.02</a:t>
                      </a:r>
                      <a:endParaRPr lang="en-US" sz="850" dirty="0">
                        <a:latin typeface="游ゴシック" charset="0"/>
                        <a:ea typeface="游ゴシック" charset="0"/>
                        <a:cs typeface="游ゴシック" charset="0"/>
                      </a:endParaRPr>
                    </a:p>
                    <a:p>
                      <a:pPr marL="0" indent="0" algn="ctr">
                        <a:buNone/>
                      </a:pPr>
                      <a:r>
                        <a:rPr lang="en-US" sz="850" dirty="0">
                          <a:solidFill>
                            <a:srgbClr val="172033"/>
                          </a:solidFill>
                          <a:latin typeface="游ゴシック" pitchFamily="34" charset="0"/>
                          <a:ea typeface="游ゴシック" pitchFamily="34" charset="-122"/>
                          <a:cs typeface="游ゴシック" pitchFamily="34" charset="-120"/>
                        </a:rPr>
                        <a:t>−0.12〜＋0.10</a:t>
                      </a:r>
                      <a:endParaRPr lang="en-US" sz="8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850" b="1" dirty="0">
                          <a:solidFill>
                            <a:srgbClr val="5E6B7A"/>
                          </a:solidFill>
                          <a:latin typeface="游ゴシック" pitchFamily="34" charset="0"/>
                          <a:ea typeface="游ゴシック" pitchFamily="34" charset="-122"/>
                          <a:cs typeface="游ゴシック" pitchFamily="34" charset="-120"/>
                        </a:rPr>
                        <a:t>見られない</a:t>
                      </a:r>
                      <a:endParaRPr lang="en-US" sz="8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1" name="Text 8"/>
          <p:cNvSpPr txBox="1"/>
          <p:nvPr/>
        </p:nvSpPr>
        <p:spPr>
          <a:xfrm>
            <a:off x="4160520" y="3767328"/>
            <a:ext cx="4617720" cy="274320"/>
          </a:xfrm>
          <a:prstGeom prst="rect">
            <a:avLst/>
          </a:prstGeom>
          <a:noFill/>
          <a:ln/>
        </p:spPr>
        <p:txBody>
          <a:bodyPr wrap="square" lIns="0" tIns="0" rIns="0" bIns="0" rtlCol="0" anchor="ctr"/>
          <a:lstStyle/>
          <a:p>
            <a:pPr marL="0" indent="0">
              <a:buNone/>
            </a:pPr>
            <a:r>
              <a:rPr lang="en-US" sz="800" dirty="0">
                <a:solidFill>
                  <a:srgbClr val="5E6B7A"/>
                </a:solidFill>
                <a:latin typeface="游ゴシック" pitchFamily="34" charset="0"/>
                <a:ea typeface="游ゴシック" pitchFamily="34" charset="-122"/>
                <a:cs typeface="游ゴシック" pitchFamily="34" charset="-120"/>
              </a:rPr>
              <a:t>上段：条件が「変化」の分だけ増えたときの吸気温度差の変化、下段：95％区間。区間が0℃をまたぐものは「見られない」</a:t>
            </a:r>
            <a:endParaRPr lang="en-US" sz="800" dirty="0"/>
          </a:p>
        </p:txBody>
      </p:sp>
      <p:sp>
        <p:nvSpPr>
          <p:cNvPr id="12" name="Shape 9"/>
          <p:cNvSpPr/>
          <p:nvPr/>
        </p:nvSpPr>
        <p:spPr>
          <a:xfrm>
            <a:off x="4160520" y="4069080"/>
            <a:ext cx="4617720" cy="667512"/>
          </a:xfrm>
          <a:prstGeom prst="roundRect">
            <a:avLst>
              <a:gd name="adj" fmla="val 8219"/>
            </a:avLst>
          </a:prstGeom>
          <a:solidFill>
            <a:srgbClr val="FFF7D1"/>
          </a:solidFill>
          <a:ln w="12700">
            <a:solidFill>
              <a:srgbClr val="FFF7D1"/>
            </a:solidFill>
            <a:prstDash val="solid"/>
          </a:ln>
        </p:spPr>
        <p:txBody>
          <a:bodyPr/>
          <a:lstStyle/>
          <a:p>
            <a:endParaRPr lang="ja-JP" altLang="en-US"/>
          </a:p>
        </p:txBody>
      </p:sp>
      <p:sp>
        <p:nvSpPr>
          <p:cNvPr id="13" name="Text 10"/>
          <p:cNvSpPr txBox="1"/>
          <p:nvPr/>
        </p:nvSpPr>
        <p:spPr>
          <a:xfrm>
            <a:off x="4251960" y="4087368"/>
            <a:ext cx="4434840" cy="630936"/>
          </a:xfrm>
          <a:prstGeom prst="rect">
            <a:avLst/>
          </a:prstGeom>
          <a:noFill/>
          <a:ln/>
        </p:spPr>
        <p:txBody>
          <a:bodyPr wrap="square" lIns="0" tIns="0" rIns="0" bIns="0" rtlCol="0" anchor="ctr"/>
          <a:lstStyle/>
          <a:p>
            <a:pPr marL="0" indent="0">
              <a:buNone/>
            </a:pPr>
            <a:r>
              <a:rPr lang="en-US" sz="950" b="1" dirty="0">
                <a:solidFill>
                  <a:srgbClr val="ED7D31"/>
                </a:solidFill>
                <a:latin typeface="游ゴシック" pitchFamily="34" charset="0"/>
                <a:ea typeface="游ゴシック" pitchFamily="34" charset="-122"/>
                <a:cs typeface="游ゴシック" pitchFamily="34" charset="-120"/>
              </a:rPr>
              <a:t>読み取り　</a:t>
            </a:r>
            <a:r>
              <a:rPr lang="en-US" sz="950" dirty="0">
                <a:solidFill>
                  <a:srgbClr val="172033"/>
                </a:solidFill>
                <a:latin typeface="游ゴシック" pitchFamily="34" charset="0"/>
                <a:ea typeface="游ゴシック" pitchFamily="34" charset="-122"/>
                <a:cs typeface="游ゴシック" pitchFamily="34" charset="-120"/>
              </a:rPr>
              <a:t>気温が1℃上がると吸気温度差は約＋0.05℃大きくなる（低減効果が小さくなる）。20℃と35℃の日では約＋0.8℃の差。照度比・風速・経過日数の効果は見られない</a:t>
            </a:r>
            <a:endParaRPr lang="en-US" sz="9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18</a:t>
            </a:fld>
            <a:endParaRPr lang="en-US"/>
          </a:p>
        </p:txBody>
      </p:sp>
      <p:graphicFrame>
        <p:nvGraphicFramePr>
          <p:cNvPr id="26" name="グラフ reg"/>
          <p:cNvGraphicFramePr>
            <a:graphicFrameLocks noGrp="1"/>
          </p:cNvGraphicFramePr>
          <p:nvPr/>
        </p:nvGraphicFramePr>
        <p:xfrm>
          <a:off x="365760" y="1874520"/>
          <a:ext cx="3657600" cy="25146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分析5：風速別の吸気温度差</a:t>
            </a:r>
            <a:endParaRPr lang="en-US" sz="2000" dirty="0"/>
          </a:p>
        </p:txBody>
      </p:sp>
      <p:sp>
        <p:nvSpPr>
          <p:cNvPr id="3" name="Shape 1"/>
          <p:cNvSpPr/>
          <p:nvPr/>
        </p:nvSpPr>
        <p:spPr>
          <a:xfrm>
            <a:off x="7726680" y="155448"/>
            <a:ext cx="1097280" cy="274320"/>
          </a:xfrm>
          <a:prstGeom prst="roundRect">
            <a:avLst>
              <a:gd name="adj" fmla="val 26667"/>
            </a:avLst>
          </a:prstGeom>
          <a:solidFill>
            <a:srgbClr val="8E5BC4"/>
          </a:solidFill>
          <a:ln w="12700">
            <a:solidFill>
              <a:srgbClr val="8E5BC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補足分析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風の強さによって、吸気温度の低減効果の傾向が変わるかを確かめる</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屋上の風速（1時間平均）で4区分。勤務日の日中の1時間平均の吸気温度差（計274〜276時間）</a:t>
            </a:r>
            <a:endParaRPr lang="en-US" sz="1050" dirty="0"/>
          </a:p>
        </p:txBody>
      </p:sp>
      <p:sp>
        <p:nvSpPr>
          <p:cNvPr id="7" name="Text 5"/>
          <p:cNvSpPr txBox="1"/>
          <p:nvPr/>
        </p:nvSpPr>
        <p:spPr>
          <a:xfrm>
            <a:off x="365760" y="1325880"/>
            <a:ext cx="5074920" cy="201168"/>
          </a:xfrm>
          <a:prstGeom prst="rect">
            <a:avLst/>
          </a:prstGeom>
          <a:noFill/>
          <a:ln/>
        </p:spPr>
        <p:txBody>
          <a:bodyPr wrap="square" lIns="0" tIns="0" rIns="0" bIns="0" rtlCol="0" anchor="ctr"/>
          <a:lstStyle/>
          <a:p>
            <a:pPr marL="0" indent="0">
              <a:buNone/>
            </a:pPr>
            <a:r>
              <a:rPr lang="en-US" sz="950" b="1" dirty="0">
                <a:solidFill>
                  <a:srgbClr val="01B8AA"/>
                </a:solidFill>
                <a:latin typeface="游ゴシック" pitchFamily="34" charset="0"/>
                <a:ea typeface="游ゴシック" pitchFamily="34" charset="-122"/>
                <a:cs typeface="游ゴシック" pitchFamily="34" charset="-120"/>
              </a:rPr>
              <a:t>列8</a:t>
            </a:r>
            <a:endParaRPr lang="en-US" sz="950" dirty="0"/>
          </a:p>
        </p:txBody>
      </p:sp>
      <p:sp>
        <p:nvSpPr>
          <p:cNvPr id="9" name="Text 7"/>
          <p:cNvSpPr txBox="1"/>
          <p:nvPr/>
        </p:nvSpPr>
        <p:spPr>
          <a:xfrm>
            <a:off x="365760" y="3054096"/>
            <a:ext cx="5074920" cy="201168"/>
          </a:xfrm>
          <a:prstGeom prst="rect">
            <a:avLst/>
          </a:prstGeom>
          <a:noFill/>
          <a:ln/>
        </p:spPr>
        <p:txBody>
          <a:bodyPr wrap="square" lIns="0" tIns="0" rIns="0" bIns="0" rtlCol="0" anchor="ctr"/>
          <a:lstStyle/>
          <a:p>
            <a:pPr marL="0" indent="0">
              <a:buNone/>
            </a:pPr>
            <a:r>
              <a:rPr lang="en-US" sz="950" b="1" dirty="0">
                <a:solidFill>
                  <a:srgbClr val="118DFF"/>
                </a:solidFill>
                <a:latin typeface="游ゴシック" pitchFamily="34" charset="0"/>
                <a:ea typeface="游ゴシック" pitchFamily="34" charset="-122"/>
                <a:cs typeface="游ゴシック" pitchFamily="34" charset="-120"/>
              </a:rPr>
              <a:t>列11</a:t>
            </a:r>
            <a:endParaRPr lang="en-US" sz="950" dirty="0"/>
          </a:p>
        </p:txBody>
      </p:sp>
      <p:sp>
        <p:nvSpPr>
          <p:cNvPr id="11" name="Shape 9"/>
          <p:cNvSpPr/>
          <p:nvPr/>
        </p:nvSpPr>
        <p:spPr>
          <a:xfrm>
            <a:off x="5577840" y="1325880"/>
            <a:ext cx="3200400" cy="2167128"/>
          </a:xfrm>
          <a:prstGeom prst="roundRect">
            <a:avLst>
              <a:gd name="adj" fmla="val 2532"/>
            </a:avLst>
          </a:prstGeom>
          <a:solidFill>
            <a:srgbClr val="EAF4FF"/>
          </a:solidFill>
          <a:ln w="12700">
            <a:solidFill>
              <a:srgbClr val="EAF4FF"/>
            </a:solidFill>
            <a:prstDash val="solid"/>
          </a:ln>
        </p:spPr>
        <p:txBody>
          <a:bodyPr/>
          <a:lstStyle/>
          <a:p>
            <a:endParaRPr lang="ja-JP" altLang="en-US"/>
          </a:p>
        </p:txBody>
      </p:sp>
      <p:sp>
        <p:nvSpPr>
          <p:cNvPr id="12" name="Text 10"/>
          <p:cNvSpPr txBox="1"/>
          <p:nvPr/>
        </p:nvSpPr>
        <p:spPr>
          <a:xfrm>
            <a:off x="5715000" y="1399032"/>
            <a:ext cx="292608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a:t>
            </a:r>
            <a:endParaRPr lang="en-US" sz="1200" dirty="0"/>
          </a:p>
        </p:txBody>
      </p:sp>
      <p:sp>
        <p:nvSpPr>
          <p:cNvPr id="13" name="Text 11"/>
          <p:cNvSpPr txBox="1"/>
          <p:nvPr/>
        </p:nvSpPr>
        <p:spPr>
          <a:xfrm>
            <a:off x="5715000" y="1691640"/>
            <a:ext cx="2926080" cy="173736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列8：中央値は区分1・2で−0.14・−0.19℃、区分3・4で−0.05・＋0.02℃</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列11：どの区分も中央値−0.15〜−0.25℃で、ほぼ変わらない</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風速と吸気温度差の相関は列8で0.11、列11で−0.04と弱い</a:t>
            </a:r>
            <a:endParaRPr lang="en-US" sz="1050" dirty="0"/>
          </a:p>
        </p:txBody>
      </p:sp>
      <p:sp>
        <p:nvSpPr>
          <p:cNvPr id="14" name="Shape 12"/>
          <p:cNvSpPr/>
          <p:nvPr/>
        </p:nvSpPr>
        <p:spPr>
          <a:xfrm>
            <a:off x="5577840" y="3584448"/>
            <a:ext cx="3200400" cy="1143000"/>
          </a:xfrm>
          <a:prstGeom prst="roundRect">
            <a:avLst>
              <a:gd name="adj" fmla="val 4800"/>
            </a:avLst>
          </a:prstGeom>
          <a:solidFill>
            <a:srgbClr val="FFF7D1"/>
          </a:solidFill>
          <a:ln w="12700">
            <a:solidFill>
              <a:srgbClr val="FFF7D1"/>
            </a:solidFill>
            <a:prstDash val="solid"/>
          </a:ln>
        </p:spPr>
        <p:txBody>
          <a:bodyPr/>
          <a:lstStyle/>
          <a:p>
            <a:endParaRPr lang="ja-JP" altLang="en-US"/>
          </a:p>
        </p:txBody>
      </p:sp>
      <p:sp>
        <p:nvSpPr>
          <p:cNvPr id="15" name="Text 13"/>
          <p:cNvSpPr txBox="1"/>
          <p:nvPr/>
        </p:nvSpPr>
        <p:spPr>
          <a:xfrm>
            <a:off x="5715000" y="3630168"/>
            <a:ext cx="2926080" cy="1051560"/>
          </a:xfrm>
          <a:prstGeom prst="rect">
            <a:avLst/>
          </a:prstGeom>
          <a:noFill/>
          <a:ln/>
        </p:spPr>
        <p:txBody>
          <a:bodyPr wrap="square" lIns="0" tIns="0" rIns="0" bIns="0" rtlCol="0" anchor="t"/>
          <a:lstStyle/>
          <a:p>
            <a:pPr marL="0" indent="0">
              <a:buNone/>
            </a:pPr>
            <a:r>
              <a:rPr lang="en-US" sz="1050" b="1" dirty="0">
                <a:solidFill>
                  <a:srgbClr val="ED7D31"/>
                </a:solidFill>
                <a:latin typeface="游ゴシック" pitchFamily="34" charset="0"/>
                <a:ea typeface="游ゴシック" pitchFamily="34" charset="-122"/>
                <a:cs typeface="游ゴシック" pitchFamily="34" charset="-120"/>
              </a:rPr>
              <a:t>読み取り</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列8は風が強いほど低減効果が小さく見えるが、区分4の72％は晴れの時間。気温をそろえた回帰では、列11で風が強いほどやや低い（p.18）</a:t>
            </a:r>
            <a:endParaRPr 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19</a:t>
            </a:fld>
            <a:endParaRPr lang="en-US"/>
          </a:p>
        </p:txBody>
      </p:sp>
      <p:graphicFrame>
        <p:nvGraphicFramePr>
          <p:cNvPr id="26" name="グラフ a5_8"/>
          <p:cNvGraphicFramePr>
            <a:graphicFrameLocks noGrp="1"/>
          </p:cNvGraphicFramePr>
          <p:nvPr>
            <p:extLst>
              <p:ext uri="{D42A27DB-BD31-4B8C-83A1-F6EECF244321}">
                <p14:modId xmlns:p14="http://schemas.microsoft.com/office/powerpoint/2010/main" val="192842739"/>
              </p:ext>
            </p:extLst>
          </p:nvPr>
        </p:nvGraphicFramePr>
        <p:xfrm>
          <a:off x="365760" y="1527048"/>
          <a:ext cx="5074920" cy="147218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7" name="グラフ a5_11"/>
          <p:cNvGraphicFramePr>
            <a:graphicFrameLocks noGrp="1"/>
          </p:cNvGraphicFramePr>
          <p:nvPr>
            <p:extLst>
              <p:ext uri="{D42A27DB-BD31-4B8C-83A1-F6EECF244321}">
                <p14:modId xmlns:p14="http://schemas.microsoft.com/office/powerpoint/2010/main" val="3706076411"/>
              </p:ext>
            </p:extLst>
          </p:nvPr>
        </p:nvGraphicFramePr>
        <p:xfrm>
          <a:off x="365760" y="3255264"/>
          <a:ext cx="5074920" cy="1472184"/>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分析7：期間による吸気温度差の推移</a:t>
            </a:r>
            <a:endParaRPr lang="en-US" sz="2000" dirty="0"/>
          </a:p>
        </p:txBody>
      </p:sp>
      <p:sp>
        <p:nvSpPr>
          <p:cNvPr id="3" name="Shape 1"/>
          <p:cNvSpPr/>
          <p:nvPr/>
        </p:nvSpPr>
        <p:spPr>
          <a:xfrm>
            <a:off x="7726680" y="155448"/>
            <a:ext cx="1097280" cy="274320"/>
          </a:xfrm>
          <a:prstGeom prst="roundRect">
            <a:avLst>
              <a:gd name="adj" fmla="val 26667"/>
            </a:avLst>
          </a:prstGeom>
          <a:solidFill>
            <a:srgbClr val="8E5BC4"/>
          </a:solidFill>
          <a:ln w="12700">
            <a:solidFill>
              <a:srgbClr val="8E5BC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補足分析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葉の茂り方の推移と、吸気温度の低減効果の推移の関係を確かめる</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勤務日の日中平均の吸気温度差（点）と7日間移動平均（線）。繁茂写真の緑被率は写真の受け取り後に追加</a:t>
            </a:r>
            <a:endParaRPr lang="en-US" sz="1050" dirty="0"/>
          </a:p>
        </p:txBody>
      </p:sp>
      <p:sp>
        <p:nvSpPr>
          <p:cNvPr id="8" name="Shape 6"/>
          <p:cNvSpPr/>
          <p:nvPr/>
        </p:nvSpPr>
        <p:spPr>
          <a:xfrm>
            <a:off x="5577840" y="1325880"/>
            <a:ext cx="3200400" cy="2167128"/>
          </a:xfrm>
          <a:prstGeom prst="roundRect">
            <a:avLst>
              <a:gd name="adj" fmla="val 2532"/>
            </a:avLst>
          </a:prstGeom>
          <a:solidFill>
            <a:srgbClr val="EAF4FF"/>
          </a:solidFill>
          <a:ln w="12700">
            <a:solidFill>
              <a:srgbClr val="EAF4FF"/>
            </a:solidFill>
            <a:prstDash val="solid"/>
          </a:ln>
        </p:spPr>
        <p:txBody>
          <a:bodyPr/>
          <a:lstStyle/>
          <a:p>
            <a:endParaRPr lang="ja-JP" altLang="en-US"/>
          </a:p>
        </p:txBody>
      </p:sp>
      <p:sp>
        <p:nvSpPr>
          <p:cNvPr id="9" name="Text 7"/>
          <p:cNvSpPr txBox="1"/>
          <p:nvPr/>
        </p:nvSpPr>
        <p:spPr>
          <a:xfrm>
            <a:off x="5715000" y="1399032"/>
            <a:ext cx="292608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a:t>
            </a:r>
            <a:endParaRPr lang="en-US" sz="1200" dirty="0"/>
          </a:p>
        </p:txBody>
      </p:sp>
      <p:sp>
        <p:nvSpPr>
          <p:cNvPr id="10" name="Text 8"/>
          <p:cNvSpPr txBox="1"/>
          <p:nvPr/>
        </p:nvSpPr>
        <p:spPr>
          <a:xfrm>
            <a:off x="5715000" y="1691640"/>
            <a:ext cx="2926080" cy="173736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列8：8月は−0.2〜0.3℃、9月は−0.6〜−0.2℃</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列11：8月は−0.5〜0.0℃、9月は−0.6〜−0.3℃</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9月の勤務日はすべて曇り・雨（晴れの日がない）</a:t>
            </a:r>
            <a:endParaRPr lang="en-US" sz="1050" dirty="0"/>
          </a:p>
        </p:txBody>
      </p:sp>
      <p:sp>
        <p:nvSpPr>
          <p:cNvPr id="11" name="Shape 9"/>
          <p:cNvSpPr/>
          <p:nvPr/>
        </p:nvSpPr>
        <p:spPr>
          <a:xfrm>
            <a:off x="5577840" y="3584448"/>
            <a:ext cx="3200400" cy="1143000"/>
          </a:xfrm>
          <a:prstGeom prst="roundRect">
            <a:avLst>
              <a:gd name="adj" fmla="val 4800"/>
            </a:avLst>
          </a:prstGeom>
          <a:solidFill>
            <a:srgbClr val="FFF7D1"/>
          </a:solidFill>
          <a:ln w="12700">
            <a:solidFill>
              <a:srgbClr val="FFF7D1"/>
            </a:solidFill>
            <a:prstDash val="solid"/>
          </a:ln>
        </p:spPr>
        <p:txBody>
          <a:bodyPr/>
          <a:lstStyle/>
          <a:p>
            <a:endParaRPr lang="ja-JP" altLang="en-US"/>
          </a:p>
        </p:txBody>
      </p:sp>
      <p:sp>
        <p:nvSpPr>
          <p:cNvPr id="12" name="Text 10"/>
          <p:cNvSpPr txBox="1"/>
          <p:nvPr/>
        </p:nvSpPr>
        <p:spPr>
          <a:xfrm>
            <a:off x="5715000" y="3630168"/>
            <a:ext cx="2926080" cy="1051560"/>
          </a:xfrm>
          <a:prstGeom prst="rect">
            <a:avLst/>
          </a:prstGeom>
          <a:noFill/>
          <a:ln/>
        </p:spPr>
        <p:txBody>
          <a:bodyPr wrap="square" lIns="0" tIns="0" rIns="0" bIns="0" rtlCol="0" anchor="t"/>
          <a:lstStyle/>
          <a:p>
            <a:pPr marL="0" indent="0">
              <a:buNone/>
            </a:pPr>
            <a:r>
              <a:rPr lang="en-US" sz="1050" b="1" dirty="0">
                <a:solidFill>
                  <a:srgbClr val="ED7D31"/>
                </a:solidFill>
                <a:latin typeface="游ゴシック" pitchFamily="34" charset="0"/>
                <a:ea typeface="游ゴシック" pitchFamily="34" charset="-122"/>
                <a:cs typeface="游ゴシック" pitchFamily="34" charset="-120"/>
              </a:rPr>
              <a:t>読み取り</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9月に低減効果が大きいのは、主に気温が下がったため（回帰で経過日数の影響は区間が0℃をまたぐ）。緑被率を加えて再確認する</a:t>
            </a:r>
            <a:endParaRPr 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20</a:t>
            </a:fld>
            <a:endParaRPr lang="en-US"/>
          </a:p>
        </p:txBody>
      </p:sp>
      <p:graphicFrame>
        <p:nvGraphicFramePr>
          <p:cNvPr id="26" name="グラフ a7"/>
          <p:cNvGraphicFramePr>
            <a:graphicFrameLocks noGrp="1"/>
          </p:cNvGraphicFramePr>
          <p:nvPr/>
        </p:nvGraphicFramePr>
        <p:xfrm>
          <a:off x="365760" y="1325880"/>
          <a:ext cx="5074920" cy="3401568"/>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分析8：代表日の選定結果</a:t>
            </a:r>
            <a:endParaRPr lang="en-US" sz="2000" dirty="0"/>
          </a:p>
        </p:txBody>
      </p:sp>
      <p:sp>
        <p:nvSpPr>
          <p:cNvPr id="3" name="Shape 1"/>
          <p:cNvSpPr/>
          <p:nvPr/>
        </p:nvSpPr>
        <p:spPr>
          <a:xfrm>
            <a:off x="7726680" y="155448"/>
            <a:ext cx="1097280" cy="274320"/>
          </a:xfrm>
          <a:prstGeom prst="roundRect">
            <a:avLst>
              <a:gd name="adj" fmla="val 26667"/>
            </a:avLst>
          </a:prstGeom>
          <a:solidFill>
            <a:srgbClr val="8E5BC4"/>
          </a:solidFill>
          <a:ln w="12700">
            <a:solidFill>
              <a:srgbClr val="8E5BC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補足分析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1日の流れを見せる例として、比べたい条件だけが違い、他の条件が近い2日を選んだ</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候補は両列とも日中9時間がそろう勤務日28日間。気温・照度比・風速を標準化し、比べる条件以外の距離が最小の組（上限0.5）</a:t>
            </a:r>
            <a:endParaRPr lang="en-US" sz="10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8412480" cy="2157984"/>
        </p:xfrm>
        <a:graphic>
          <a:graphicData uri="http://schemas.openxmlformats.org/drawingml/2006/table">
            <a:tbl>
              <a:tblPr/>
              <a:tblGrid>
                <a:gridCol w="7315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96012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gridCol w="1143000">
                  <a:extLst>
                    <a:ext uri="{9D8B030D-6E8A-4147-A177-3AD203B41FA5}">
                      <a16:colId xmlns:a16="http://schemas.microsoft.com/office/drawing/2014/main" val="20008"/>
                    </a:ext>
                  </a:extLst>
                </a:gridCol>
              </a:tblGrid>
              <a:tr h="292608">
                <a:tc>
                  <a:txBody>
                    <a:bodyPr/>
                    <a:lstStyle/>
                    <a:p>
                      <a:pPr marL="0" indent="0" algn="ctr">
                        <a:buNone/>
                      </a:pPr>
                      <a:r>
                        <a:rPr lang="en-US" sz="1000" b="1" dirty="0">
                          <a:solidFill>
                            <a:srgbClr val="FFFFFF"/>
                          </a:solidFill>
                          <a:latin typeface="游ゴシック" pitchFamily="34" charset="0"/>
                          <a:ea typeface="游ゴシック" pitchFamily="34" charset="-122"/>
                          <a:cs typeface="游ゴシック" pitchFamily="34" charset="-120"/>
                        </a:rPr>
                        <a:t>条件</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00" b="1" dirty="0">
                          <a:solidFill>
                            <a:srgbClr val="FFFFFF"/>
                          </a:solidFill>
                          <a:latin typeface="游ゴシック" pitchFamily="34" charset="0"/>
                          <a:ea typeface="游ゴシック" pitchFamily="34" charset="-122"/>
                          <a:cs typeface="游ゴシック" pitchFamily="34" charset="-120"/>
                        </a:rPr>
                        <a:t>日付</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00" b="1" dirty="0">
                          <a:solidFill>
                            <a:srgbClr val="FFFFFF"/>
                          </a:solidFill>
                          <a:latin typeface="游ゴシック" pitchFamily="34" charset="0"/>
                          <a:ea typeface="游ゴシック" pitchFamily="34" charset="-122"/>
                          <a:cs typeface="游ゴシック" pitchFamily="34" charset="-120"/>
                        </a:rPr>
                        <a:t>天気</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00" b="1" dirty="0">
                          <a:solidFill>
                            <a:srgbClr val="FFFFFF"/>
                          </a:solidFill>
                          <a:latin typeface="游ゴシック" pitchFamily="34" charset="0"/>
                          <a:ea typeface="游ゴシック" pitchFamily="34" charset="-122"/>
                          <a:cs typeface="游ゴシック" pitchFamily="34" charset="-120"/>
                        </a:rPr>
                        <a:t>気温</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00" b="1" dirty="0">
                          <a:solidFill>
                            <a:srgbClr val="FFFFFF"/>
                          </a:solidFill>
                          <a:latin typeface="游ゴシック" pitchFamily="34" charset="0"/>
                          <a:ea typeface="游ゴシック" pitchFamily="34" charset="-122"/>
                          <a:cs typeface="游ゴシック" pitchFamily="34" charset="-120"/>
                        </a:rPr>
                        <a:t>照度比</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00" b="1" dirty="0">
                          <a:solidFill>
                            <a:srgbClr val="FFFFFF"/>
                          </a:solidFill>
                          <a:latin typeface="游ゴシック" pitchFamily="34" charset="0"/>
                          <a:ea typeface="游ゴシック" pitchFamily="34" charset="-122"/>
                          <a:cs typeface="游ゴシック" pitchFamily="34" charset="-120"/>
                        </a:rPr>
                        <a:t>風速</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00" b="1" dirty="0">
                          <a:solidFill>
                            <a:srgbClr val="FFFFFF"/>
                          </a:solidFill>
                          <a:latin typeface="游ゴシック" pitchFamily="34" charset="0"/>
                          <a:ea typeface="游ゴシック" pitchFamily="34" charset="-122"/>
                          <a:cs typeface="游ゴシック" pitchFamily="34" charset="-120"/>
                        </a:rPr>
                        <a:t>距離</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00" b="1" dirty="0">
                          <a:solidFill>
                            <a:srgbClr val="FFFFFF"/>
                          </a:solidFill>
                          <a:latin typeface="游ゴシック" pitchFamily="34" charset="0"/>
                          <a:ea typeface="游ゴシック" pitchFamily="34" charset="-122"/>
                          <a:cs typeface="游ゴシック" pitchFamily="34" charset="-120"/>
                        </a:rPr>
                        <a:t>列8</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00" b="1" dirty="0">
                          <a:solidFill>
                            <a:srgbClr val="FFFFFF"/>
                          </a:solidFill>
                          <a:latin typeface="游ゴシック" pitchFamily="34" charset="0"/>
                          <a:ea typeface="游ゴシック" pitchFamily="34" charset="-122"/>
                          <a:cs typeface="游ゴシック" pitchFamily="34" charset="-120"/>
                        </a:rPr>
                        <a:t>列11</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extLst>
                  <a:ext uri="{0D108BD9-81ED-4DB2-BD59-A6C34878D82A}">
                    <a16:rowId xmlns:a16="http://schemas.microsoft.com/office/drawing/2014/main" val="10000"/>
                  </a:ext>
                </a:extLst>
              </a:tr>
              <a:tr h="310896">
                <a:tc rowSpan="2">
                  <a:txBody>
                    <a:bodyPr/>
                    <a:lstStyle/>
                    <a:p>
                      <a:pPr marL="0" indent="0" algn="ctr">
                        <a:buNone/>
                      </a:pPr>
                      <a:r>
                        <a:rPr lang="en-US" sz="1000" b="1" dirty="0">
                          <a:solidFill>
                            <a:srgbClr val="172033"/>
                          </a:solidFill>
                          <a:latin typeface="游ゴシック" pitchFamily="34" charset="0"/>
                          <a:ea typeface="游ゴシック" pitchFamily="34" charset="-122"/>
                          <a:cs typeface="游ゴシック" pitchFamily="34" charset="-120"/>
                        </a:rPr>
                        <a:t>天気</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8/19</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晴れ</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31.6</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b="1" dirty="0">
                          <a:solidFill>
                            <a:srgbClr val="172033"/>
                          </a:solidFill>
                          <a:latin typeface="游ゴシック" pitchFamily="34" charset="0"/>
                          <a:ea typeface="游ゴシック" pitchFamily="34" charset="-122"/>
                          <a:cs typeface="游ゴシック" pitchFamily="34" charset="-120"/>
                        </a:rPr>
                        <a:t>0.84</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2.2</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rowSpan="2">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0.49</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E66C64"/>
                          </a:solidFill>
                          <a:latin typeface="游ゴシック" pitchFamily="34" charset="0"/>
                          <a:ea typeface="游ゴシック" pitchFamily="34" charset="-122"/>
                          <a:cs typeface="游ゴシック" pitchFamily="34" charset="-120"/>
                        </a:rPr>
                        <a:t>＋0.26</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−0.05</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1"/>
                  </a:ext>
                </a:extLst>
              </a:tr>
              <a:tr h="310896">
                <a:tc vMerge="1">
                  <a:txBody>
                    <a:bodyPr/>
                    <a:lstStyle/>
                    <a:p>
                      <a:endParaRPr lang="ja-JP"/>
                    </a:p>
                  </a:txBody>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9/2</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曇り</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30.6</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b="1" dirty="0">
                          <a:solidFill>
                            <a:srgbClr val="172033"/>
                          </a:solidFill>
                          <a:latin typeface="游ゴシック" pitchFamily="34" charset="0"/>
                          <a:ea typeface="游ゴシック" pitchFamily="34" charset="-122"/>
                          <a:cs typeface="游ゴシック" pitchFamily="34" charset="-120"/>
                        </a:rPr>
                        <a:t>0.63</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1.9</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vMerge="1">
                  <a:txBody>
                    <a:bodyPr/>
                    <a:lstStyle/>
                    <a:p>
                      <a:endParaRPr lang="ja-JP"/>
                    </a:p>
                  </a:txBody>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−0.24</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−0.35</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2"/>
                  </a:ext>
                </a:extLst>
              </a:tr>
              <a:tr h="310896">
                <a:tc rowSpan="2">
                  <a:txBody>
                    <a:bodyPr/>
                    <a:lstStyle/>
                    <a:p>
                      <a:pPr marL="0" indent="0" algn="ctr">
                        <a:buNone/>
                      </a:pPr>
                      <a:r>
                        <a:rPr lang="en-US" sz="1000" b="1" dirty="0">
                          <a:solidFill>
                            <a:srgbClr val="172033"/>
                          </a:solidFill>
                          <a:latin typeface="游ゴシック" pitchFamily="34" charset="0"/>
                          <a:ea typeface="游ゴシック" pitchFamily="34" charset="-122"/>
                          <a:cs typeface="游ゴシック" pitchFamily="34" charset="-120"/>
                        </a:rPr>
                        <a:t>風</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9/4</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曇り</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25.5</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0.22</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b="1" dirty="0">
                          <a:solidFill>
                            <a:srgbClr val="172033"/>
                          </a:solidFill>
                          <a:latin typeface="游ゴシック" pitchFamily="34" charset="0"/>
                          <a:ea typeface="游ゴシック" pitchFamily="34" charset="-122"/>
                          <a:cs typeface="游ゴシック" pitchFamily="34" charset="-120"/>
                        </a:rPr>
                        <a:t>1.2</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rowSpan="2">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0.14</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−0.39</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−0.23</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3"/>
                  </a:ext>
                </a:extLst>
              </a:tr>
              <a:tr h="310896">
                <a:tc vMerge="1">
                  <a:txBody>
                    <a:bodyPr/>
                    <a:lstStyle/>
                    <a:p>
                      <a:endParaRPr lang="ja-JP"/>
                    </a:p>
                  </a:txBody>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8/3</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曇り</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25.9</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0.24</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b="1" dirty="0">
                          <a:solidFill>
                            <a:srgbClr val="172033"/>
                          </a:solidFill>
                          <a:latin typeface="游ゴシック" pitchFamily="34" charset="0"/>
                          <a:ea typeface="游ゴシック" pitchFamily="34" charset="-122"/>
                          <a:cs typeface="游ゴシック" pitchFamily="34" charset="-120"/>
                        </a:rPr>
                        <a:t>2.3</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vMerge="1">
                  <a:txBody>
                    <a:bodyPr/>
                    <a:lstStyle/>
                    <a:p>
                      <a:endParaRPr lang="ja-JP"/>
                    </a:p>
                  </a:txBody>
                  <a:tcPr/>
                </a:tc>
                <a:tc>
                  <a:txBody>
                    <a:bodyPr/>
                    <a:lstStyle/>
                    <a:p>
                      <a:pPr marL="0" indent="0" algn="ctr">
                        <a:buNone/>
                      </a:pPr>
                      <a:r>
                        <a:rPr lang="en-US" sz="1000" dirty="0">
                          <a:solidFill>
                            <a:srgbClr val="E66C64"/>
                          </a:solidFill>
                          <a:latin typeface="游ゴシック" pitchFamily="34" charset="0"/>
                          <a:ea typeface="游ゴシック" pitchFamily="34" charset="-122"/>
                          <a:cs typeface="游ゴシック" pitchFamily="34" charset="-120"/>
                        </a:rPr>
                        <a:t>＋0.12</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−0.05</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4"/>
                  </a:ext>
                </a:extLst>
              </a:tr>
              <a:tr h="310896">
                <a:tc>
                  <a:txBody>
                    <a:bodyPr/>
                    <a:lstStyle/>
                    <a:p>
                      <a:pPr marL="0" indent="0" algn="ctr">
                        <a:buNone/>
                      </a:pPr>
                      <a:r>
                        <a:rPr lang="en-US" sz="1000" b="1" dirty="0">
                          <a:solidFill>
                            <a:srgbClr val="172033"/>
                          </a:solidFill>
                          <a:latin typeface="游ゴシック" pitchFamily="34" charset="0"/>
                          <a:ea typeface="游ゴシック" pitchFamily="34" charset="-122"/>
                          <a:cs typeface="游ゴシック" pitchFamily="34" charset="-120"/>
                        </a:rPr>
                        <a:t>繁茂</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gridSpan="5">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8月上旬と9月上旬</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0.92</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gridSpan="2">
                  <a:txBody>
                    <a:bodyPr/>
                    <a:lstStyle/>
                    <a:p>
                      <a:pPr marL="0" indent="0" algn="ctr">
                        <a:buNone/>
                      </a:pPr>
                      <a:r>
                        <a:rPr lang="en-US" sz="1000" dirty="0">
                          <a:solidFill>
                            <a:srgbClr val="5E6B7A"/>
                          </a:solidFill>
                          <a:latin typeface="游ゴシック" pitchFamily="34" charset="0"/>
                          <a:ea typeface="游ゴシック" pitchFamily="34" charset="-122"/>
                          <a:cs typeface="游ゴシック" pitchFamily="34" charset="-120"/>
                        </a:rPr>
                        <a:t>該当なし</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hMerge="1">
                  <a:txBody>
                    <a:bodyPr/>
                    <a:lstStyle/>
                    <a:p>
                      <a:endParaRPr lang="ja-JP"/>
                    </a:p>
                  </a:txBody>
                  <a:tcPr/>
                </a:tc>
                <a:extLst>
                  <a:ext uri="{0D108BD9-81ED-4DB2-BD59-A6C34878D82A}">
                    <a16:rowId xmlns:a16="http://schemas.microsoft.com/office/drawing/2014/main" val="10005"/>
                  </a:ext>
                </a:extLst>
              </a:tr>
              <a:tr h="310896">
                <a:tc>
                  <a:txBody>
                    <a:bodyPr/>
                    <a:lstStyle/>
                    <a:p>
                      <a:pPr marL="0" indent="0" algn="ctr">
                        <a:buNone/>
                      </a:pPr>
                      <a:r>
                        <a:rPr lang="en-US" sz="1000" b="1" dirty="0">
                          <a:solidFill>
                            <a:srgbClr val="172033"/>
                          </a:solidFill>
                          <a:latin typeface="游ゴシック" pitchFamily="34" charset="0"/>
                          <a:ea typeface="游ゴシック" pitchFamily="34" charset="-122"/>
                          <a:cs typeface="游ゴシック" pitchFamily="34" charset="-120"/>
                        </a:rPr>
                        <a:t>典型日</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8/17</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晴れ</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29.8</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0.77</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1.8</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0.27</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−0.12</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−0.29</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 5"/>
          <p:cNvSpPr txBox="1"/>
          <p:nvPr/>
        </p:nvSpPr>
        <p:spPr>
          <a:xfrm>
            <a:off x="365760" y="3611880"/>
            <a:ext cx="8412480" cy="201168"/>
          </a:xfrm>
          <a:prstGeom prst="rect">
            <a:avLst/>
          </a:prstGeom>
          <a:noFill/>
          <a:ln/>
        </p:spPr>
        <p:txBody>
          <a:bodyPr wrap="square" lIns="0" tIns="0" rIns="0" bIns="0" rtlCol="0" anchor="ctr"/>
          <a:lstStyle/>
          <a:p>
            <a:pPr marL="0" indent="0">
              <a:buNone/>
            </a:pPr>
            <a:r>
              <a:rPr lang="en-US" sz="850" dirty="0">
                <a:solidFill>
                  <a:srgbClr val="5E6B7A"/>
                </a:solidFill>
                <a:latin typeface="游ゴシック" pitchFamily="34" charset="0"/>
                <a:ea typeface="游ゴシック" pitchFamily="34" charset="-122"/>
                <a:cs typeface="游ゴシック" pitchFamily="34" charset="-120"/>
              </a:rPr>
              <a:t>気温［℃］・風速［m/s］は日中平均。列8・列11はその日の日中平均の吸気温度差［℃］。太字は比べた条件</a:t>
            </a:r>
            <a:endParaRPr lang="en-US" sz="850" dirty="0"/>
          </a:p>
        </p:txBody>
      </p:sp>
      <p:sp>
        <p:nvSpPr>
          <p:cNvPr id="9" name="Shape 6"/>
          <p:cNvSpPr/>
          <p:nvPr/>
        </p:nvSpPr>
        <p:spPr>
          <a:xfrm>
            <a:off x="365760" y="3886200"/>
            <a:ext cx="8412480" cy="841248"/>
          </a:xfrm>
          <a:prstGeom prst="roundRect">
            <a:avLst>
              <a:gd name="adj" fmla="val 6522"/>
            </a:avLst>
          </a:prstGeom>
          <a:solidFill>
            <a:srgbClr val="FFF7D1"/>
          </a:solidFill>
          <a:ln w="12700">
            <a:solidFill>
              <a:srgbClr val="FFF7D1"/>
            </a:solidFill>
            <a:prstDash val="solid"/>
          </a:ln>
        </p:spPr>
        <p:txBody>
          <a:bodyPr/>
          <a:lstStyle/>
          <a:p>
            <a:endParaRPr lang="ja-JP" altLang="en-US"/>
          </a:p>
        </p:txBody>
      </p:sp>
      <p:sp>
        <p:nvSpPr>
          <p:cNvPr id="10" name="Text 7"/>
          <p:cNvSpPr txBox="1"/>
          <p:nvPr/>
        </p:nvSpPr>
        <p:spPr>
          <a:xfrm>
            <a:off x="502920" y="3959352"/>
            <a:ext cx="8138160" cy="256032"/>
          </a:xfrm>
          <a:prstGeom prst="rect">
            <a:avLst/>
          </a:prstGeom>
          <a:noFill/>
          <a:ln/>
        </p:spPr>
        <p:txBody>
          <a:bodyPr wrap="square" lIns="0" tIns="0" rIns="0" bIns="0" rtlCol="0" anchor="ctr"/>
          <a:lstStyle/>
          <a:p>
            <a:pPr marL="0" indent="0">
              <a:buNone/>
            </a:pPr>
            <a:r>
              <a:rPr lang="en-US" sz="1200" b="1" dirty="0">
                <a:solidFill>
                  <a:srgbClr val="ED7D31"/>
                </a:solidFill>
                <a:latin typeface="游ゴシック" pitchFamily="34" charset="0"/>
                <a:ea typeface="游ゴシック" pitchFamily="34" charset="-122"/>
                <a:cs typeface="游ゴシック" pitchFamily="34" charset="-120"/>
              </a:rPr>
              <a:t>結果</a:t>
            </a:r>
            <a:endParaRPr lang="en-US" sz="1200" dirty="0"/>
          </a:p>
        </p:txBody>
      </p:sp>
      <p:sp>
        <p:nvSpPr>
          <p:cNvPr id="11" name="Text 8"/>
          <p:cNvSpPr txBox="1"/>
          <p:nvPr/>
        </p:nvSpPr>
        <p:spPr>
          <a:xfrm>
            <a:off x="502920" y="4251960"/>
            <a:ext cx="8138160" cy="41148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繁茂の組は、9月に晴れの日がなく気象の近い日が見つからなかった（最小距離0.92が上限0.5を超える）ため該当なしとした</a:t>
            </a:r>
            <a:endParaRPr 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分析8：代表日（晴れの日と曇りの日）</a:t>
            </a:r>
            <a:endParaRPr lang="en-US" sz="2000" dirty="0"/>
          </a:p>
        </p:txBody>
      </p:sp>
      <p:sp>
        <p:nvSpPr>
          <p:cNvPr id="3" name="Shape 1"/>
          <p:cNvSpPr/>
          <p:nvPr/>
        </p:nvSpPr>
        <p:spPr>
          <a:xfrm>
            <a:off x="7726680" y="155448"/>
            <a:ext cx="1097280" cy="274320"/>
          </a:xfrm>
          <a:prstGeom prst="roundRect">
            <a:avLst>
              <a:gd name="adj" fmla="val 26667"/>
            </a:avLst>
          </a:prstGeom>
          <a:solidFill>
            <a:srgbClr val="8E5BC4"/>
          </a:solidFill>
          <a:ln w="12700">
            <a:solidFill>
              <a:srgbClr val="8E5BC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補足分析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1日の流れを示す例（結論の根拠には使わない）。気温・風速が近く、日差しが違う2日</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10分平均。上段：吸気温度と屋上の気温、下段：吸気温度差</a:t>
            </a:r>
            <a:endParaRPr lang="en-US" sz="1050" dirty="0"/>
          </a:p>
        </p:txBody>
      </p:sp>
      <p:sp>
        <p:nvSpPr>
          <p:cNvPr id="7" name="Text 5"/>
          <p:cNvSpPr txBox="1"/>
          <p:nvPr/>
        </p:nvSpPr>
        <p:spPr>
          <a:xfrm>
            <a:off x="365760" y="1325880"/>
            <a:ext cx="2491740" cy="201168"/>
          </a:xfrm>
          <a:prstGeom prst="rect">
            <a:avLst/>
          </a:prstGeom>
          <a:noFill/>
          <a:ln/>
        </p:spPr>
        <p:txBody>
          <a:bodyPr wrap="square" lIns="0" tIns="0" rIns="0" bIns="0" rtlCol="0" anchor="ctr"/>
          <a:lstStyle/>
          <a:p>
            <a:pPr marL="0" indent="0">
              <a:buNone/>
            </a:pPr>
            <a:r>
              <a:rPr lang="en-US" sz="950" b="1" dirty="0">
                <a:solidFill>
                  <a:srgbClr val="22354F"/>
                </a:solidFill>
                <a:latin typeface="游ゴシック" pitchFamily="34" charset="0"/>
                <a:ea typeface="游ゴシック" pitchFamily="34" charset="-122"/>
                <a:cs typeface="游ゴシック" pitchFamily="34" charset="-120"/>
              </a:rPr>
              <a:t>8/19　晴れ・照度比0.84</a:t>
            </a:r>
            <a:endParaRPr lang="en-US" sz="950" dirty="0"/>
          </a:p>
        </p:txBody>
      </p:sp>
      <p:sp>
        <p:nvSpPr>
          <p:cNvPr id="9" name="Text 7"/>
          <p:cNvSpPr txBox="1"/>
          <p:nvPr/>
        </p:nvSpPr>
        <p:spPr>
          <a:xfrm>
            <a:off x="2948940" y="1325880"/>
            <a:ext cx="2491740" cy="201168"/>
          </a:xfrm>
          <a:prstGeom prst="rect">
            <a:avLst/>
          </a:prstGeom>
          <a:noFill/>
          <a:ln/>
        </p:spPr>
        <p:txBody>
          <a:bodyPr wrap="square" lIns="0" tIns="0" rIns="0" bIns="0" rtlCol="0" anchor="ctr"/>
          <a:lstStyle/>
          <a:p>
            <a:pPr marL="0" indent="0">
              <a:buNone/>
            </a:pPr>
            <a:r>
              <a:rPr lang="en-US" sz="950" b="1" dirty="0">
                <a:solidFill>
                  <a:srgbClr val="22354F"/>
                </a:solidFill>
                <a:latin typeface="游ゴシック" pitchFamily="34" charset="0"/>
                <a:ea typeface="游ゴシック" pitchFamily="34" charset="-122"/>
                <a:cs typeface="游ゴシック" pitchFamily="34" charset="-120"/>
              </a:rPr>
              <a:t>9/2　曇り・照度比0.63</a:t>
            </a:r>
            <a:endParaRPr lang="en-US" sz="950" dirty="0"/>
          </a:p>
        </p:txBody>
      </p:sp>
      <p:sp>
        <p:nvSpPr>
          <p:cNvPr id="13" name="Shape 11"/>
          <p:cNvSpPr/>
          <p:nvPr/>
        </p:nvSpPr>
        <p:spPr>
          <a:xfrm>
            <a:off x="5577840" y="1325880"/>
            <a:ext cx="3200400" cy="2167128"/>
          </a:xfrm>
          <a:prstGeom prst="roundRect">
            <a:avLst>
              <a:gd name="adj" fmla="val 2532"/>
            </a:avLst>
          </a:prstGeom>
          <a:solidFill>
            <a:srgbClr val="EAF4FF"/>
          </a:solidFill>
          <a:ln w="12700">
            <a:solidFill>
              <a:srgbClr val="EAF4FF"/>
            </a:solidFill>
            <a:prstDash val="solid"/>
          </a:ln>
        </p:spPr>
        <p:txBody>
          <a:bodyPr/>
          <a:lstStyle/>
          <a:p>
            <a:endParaRPr lang="ja-JP" altLang="en-US"/>
          </a:p>
        </p:txBody>
      </p:sp>
      <p:sp>
        <p:nvSpPr>
          <p:cNvPr id="14" name="Text 12"/>
          <p:cNvSpPr txBox="1"/>
          <p:nvPr/>
        </p:nvSpPr>
        <p:spPr>
          <a:xfrm>
            <a:off x="5715000" y="1399032"/>
            <a:ext cx="292608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a:t>
            </a:r>
            <a:endParaRPr lang="en-US" sz="1200" dirty="0"/>
          </a:p>
        </p:txBody>
      </p:sp>
      <p:sp>
        <p:nvSpPr>
          <p:cNvPr id="15" name="Text 13"/>
          <p:cNvSpPr txBox="1"/>
          <p:nvPr/>
        </p:nvSpPr>
        <p:spPr>
          <a:xfrm>
            <a:off x="5715000" y="1691640"/>
            <a:ext cx="2926080" cy="173736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晴れの8/19：11〜13時に列8が列3より最大1.7℃高い</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曇りの9/2：日中の多くの時間で両列とも列3より低い</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両日とも6〜9時に芋緑化側が高く、9時以降に下がる</a:t>
            </a:r>
            <a:endParaRPr lang="en-US" sz="1050" dirty="0"/>
          </a:p>
        </p:txBody>
      </p:sp>
      <p:sp>
        <p:nvSpPr>
          <p:cNvPr id="16" name="Shape 14"/>
          <p:cNvSpPr/>
          <p:nvPr/>
        </p:nvSpPr>
        <p:spPr>
          <a:xfrm>
            <a:off x="5577840" y="3584448"/>
            <a:ext cx="3200400" cy="1143000"/>
          </a:xfrm>
          <a:prstGeom prst="roundRect">
            <a:avLst>
              <a:gd name="adj" fmla="val 4800"/>
            </a:avLst>
          </a:prstGeom>
          <a:solidFill>
            <a:srgbClr val="FFF7D1"/>
          </a:solidFill>
          <a:ln w="12700">
            <a:solidFill>
              <a:srgbClr val="FFF7D1"/>
            </a:solidFill>
            <a:prstDash val="solid"/>
          </a:ln>
        </p:spPr>
        <p:txBody>
          <a:bodyPr/>
          <a:lstStyle/>
          <a:p>
            <a:endParaRPr lang="ja-JP" altLang="en-US"/>
          </a:p>
        </p:txBody>
      </p:sp>
      <p:sp>
        <p:nvSpPr>
          <p:cNvPr id="17" name="Text 15"/>
          <p:cNvSpPr txBox="1"/>
          <p:nvPr/>
        </p:nvSpPr>
        <p:spPr>
          <a:xfrm>
            <a:off x="5715000" y="3630168"/>
            <a:ext cx="2926080" cy="1051560"/>
          </a:xfrm>
          <a:prstGeom prst="rect">
            <a:avLst/>
          </a:prstGeom>
          <a:noFill/>
          <a:ln/>
        </p:spPr>
        <p:txBody>
          <a:bodyPr wrap="square" lIns="0" tIns="0" rIns="0" bIns="0" rtlCol="0" anchor="t"/>
          <a:lstStyle/>
          <a:p>
            <a:pPr marL="0" indent="0">
              <a:buNone/>
            </a:pPr>
            <a:r>
              <a:rPr lang="en-US" sz="1050" b="1" dirty="0">
                <a:solidFill>
                  <a:srgbClr val="ED7D31"/>
                </a:solidFill>
                <a:latin typeface="游ゴシック" pitchFamily="34" charset="0"/>
                <a:ea typeface="游ゴシック" pitchFamily="34" charset="-122"/>
                <a:cs typeface="游ゴシック" pitchFamily="34" charset="-120"/>
              </a:rPr>
              <a:t>読み取り</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日差しの強い時間帯に、芋緑化側が高くなる。朝の正の値は、列8・11が列3より先に運転を始めるため（p.10）</a:t>
            </a:r>
            <a:endParaRPr 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22</a:t>
            </a:fld>
            <a:endParaRPr lang="en-US"/>
          </a:p>
        </p:txBody>
      </p:sp>
      <p:graphicFrame>
        <p:nvGraphicFramePr>
          <p:cNvPr id="26" name="グラフ a8w_0_t"/>
          <p:cNvGraphicFramePr>
            <a:graphicFrameLocks noGrp="1"/>
          </p:cNvGraphicFramePr>
          <p:nvPr/>
        </p:nvGraphicFramePr>
        <p:xfrm>
          <a:off x="365760" y="1527048"/>
          <a:ext cx="2491740" cy="166969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7" name="グラフ a8w_1_t"/>
          <p:cNvGraphicFramePr>
            <a:graphicFrameLocks noGrp="1"/>
          </p:cNvGraphicFramePr>
          <p:nvPr/>
        </p:nvGraphicFramePr>
        <p:xfrm>
          <a:off x="2948940" y="1527048"/>
          <a:ext cx="2491740" cy="166969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8" name="グラフ a8w_0_b"/>
          <p:cNvGraphicFramePr>
            <a:graphicFrameLocks noGrp="1"/>
          </p:cNvGraphicFramePr>
          <p:nvPr/>
        </p:nvGraphicFramePr>
        <p:xfrm>
          <a:off x="365760" y="3196742"/>
          <a:ext cx="2491740" cy="1530706"/>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9" name="グラフ a8w_1_b"/>
          <p:cNvGraphicFramePr>
            <a:graphicFrameLocks noGrp="1"/>
          </p:cNvGraphicFramePr>
          <p:nvPr/>
        </p:nvGraphicFramePr>
        <p:xfrm>
          <a:off x="2948940" y="3196742"/>
          <a:ext cx="2491740" cy="1530706"/>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分析8：代表日（風の弱い日と強い日）</a:t>
            </a:r>
            <a:endParaRPr lang="en-US" sz="2000" dirty="0"/>
          </a:p>
        </p:txBody>
      </p:sp>
      <p:sp>
        <p:nvSpPr>
          <p:cNvPr id="3" name="Shape 1"/>
          <p:cNvSpPr/>
          <p:nvPr/>
        </p:nvSpPr>
        <p:spPr>
          <a:xfrm>
            <a:off x="7726680" y="155448"/>
            <a:ext cx="1097280" cy="274320"/>
          </a:xfrm>
          <a:prstGeom prst="roundRect">
            <a:avLst>
              <a:gd name="adj" fmla="val 26667"/>
            </a:avLst>
          </a:prstGeom>
          <a:solidFill>
            <a:srgbClr val="8E5BC4"/>
          </a:solidFill>
          <a:ln w="12700">
            <a:solidFill>
              <a:srgbClr val="8E5BC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補足分析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1日の流れを示す例（結論の根拠には使わない）。気温・照度が近く、風速が違う2日</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両日とも曇り。10分平均。上段：吸気温度と屋上の気温、下段：吸気温度差</a:t>
            </a:r>
            <a:endParaRPr lang="en-US" sz="1050" dirty="0"/>
          </a:p>
        </p:txBody>
      </p:sp>
      <p:sp>
        <p:nvSpPr>
          <p:cNvPr id="7" name="Text 5"/>
          <p:cNvSpPr txBox="1"/>
          <p:nvPr/>
        </p:nvSpPr>
        <p:spPr>
          <a:xfrm>
            <a:off x="365760" y="1325880"/>
            <a:ext cx="2491740" cy="201168"/>
          </a:xfrm>
          <a:prstGeom prst="rect">
            <a:avLst/>
          </a:prstGeom>
          <a:noFill/>
          <a:ln/>
        </p:spPr>
        <p:txBody>
          <a:bodyPr wrap="square" lIns="0" tIns="0" rIns="0" bIns="0" rtlCol="0" anchor="ctr"/>
          <a:lstStyle/>
          <a:p>
            <a:pPr marL="0" indent="0">
              <a:buNone/>
            </a:pPr>
            <a:r>
              <a:rPr lang="en-US" sz="950" b="1" dirty="0">
                <a:solidFill>
                  <a:srgbClr val="22354F"/>
                </a:solidFill>
                <a:latin typeface="游ゴシック" pitchFamily="34" charset="0"/>
                <a:ea typeface="游ゴシック" pitchFamily="34" charset="-122"/>
                <a:cs typeface="游ゴシック" pitchFamily="34" charset="-120"/>
              </a:rPr>
              <a:t>9/4　風速1.2m/s</a:t>
            </a:r>
            <a:endParaRPr lang="en-US" sz="950" dirty="0"/>
          </a:p>
        </p:txBody>
      </p:sp>
      <p:sp>
        <p:nvSpPr>
          <p:cNvPr id="9" name="Text 7"/>
          <p:cNvSpPr txBox="1"/>
          <p:nvPr/>
        </p:nvSpPr>
        <p:spPr>
          <a:xfrm>
            <a:off x="2948940" y="1325880"/>
            <a:ext cx="2491740" cy="201168"/>
          </a:xfrm>
          <a:prstGeom prst="rect">
            <a:avLst/>
          </a:prstGeom>
          <a:noFill/>
          <a:ln/>
        </p:spPr>
        <p:txBody>
          <a:bodyPr wrap="square" lIns="0" tIns="0" rIns="0" bIns="0" rtlCol="0" anchor="ctr"/>
          <a:lstStyle/>
          <a:p>
            <a:pPr marL="0" indent="0">
              <a:buNone/>
            </a:pPr>
            <a:r>
              <a:rPr lang="en-US" sz="950" b="1" dirty="0">
                <a:solidFill>
                  <a:srgbClr val="22354F"/>
                </a:solidFill>
                <a:latin typeface="游ゴシック" pitchFamily="34" charset="0"/>
                <a:ea typeface="游ゴシック" pitchFamily="34" charset="-122"/>
                <a:cs typeface="游ゴシック" pitchFamily="34" charset="-120"/>
              </a:rPr>
              <a:t>8/3　風速2.3m/s</a:t>
            </a:r>
            <a:endParaRPr lang="en-US" sz="950" dirty="0"/>
          </a:p>
        </p:txBody>
      </p:sp>
      <p:sp>
        <p:nvSpPr>
          <p:cNvPr id="13" name="Shape 11"/>
          <p:cNvSpPr/>
          <p:nvPr/>
        </p:nvSpPr>
        <p:spPr>
          <a:xfrm>
            <a:off x="5577840" y="1325880"/>
            <a:ext cx="3200400" cy="2167128"/>
          </a:xfrm>
          <a:prstGeom prst="roundRect">
            <a:avLst>
              <a:gd name="adj" fmla="val 2532"/>
            </a:avLst>
          </a:prstGeom>
          <a:solidFill>
            <a:srgbClr val="EAF4FF"/>
          </a:solidFill>
          <a:ln w="12700">
            <a:solidFill>
              <a:srgbClr val="EAF4FF"/>
            </a:solidFill>
            <a:prstDash val="solid"/>
          </a:ln>
        </p:spPr>
        <p:txBody>
          <a:bodyPr/>
          <a:lstStyle/>
          <a:p>
            <a:endParaRPr lang="ja-JP" altLang="en-US"/>
          </a:p>
        </p:txBody>
      </p:sp>
      <p:sp>
        <p:nvSpPr>
          <p:cNvPr id="14" name="Text 12"/>
          <p:cNvSpPr txBox="1"/>
          <p:nvPr/>
        </p:nvSpPr>
        <p:spPr>
          <a:xfrm>
            <a:off x="5715000" y="1399032"/>
            <a:ext cx="292608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a:t>
            </a:r>
            <a:endParaRPr lang="en-US" sz="1200" dirty="0"/>
          </a:p>
        </p:txBody>
      </p:sp>
      <p:sp>
        <p:nvSpPr>
          <p:cNvPr id="15" name="Text 13"/>
          <p:cNvSpPr txBox="1"/>
          <p:nvPr/>
        </p:nvSpPr>
        <p:spPr>
          <a:xfrm>
            <a:off x="5715000" y="1691640"/>
            <a:ext cx="2926080" cy="173736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風の弱い9/4：日中平均で列8−0.39℃、列11−0.23℃</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風の強い8/3：列8＋0.12℃、列11−0.05℃</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9/4は18時以降に両列とも大きく低くなる（最大1.6〜2.0℃）。列3だけが運転を続ける時間</a:t>
            </a:r>
            <a:endParaRPr lang="en-US" sz="1050" dirty="0"/>
          </a:p>
        </p:txBody>
      </p:sp>
      <p:sp>
        <p:nvSpPr>
          <p:cNvPr id="16" name="Shape 14"/>
          <p:cNvSpPr/>
          <p:nvPr/>
        </p:nvSpPr>
        <p:spPr>
          <a:xfrm>
            <a:off x="5577840" y="3584448"/>
            <a:ext cx="3200400" cy="1143000"/>
          </a:xfrm>
          <a:prstGeom prst="roundRect">
            <a:avLst>
              <a:gd name="adj" fmla="val 4800"/>
            </a:avLst>
          </a:prstGeom>
          <a:solidFill>
            <a:srgbClr val="FFF7D1"/>
          </a:solidFill>
          <a:ln w="12700">
            <a:solidFill>
              <a:srgbClr val="FFF7D1"/>
            </a:solidFill>
            <a:prstDash val="solid"/>
          </a:ln>
        </p:spPr>
        <p:txBody>
          <a:bodyPr/>
          <a:lstStyle/>
          <a:p>
            <a:endParaRPr lang="ja-JP" altLang="en-US"/>
          </a:p>
        </p:txBody>
      </p:sp>
      <p:sp>
        <p:nvSpPr>
          <p:cNvPr id="17" name="Text 15"/>
          <p:cNvSpPr txBox="1"/>
          <p:nvPr/>
        </p:nvSpPr>
        <p:spPr>
          <a:xfrm>
            <a:off x="5715000" y="3630168"/>
            <a:ext cx="2926080" cy="1051560"/>
          </a:xfrm>
          <a:prstGeom prst="rect">
            <a:avLst/>
          </a:prstGeom>
          <a:noFill/>
          <a:ln/>
        </p:spPr>
        <p:txBody>
          <a:bodyPr wrap="square" lIns="0" tIns="0" rIns="0" bIns="0" rtlCol="0" anchor="t"/>
          <a:lstStyle/>
          <a:p>
            <a:pPr marL="0" indent="0">
              <a:buNone/>
            </a:pPr>
            <a:r>
              <a:rPr lang="en-US" sz="1050" b="1" dirty="0">
                <a:solidFill>
                  <a:srgbClr val="ED7D31"/>
                </a:solidFill>
                <a:latin typeface="游ゴシック" pitchFamily="34" charset="0"/>
                <a:ea typeface="游ゴシック" pitchFamily="34" charset="-122"/>
                <a:cs typeface="游ゴシック" pitchFamily="34" charset="-120"/>
              </a:rPr>
              <a:t>読み取り</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この組では風の強い日に低減効果が小さいが、気温をそろえた回帰（p.18）とは向きが合わない。1組だけでは風の影響は判断できない</a:t>
            </a:r>
            <a:endParaRPr 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23</a:t>
            </a:fld>
            <a:endParaRPr lang="en-US"/>
          </a:p>
        </p:txBody>
      </p:sp>
      <p:graphicFrame>
        <p:nvGraphicFramePr>
          <p:cNvPr id="26" name="グラフ a8d_0_t"/>
          <p:cNvGraphicFramePr>
            <a:graphicFrameLocks noGrp="1"/>
          </p:cNvGraphicFramePr>
          <p:nvPr/>
        </p:nvGraphicFramePr>
        <p:xfrm>
          <a:off x="365760" y="1527048"/>
          <a:ext cx="2491740" cy="166969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7" name="グラフ a8d_1_t"/>
          <p:cNvGraphicFramePr>
            <a:graphicFrameLocks noGrp="1"/>
          </p:cNvGraphicFramePr>
          <p:nvPr/>
        </p:nvGraphicFramePr>
        <p:xfrm>
          <a:off x="2948940" y="1527048"/>
          <a:ext cx="2491740" cy="166969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8" name="グラフ a8d_0_b"/>
          <p:cNvGraphicFramePr>
            <a:graphicFrameLocks noGrp="1"/>
          </p:cNvGraphicFramePr>
          <p:nvPr/>
        </p:nvGraphicFramePr>
        <p:xfrm>
          <a:off x="365760" y="3196742"/>
          <a:ext cx="2491740" cy="1530706"/>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9" name="グラフ a8d_1_b"/>
          <p:cNvGraphicFramePr>
            <a:graphicFrameLocks noGrp="1"/>
          </p:cNvGraphicFramePr>
          <p:nvPr/>
        </p:nvGraphicFramePr>
        <p:xfrm>
          <a:off x="2948940" y="3196742"/>
          <a:ext cx="2491740" cy="1530706"/>
        </p:xfrm>
        <a:graphic>
          <a:graphicData uri="http://schemas.openxmlformats.org/drawingml/2006/chart">
            <c:chart xmlns:c="http://schemas.openxmlformats.org/drawingml/2006/chart" xmlns:r="http://schemas.openxmlformats.org/officeDocument/2006/relationships" r:id="rId7"/>
          </a:graphicData>
        </a:graphic>
      </p:graphicFrame>
    </p:spTree>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分析8：代表日（典型日）</a:t>
            </a:r>
            <a:endParaRPr lang="en-US" sz="2000" dirty="0"/>
          </a:p>
        </p:txBody>
      </p:sp>
      <p:sp>
        <p:nvSpPr>
          <p:cNvPr id="3" name="Shape 1"/>
          <p:cNvSpPr/>
          <p:nvPr/>
        </p:nvSpPr>
        <p:spPr>
          <a:xfrm>
            <a:off x="7726680" y="155448"/>
            <a:ext cx="1097280" cy="274320"/>
          </a:xfrm>
          <a:prstGeom prst="roundRect">
            <a:avLst>
              <a:gd name="adj" fmla="val 26667"/>
            </a:avLst>
          </a:prstGeom>
          <a:solidFill>
            <a:srgbClr val="8E5BC4"/>
          </a:solidFill>
          <a:ln w="12700">
            <a:solidFill>
              <a:srgbClr val="8E5BC4"/>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補足分析</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1日の流れを示す例（結論の根拠には使わない）。気象が期間の中央値に最も近い1日</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8/17（晴れ、気温29.8℃、照度比0.77、風速1.8m/s）。10分平均</a:t>
            </a:r>
            <a:endParaRPr lang="en-US" sz="1050" dirty="0"/>
          </a:p>
        </p:txBody>
      </p:sp>
      <p:sp>
        <p:nvSpPr>
          <p:cNvPr id="7" name="Text 5"/>
          <p:cNvSpPr txBox="1"/>
          <p:nvPr/>
        </p:nvSpPr>
        <p:spPr>
          <a:xfrm>
            <a:off x="365760" y="1325880"/>
            <a:ext cx="5074920" cy="201168"/>
          </a:xfrm>
          <a:prstGeom prst="rect">
            <a:avLst/>
          </a:prstGeom>
          <a:noFill/>
          <a:ln/>
        </p:spPr>
        <p:txBody>
          <a:bodyPr wrap="square" lIns="0" tIns="0" rIns="0" bIns="0" rtlCol="0" anchor="ctr"/>
          <a:lstStyle/>
          <a:p>
            <a:pPr marL="0" indent="0">
              <a:buNone/>
            </a:pPr>
            <a:r>
              <a:rPr lang="en-US" sz="950" b="1" dirty="0">
                <a:solidFill>
                  <a:srgbClr val="22354F"/>
                </a:solidFill>
                <a:latin typeface="游ゴシック" pitchFamily="34" charset="0"/>
                <a:ea typeface="游ゴシック" pitchFamily="34" charset="-122"/>
                <a:cs typeface="游ゴシック" pitchFamily="34" charset="-120"/>
              </a:rPr>
              <a:t>8/17　晴れ・気温29.8℃・照度比0.77・風速1.8m/s</a:t>
            </a:r>
            <a:endParaRPr lang="en-US" sz="950" dirty="0"/>
          </a:p>
        </p:txBody>
      </p:sp>
      <p:sp>
        <p:nvSpPr>
          <p:cNvPr id="10" name="Shape 8"/>
          <p:cNvSpPr/>
          <p:nvPr/>
        </p:nvSpPr>
        <p:spPr>
          <a:xfrm>
            <a:off x="5577840" y="1325880"/>
            <a:ext cx="3200400" cy="2167128"/>
          </a:xfrm>
          <a:prstGeom prst="roundRect">
            <a:avLst>
              <a:gd name="adj" fmla="val 2532"/>
            </a:avLst>
          </a:prstGeom>
          <a:solidFill>
            <a:srgbClr val="EAF4FF"/>
          </a:solidFill>
          <a:ln w="12700">
            <a:solidFill>
              <a:srgbClr val="EAF4FF"/>
            </a:solidFill>
            <a:prstDash val="solid"/>
          </a:ln>
        </p:spPr>
        <p:txBody>
          <a:bodyPr/>
          <a:lstStyle/>
          <a:p>
            <a:endParaRPr lang="ja-JP" altLang="en-US"/>
          </a:p>
        </p:txBody>
      </p:sp>
      <p:sp>
        <p:nvSpPr>
          <p:cNvPr id="11" name="Text 9"/>
          <p:cNvSpPr txBox="1"/>
          <p:nvPr/>
        </p:nvSpPr>
        <p:spPr>
          <a:xfrm>
            <a:off x="5715000" y="1399032"/>
            <a:ext cx="292608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a:t>
            </a:r>
            <a:endParaRPr lang="en-US" sz="1200" dirty="0"/>
          </a:p>
        </p:txBody>
      </p:sp>
      <p:sp>
        <p:nvSpPr>
          <p:cNvPr id="12" name="Text 10"/>
          <p:cNvSpPr txBox="1"/>
          <p:nvPr/>
        </p:nvSpPr>
        <p:spPr>
          <a:xfrm>
            <a:off x="5715000" y="1691640"/>
            <a:ext cx="2926080" cy="173736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日中平均は列8−0.12℃、列11−0.29℃</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7〜8時に芋緑化側が先に上がり、9時に列3が急に上がる</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9時直後は両列とも列3より最大約2℃低い</a:t>
            </a:r>
            <a:endParaRPr lang="en-US" sz="1050" dirty="0"/>
          </a:p>
        </p:txBody>
      </p:sp>
      <p:sp>
        <p:nvSpPr>
          <p:cNvPr id="13" name="Shape 11"/>
          <p:cNvSpPr/>
          <p:nvPr/>
        </p:nvSpPr>
        <p:spPr>
          <a:xfrm>
            <a:off x="5577840" y="3584448"/>
            <a:ext cx="3200400" cy="1143000"/>
          </a:xfrm>
          <a:prstGeom prst="roundRect">
            <a:avLst>
              <a:gd name="adj" fmla="val 4800"/>
            </a:avLst>
          </a:prstGeom>
          <a:solidFill>
            <a:srgbClr val="FFF7D1"/>
          </a:solidFill>
          <a:ln w="12700">
            <a:solidFill>
              <a:srgbClr val="FFF7D1"/>
            </a:solidFill>
            <a:prstDash val="solid"/>
          </a:ln>
        </p:spPr>
        <p:txBody>
          <a:bodyPr/>
          <a:lstStyle/>
          <a:p>
            <a:endParaRPr lang="ja-JP" altLang="en-US"/>
          </a:p>
        </p:txBody>
      </p:sp>
      <p:sp>
        <p:nvSpPr>
          <p:cNvPr id="14" name="Text 12"/>
          <p:cNvSpPr txBox="1"/>
          <p:nvPr/>
        </p:nvSpPr>
        <p:spPr>
          <a:xfrm>
            <a:off x="5715000" y="3630168"/>
            <a:ext cx="2926080" cy="1051560"/>
          </a:xfrm>
          <a:prstGeom prst="rect">
            <a:avLst/>
          </a:prstGeom>
          <a:noFill/>
          <a:ln/>
        </p:spPr>
        <p:txBody>
          <a:bodyPr wrap="square" lIns="0" tIns="0" rIns="0" bIns="0" rtlCol="0" anchor="t"/>
          <a:lstStyle/>
          <a:p>
            <a:pPr marL="0" indent="0">
              <a:buNone/>
            </a:pPr>
            <a:r>
              <a:rPr lang="en-US" sz="1050" b="1" dirty="0">
                <a:solidFill>
                  <a:srgbClr val="ED7D31"/>
                </a:solidFill>
                <a:latin typeface="游ゴシック" pitchFamily="34" charset="0"/>
                <a:ea typeface="游ゴシック" pitchFamily="34" charset="-122"/>
                <a:cs typeface="游ゴシック" pitchFamily="34" charset="-120"/>
              </a:rPr>
              <a:t>読み取り</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7〜8時に列8・11が運転を始め、9時に列3が始まる（p.10）。運転開始の時刻のずれで、朝の吸気温度差が大きく振れる</a:t>
            </a:r>
            <a:endParaRPr 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24</a:t>
            </a:fld>
            <a:endParaRPr lang="en-US"/>
          </a:p>
        </p:txBody>
      </p:sp>
      <p:graphicFrame>
        <p:nvGraphicFramePr>
          <p:cNvPr id="26" name="グラフ a8t_0_t"/>
          <p:cNvGraphicFramePr>
            <a:graphicFrameLocks noGrp="1"/>
          </p:cNvGraphicFramePr>
          <p:nvPr/>
        </p:nvGraphicFramePr>
        <p:xfrm>
          <a:off x="365760" y="1527048"/>
          <a:ext cx="5074920" cy="166969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7" name="グラフ a8t_0_b"/>
          <p:cNvGraphicFramePr>
            <a:graphicFrameLocks noGrp="1"/>
          </p:cNvGraphicFramePr>
          <p:nvPr/>
        </p:nvGraphicFramePr>
        <p:xfrm>
          <a:off x="365760" y="3196742"/>
          <a:ext cx="5074920" cy="1530706"/>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独立検証：エアネット分析との比較</a:t>
            </a:r>
            <a:endParaRPr lang="en-US" sz="2000" dirty="0"/>
          </a:p>
        </p:txBody>
      </p:sp>
      <p:sp>
        <p:nvSpPr>
          <p:cNvPr id="3" name="Shape 1"/>
          <p:cNvSpPr/>
          <p:nvPr/>
        </p:nvSpPr>
        <p:spPr>
          <a:xfrm>
            <a:off x="7726680" y="155448"/>
            <a:ext cx="1097280" cy="274320"/>
          </a:xfrm>
          <a:prstGeom prst="roundRect">
            <a:avLst>
              <a:gd name="adj" fmla="val 26667"/>
            </a:avLst>
          </a:prstGeom>
          <a:solidFill>
            <a:srgbClr val="118DFF"/>
          </a:solidFill>
          <a:ln w="12700">
            <a:solidFill>
              <a:srgbClr val="118DFF"/>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独立検証</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別のデータ・別の方法で得た結果と、方向が合うかを確かめる</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365760" y="1115568"/>
          <a:ext cx="8412480" cy="2377440"/>
        </p:xfrm>
        <a:graphic>
          <a:graphicData uri="http://schemas.openxmlformats.org/drawingml/2006/table">
            <a:tbl>
              <a:tblPr/>
              <a:tblGrid>
                <a:gridCol w="11887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292608">
                <a:tc>
                  <a:txBody>
                    <a:bodyPr/>
                    <a:lstStyle/>
                    <a:p>
                      <a:pPr marL="0" indent="0" algn="ctr">
                        <a:buNone/>
                      </a:pPr>
                      <a:endParaRPr lang="en-US" sz="10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50" b="1" dirty="0">
                          <a:solidFill>
                            <a:srgbClr val="FFFFFF"/>
                          </a:solidFill>
                          <a:latin typeface="游ゴシック" pitchFamily="34" charset="0"/>
                          <a:ea typeface="游ゴシック" pitchFamily="34" charset="-122"/>
                          <a:cs typeface="游ゴシック" pitchFamily="34" charset="-120"/>
                        </a:rPr>
                        <a:t>エアネット分析</a:t>
                      </a:r>
                      <a:endParaRPr lang="en-US" sz="10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50" b="1" dirty="0">
                          <a:solidFill>
                            <a:srgbClr val="FFFFFF"/>
                          </a:solidFill>
                          <a:latin typeface="游ゴシック" pitchFamily="34" charset="0"/>
                          <a:ea typeface="游ゴシック" pitchFamily="34" charset="-122"/>
                          <a:cs typeface="游ゴシック" pitchFamily="34" charset="-120"/>
                        </a:rPr>
                        <a:t>2026年実測（本資料）</a:t>
                      </a:r>
                      <a:endParaRPr lang="en-US" sz="10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tc>
                  <a:txBody>
                    <a:bodyPr/>
                    <a:lstStyle/>
                    <a:p>
                      <a:pPr marL="0" indent="0" algn="ctr">
                        <a:buNone/>
                      </a:pPr>
                      <a:r>
                        <a:rPr lang="en-US" sz="1050" b="1" dirty="0">
                          <a:solidFill>
                            <a:srgbClr val="FFFFFF"/>
                          </a:solidFill>
                          <a:latin typeface="游ゴシック" pitchFamily="34" charset="0"/>
                          <a:ea typeface="游ゴシック" pitchFamily="34" charset="-122"/>
                          <a:cs typeface="游ゴシック" pitchFamily="34" charset="-120"/>
                        </a:rPr>
                        <a:t>一致</a:t>
                      </a:r>
                      <a:endParaRPr lang="en-US" sz="105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solidFill>
                      <a:srgbClr val="22354F"/>
                    </a:solidFill>
                  </a:tcPr>
                </a:tc>
                <a:extLst>
                  <a:ext uri="{0D108BD9-81ED-4DB2-BD59-A6C34878D82A}">
                    <a16:rowId xmlns:a16="http://schemas.microsoft.com/office/drawing/2014/main" val="10000"/>
                  </a:ext>
                </a:extLst>
              </a:tr>
              <a:tr h="347472">
                <a:tc>
                  <a:txBody>
                    <a:bodyPr/>
                    <a:lstStyle/>
                    <a:p>
                      <a:pPr marL="0" indent="0">
                        <a:buNone/>
                      </a:pPr>
                      <a:r>
                        <a:rPr lang="en-US" sz="1000" b="1" dirty="0">
                          <a:solidFill>
                            <a:srgbClr val="172033"/>
                          </a:solidFill>
                          <a:latin typeface="游ゴシック" pitchFamily="34" charset="0"/>
                          <a:ea typeface="游ゴシック" pitchFamily="34" charset="-122"/>
                          <a:cs typeface="游ゴシック" pitchFamily="34" charset="-120"/>
                        </a:rPr>
                        <a:t>比べ方</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000" dirty="0">
                          <a:solidFill>
                            <a:srgbClr val="172033"/>
                          </a:solidFill>
                          <a:latin typeface="游ゴシック" pitchFamily="34" charset="0"/>
                          <a:ea typeface="游ゴシック" pitchFamily="34" charset="-122"/>
                          <a:cs typeface="游ゴシック" pitchFamily="34" charset="-120"/>
                        </a:rPr>
                        <a:t>同じ機器の2024年（なし）と2025年（あり）</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000" dirty="0">
                          <a:solidFill>
                            <a:srgbClr val="172033"/>
                          </a:solidFill>
                          <a:latin typeface="游ゴシック" pitchFamily="34" charset="0"/>
                          <a:ea typeface="游ゴシック" pitchFamily="34" charset="-122"/>
                          <a:cs typeface="游ゴシック" pitchFamily="34" charset="-120"/>
                        </a:rPr>
                        <a:t>同じ時刻の列3（なし）と列8・11（あり）</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000" b="1" dirty="0">
                          <a:solidFill>
                            <a:srgbClr val="172033"/>
                          </a:solidFill>
                          <a:latin typeface="游ゴシック" pitchFamily="34" charset="0"/>
                          <a:ea typeface="游ゴシック" pitchFamily="34" charset="-122"/>
                          <a:cs typeface="游ゴシック" pitchFamily="34" charset="-120"/>
                        </a:rPr>
                        <a:t>温度</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000" dirty="0">
                          <a:solidFill>
                            <a:srgbClr val="172033"/>
                          </a:solidFill>
                          <a:latin typeface="游ゴシック" pitchFamily="34" charset="0"/>
                          <a:ea typeface="游ゴシック" pitchFamily="34" charset="-122"/>
                          <a:cs typeface="游ゴシック" pitchFamily="34" charset="-120"/>
                        </a:rPr>
                        <a:t>室外機吸込み温度（機器のセンサー）</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000" dirty="0">
                          <a:solidFill>
                            <a:srgbClr val="172033"/>
                          </a:solidFill>
                          <a:latin typeface="游ゴシック" pitchFamily="34" charset="0"/>
                          <a:ea typeface="游ゴシック" pitchFamily="34" charset="-122"/>
                          <a:cs typeface="游ゴシック" pitchFamily="34" charset="-120"/>
                        </a:rPr>
                        <a:t>吸気温度（熱電対、3方位）</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dirty="0">
                          <a:solidFill>
                            <a:srgbClr val="172033"/>
                          </a:solidFill>
                          <a:latin typeface="游ゴシック" pitchFamily="34" charset="0"/>
                          <a:ea typeface="游ゴシック" pitchFamily="34" charset="-122"/>
                          <a:cs typeface="游ゴシック" pitchFamily="34" charset="-120"/>
                        </a:rPr>
                        <a:t>―</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000" b="1" dirty="0">
                          <a:solidFill>
                            <a:srgbClr val="172033"/>
                          </a:solidFill>
                          <a:latin typeface="游ゴシック" pitchFamily="34" charset="0"/>
                          <a:ea typeface="游ゴシック" pitchFamily="34" charset="-122"/>
                          <a:cs typeface="游ゴシック" pitchFamily="34" charset="-120"/>
                        </a:rPr>
                        <a:t>低くなる向き</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000" dirty="0">
                          <a:solidFill>
                            <a:srgbClr val="172033"/>
                          </a:solidFill>
                          <a:latin typeface="游ゴシック" pitchFamily="34" charset="0"/>
                          <a:ea typeface="游ゴシック" pitchFamily="34" charset="-122"/>
                          <a:cs typeface="游ゴシック" pitchFamily="34" charset="-120"/>
                        </a:rPr>
                        <a:t>両列とも低い</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000" dirty="0">
                          <a:solidFill>
                            <a:srgbClr val="172033"/>
                          </a:solidFill>
                          <a:latin typeface="游ゴシック" pitchFamily="34" charset="0"/>
                          <a:ea typeface="游ゴシック" pitchFamily="34" charset="-122"/>
                          <a:cs typeface="游ゴシック" pitchFamily="34" charset="-120"/>
                        </a:rPr>
                        <a:t>列11は低い、列8は低くない</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b="1" dirty="0">
                          <a:solidFill>
                            <a:srgbClr val="ED7D31"/>
                          </a:solidFill>
                          <a:latin typeface="游ゴシック" pitchFamily="34" charset="0"/>
                          <a:ea typeface="游ゴシック" pitchFamily="34" charset="-122"/>
                          <a:cs typeface="游ゴシック" pitchFamily="34" charset="-120"/>
                        </a:rPr>
                        <a:t>一部</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000" b="1" dirty="0">
                          <a:solidFill>
                            <a:srgbClr val="172033"/>
                          </a:solidFill>
                          <a:latin typeface="游ゴシック" pitchFamily="34" charset="0"/>
                          <a:ea typeface="游ゴシック" pitchFamily="34" charset="-122"/>
                          <a:cs typeface="游ゴシック" pitchFamily="34" charset="-120"/>
                        </a:rPr>
                        <a:t>列の比較</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000" dirty="0">
                          <a:solidFill>
                            <a:srgbClr val="172033"/>
                          </a:solidFill>
                          <a:latin typeface="游ゴシック" pitchFamily="34" charset="0"/>
                          <a:ea typeface="游ゴシック" pitchFamily="34" charset="-122"/>
                          <a:cs typeface="游ゴシック" pitchFamily="34" charset="-120"/>
                        </a:rPr>
                        <a:t>OACP-8のほうが大きく低い</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000" dirty="0">
                          <a:solidFill>
                            <a:srgbClr val="172033"/>
                          </a:solidFill>
                          <a:latin typeface="游ゴシック" pitchFamily="34" charset="0"/>
                          <a:ea typeface="游ゴシック" pitchFamily="34" charset="-122"/>
                          <a:cs typeface="游ゴシック" pitchFamily="34" charset="-120"/>
                        </a:rPr>
                        <a:t>列11のほうが低い</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b="1" dirty="0">
                          <a:solidFill>
                            <a:srgbClr val="E66C64"/>
                          </a:solidFill>
                          <a:latin typeface="游ゴシック" pitchFamily="34" charset="0"/>
                          <a:ea typeface="游ゴシック" pitchFamily="34" charset="-122"/>
                          <a:cs typeface="游ゴシック" pitchFamily="34" charset="-120"/>
                        </a:rPr>
                        <a:t>不一致</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000" b="1" dirty="0">
                          <a:solidFill>
                            <a:srgbClr val="172033"/>
                          </a:solidFill>
                          <a:latin typeface="游ゴシック" pitchFamily="34" charset="0"/>
                          <a:ea typeface="游ゴシック" pitchFamily="34" charset="-122"/>
                          <a:cs typeface="游ゴシック" pitchFamily="34" charset="-120"/>
                        </a:rPr>
                        <a:t>時刻</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000" dirty="0">
                          <a:solidFill>
                            <a:srgbClr val="172033"/>
                          </a:solidFill>
                          <a:latin typeface="游ゴシック" pitchFamily="34" charset="0"/>
                          <a:ea typeface="游ゴシック" pitchFamily="34" charset="-122"/>
                          <a:cs typeface="游ゴシック" pitchFamily="34" charset="-120"/>
                        </a:rPr>
                        <a:t>14時に低下が最大</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000" dirty="0">
                          <a:solidFill>
                            <a:srgbClr val="172033"/>
                          </a:solidFill>
                          <a:latin typeface="游ゴシック" pitchFamily="34" charset="0"/>
                          <a:ea typeface="游ゴシック" pitchFamily="34" charset="-122"/>
                          <a:cs typeface="游ゴシック" pitchFamily="34" charset="-120"/>
                        </a:rPr>
                        <a:t>14時のピークなし</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b="1" dirty="0">
                          <a:solidFill>
                            <a:srgbClr val="E66C64"/>
                          </a:solidFill>
                          <a:latin typeface="游ゴシック" pitchFamily="34" charset="0"/>
                          <a:ea typeface="游ゴシック" pitchFamily="34" charset="-122"/>
                          <a:cs typeface="游ゴシック" pitchFamily="34" charset="-120"/>
                        </a:rPr>
                        <a:t>不一致</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5"/>
                  </a:ext>
                </a:extLst>
              </a:tr>
              <a:tr h="347472">
                <a:tc>
                  <a:txBody>
                    <a:bodyPr/>
                    <a:lstStyle/>
                    <a:p>
                      <a:pPr marL="0" indent="0">
                        <a:buNone/>
                      </a:pPr>
                      <a:r>
                        <a:rPr lang="en-US" sz="1000" b="1" dirty="0">
                          <a:solidFill>
                            <a:srgbClr val="172033"/>
                          </a:solidFill>
                          <a:latin typeface="游ゴシック" pitchFamily="34" charset="0"/>
                          <a:ea typeface="游ゴシック" pitchFamily="34" charset="-122"/>
                          <a:cs typeface="游ゴシック" pitchFamily="34" charset="-120"/>
                        </a:rPr>
                        <a:t>区画</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000" dirty="0">
                          <a:solidFill>
                            <a:srgbClr val="172033"/>
                          </a:solidFill>
                          <a:latin typeface="游ゴシック" pitchFamily="34" charset="0"/>
                          <a:ea typeface="游ゴシック" pitchFamily="34" charset="-122"/>
                          <a:cs typeface="游ゴシック" pitchFamily="34" charset="-120"/>
                        </a:rPr>
                        <a:t>中央の区画で大きい</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buNone/>
                      </a:pPr>
                      <a:r>
                        <a:rPr lang="en-US" sz="1000" dirty="0">
                          <a:solidFill>
                            <a:srgbClr val="172033"/>
                          </a:solidFill>
                          <a:latin typeface="游ゴシック" pitchFamily="34" charset="0"/>
                          <a:ea typeface="游ゴシック" pitchFamily="34" charset="-122"/>
                          <a:cs typeface="游ゴシック" pitchFamily="34" charset="-120"/>
                        </a:rPr>
                        <a:t>中央・右で低く、左で高い</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tc>
                  <a:txBody>
                    <a:bodyPr/>
                    <a:lstStyle/>
                    <a:p>
                      <a:pPr marL="0" indent="0" algn="ctr">
                        <a:buNone/>
                      </a:pPr>
                      <a:r>
                        <a:rPr lang="en-US" sz="1000" b="1" dirty="0">
                          <a:solidFill>
                            <a:srgbClr val="ED7D31"/>
                          </a:solidFill>
                          <a:latin typeface="游ゴシック" pitchFamily="34" charset="0"/>
                          <a:ea typeface="游ゴシック" pitchFamily="34" charset="-122"/>
                          <a:cs typeface="游ゴシック" pitchFamily="34" charset="-120"/>
                        </a:rPr>
                        <a:t>一部</a:t>
                      </a:r>
                      <a:endParaRPr lang="en-US" sz="1000" dirty="0">
                        <a:latin typeface="游ゴシック" charset="0"/>
                        <a:ea typeface="游ゴシック" charset="0"/>
                        <a:cs typeface="游ゴシック" charset="0"/>
                      </a:endParaRPr>
                    </a:p>
                  </a:txBody>
                  <a:tcPr anchor="ctr">
                    <a:lnL w="9525" cap="flat" cmpd="sng" algn="ctr">
                      <a:solidFill>
                        <a:srgbClr val="C9D1DB"/>
                      </a:solidFill>
                      <a:prstDash val="solid"/>
                      <a:round/>
                      <a:headEnd type="none" w="med" len="med"/>
                      <a:tailEnd type="none" w="med" len="med"/>
                    </a:lnL>
                    <a:lnR w="9525" cap="flat" cmpd="sng" algn="ctr">
                      <a:solidFill>
                        <a:srgbClr val="C9D1DB"/>
                      </a:solidFill>
                      <a:prstDash val="solid"/>
                      <a:round/>
                      <a:headEnd type="none" w="med" len="med"/>
                      <a:tailEnd type="none" w="med" len="med"/>
                    </a:lnR>
                    <a:lnT w="9525" cap="flat" cmpd="sng" algn="ctr">
                      <a:solidFill>
                        <a:srgbClr val="C9D1DB"/>
                      </a:solidFill>
                      <a:prstDash val="solid"/>
                      <a:round/>
                      <a:headEnd type="none" w="med" len="med"/>
                      <a:tailEnd type="none" w="med" len="med"/>
                    </a:lnT>
                    <a:lnB w="9525" cap="flat" cmpd="sng" algn="ctr">
                      <a:solidFill>
                        <a:srgbClr val="C9D1D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Shape 4"/>
          <p:cNvSpPr/>
          <p:nvPr/>
        </p:nvSpPr>
        <p:spPr>
          <a:xfrm>
            <a:off x="365760" y="3566160"/>
            <a:ext cx="8412480" cy="1161288"/>
          </a:xfrm>
          <a:prstGeom prst="roundRect">
            <a:avLst>
              <a:gd name="adj" fmla="val 4724"/>
            </a:avLst>
          </a:prstGeom>
          <a:solidFill>
            <a:srgbClr val="FFF7D1"/>
          </a:solidFill>
          <a:ln w="12700">
            <a:solidFill>
              <a:srgbClr val="FFF7D1"/>
            </a:solidFill>
            <a:prstDash val="solid"/>
          </a:ln>
        </p:spPr>
        <p:txBody>
          <a:bodyPr/>
          <a:lstStyle/>
          <a:p>
            <a:endParaRPr lang="ja-JP" altLang="en-US"/>
          </a:p>
        </p:txBody>
      </p:sp>
      <p:sp>
        <p:nvSpPr>
          <p:cNvPr id="8" name="Text 5"/>
          <p:cNvSpPr txBox="1"/>
          <p:nvPr/>
        </p:nvSpPr>
        <p:spPr>
          <a:xfrm>
            <a:off x="502920" y="3639312"/>
            <a:ext cx="8138160" cy="256032"/>
          </a:xfrm>
          <a:prstGeom prst="rect">
            <a:avLst/>
          </a:prstGeom>
          <a:noFill/>
          <a:ln/>
        </p:spPr>
        <p:txBody>
          <a:bodyPr wrap="square" lIns="0" tIns="0" rIns="0" bIns="0" rtlCol="0" anchor="ctr"/>
          <a:lstStyle/>
          <a:p>
            <a:pPr marL="0" indent="0">
              <a:buNone/>
            </a:pPr>
            <a:r>
              <a:rPr lang="en-US" sz="1200" b="1" dirty="0">
                <a:solidFill>
                  <a:srgbClr val="ED7D31"/>
                </a:solidFill>
                <a:latin typeface="游ゴシック" pitchFamily="34" charset="0"/>
                <a:ea typeface="游ゴシック" pitchFamily="34" charset="-122"/>
                <a:cs typeface="游ゴシック" pitchFamily="34" charset="-120"/>
              </a:rPr>
              <a:t>読み取り</a:t>
            </a:r>
            <a:endParaRPr lang="en-US" sz="1200" dirty="0"/>
          </a:p>
        </p:txBody>
      </p:sp>
      <p:sp>
        <p:nvSpPr>
          <p:cNvPr id="9" name="Text 6"/>
          <p:cNvSpPr txBox="1"/>
          <p:nvPr/>
        </p:nvSpPr>
        <p:spPr>
          <a:xfrm>
            <a:off x="502920" y="3931920"/>
            <a:ext cx="8138160" cy="73152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列の大小と時刻のピークが一致しない。測っている温度（機器のセンサーと熱電対）と比べ方（年と列）が違うため、どちらが正しいかはまだ判断できない</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2026年のエアネットデータで、同じ期間の室外機吸込み温度と運転時間を比べると、原因を切り分けられる。列3が夕方・休日も運転している点も確かめられる</a:t>
            </a:r>
            <a:endParaRPr 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まとめ：言えること／まだ言えないこと</a:t>
            </a:r>
            <a:endParaRPr lang="en-US" sz="2000" dirty="0"/>
          </a:p>
        </p:txBody>
      </p:sp>
      <p:sp>
        <p:nvSpPr>
          <p:cNvPr id="3" name="Shape 1"/>
          <p:cNvSpPr/>
          <p:nvPr/>
        </p:nvSpPr>
        <p:spPr>
          <a:xfrm>
            <a:off x="7726680" y="155448"/>
            <a:ext cx="1097280" cy="274320"/>
          </a:xfrm>
          <a:prstGeom prst="roundRect">
            <a:avLst>
              <a:gd name="adj" fmla="val 26667"/>
            </a:avLst>
          </a:prstGeom>
          <a:solidFill>
            <a:srgbClr val="5E6B7A"/>
          </a:solidFill>
          <a:ln w="12700">
            <a:solidFill>
              <a:srgbClr val="5E6B7A"/>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まとめ</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2026年7/30〜9/14の日中について</a:t>
            </a:r>
            <a:endParaRPr lang="en-US" sz="1200" dirty="0"/>
          </a:p>
        </p:txBody>
      </p:sp>
      <p:sp>
        <p:nvSpPr>
          <p:cNvPr id="6" name="Shape 4"/>
          <p:cNvSpPr/>
          <p:nvPr/>
        </p:nvSpPr>
        <p:spPr>
          <a:xfrm>
            <a:off x="365760" y="1115568"/>
            <a:ext cx="4114800" cy="3593592"/>
          </a:xfrm>
          <a:prstGeom prst="roundRect">
            <a:avLst>
              <a:gd name="adj" fmla="val 1527"/>
            </a:avLst>
          </a:prstGeom>
          <a:solidFill>
            <a:srgbClr val="E4F7F4"/>
          </a:solidFill>
          <a:ln w="12700">
            <a:solidFill>
              <a:srgbClr val="E4F7F4"/>
            </a:solidFill>
            <a:prstDash val="solid"/>
          </a:ln>
        </p:spPr>
        <p:txBody>
          <a:bodyPr/>
          <a:lstStyle/>
          <a:p>
            <a:endParaRPr lang="ja-JP" altLang="en-US"/>
          </a:p>
        </p:txBody>
      </p:sp>
      <p:sp>
        <p:nvSpPr>
          <p:cNvPr id="7" name="Text 5"/>
          <p:cNvSpPr txBox="1"/>
          <p:nvPr/>
        </p:nvSpPr>
        <p:spPr>
          <a:xfrm>
            <a:off x="502920" y="1188720"/>
            <a:ext cx="384048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言えること</a:t>
            </a:r>
            <a:endParaRPr lang="en-US" sz="1200" dirty="0"/>
          </a:p>
        </p:txBody>
      </p:sp>
      <p:sp>
        <p:nvSpPr>
          <p:cNvPr id="8" name="Text 6"/>
          <p:cNvSpPr txBox="1"/>
          <p:nvPr/>
        </p:nvSpPr>
        <p:spPr>
          <a:xfrm>
            <a:off x="502920" y="1481328"/>
            <a:ext cx="3840480" cy="316382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列11（外側）は列3より低い。勤務日32日間中28日間で低く（−0.26℃）、条件をそろえても−0.16℃</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列8（中央）は列3より低いとは言えない。運転中に限ると＋0.10℃、夜間の差を除くと＋0.23℃</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暑い日ほど低減効果が小さい（気温1℃あたり約＋0.05℃）。晴れの日や9月の違いも主に気温で説明できる</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同じ列の中では、左の区画が列3より高く、列11は中央、列8は中央・右で低減効果が大きい</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中央の列ほど低いという仮説は支持されない</a:t>
            </a:r>
            <a:endParaRPr lang="en-US" sz="1050" dirty="0"/>
          </a:p>
        </p:txBody>
      </p:sp>
      <p:sp>
        <p:nvSpPr>
          <p:cNvPr id="9" name="Shape 7"/>
          <p:cNvSpPr/>
          <p:nvPr/>
        </p:nvSpPr>
        <p:spPr>
          <a:xfrm>
            <a:off x="4663440" y="1115568"/>
            <a:ext cx="4114800" cy="3593592"/>
          </a:xfrm>
          <a:prstGeom prst="roundRect">
            <a:avLst>
              <a:gd name="adj" fmla="val 1527"/>
            </a:avLst>
          </a:prstGeom>
          <a:solidFill>
            <a:srgbClr val="FDE8E6"/>
          </a:solidFill>
          <a:ln w="12700">
            <a:solidFill>
              <a:srgbClr val="FDE8E6"/>
            </a:solidFill>
            <a:prstDash val="solid"/>
          </a:ln>
        </p:spPr>
        <p:txBody>
          <a:bodyPr/>
          <a:lstStyle/>
          <a:p>
            <a:endParaRPr lang="ja-JP" altLang="en-US"/>
          </a:p>
        </p:txBody>
      </p:sp>
      <p:sp>
        <p:nvSpPr>
          <p:cNvPr id="10" name="Text 8"/>
          <p:cNvSpPr txBox="1"/>
          <p:nvPr/>
        </p:nvSpPr>
        <p:spPr>
          <a:xfrm>
            <a:off x="4800600" y="1188720"/>
            <a:ext cx="384048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まだ言えないこと</a:t>
            </a:r>
            <a:endParaRPr lang="en-US" sz="1200" dirty="0"/>
          </a:p>
        </p:txBody>
      </p:sp>
      <p:sp>
        <p:nvSpPr>
          <p:cNvPr id="11" name="Text 9"/>
          <p:cNvSpPr txBox="1"/>
          <p:nvPr/>
        </p:nvSpPr>
        <p:spPr>
          <a:xfrm>
            <a:off x="4800600" y="1481328"/>
            <a:ext cx="3840480" cy="316382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左の区画と列8が高くなる理由（葉の下に排気がこもる、風通しが落ちるなどが候補）</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夜間の差が位置によるものか、芋緑化によるものか。緑化前の同じ計測がない</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運転状態は排気温度からの推定。運転データでの確認が必要</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茂り方の影響。緑被率が未算出</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日射遮蔽の効果。使えるデータが59時間のみ（付録）</a:t>
            </a:r>
            <a:endParaRPr 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今後の分析と計測</a:t>
            </a:r>
            <a:endParaRPr lang="en-US" sz="2000" dirty="0"/>
          </a:p>
        </p:txBody>
      </p:sp>
      <p:sp>
        <p:nvSpPr>
          <p:cNvPr id="3" name="Shape 1"/>
          <p:cNvSpPr/>
          <p:nvPr/>
        </p:nvSpPr>
        <p:spPr>
          <a:xfrm>
            <a:off x="7726680" y="155448"/>
            <a:ext cx="1097280" cy="274320"/>
          </a:xfrm>
          <a:prstGeom prst="roundRect">
            <a:avLst>
              <a:gd name="adj" fmla="val 26667"/>
            </a:avLst>
          </a:prstGeom>
          <a:solidFill>
            <a:srgbClr val="5E6B7A"/>
          </a:solidFill>
          <a:ln w="12700">
            <a:solidFill>
              <a:srgbClr val="5E6B7A"/>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まとめ</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「まだ言えないこと」を減らすために、次に行うこと</a:t>
            </a:r>
            <a:endParaRPr lang="en-US" sz="1200" dirty="0"/>
          </a:p>
        </p:txBody>
      </p:sp>
      <p:sp>
        <p:nvSpPr>
          <p:cNvPr id="6" name="Shape 4"/>
          <p:cNvSpPr/>
          <p:nvPr/>
        </p:nvSpPr>
        <p:spPr>
          <a:xfrm>
            <a:off x="411480" y="1216152"/>
            <a:ext cx="457200" cy="457200"/>
          </a:xfrm>
          <a:prstGeom prst="ellipse">
            <a:avLst/>
          </a:prstGeom>
          <a:solidFill>
            <a:srgbClr val="E66C64"/>
          </a:solidFill>
          <a:ln w="12700">
            <a:solidFill>
              <a:srgbClr val="E66C64"/>
            </a:solidFill>
            <a:prstDash val="solid"/>
          </a:ln>
        </p:spPr>
        <p:txBody>
          <a:bodyPr/>
          <a:lstStyle/>
          <a:p>
            <a:endParaRPr lang="ja-JP" altLang="en-US"/>
          </a:p>
        </p:txBody>
      </p:sp>
      <p:sp>
        <p:nvSpPr>
          <p:cNvPr id="7" name="Text 5"/>
          <p:cNvSpPr txBox="1"/>
          <p:nvPr/>
        </p:nvSpPr>
        <p:spPr>
          <a:xfrm>
            <a:off x="411480" y="121615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游ゴシック" pitchFamily="34" charset="0"/>
                <a:ea typeface="游ゴシック" pitchFamily="34" charset="-122"/>
                <a:cs typeface="游ゴシック" pitchFamily="34" charset="-120"/>
              </a:rPr>
              <a:t>1</a:t>
            </a:r>
            <a:endParaRPr lang="en-US" sz="1400" dirty="0"/>
          </a:p>
        </p:txBody>
      </p:sp>
      <p:sp>
        <p:nvSpPr>
          <p:cNvPr id="8" name="Text 6"/>
          <p:cNvSpPr txBox="1"/>
          <p:nvPr/>
        </p:nvSpPr>
        <p:spPr>
          <a:xfrm>
            <a:off x="1051560" y="1143000"/>
            <a:ext cx="2377440" cy="603504"/>
          </a:xfrm>
          <a:prstGeom prst="rect">
            <a:avLst/>
          </a:prstGeom>
          <a:noFill/>
          <a:ln/>
        </p:spPr>
        <p:txBody>
          <a:bodyPr wrap="square" lIns="0" tIns="0" rIns="0" bIns="0" rtlCol="0" anchor="ctr"/>
          <a:lstStyle/>
          <a:p>
            <a:pPr marL="0" indent="0">
              <a:buNone/>
            </a:pPr>
            <a:r>
              <a:rPr lang="en-US" sz="1300" b="1" dirty="0">
                <a:solidFill>
                  <a:srgbClr val="22354F"/>
                </a:solidFill>
                <a:latin typeface="游ゴシック" pitchFamily="34" charset="0"/>
                <a:ea typeface="游ゴシック" pitchFamily="34" charset="-122"/>
                <a:cs typeface="游ゴシック" pitchFamily="34" charset="-120"/>
              </a:rPr>
              <a:t>比較の時間をそろえる</a:t>
            </a:r>
            <a:endParaRPr lang="en-US" sz="1300" dirty="0"/>
          </a:p>
        </p:txBody>
      </p:sp>
      <p:sp>
        <p:nvSpPr>
          <p:cNvPr id="9" name="Text 7"/>
          <p:cNvSpPr txBox="1"/>
          <p:nvPr/>
        </p:nvSpPr>
        <p:spPr>
          <a:xfrm>
            <a:off x="3429000" y="1143000"/>
            <a:ext cx="5349240" cy="603504"/>
          </a:xfrm>
          <a:prstGeom prst="rect">
            <a:avLst/>
          </a:prstGeom>
          <a:noFill/>
          <a:ln/>
        </p:spPr>
        <p:txBody>
          <a:bodyPr wrap="square" lIns="0" tIns="0" rIns="0" bIns="0" rtlCol="0" anchor="ctr"/>
          <a:lstStyle/>
          <a:p>
            <a:pPr marL="0" indent="0">
              <a:buNone/>
            </a:pPr>
            <a:r>
              <a:rPr lang="en-US" sz="1200" dirty="0">
                <a:solidFill>
                  <a:srgbClr val="172033"/>
                </a:solidFill>
                <a:latin typeface="游ゴシック" pitchFamily="34" charset="0"/>
                <a:ea typeface="游ゴシック" pitchFamily="34" charset="-122"/>
                <a:cs typeface="游ゴシック" pitchFamily="34" charset="-120"/>
              </a:rPr>
              <a:t>分析2〜8も「両方運転中の時間」だけで計算し直し、運転状態の違いを全体から除く</a:t>
            </a:r>
            <a:endParaRPr lang="en-US" sz="1200" dirty="0"/>
          </a:p>
        </p:txBody>
      </p:sp>
      <p:sp>
        <p:nvSpPr>
          <p:cNvPr id="10" name="Shape 8"/>
          <p:cNvSpPr/>
          <p:nvPr/>
        </p:nvSpPr>
        <p:spPr>
          <a:xfrm>
            <a:off x="411480" y="1929384"/>
            <a:ext cx="457200" cy="457200"/>
          </a:xfrm>
          <a:prstGeom prst="ellipse">
            <a:avLst/>
          </a:prstGeom>
          <a:solidFill>
            <a:srgbClr val="118DFF"/>
          </a:solidFill>
          <a:ln w="12700">
            <a:solidFill>
              <a:srgbClr val="118DFF"/>
            </a:solidFill>
            <a:prstDash val="solid"/>
          </a:ln>
        </p:spPr>
        <p:txBody>
          <a:bodyPr/>
          <a:lstStyle/>
          <a:p>
            <a:endParaRPr lang="ja-JP" altLang="en-US"/>
          </a:p>
        </p:txBody>
      </p:sp>
      <p:sp>
        <p:nvSpPr>
          <p:cNvPr id="11" name="Text 9"/>
          <p:cNvSpPr txBox="1"/>
          <p:nvPr/>
        </p:nvSpPr>
        <p:spPr>
          <a:xfrm>
            <a:off x="411480" y="192938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游ゴシック" pitchFamily="34" charset="0"/>
                <a:ea typeface="游ゴシック" pitchFamily="34" charset="-122"/>
                <a:cs typeface="游ゴシック" pitchFamily="34" charset="-120"/>
              </a:rPr>
              <a:t>2</a:t>
            </a:r>
            <a:endParaRPr lang="en-US" sz="1400" dirty="0"/>
          </a:p>
        </p:txBody>
      </p:sp>
      <p:sp>
        <p:nvSpPr>
          <p:cNvPr id="12" name="Text 10"/>
          <p:cNvSpPr txBox="1"/>
          <p:nvPr/>
        </p:nvSpPr>
        <p:spPr>
          <a:xfrm>
            <a:off x="1051560" y="1856232"/>
            <a:ext cx="2377440" cy="603504"/>
          </a:xfrm>
          <a:prstGeom prst="rect">
            <a:avLst/>
          </a:prstGeom>
          <a:noFill/>
          <a:ln/>
        </p:spPr>
        <p:txBody>
          <a:bodyPr wrap="square" lIns="0" tIns="0" rIns="0" bIns="0" rtlCol="0" anchor="ctr"/>
          <a:lstStyle/>
          <a:p>
            <a:pPr marL="0" indent="0">
              <a:buNone/>
            </a:pPr>
            <a:r>
              <a:rPr lang="en-US" sz="1300" b="1" dirty="0">
                <a:solidFill>
                  <a:srgbClr val="22354F"/>
                </a:solidFill>
                <a:latin typeface="游ゴシック" pitchFamily="34" charset="0"/>
                <a:ea typeface="游ゴシック" pitchFamily="34" charset="-122"/>
                <a:cs typeface="游ゴシック" pitchFamily="34" charset="-120"/>
              </a:rPr>
              <a:t>運転データとの照合</a:t>
            </a:r>
            <a:endParaRPr lang="en-US" sz="1300" dirty="0"/>
          </a:p>
        </p:txBody>
      </p:sp>
      <p:sp>
        <p:nvSpPr>
          <p:cNvPr id="13" name="Text 11"/>
          <p:cNvSpPr txBox="1"/>
          <p:nvPr/>
        </p:nvSpPr>
        <p:spPr>
          <a:xfrm>
            <a:off x="3429000" y="1856232"/>
            <a:ext cx="5349240" cy="603504"/>
          </a:xfrm>
          <a:prstGeom prst="rect">
            <a:avLst/>
          </a:prstGeom>
          <a:noFill/>
          <a:ln/>
        </p:spPr>
        <p:txBody>
          <a:bodyPr wrap="square" lIns="0" tIns="0" rIns="0" bIns="0" rtlCol="0" anchor="ctr"/>
          <a:lstStyle/>
          <a:p>
            <a:pPr marL="0" indent="0">
              <a:buNone/>
            </a:pPr>
            <a:r>
              <a:rPr lang="en-US" sz="1200" dirty="0">
                <a:solidFill>
                  <a:srgbClr val="172033"/>
                </a:solidFill>
                <a:latin typeface="游ゴシック" pitchFamily="34" charset="0"/>
                <a:ea typeface="游ゴシック" pitchFamily="34" charset="-122"/>
                <a:cs typeface="游ゴシック" pitchFamily="34" charset="-120"/>
              </a:rPr>
              <a:t>2026年のエアネットの運転時間で、排気温度による運転の推定を確かめる</a:t>
            </a:r>
            <a:endParaRPr lang="en-US" sz="1200" dirty="0"/>
          </a:p>
        </p:txBody>
      </p:sp>
      <p:sp>
        <p:nvSpPr>
          <p:cNvPr id="14" name="Shape 12"/>
          <p:cNvSpPr/>
          <p:nvPr/>
        </p:nvSpPr>
        <p:spPr>
          <a:xfrm>
            <a:off x="411480" y="2642616"/>
            <a:ext cx="457200" cy="457200"/>
          </a:xfrm>
          <a:prstGeom prst="ellipse">
            <a:avLst/>
          </a:prstGeom>
          <a:solidFill>
            <a:srgbClr val="ED7D31"/>
          </a:solidFill>
          <a:ln w="12700">
            <a:solidFill>
              <a:srgbClr val="ED7D31"/>
            </a:solidFill>
            <a:prstDash val="solid"/>
          </a:ln>
        </p:spPr>
        <p:txBody>
          <a:bodyPr/>
          <a:lstStyle/>
          <a:p>
            <a:endParaRPr lang="ja-JP" altLang="en-US"/>
          </a:p>
        </p:txBody>
      </p:sp>
      <p:sp>
        <p:nvSpPr>
          <p:cNvPr id="15" name="Text 13"/>
          <p:cNvSpPr txBox="1"/>
          <p:nvPr/>
        </p:nvSpPr>
        <p:spPr>
          <a:xfrm>
            <a:off x="411480" y="2642616"/>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游ゴシック" pitchFamily="34" charset="0"/>
                <a:ea typeface="游ゴシック" pitchFamily="34" charset="-122"/>
                <a:cs typeface="游ゴシック" pitchFamily="34" charset="-120"/>
              </a:rPr>
              <a:t>3</a:t>
            </a:r>
            <a:endParaRPr lang="en-US" sz="1400" dirty="0"/>
          </a:p>
        </p:txBody>
      </p:sp>
      <p:sp>
        <p:nvSpPr>
          <p:cNvPr id="16" name="Text 14"/>
          <p:cNvSpPr txBox="1"/>
          <p:nvPr/>
        </p:nvSpPr>
        <p:spPr>
          <a:xfrm>
            <a:off x="1051560" y="2569464"/>
            <a:ext cx="2377440" cy="603504"/>
          </a:xfrm>
          <a:prstGeom prst="rect">
            <a:avLst/>
          </a:prstGeom>
          <a:noFill/>
          <a:ln/>
        </p:spPr>
        <p:txBody>
          <a:bodyPr wrap="square" lIns="0" tIns="0" rIns="0" bIns="0" rtlCol="0" anchor="ctr"/>
          <a:lstStyle/>
          <a:p>
            <a:pPr marL="0" indent="0">
              <a:buNone/>
            </a:pPr>
            <a:r>
              <a:rPr lang="en-US" sz="1300" b="1" dirty="0">
                <a:solidFill>
                  <a:srgbClr val="22354F"/>
                </a:solidFill>
                <a:latin typeface="游ゴシック" pitchFamily="34" charset="0"/>
                <a:ea typeface="游ゴシック" pitchFamily="34" charset="-122"/>
                <a:cs typeface="游ゴシック" pitchFamily="34" charset="-120"/>
              </a:rPr>
              <a:t>排気のこもりの確認</a:t>
            </a:r>
            <a:endParaRPr lang="en-US" sz="1300" dirty="0"/>
          </a:p>
        </p:txBody>
      </p:sp>
      <p:sp>
        <p:nvSpPr>
          <p:cNvPr id="17" name="Text 15"/>
          <p:cNvSpPr txBox="1"/>
          <p:nvPr/>
        </p:nvSpPr>
        <p:spPr>
          <a:xfrm>
            <a:off x="3429000" y="2569464"/>
            <a:ext cx="5349240" cy="603504"/>
          </a:xfrm>
          <a:prstGeom prst="rect">
            <a:avLst/>
          </a:prstGeom>
          <a:noFill/>
          <a:ln/>
        </p:spPr>
        <p:txBody>
          <a:bodyPr wrap="square" lIns="0" tIns="0" rIns="0" bIns="0" rtlCol="0" anchor="ctr"/>
          <a:lstStyle/>
          <a:p>
            <a:pPr marL="0" indent="0">
              <a:buNone/>
            </a:pPr>
            <a:r>
              <a:rPr lang="en-US" sz="1200" dirty="0">
                <a:solidFill>
                  <a:srgbClr val="172033"/>
                </a:solidFill>
                <a:latin typeface="游ゴシック" pitchFamily="34" charset="0"/>
                <a:ea typeface="游ゴシック" pitchFamily="34" charset="-122"/>
                <a:cs typeface="游ゴシック" pitchFamily="34" charset="-120"/>
              </a:rPr>
              <a:t>左の区画と列8の通路で排気温度・風速を測り、高くなる理由を確かめる</a:t>
            </a:r>
            <a:endParaRPr lang="en-US" sz="1200" dirty="0"/>
          </a:p>
        </p:txBody>
      </p:sp>
      <p:sp>
        <p:nvSpPr>
          <p:cNvPr id="18" name="Shape 16"/>
          <p:cNvSpPr/>
          <p:nvPr/>
        </p:nvSpPr>
        <p:spPr>
          <a:xfrm>
            <a:off x="411480" y="3355848"/>
            <a:ext cx="457200" cy="457200"/>
          </a:xfrm>
          <a:prstGeom prst="ellipse">
            <a:avLst/>
          </a:prstGeom>
          <a:solidFill>
            <a:srgbClr val="01B8AA"/>
          </a:solidFill>
          <a:ln w="12700">
            <a:solidFill>
              <a:srgbClr val="01B8AA"/>
            </a:solidFill>
            <a:prstDash val="solid"/>
          </a:ln>
        </p:spPr>
        <p:txBody>
          <a:bodyPr/>
          <a:lstStyle/>
          <a:p>
            <a:endParaRPr lang="ja-JP" altLang="en-US"/>
          </a:p>
        </p:txBody>
      </p:sp>
      <p:sp>
        <p:nvSpPr>
          <p:cNvPr id="19" name="Text 17"/>
          <p:cNvSpPr txBox="1"/>
          <p:nvPr/>
        </p:nvSpPr>
        <p:spPr>
          <a:xfrm>
            <a:off x="411480" y="335584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游ゴシック" pitchFamily="34" charset="0"/>
                <a:ea typeface="游ゴシック" pitchFamily="34" charset="-122"/>
                <a:cs typeface="游ゴシック" pitchFamily="34" charset="-120"/>
              </a:rPr>
              <a:t>4</a:t>
            </a:r>
            <a:endParaRPr lang="en-US" sz="1400" dirty="0"/>
          </a:p>
        </p:txBody>
      </p:sp>
      <p:sp>
        <p:nvSpPr>
          <p:cNvPr id="20" name="Text 18"/>
          <p:cNvSpPr txBox="1"/>
          <p:nvPr/>
        </p:nvSpPr>
        <p:spPr>
          <a:xfrm>
            <a:off x="1051560" y="3282696"/>
            <a:ext cx="2377440" cy="603504"/>
          </a:xfrm>
          <a:prstGeom prst="rect">
            <a:avLst/>
          </a:prstGeom>
          <a:noFill/>
          <a:ln/>
        </p:spPr>
        <p:txBody>
          <a:bodyPr wrap="square" lIns="0" tIns="0" rIns="0" bIns="0" rtlCol="0" anchor="ctr"/>
          <a:lstStyle/>
          <a:p>
            <a:pPr marL="0" indent="0">
              <a:buNone/>
            </a:pPr>
            <a:r>
              <a:rPr lang="en-US" sz="1300" b="1" dirty="0">
                <a:solidFill>
                  <a:srgbClr val="22354F"/>
                </a:solidFill>
                <a:latin typeface="游ゴシック" pitchFamily="34" charset="0"/>
                <a:ea typeface="游ゴシック" pitchFamily="34" charset="-122"/>
                <a:cs typeface="游ゴシック" pitchFamily="34" charset="-120"/>
              </a:rPr>
              <a:t>緑被率の算出</a:t>
            </a:r>
            <a:endParaRPr lang="en-US" sz="1300" dirty="0"/>
          </a:p>
        </p:txBody>
      </p:sp>
      <p:sp>
        <p:nvSpPr>
          <p:cNvPr id="21" name="Text 19"/>
          <p:cNvSpPr txBox="1"/>
          <p:nvPr/>
        </p:nvSpPr>
        <p:spPr>
          <a:xfrm>
            <a:off x="3429000" y="3282696"/>
            <a:ext cx="5349240" cy="603504"/>
          </a:xfrm>
          <a:prstGeom prst="rect">
            <a:avLst/>
          </a:prstGeom>
          <a:noFill/>
          <a:ln/>
        </p:spPr>
        <p:txBody>
          <a:bodyPr wrap="square" lIns="0" tIns="0" rIns="0" bIns="0" rtlCol="0" anchor="ctr"/>
          <a:lstStyle/>
          <a:p>
            <a:pPr marL="0" indent="0">
              <a:buNone/>
            </a:pPr>
            <a:r>
              <a:rPr lang="en-US" sz="1200" dirty="0">
                <a:solidFill>
                  <a:srgbClr val="172033"/>
                </a:solidFill>
                <a:latin typeface="游ゴシック" pitchFamily="34" charset="0"/>
                <a:ea typeface="游ゴシック" pitchFamily="34" charset="-122"/>
                <a:cs typeface="游ゴシック" pitchFamily="34" charset="-120"/>
              </a:rPr>
              <a:t>定点写真から日ごとの緑被率を計算し、分析7に加える</a:t>
            </a:r>
            <a:endParaRPr lang="en-US" sz="1200" dirty="0"/>
          </a:p>
        </p:txBody>
      </p:sp>
      <p:sp>
        <p:nvSpPr>
          <p:cNvPr id="22" name="Shape 20"/>
          <p:cNvSpPr/>
          <p:nvPr/>
        </p:nvSpPr>
        <p:spPr>
          <a:xfrm>
            <a:off x="411480" y="4069080"/>
            <a:ext cx="457200" cy="457200"/>
          </a:xfrm>
          <a:prstGeom prst="ellipse">
            <a:avLst/>
          </a:prstGeom>
          <a:solidFill>
            <a:srgbClr val="8E5BC4"/>
          </a:solidFill>
          <a:ln w="12700">
            <a:solidFill>
              <a:srgbClr val="8E5BC4"/>
            </a:solidFill>
            <a:prstDash val="solid"/>
          </a:ln>
        </p:spPr>
        <p:txBody>
          <a:bodyPr/>
          <a:lstStyle/>
          <a:p>
            <a:endParaRPr lang="ja-JP" altLang="en-US"/>
          </a:p>
        </p:txBody>
      </p:sp>
      <p:sp>
        <p:nvSpPr>
          <p:cNvPr id="23" name="Text 21"/>
          <p:cNvSpPr txBox="1"/>
          <p:nvPr/>
        </p:nvSpPr>
        <p:spPr>
          <a:xfrm>
            <a:off x="411480" y="40690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游ゴシック" pitchFamily="34" charset="0"/>
                <a:ea typeface="游ゴシック" pitchFamily="34" charset="-122"/>
                <a:cs typeface="游ゴシック" pitchFamily="34" charset="-120"/>
              </a:rPr>
              <a:t>5</a:t>
            </a:r>
            <a:endParaRPr lang="en-US" sz="1400" dirty="0"/>
          </a:p>
        </p:txBody>
      </p:sp>
      <p:sp>
        <p:nvSpPr>
          <p:cNvPr id="24" name="Text 22"/>
          <p:cNvSpPr txBox="1"/>
          <p:nvPr/>
        </p:nvSpPr>
        <p:spPr>
          <a:xfrm>
            <a:off x="1051560" y="3995928"/>
            <a:ext cx="2377440" cy="603504"/>
          </a:xfrm>
          <a:prstGeom prst="rect">
            <a:avLst/>
          </a:prstGeom>
          <a:noFill/>
          <a:ln/>
        </p:spPr>
        <p:txBody>
          <a:bodyPr wrap="square" lIns="0" tIns="0" rIns="0" bIns="0" rtlCol="0" anchor="ctr"/>
          <a:lstStyle/>
          <a:p>
            <a:pPr marL="0" indent="0">
              <a:buNone/>
            </a:pPr>
            <a:r>
              <a:rPr lang="en-US" sz="1300" b="1" dirty="0">
                <a:solidFill>
                  <a:srgbClr val="22354F"/>
                </a:solidFill>
                <a:latin typeface="游ゴシック" pitchFamily="34" charset="0"/>
                <a:ea typeface="游ゴシック" pitchFamily="34" charset="-122"/>
                <a:cs typeface="游ゴシック" pitchFamily="34" charset="-120"/>
              </a:rPr>
              <a:t>計測の継続と撤去時の確認</a:t>
            </a:r>
            <a:endParaRPr lang="en-US" sz="1300" dirty="0"/>
          </a:p>
        </p:txBody>
      </p:sp>
      <p:sp>
        <p:nvSpPr>
          <p:cNvPr id="25" name="Text 23"/>
          <p:cNvSpPr txBox="1"/>
          <p:nvPr/>
        </p:nvSpPr>
        <p:spPr>
          <a:xfrm>
            <a:off x="3429000" y="3995928"/>
            <a:ext cx="5349240" cy="603504"/>
          </a:xfrm>
          <a:prstGeom prst="rect">
            <a:avLst/>
          </a:prstGeom>
          <a:noFill/>
          <a:ln/>
        </p:spPr>
        <p:txBody>
          <a:bodyPr wrap="square" lIns="0" tIns="0" rIns="0" bIns="0" rtlCol="0" anchor="ctr"/>
          <a:lstStyle/>
          <a:p>
            <a:pPr marL="0" indent="0">
              <a:buNone/>
            </a:pPr>
            <a:r>
              <a:rPr lang="en-US" sz="1200" dirty="0">
                <a:solidFill>
                  <a:srgbClr val="172033"/>
                </a:solidFill>
                <a:latin typeface="游ゴシック" pitchFamily="34" charset="0"/>
                <a:ea typeface="游ゴシック" pitchFamily="34" charset="-122"/>
                <a:cs typeface="游ゴシック" pitchFamily="34" charset="-120"/>
              </a:rPr>
              <a:t>秋のデータを加える。撤去時に熱電対を並べて測り、列3の約0.2℃の差の原因を確かめる</a:t>
            </a:r>
            <a:endParaRPr lang="en-US" sz="1200" dirty="0"/>
          </a:p>
        </p:txBody>
      </p:sp>
      <p:sp>
        <p:nvSpPr>
          <p:cNvPr id="26"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365760" y="73152"/>
            <a:ext cx="7223760" cy="420624"/>
          </a:xfrm>
          <a:prstGeom prst="rect">
            <a:avLst/>
          </a:prstGeom>
          <a:noFill/>
          <a:ln/>
        </p:spPr>
        <p:txBody>
          <a:bodyPr wrap="square" lIns="0" tIns="0" rIns="0" bIns="0" rtlCol="0" anchor="ctr"/>
          <a:lstStyle/>
          <a:p>
            <a:pPr marL="0" indent="0" algn="l">
              <a:buNone/>
            </a:pPr>
            <a:r>
              <a:rPr lang="en-US" sz="2000" b="1" dirty="0">
                <a:solidFill>
                  <a:srgbClr val="FFFFFF"/>
                </a:solidFill>
                <a:latin typeface="游ゴシック" pitchFamily="34" charset="0"/>
                <a:ea typeface="游ゴシック" pitchFamily="34" charset="-122"/>
                <a:cs typeface="游ゴシック" pitchFamily="34" charset="-120"/>
              </a:rPr>
              <a:t>付録（分析6）：日射遮蔽と吸気温度差の関係</a:t>
            </a:r>
            <a:endParaRPr lang="en-US" sz="2000" dirty="0"/>
          </a:p>
        </p:txBody>
      </p:sp>
      <p:sp>
        <p:nvSpPr>
          <p:cNvPr id="3" name="Shape 1"/>
          <p:cNvSpPr/>
          <p:nvPr/>
        </p:nvSpPr>
        <p:spPr>
          <a:xfrm>
            <a:off x="7726680" y="155448"/>
            <a:ext cx="1097280" cy="274320"/>
          </a:xfrm>
          <a:prstGeom prst="roundRect">
            <a:avLst>
              <a:gd name="adj" fmla="val 26667"/>
            </a:avLst>
          </a:prstGeom>
          <a:solidFill>
            <a:srgbClr val="5E6B7A"/>
          </a:solidFill>
          <a:ln w="12700">
            <a:solidFill>
              <a:srgbClr val="5E6B7A"/>
            </a:solidFill>
            <a:prstDash val="solid"/>
          </a:ln>
        </p:spPr>
        <p:txBody>
          <a:bodyPr/>
          <a:lstStyle/>
          <a:p>
            <a:endParaRPr lang="ja-JP" altLang="en-US"/>
          </a:p>
        </p:txBody>
      </p:sp>
      <p:sp>
        <p:nvSpPr>
          <p:cNvPr id="4" name="Text 2"/>
          <p:cNvSpPr txBox="1"/>
          <p:nvPr/>
        </p:nvSpPr>
        <p:spPr>
          <a:xfrm>
            <a:off x="7726680" y="155448"/>
            <a:ext cx="10972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游ゴシック" pitchFamily="34" charset="0"/>
                <a:ea typeface="游ゴシック" pitchFamily="34" charset="-122"/>
                <a:cs typeface="游ゴシック" pitchFamily="34" charset="-120"/>
              </a:rPr>
              <a:t>付録</a:t>
            </a:r>
            <a:endParaRPr lang="en-US" sz="1100" dirty="0"/>
          </a:p>
        </p:txBody>
      </p:sp>
      <p:sp>
        <p:nvSpPr>
          <p:cNvPr id="5" name="Text 3"/>
          <p:cNvSpPr txBox="1"/>
          <p:nvPr/>
        </p:nvSpPr>
        <p:spPr>
          <a:xfrm>
            <a:off x="365760" y="676656"/>
            <a:ext cx="8412480" cy="34747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目的　</a:t>
            </a:r>
            <a:r>
              <a:rPr lang="en-US" sz="1200" dirty="0">
                <a:solidFill>
                  <a:srgbClr val="172033"/>
                </a:solidFill>
                <a:latin typeface="游ゴシック" pitchFamily="34" charset="0"/>
                <a:ea typeface="游ゴシック" pitchFamily="34" charset="-122"/>
                <a:cs typeface="游ゴシック" pitchFamily="34" charset="-120"/>
              </a:rPr>
              <a:t>芋の葉が遮った日射と、吸気温度の低減効果の関係を確かめる</a:t>
            </a:r>
            <a:endParaRPr lang="en-US" sz="1200" dirty="0"/>
          </a:p>
        </p:txBody>
      </p:sp>
      <p:sp>
        <p:nvSpPr>
          <p:cNvPr id="6" name="Text 4"/>
          <p:cNvSpPr txBox="1"/>
          <p:nvPr/>
        </p:nvSpPr>
        <p:spPr>
          <a:xfrm>
            <a:off x="365760" y="987552"/>
            <a:ext cx="8412480" cy="292608"/>
          </a:xfrm>
          <a:prstGeom prst="rect">
            <a:avLst/>
          </a:prstGeom>
          <a:noFill/>
          <a:ln/>
        </p:spPr>
        <p:txBody>
          <a:bodyPr wrap="square" lIns="0" tIns="0" rIns="0" bIns="0" rtlCol="0" anchor="ctr"/>
          <a:lstStyle/>
          <a:p>
            <a:pPr marL="0" indent="0">
              <a:buNone/>
            </a:pPr>
            <a:r>
              <a:rPr lang="en-US" sz="1050" b="1" dirty="0">
                <a:solidFill>
                  <a:srgbClr val="5E6B7A"/>
                </a:solidFill>
                <a:latin typeface="游ゴシック" pitchFamily="34" charset="0"/>
                <a:ea typeface="游ゴシック" pitchFamily="34" charset="-122"/>
                <a:cs typeface="游ゴシック" pitchFamily="34" charset="-120"/>
              </a:rPr>
              <a:t>方法　</a:t>
            </a:r>
            <a:r>
              <a:rPr lang="en-US" sz="1050" dirty="0">
                <a:solidFill>
                  <a:srgbClr val="5E6B7A"/>
                </a:solidFill>
                <a:latin typeface="游ゴシック" pitchFamily="34" charset="0"/>
                <a:ea typeface="游ゴシック" pitchFamily="34" charset="-122"/>
                <a:cs typeface="游ゴシック" pitchFamily="34" charset="-120"/>
              </a:rPr>
              <a:t>8/29〜9/14の勤務日11日間、日向の日射量100W/㎡以上の59時間（列8）。遮られた日射量＝日向−緑陰内。破線：近似直線</a:t>
            </a:r>
            <a:endParaRPr lang="en-US" sz="1050" dirty="0"/>
          </a:p>
        </p:txBody>
      </p:sp>
      <p:sp>
        <p:nvSpPr>
          <p:cNvPr id="7" name="Text 5"/>
          <p:cNvSpPr txBox="1"/>
          <p:nvPr/>
        </p:nvSpPr>
        <p:spPr>
          <a:xfrm>
            <a:off x="365760" y="1325880"/>
            <a:ext cx="2491740" cy="201168"/>
          </a:xfrm>
          <a:prstGeom prst="rect">
            <a:avLst/>
          </a:prstGeom>
          <a:noFill/>
          <a:ln/>
        </p:spPr>
        <p:txBody>
          <a:bodyPr wrap="square" lIns="0" tIns="0" rIns="0" bIns="0" rtlCol="0" anchor="ctr"/>
          <a:lstStyle/>
          <a:p>
            <a:pPr marL="0" indent="0">
              <a:buNone/>
            </a:pPr>
            <a:r>
              <a:rPr lang="en-US" sz="950" b="1" dirty="0">
                <a:solidFill>
                  <a:srgbClr val="22354F"/>
                </a:solidFill>
                <a:latin typeface="游ゴシック" pitchFamily="34" charset="0"/>
                <a:ea typeface="游ゴシック" pitchFamily="34" charset="-122"/>
                <a:cs typeface="游ゴシック" pitchFamily="34" charset="-120"/>
              </a:rPr>
              <a:t>遮られた日射量</a:t>
            </a:r>
            <a:endParaRPr lang="en-US" sz="950" dirty="0"/>
          </a:p>
        </p:txBody>
      </p:sp>
      <p:sp>
        <p:nvSpPr>
          <p:cNvPr id="9" name="Text 7"/>
          <p:cNvSpPr txBox="1"/>
          <p:nvPr/>
        </p:nvSpPr>
        <p:spPr>
          <a:xfrm>
            <a:off x="2948940" y="1325880"/>
            <a:ext cx="2491740" cy="201168"/>
          </a:xfrm>
          <a:prstGeom prst="rect">
            <a:avLst/>
          </a:prstGeom>
          <a:noFill/>
          <a:ln/>
        </p:spPr>
        <p:txBody>
          <a:bodyPr wrap="square" lIns="0" tIns="0" rIns="0" bIns="0" rtlCol="0" anchor="ctr"/>
          <a:lstStyle/>
          <a:p>
            <a:pPr marL="0" indent="0">
              <a:buNone/>
            </a:pPr>
            <a:r>
              <a:rPr lang="en-US" sz="950" b="1" dirty="0">
                <a:solidFill>
                  <a:srgbClr val="22354F"/>
                </a:solidFill>
                <a:latin typeface="游ゴシック" pitchFamily="34" charset="0"/>
                <a:ea typeface="游ゴシック" pitchFamily="34" charset="-122"/>
                <a:cs typeface="游ゴシック" pitchFamily="34" charset="-120"/>
              </a:rPr>
              <a:t>日射遮蔽率</a:t>
            </a:r>
            <a:endParaRPr lang="en-US" sz="950" dirty="0"/>
          </a:p>
        </p:txBody>
      </p:sp>
      <p:sp>
        <p:nvSpPr>
          <p:cNvPr id="11" name="Shape 9"/>
          <p:cNvSpPr/>
          <p:nvPr/>
        </p:nvSpPr>
        <p:spPr>
          <a:xfrm>
            <a:off x="5577840" y="1325880"/>
            <a:ext cx="3200400" cy="2167128"/>
          </a:xfrm>
          <a:prstGeom prst="roundRect">
            <a:avLst>
              <a:gd name="adj" fmla="val 2532"/>
            </a:avLst>
          </a:prstGeom>
          <a:solidFill>
            <a:srgbClr val="EAF4FF"/>
          </a:solidFill>
          <a:ln w="12700">
            <a:solidFill>
              <a:srgbClr val="EAF4FF"/>
            </a:solidFill>
            <a:prstDash val="solid"/>
          </a:ln>
        </p:spPr>
        <p:txBody>
          <a:bodyPr/>
          <a:lstStyle/>
          <a:p>
            <a:endParaRPr lang="ja-JP" altLang="en-US"/>
          </a:p>
        </p:txBody>
      </p:sp>
      <p:sp>
        <p:nvSpPr>
          <p:cNvPr id="12" name="Text 10"/>
          <p:cNvSpPr txBox="1"/>
          <p:nvPr/>
        </p:nvSpPr>
        <p:spPr>
          <a:xfrm>
            <a:off x="5715000" y="1399032"/>
            <a:ext cx="2926080" cy="256032"/>
          </a:xfrm>
          <a:prstGeom prst="rect">
            <a:avLst/>
          </a:prstGeom>
          <a:noFill/>
          <a:ln/>
        </p:spPr>
        <p:txBody>
          <a:bodyPr wrap="square" lIns="0" tIns="0" rIns="0" bIns="0" rtlCol="0" anchor="ctr"/>
          <a:lstStyle/>
          <a:p>
            <a:pPr marL="0" indent="0">
              <a:buNone/>
            </a:pPr>
            <a:r>
              <a:rPr lang="en-US" sz="1200" b="1" dirty="0">
                <a:solidFill>
                  <a:srgbClr val="22354F"/>
                </a:solidFill>
                <a:latin typeface="游ゴシック" pitchFamily="34" charset="0"/>
                <a:ea typeface="游ゴシック" pitchFamily="34" charset="-122"/>
                <a:cs typeface="游ゴシック" pitchFamily="34" charset="-120"/>
              </a:rPr>
              <a:t>結果</a:t>
            </a:r>
            <a:endParaRPr lang="en-US" sz="1200" dirty="0"/>
          </a:p>
        </p:txBody>
      </p:sp>
      <p:sp>
        <p:nvSpPr>
          <p:cNvPr id="13" name="Text 11"/>
          <p:cNvSpPr txBox="1"/>
          <p:nvPr/>
        </p:nvSpPr>
        <p:spPr>
          <a:xfrm>
            <a:off x="5715000" y="1691640"/>
            <a:ext cx="2926080" cy="173736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日射遮蔽率は79〜95％で、どの時間も8割以上を遮っている</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遮られた日射量と吸気温度差の相関は＋0.31。多く遮った時間ほど、低減効果はやや小さい</a:t>
            </a:r>
            <a:endParaRPr lang="en-US" sz="1050" dirty="0"/>
          </a:p>
          <a:p>
            <a:pPr marL="152400" indent="-152400">
              <a:spcAft>
                <a:spcPts val="300"/>
              </a:spcAft>
              <a:buSzPct val="100000"/>
              <a:buChar char="•"/>
            </a:pPr>
            <a:r>
              <a:rPr lang="en-US" sz="1050" dirty="0">
                <a:solidFill>
                  <a:srgbClr val="172033"/>
                </a:solidFill>
                <a:latin typeface="游ゴシック" pitchFamily="34" charset="0"/>
                <a:ea typeface="游ゴシック" pitchFamily="34" charset="-122"/>
                <a:cs typeface="游ゴシック" pitchFamily="34" charset="-120"/>
              </a:rPr>
              <a:t>列11で同じ計算をすると相関は＋0.08</a:t>
            </a:r>
            <a:endParaRPr lang="en-US" sz="1050" dirty="0"/>
          </a:p>
        </p:txBody>
      </p:sp>
      <p:sp>
        <p:nvSpPr>
          <p:cNvPr id="14" name="Shape 12"/>
          <p:cNvSpPr/>
          <p:nvPr/>
        </p:nvSpPr>
        <p:spPr>
          <a:xfrm>
            <a:off x="5577840" y="3584448"/>
            <a:ext cx="3200400" cy="1143000"/>
          </a:xfrm>
          <a:prstGeom prst="roundRect">
            <a:avLst>
              <a:gd name="adj" fmla="val 4800"/>
            </a:avLst>
          </a:prstGeom>
          <a:solidFill>
            <a:srgbClr val="FFF7D1"/>
          </a:solidFill>
          <a:ln w="12700">
            <a:solidFill>
              <a:srgbClr val="FFF7D1"/>
            </a:solidFill>
            <a:prstDash val="solid"/>
          </a:ln>
        </p:spPr>
        <p:txBody>
          <a:bodyPr/>
          <a:lstStyle/>
          <a:p>
            <a:endParaRPr lang="ja-JP" altLang="en-US"/>
          </a:p>
        </p:txBody>
      </p:sp>
      <p:sp>
        <p:nvSpPr>
          <p:cNvPr id="15" name="Text 13"/>
          <p:cNvSpPr txBox="1"/>
          <p:nvPr/>
        </p:nvSpPr>
        <p:spPr>
          <a:xfrm>
            <a:off x="5715000" y="3630168"/>
            <a:ext cx="2926080" cy="1051560"/>
          </a:xfrm>
          <a:prstGeom prst="rect">
            <a:avLst/>
          </a:prstGeom>
          <a:noFill/>
          <a:ln/>
        </p:spPr>
        <p:txBody>
          <a:bodyPr wrap="square" lIns="0" tIns="0" rIns="0" bIns="0" rtlCol="0" anchor="t"/>
          <a:lstStyle/>
          <a:p>
            <a:pPr marL="0" indent="0">
              <a:buNone/>
            </a:pPr>
            <a:r>
              <a:rPr lang="en-US" sz="1050" b="1" dirty="0">
                <a:solidFill>
                  <a:srgbClr val="ED7D31"/>
                </a:solidFill>
                <a:latin typeface="游ゴシック" pitchFamily="34" charset="0"/>
                <a:ea typeface="游ゴシック" pitchFamily="34" charset="-122"/>
                <a:cs typeface="游ゴシック" pitchFamily="34" charset="-120"/>
              </a:rPr>
              <a:t>読み取り</a:t>
            </a:r>
            <a:endParaRPr lang="en-US" sz="1050" dirty="0"/>
          </a:p>
          <a:p>
            <a:pPr marL="0" indent="0">
              <a:buNone/>
            </a:pPr>
            <a:r>
              <a:rPr lang="en-US" sz="1050" dirty="0">
                <a:solidFill>
                  <a:srgbClr val="172033"/>
                </a:solidFill>
                <a:latin typeface="游ゴシック" pitchFamily="34" charset="0"/>
                <a:ea typeface="游ゴシック" pitchFamily="34" charset="-122"/>
                <a:cs typeface="游ゴシック" pitchFamily="34" charset="-120"/>
              </a:rPr>
              <a:t>この期間では「多く遮るほど低減効果が大きい」関係は見られない。日射の強い時間は晴れの時間と重なる。データは59時間と少ない</a:t>
            </a:r>
            <a:endParaRPr 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E6B7A"/>
                </a:solidFill>
                <a:latin typeface="游ゴシック"/>
                <a:ea typeface="游ゴシック"/>
                <a:cs typeface="游ゴシック"/>
              </a:defRPr>
            </a:lvl1pPr>
          </a:lstStyle>
          <a:p>
            <a:pPr algn="r"/>
            <a:fld id="{F7021451-1387-4CA6-816F-3879F97B5CBC}" type="slidenum">
              <a:rPr lang="en-US" b="0"/>
              <a:t>28</a:t>
            </a:fld>
            <a:endParaRPr lang="en-US"/>
          </a:p>
        </p:txBody>
      </p:sp>
      <p:graphicFrame>
        <p:nvGraphicFramePr>
          <p:cNvPr id="26" name="グラフ a6_blk"/>
          <p:cNvGraphicFramePr>
            <a:graphicFrameLocks noGrp="1"/>
          </p:cNvGraphicFramePr>
          <p:nvPr/>
        </p:nvGraphicFramePr>
        <p:xfrm>
          <a:off x="365760" y="1527048"/>
          <a:ext cx="2491740" cy="3200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7" name="グラフ a6_rate"/>
          <p:cNvGraphicFramePr>
            <a:graphicFrameLocks noGrp="1"/>
          </p:cNvGraphicFramePr>
          <p:nvPr/>
        </p:nvGraphicFramePr>
        <p:xfrm>
          <a:off x="2948940" y="1527048"/>
          <a:ext cx="2491740" cy="32004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theme/theme1.xml><?xml version="1.0" encoding="utf-8"?>
<a:theme xmlns:a="http://schemas.openxmlformats.org/drawingml/2006/main" name="芋緑化実測">
  <a:themeElements>
    <a:clrScheme name="芋緑化実測">
      <a:dk1>
        <a:srgbClr val="172033"/>
      </a:dk1>
      <a:lt1>
        <a:srgbClr val="FFFFFF"/>
      </a:lt1>
      <a:dk2>
        <a:srgbClr val="22354F"/>
      </a:dk2>
      <a:lt2>
        <a:srgbClr val="F3F5F8"/>
      </a:lt2>
      <a:accent1>
        <a:srgbClr val="01B8AA"/>
      </a:accent1>
      <a:accent2>
        <a:srgbClr val="118DFF"/>
      </a:accent2>
      <a:accent3>
        <a:srgbClr val="ED7D31"/>
      </a:accent3>
      <a:accent4>
        <a:srgbClr val="8E5BC4"/>
      </a:accent4>
      <a:accent5>
        <a:srgbClr val="F2C811"/>
      </a:accent5>
      <a:accent6>
        <a:srgbClr val="E66C64"/>
      </a:accent6>
      <a:hlink>
        <a:srgbClr val="118DFF"/>
      </a:hlink>
      <a:folHlink>
        <a:srgbClr val="8E5BC4"/>
      </a:folHlink>
    </a:clrScheme>
    <a:fontScheme name="芋緑化実測">
      <a:majorFont>
        <a:latin typeface="游ゴシック"/>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TotalTime>
  <Words>3539</Words>
  <Application>Microsoft Macintosh PowerPoint</Application>
  <PresentationFormat>画面に合わせる (16:9)</PresentationFormat>
  <Paragraphs>648</Paragraphs>
  <Slides>28</Slides>
  <Notes>28</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28</vt:i4>
      </vt:variant>
    </vt:vector>
  </HeadingPairs>
  <TitlesOfParts>
    <vt:vector size="31" baseType="lpstr">
      <vt:lpstr>游ゴシック</vt:lpstr>
      <vt:lpstr>Arial</vt:lpstr>
      <vt:lpstr>芋緑化実測</vt:lpstr>
      <vt:lpstr>PowerPoint プレゼンテーション</vt:lpstr>
      <vt:lpstr>結果の要約</vt:lpstr>
      <vt:lpstr>分析の流れ</vt:lpstr>
      <vt:lpstr>計測概要：対象の列と計測点</vt:lpstr>
      <vt:lpstr>データの利用期間</vt:lpstr>
      <vt:lpstr>データの欠損と除外の基準</vt:lpstr>
      <vt:lpstr>熱電対ごとの誤差の確認</vt:lpstr>
      <vt:lpstr>吸気温度差の定義</vt:lpstr>
      <vt:lpstr>分析1：期間全体の吸気温度の比較</vt:lpstr>
      <vt:lpstr>分析1（補正）：運転状態と夜間の差をそろえた比較</vt:lpstr>
      <vt:lpstr>分析2：時刻別の吸気温度差</vt:lpstr>
      <vt:lpstr>分析3：列8の区画ごとの吸気温度</vt:lpstr>
      <vt:lpstr>分析3：列11の区画ごとの吸気温度</vt:lpstr>
      <vt:lpstr>分析3：区画ごとの吸気温度差の分布と結論</vt:lpstr>
      <vt:lpstr>分析4：天気と吸気温度差の関係（日ごとの推移）</vt:lpstr>
      <vt:lpstr>分析4：天気別の吸気温度差</vt:lpstr>
      <vt:lpstr>分析4（補足）：気温区分別の吸気温度差</vt:lpstr>
      <vt:lpstr>分析4（補足）：条件をまとめて見た回帰</vt:lpstr>
      <vt:lpstr>分析5：風速別の吸気温度差</vt:lpstr>
      <vt:lpstr>分析7：期間による吸気温度差の推移</vt:lpstr>
      <vt:lpstr>分析8：代表日の選定結果</vt:lpstr>
      <vt:lpstr>分析8：代表日（晴れの日と曇りの日）</vt:lpstr>
      <vt:lpstr>分析8：代表日（風の弱い日と強い日）</vt:lpstr>
      <vt:lpstr>分析8：代表日（典型日）</vt:lpstr>
      <vt:lpstr>独立検証：エアネット分析との比較</vt:lpstr>
      <vt:lpstr>まとめ：言えること／まだ言えないこと</vt:lpstr>
      <vt:lpstr>今後の分析と計測</vt:lpstr>
      <vt:lpstr>付録（分析6）：日射遮蔽と吸気温度差の関係</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屋上芋緑化 2026年実測データ 分析結果</dc:title>
  <dc:subject>PptxGenJS Presentation</dc:subject>
  <dc:creator>PptxGenJS</dc:creator>
  <cp:lastModifiedBy>S232741020</cp:lastModifiedBy>
  <cp:revision>3</cp:revision>
  <dcterms:created xsi:type="dcterms:W3CDTF">2026-10-04T06:23:02Z</dcterms:created>
  <dcterms:modified xsi:type="dcterms:W3CDTF">2026-10-04T08:50:33Z</dcterms:modified>
</cp:coreProperties>
</file>